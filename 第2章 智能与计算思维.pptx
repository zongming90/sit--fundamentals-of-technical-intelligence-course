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5" r:id="rId3"/>
  </p:sldMasterIdLst>
  <p:notesMasterIdLst>
    <p:notesMasterId r:id="rId42"/>
  </p:notesMasterIdLst>
  <p:handoutMasterIdLst>
    <p:handoutMasterId r:id="rId43"/>
  </p:handoutMasterIdLst>
  <p:sldIdLst>
    <p:sldId id="578" r:id="rId4"/>
    <p:sldId id="1241" r:id="rId5"/>
    <p:sldId id="265" r:id="rId6"/>
    <p:sldId id="329" r:id="rId7"/>
    <p:sldId id="330" r:id="rId8"/>
    <p:sldId id="294" r:id="rId9"/>
    <p:sldId id="613" r:id="rId10"/>
    <p:sldId id="1242" r:id="rId11"/>
    <p:sldId id="381" r:id="rId12"/>
    <p:sldId id="1247" r:id="rId13"/>
    <p:sldId id="393" r:id="rId14"/>
    <p:sldId id="1248" r:id="rId15"/>
    <p:sldId id="1250" r:id="rId16"/>
    <p:sldId id="401" r:id="rId17"/>
    <p:sldId id="398" r:id="rId18"/>
    <p:sldId id="1251" r:id="rId19"/>
    <p:sldId id="1252" r:id="rId20"/>
    <p:sldId id="442" r:id="rId21"/>
    <p:sldId id="1253" r:id="rId22"/>
    <p:sldId id="1254" r:id="rId23"/>
    <p:sldId id="1256" r:id="rId24"/>
    <p:sldId id="1255" r:id="rId25"/>
    <p:sldId id="1257" r:id="rId26"/>
    <p:sldId id="1258" r:id="rId27"/>
    <p:sldId id="1259" r:id="rId28"/>
    <p:sldId id="445" r:id="rId29"/>
    <p:sldId id="1260" r:id="rId30"/>
    <p:sldId id="1261" r:id="rId31"/>
    <p:sldId id="446" r:id="rId32"/>
    <p:sldId id="1262" r:id="rId33"/>
    <p:sldId id="1263" r:id="rId34"/>
    <p:sldId id="1264" r:id="rId35"/>
    <p:sldId id="1265" r:id="rId36"/>
    <p:sldId id="464" r:id="rId37"/>
    <p:sldId id="490" r:id="rId38"/>
    <p:sldId id="1266" r:id="rId39"/>
    <p:sldId id="459" r:id="rId40"/>
    <p:sldId id="554" r:id="rId41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s" initials="y" lastIdx="2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C6C8"/>
    <a:srgbClr val="B0BABD"/>
    <a:srgbClr val="0000FF"/>
    <a:srgbClr val="F8F8F8"/>
    <a:srgbClr val="FDFDFD"/>
    <a:srgbClr val="03553F"/>
    <a:srgbClr val="2B3B38"/>
    <a:srgbClr val="085843"/>
    <a:srgbClr val="FFFFFF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3401"/>
  </p:normalViewPr>
  <p:slideViewPr>
    <p:cSldViewPr snapToGrid="0" showGuides="1">
      <p:cViewPr>
        <p:scale>
          <a:sx n="85" d="100"/>
          <a:sy n="85" d="100"/>
        </p:scale>
        <p:origin x="1032" y="520"/>
      </p:cViewPr>
      <p:guideLst>
        <p:guide orient="horz" pos="2206"/>
        <p:guide pos="379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gs" Target="tags/tag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b="1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什么是人工智能，对于人工智能同学们有没有一些自己的理解，你眼中的人工智能是什么？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5E6EF-AD2C-2423-7526-3552C67B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366254-BF43-23AC-F749-7250C026D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4B59B9-39BA-A2FD-04B9-A441E3E0AFA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7733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D61FA-2A47-EC4F-9443-9456403B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8B2820-58EB-2D0F-64BB-5C1ED172B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23CF73-ACE7-7111-F9F7-90823B45CF2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1884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4015-2F5E-1E68-DAD3-7168D7A0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3AF17B-542B-784E-3D58-1C282DCEF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C27F13-829A-5055-13EA-73800D8E072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1388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52B3B-4AB9-952A-2E31-5EB8CD96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7D4D0F-EB6B-91CC-7AF8-F9F1DEADC1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EC5813-4A9D-56C9-486D-9F44519A1D3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5251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49B24-E5C5-2889-655C-C8F54BA9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B55B51-7A32-1269-EB4D-5B1EDFA7B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6A2E2F-0CA2-A9F3-247C-164465CD596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57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C3154-BC3E-354E-7808-DBC09865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D8385B-AB9B-9F1F-8674-EA6C3C285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60C21E-3BEF-E925-9462-F355E4FDDDD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8840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3170-DC79-EFA5-B07A-EEE8D205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A31A42-B33A-374F-5752-88D015E35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E4229B-0BFE-0A16-8CD9-DFD28823100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9446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7761-8B22-C678-454F-6E2C664D1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1954F1-68FC-4D17-8BC9-605C2ECB02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E405A-228F-2DF4-3981-6D4D4BC7601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2372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C2CDB-0A57-04EA-2D49-3928D1929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8C4422-C0B5-4345-AA71-DDF452BCC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D68FA6-5369-FF71-F837-8B7454E2494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6314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8D97-5A42-B6DB-5161-FB4052DD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5CD3EF-17FA-7346-3830-CC9B48F3E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AB3C79-DEAF-CF5F-B786-5F3C15F7394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6080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40ACA-0DE2-EE1E-F204-ABD30833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06619E-777C-A451-A3A2-B9273559C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841901-7D6B-C267-487B-1605C0B7207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4385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99B0-9B70-0306-DF70-8017A11E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E05963-77AB-2DD2-E9CF-D02B1C0A9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FB04C2-9948-F573-2D8B-81383DA9B53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3535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5C425-D5C3-2A83-7D5C-8DE02BEC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4C4FC6-AC8D-A3F4-CBF7-02B280F02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EA3E14-187D-BA56-BAB1-1836D56A313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8705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D56AA-F8E4-20DB-2375-E410D855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95254C-6D0A-5306-200F-834F4AD304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C6147A-A6D0-12D2-E0DB-D7D4B936325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3378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7043-93E6-E489-2703-79514CF1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FBE74B-102B-DBB7-841E-44235BF2E4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A236C-B785-3010-A428-EF212BAFD29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9445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16A97-7F8F-7483-7D4F-4C6E9A4A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98F4A1-F783-11E1-554D-A71A3E51C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F4801-2759-536C-81FE-B93BA1096AE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3384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0534-F3D1-A201-EFEF-86CE0FD2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B0CE68-073C-0418-91DD-DFFF5AC7F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7B98DC-F3FF-0DAB-5896-F246EA38CBC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8972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96830-E67B-2A1E-4E39-CBE515E9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BEDEF2-FCCB-5B20-5C5A-0EE05DA9E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1A9423-0BEF-D502-F8E0-81786C71675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9476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D53F-E578-3916-A0B1-50CB2A72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CAD38D-40AB-F3CB-5E92-99B3FB589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1D58C3-057E-A843-927E-22605679749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568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CA7B-4D0A-7EEE-A3A3-BA1010F66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3AB6B0-6AEC-3CBC-94E1-D1D73E6C3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5AD6A3-1CD2-2B19-9F62-AF0381F349E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、</a:t>
            </a:r>
          </a:p>
        </p:txBody>
      </p:sp>
    </p:spTree>
    <p:extLst>
      <p:ext uri="{BB962C8B-B14F-4D97-AF65-F5344CB8AC3E}">
        <p14:creationId xmlns:p14="http://schemas.microsoft.com/office/powerpoint/2010/main" val="12997538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、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7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7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11035030" y="6314440"/>
            <a:ext cx="542290" cy="31686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312795" y="3007995"/>
            <a:ext cx="5817235" cy="101854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6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 rot="5400000">
            <a:off x="1813521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0" name="直接连接符 9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6200000">
            <a:off x="10233335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6" name="直接连接符 15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68966" y="229235"/>
            <a:ext cx="436176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ctr">
              <a:defRPr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 dirty="0"/>
              <a:t>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50645"/>
            <a:ext cx="10968990" cy="4545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5804852" y="6490666"/>
            <a:ext cx="575945" cy="316865"/>
          </a:xfrm>
          <a:prstGeom prst="rect">
            <a:avLst/>
          </a:prstGeom>
        </p:spPr>
        <p:txBody>
          <a:bodyPr/>
          <a:lstStyle>
            <a:lvl1pPr algn="ctr">
              <a:defRPr sz="1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2336402" y="-1401400"/>
            <a:ext cx="145143" cy="4817947"/>
            <a:chOff x="1393371" y="-1243804"/>
            <a:chExt cx="145143" cy="4817947"/>
          </a:xfrm>
          <a:solidFill>
            <a:srgbClr val="364765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solidFill>
              <a:srgbClr val="03553F"/>
            </a:solidFill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" name="AutoShape 2">
            <a:extLst>
              <a:ext uri="{FF2B5EF4-FFF2-40B4-BE49-F238E27FC236}">
                <a16:creationId xmlns:a16="http://schemas.microsoft.com/office/drawing/2014/main" id="{B4717D10-A366-9CC8-48A9-48EBB26ADE4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8538425" y="4043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2823814" y="3193868"/>
            <a:ext cx="1028700" cy="190500"/>
            <a:chOff x="2305050" y="1847850"/>
            <a:chExt cx="1028700" cy="19050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10800000">
            <a:off x="8339486" y="3193868"/>
            <a:ext cx="1028700" cy="190500"/>
            <a:chOff x="2305050" y="1847850"/>
            <a:chExt cx="1028700" cy="1905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标题 2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906520" y="2524760"/>
            <a:ext cx="4438015" cy="150177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algn="ctr">
              <a:defRPr sz="6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-15963"/>
            <a:ext cx="12192000" cy="701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740508"/>
            <a:ext cx="12192000" cy="8996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195218"/>
            <a:ext cx="2618739" cy="7017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单击插入文字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5522829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8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4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9202609" y="63723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10515600" cy="32476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73171" y="1435139"/>
            <a:ext cx="5522829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0"/>
          </p:nvPr>
        </p:nvSpPr>
        <p:spPr>
          <a:xfrm>
            <a:off x="9202609" y="6372317"/>
            <a:ext cx="2743200" cy="365125"/>
          </a:xfrm>
        </p:spPr>
        <p:txBody>
          <a:bodyPr/>
          <a:lstStyle/>
          <a:p>
            <a:fld id="{68AA89EC-6B38-409E-BD23-99513F836D0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341657" y="497149"/>
            <a:ext cx="10515600" cy="861646"/>
          </a:xfrm>
          <a:prstGeom prst="rect">
            <a:avLst/>
          </a:prstGeom>
        </p:spPr>
        <p:txBody>
          <a:bodyPr/>
          <a:lstStyle>
            <a:lvl1pPr>
              <a:defRPr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8081052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312795" y="3007995"/>
            <a:ext cx="5817235" cy="101854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600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 rot="5400000">
            <a:off x="1813521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0" name="直接连接符 9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 rot="16200000">
            <a:off x="10233335" y="2341994"/>
            <a:ext cx="145143" cy="2066864"/>
            <a:chOff x="1393371" y="1507279"/>
            <a:chExt cx="145143" cy="2066864"/>
          </a:xfrm>
          <a:solidFill>
            <a:srgbClr val="03553F"/>
          </a:solidFill>
        </p:grpSpPr>
        <p:cxnSp>
          <p:nvCxnSpPr>
            <p:cNvPr id="16" name="直接连接符 15"/>
            <p:cNvCxnSpPr/>
            <p:nvPr/>
          </p:nvCxnSpPr>
          <p:spPr>
            <a:xfrm rot="10800000" flipV="1">
              <a:off x="1465943" y="1507279"/>
              <a:ext cx="0" cy="192172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7997963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52730" y="229235"/>
            <a:ext cx="427799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/>
              <a:t>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50645"/>
            <a:ext cx="10968990" cy="454596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2336402" y="-1401400"/>
            <a:ext cx="145143" cy="4817947"/>
            <a:chOff x="1393371" y="-1243804"/>
            <a:chExt cx="145143" cy="4817947"/>
          </a:xfrm>
          <a:solidFill>
            <a:srgbClr val="364765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solidFill>
              <a:srgbClr val="03553F"/>
            </a:solidFill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079903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 userDrawn="1"/>
        </p:nvGrpSpPr>
        <p:grpSpPr>
          <a:xfrm>
            <a:off x="2823814" y="3193868"/>
            <a:ext cx="1028700" cy="190500"/>
            <a:chOff x="2305050" y="1847850"/>
            <a:chExt cx="1028700" cy="19050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 rot="10800000">
            <a:off x="8339486" y="3193868"/>
            <a:ext cx="1028700" cy="190500"/>
            <a:chOff x="2305050" y="1847850"/>
            <a:chExt cx="1028700" cy="190500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2495550" y="1943100"/>
              <a:ext cx="838200" cy="0"/>
            </a:xfrm>
            <a:prstGeom prst="line">
              <a:avLst/>
            </a:prstGeom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305050" y="1847850"/>
              <a:ext cx="190500" cy="190500"/>
            </a:xfrm>
            <a:prstGeom prst="ellipse">
              <a:avLst/>
            </a:prstGeom>
            <a:no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" name="标题 2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3906520" y="2524760"/>
            <a:ext cx="4438015" cy="1501775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Autofit/>
          </a:bodyPr>
          <a:lstStyle>
            <a:lvl1pPr algn="ctr">
              <a:defRPr sz="60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3031047280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7530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140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346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99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53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1802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749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49884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437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5459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015533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 userDrawn="1"/>
        </p:nvSpPr>
        <p:spPr>
          <a:xfrm>
            <a:off x="0" y="1855470"/>
            <a:ext cx="12192000" cy="27614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3625" y="2294890"/>
            <a:ext cx="7828280" cy="151257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7200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/>
              <a:t>编辑母版标题样式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 rot="16200000">
            <a:off x="1997710" y="-742950"/>
            <a:ext cx="145415" cy="4141470"/>
            <a:chOff x="1393371" y="-1243804"/>
            <a:chExt cx="145143" cy="4817947"/>
          </a:xfrm>
          <a:solidFill>
            <a:srgbClr val="03553F"/>
          </a:solidFill>
        </p:grpSpPr>
        <p:cxnSp>
          <p:nvCxnSpPr>
            <p:cNvPr id="42" name="直接连接符 41"/>
            <p:cNvCxnSpPr/>
            <p:nvPr/>
          </p:nvCxnSpPr>
          <p:spPr>
            <a:xfrm rot="5400000">
              <a:off x="-870459" y="1092598"/>
              <a:ext cx="4672804" cy="0"/>
            </a:xfrm>
            <a:prstGeom prst="lin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5400000">
            <a:off x="10439312" y="4487126"/>
            <a:ext cx="145143" cy="3360234"/>
            <a:chOff x="1393371" y="213909"/>
            <a:chExt cx="145143" cy="3360234"/>
          </a:xfrm>
          <a:solidFill>
            <a:srgbClr val="03553F"/>
          </a:solidFill>
        </p:grpSpPr>
        <p:cxnSp>
          <p:nvCxnSpPr>
            <p:cNvPr id="4" name="直接连接符 3"/>
            <p:cNvCxnSpPr/>
            <p:nvPr/>
          </p:nvCxnSpPr>
          <p:spPr>
            <a:xfrm rot="16200000" flipH="1">
              <a:off x="-141603" y="1821455"/>
              <a:ext cx="3215091" cy="0"/>
            </a:xfrm>
            <a:prstGeom prst="line">
              <a:avLst/>
            </a:prstGeom>
            <a:grpFill/>
            <a:ln w="38100">
              <a:solidFill>
                <a:srgbClr val="00573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393371" y="3429000"/>
              <a:ext cx="145143" cy="145143"/>
            </a:xfrm>
            <a:prstGeom prst="ellipse">
              <a:avLst/>
            </a:prstGeom>
            <a:grpFill/>
            <a:ln w="38100">
              <a:solidFill>
                <a:srgbClr val="0355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77347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10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3.xml"/><Relationship Id="rId18" Type="http://schemas.openxmlformats.org/officeDocument/2006/relationships/tags" Target="../tags/tag20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ags" Target="../tags/tag19.xml"/><Relationship Id="rId2" Type="http://schemas.openxmlformats.org/officeDocument/2006/relationships/slideLayout" Target="../slideLayouts/slideLayout17.xml"/><Relationship Id="rId16" Type="http://schemas.openxmlformats.org/officeDocument/2006/relationships/tags" Target="../tags/tag18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ags" Target="../tags/tag17.xml"/><Relationship Id="rId10" Type="http://schemas.openxmlformats.org/officeDocument/2006/relationships/slideLayout" Target="../slideLayouts/slideLayout25.xml"/><Relationship Id="rId19" Type="http://schemas.openxmlformats.org/officeDocument/2006/relationships/tags" Target="../tags/tag21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ags" Target="../tags/tag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0917555" y="6356350"/>
            <a:ext cx="670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261485" y="63995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5950800" y="6195600"/>
            <a:ext cx="670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custDataLst>
      <p:tags r:id="rId6"/>
    </p:custDataLst>
    <p:extLst>
      <p:ext uri="{BB962C8B-B14F-4D97-AF65-F5344CB8AC3E}">
        <p14:creationId xmlns:p14="http://schemas.microsoft.com/office/powerpoint/2010/main" val="85698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  <p:extLst>
      <p:ext uri="{BB962C8B-B14F-4D97-AF65-F5344CB8AC3E}">
        <p14:creationId xmlns:p14="http://schemas.microsoft.com/office/powerpoint/2010/main" val="169292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4ge.github.i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i4ge.github.io/" TargetMode="External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5788" y="1917413"/>
            <a:ext cx="10286999" cy="25305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人工智能通识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第二章 智能与计算思维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11CB91-2700-F309-4620-3E33490A0CD2}"/>
              </a:ext>
            </a:extLst>
          </p:cNvPr>
          <p:cNvSpPr txBox="1"/>
          <p:nvPr/>
        </p:nvSpPr>
        <p:spPr>
          <a:xfrm>
            <a:off x="8694513" y="6249630"/>
            <a:ext cx="36633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  <a:hlinkClick r:id="rId3"/>
              </a:rPr>
              <a:t>https://ai4ge.github.io/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EB1791-2CA9-3ECF-F0CD-AEB3A4484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88" y="4770635"/>
            <a:ext cx="4775021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1pPr>
            <a:lvl2pPr marL="742950" indent="-28575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2pPr>
            <a:lvl3pPr marL="11430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3pPr>
            <a:lvl4pPr marL="16002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4pPr>
            <a:lvl5pPr marL="2057400" indent="-228600" eaLnBrk="0" hangingPunct="0"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›"/>
              <a:tabLst>
                <a:tab pos="354013" algn="l"/>
              </a:tabLst>
              <a:defRPr sz="2500" b="1">
                <a:solidFill>
                  <a:schemeClr val="tx1"/>
                </a:solidFill>
                <a:latin typeface="Georgia" pitchFamily="18" charset="0"/>
                <a:ea typeface="MS PGothic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任课教师：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联系方式：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C5252"/>
              </a:buClr>
              <a:buSzPct val="90000"/>
              <a:buFont typeface="Wingdings" pitchFamily="2" charset="2"/>
              <a:buNone/>
              <a:tabLst>
                <a:tab pos="354013" algn="l"/>
              </a:tabLst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2026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年秋季学期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CA2495-5BE5-88BF-F210-B9F746167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590"/>
          <a:stretch>
            <a:fillRect/>
          </a:stretch>
        </p:blipFill>
        <p:spPr>
          <a:xfrm rot="16200000">
            <a:off x="3748246" y="-3763643"/>
            <a:ext cx="1929367" cy="94258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D6626CA-25A8-414D-D76E-5152F68B2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81" t="48704" r="3735" b="18333"/>
          <a:stretch>
            <a:fillRect/>
          </a:stretch>
        </p:blipFill>
        <p:spPr>
          <a:xfrm>
            <a:off x="9362982" y="-15397"/>
            <a:ext cx="2829018" cy="1929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793" y="200660"/>
            <a:ext cx="3781219" cy="705485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1" dirty="0"/>
              <a:t>课程教材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C81A2EC-D40C-EDE0-E440-6304FF689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003" y="1912938"/>
            <a:ext cx="5446300" cy="352901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《</a:t>
            </a:r>
            <a:r>
              <a:rPr lang="zh-CN" altLang="en-US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人工智能通识（公共课版）</a:t>
            </a:r>
            <a:r>
              <a:rPr lang="zh-CN" altLang="zh-CN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》</a:t>
            </a:r>
            <a:endParaRPr lang="en-US" altLang="zh-CN" sz="2600" b="1" dirty="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182563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机械工业</a:t>
            </a:r>
            <a:r>
              <a:rPr lang="zh-CN" altLang="zh-CN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出版社</a:t>
            </a:r>
            <a:r>
              <a:rPr lang="en-US" altLang="zh-CN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</a:p>
          <a:p>
            <a:pPr marL="0" indent="182563">
              <a:lnSpc>
                <a:spcPct val="150000"/>
              </a:lnSpc>
              <a:spcAft>
                <a:spcPts val="0"/>
              </a:spcAft>
              <a:buNone/>
            </a:pP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主  </a:t>
            </a:r>
            <a:r>
              <a:rPr lang="zh-CN" altLang="zh-CN" sz="2400" dirty="0">
                <a:latin typeface="SimHei" panose="02010609060101010101" pitchFamily="49" charset="-122"/>
                <a:ea typeface="SimHei" panose="02010609060101010101" pitchFamily="49" charset="-122"/>
              </a:rPr>
              <a:t>编</a:t>
            </a: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：黄 栋、黄 琼、裴颂文</a:t>
            </a:r>
            <a:endParaRPr lang="en-US" altLang="zh-CN" sz="24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182563">
              <a:lnSpc>
                <a:spcPct val="150000"/>
              </a:lnSpc>
              <a:spcAft>
                <a:spcPts val="0"/>
              </a:spcAft>
              <a:buNone/>
            </a:pPr>
            <a:r>
              <a:rPr lang="en-US" altLang="zh-CN" sz="2400" dirty="0">
                <a:latin typeface="SimHei" panose="02010609060101010101" pitchFamily="49" charset="-122"/>
                <a:ea typeface="SimHei" panose="02010609060101010101" pitchFamily="49" charset="-122"/>
              </a:rPr>
              <a:t>ISBN</a:t>
            </a:r>
            <a:r>
              <a:rPr lang="zh-CN" altLang="en-US" sz="2400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en-US" altLang="zh-CN" sz="2400">
                <a:latin typeface="SimHei" panose="02010609060101010101" pitchFamily="49" charset="-122"/>
                <a:ea typeface="SimHei" panose="02010609060101010101" pitchFamily="49" charset="-122"/>
              </a:rPr>
              <a:t>978-7-111-82285-1</a:t>
            </a:r>
            <a:endParaRPr lang="en-US" altLang="zh-CN" sz="24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73BA5BF-8032-411B-E8ED-961C90D06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24266" y="1037263"/>
            <a:ext cx="3454731" cy="478347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847BAA57-A82C-BCC6-FE28-204EB3C5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D7CA4F-F1CF-C404-DDF8-4C44A8CC7B8F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201445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55010" y="3262630"/>
            <a:ext cx="5817235" cy="1018540"/>
          </a:xfrm>
        </p:spPr>
        <p:txBody>
          <a:bodyPr>
            <a:normAutofit fontScale="90000"/>
          </a:bodyPr>
          <a:lstStyle/>
          <a:p>
            <a:r>
              <a:rPr lang="zh-CN" altLang="en-US" sz="660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智能与计算思维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35030" y="6314440"/>
            <a:ext cx="54229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5231020" y="2286714"/>
            <a:ext cx="17299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000" b="1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第二章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教学目录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604032-C3BD-0786-4B21-41B0A61F8421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5EEE86F0-7967-3206-48D2-852433AEA5AF}"/>
              </a:ext>
            </a:extLst>
          </p:cNvPr>
          <p:cNvSpPr>
            <a:spLocks noGrp="1"/>
          </p:cNvSpPr>
          <p:nvPr/>
        </p:nvSpPr>
        <p:spPr>
          <a:xfrm>
            <a:off x="1765299" y="1790700"/>
            <a:ext cx="521781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01</a:t>
            </a:r>
          </a:p>
        </p:txBody>
      </p:sp>
      <p:sp>
        <p:nvSpPr>
          <p:cNvPr id="11" name="计算思维">
            <a:extLst>
              <a:ext uri="{FF2B5EF4-FFF2-40B4-BE49-F238E27FC236}">
                <a16:creationId xmlns:a16="http://schemas.microsoft.com/office/drawing/2014/main" id="{7EC5FA18-95F9-4F86-C1D5-35AC5D4B5A5C}"/>
              </a:ext>
            </a:extLst>
          </p:cNvPr>
          <p:cNvSpPr>
            <a:spLocks noGrp="1"/>
          </p:cNvSpPr>
          <p:nvPr/>
        </p:nvSpPr>
        <p:spPr>
          <a:xfrm>
            <a:off x="2432050" y="1790700"/>
            <a:ext cx="2207536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计算思维</a:t>
            </a:r>
          </a:p>
        </p:txBody>
      </p:sp>
      <p:sp>
        <p:nvSpPr>
          <p:cNvPr id="12" name="怎样把复杂任务拆开、想清楚？">
            <a:extLst>
              <a:ext uri="{FF2B5EF4-FFF2-40B4-BE49-F238E27FC236}">
                <a16:creationId xmlns:a16="http://schemas.microsoft.com/office/drawing/2014/main" id="{F103F6EA-05D3-EDED-4150-CA4D6CBCA805}"/>
              </a:ext>
            </a:extLst>
          </p:cNvPr>
          <p:cNvSpPr>
            <a:spLocks noGrp="1"/>
          </p:cNvSpPr>
          <p:nvPr/>
        </p:nvSpPr>
        <p:spPr>
          <a:xfrm>
            <a:off x="4756149" y="1790700"/>
            <a:ext cx="6321581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chemeClr val="tx1">
                    <a:lumMod val="75000"/>
                    <a:lumOff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怎样把复杂任务拆开、想清楚？</a:t>
            </a:r>
          </a:p>
        </p:txBody>
      </p:sp>
      <p:sp>
        <p:nvSpPr>
          <p:cNvPr id="13" name="02">
            <a:extLst>
              <a:ext uri="{FF2B5EF4-FFF2-40B4-BE49-F238E27FC236}">
                <a16:creationId xmlns:a16="http://schemas.microsoft.com/office/drawing/2014/main" id="{1FA26FC9-CB86-2CE4-ADFB-ACE5CD63E383}"/>
              </a:ext>
            </a:extLst>
          </p:cNvPr>
          <p:cNvSpPr>
            <a:spLocks noGrp="1"/>
          </p:cNvSpPr>
          <p:nvPr/>
        </p:nvSpPr>
        <p:spPr>
          <a:xfrm>
            <a:off x="1765299" y="2628900"/>
            <a:ext cx="521781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02</a:t>
            </a:r>
          </a:p>
        </p:txBody>
      </p:sp>
      <p:sp>
        <p:nvSpPr>
          <p:cNvPr id="14" name="规则与数据">
            <a:extLst>
              <a:ext uri="{FF2B5EF4-FFF2-40B4-BE49-F238E27FC236}">
                <a16:creationId xmlns:a16="http://schemas.microsoft.com/office/drawing/2014/main" id="{2782450C-8B12-1472-1C09-CA5336927C74}"/>
              </a:ext>
            </a:extLst>
          </p:cNvPr>
          <p:cNvSpPr>
            <a:spLocks noGrp="1"/>
          </p:cNvSpPr>
          <p:nvPr/>
        </p:nvSpPr>
        <p:spPr>
          <a:xfrm>
            <a:off x="2432050" y="2628900"/>
            <a:ext cx="2207536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规则与数据</a:t>
            </a:r>
          </a:p>
        </p:txBody>
      </p:sp>
      <p:sp>
        <p:nvSpPr>
          <p:cNvPr id="15" name="怎样把判断步骤交给机器？规则写不全时怎么办？">
            <a:extLst>
              <a:ext uri="{FF2B5EF4-FFF2-40B4-BE49-F238E27FC236}">
                <a16:creationId xmlns:a16="http://schemas.microsoft.com/office/drawing/2014/main" id="{D9CA17E5-16B2-2EC1-8B10-DDDA00AB4466}"/>
              </a:ext>
            </a:extLst>
          </p:cNvPr>
          <p:cNvSpPr>
            <a:spLocks noGrp="1"/>
          </p:cNvSpPr>
          <p:nvPr/>
        </p:nvSpPr>
        <p:spPr>
          <a:xfrm>
            <a:off x="4756149" y="2628900"/>
            <a:ext cx="6321581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chemeClr val="tx1">
                    <a:lumMod val="75000"/>
                    <a:lumOff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怎样把判断步骤交给机器？规则写不全时怎么办？</a:t>
            </a:r>
          </a:p>
        </p:txBody>
      </p:sp>
      <p:sp>
        <p:nvSpPr>
          <p:cNvPr id="16" name="03">
            <a:extLst>
              <a:ext uri="{FF2B5EF4-FFF2-40B4-BE49-F238E27FC236}">
                <a16:creationId xmlns:a16="http://schemas.microsoft.com/office/drawing/2014/main" id="{B999804C-10A1-F637-7974-637359D4BCD9}"/>
              </a:ext>
            </a:extLst>
          </p:cNvPr>
          <p:cNvSpPr>
            <a:spLocks noGrp="1"/>
          </p:cNvSpPr>
          <p:nvPr/>
        </p:nvSpPr>
        <p:spPr>
          <a:xfrm>
            <a:off x="1765299" y="3467100"/>
            <a:ext cx="521781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03</a:t>
            </a:r>
          </a:p>
        </p:txBody>
      </p:sp>
      <p:sp>
        <p:nvSpPr>
          <p:cNvPr id="17" name="智能思维">
            <a:extLst>
              <a:ext uri="{FF2B5EF4-FFF2-40B4-BE49-F238E27FC236}">
                <a16:creationId xmlns:a16="http://schemas.microsoft.com/office/drawing/2014/main" id="{2F3D77E9-863C-0469-F6E2-A95DC972252A}"/>
              </a:ext>
            </a:extLst>
          </p:cNvPr>
          <p:cNvSpPr>
            <a:spLocks noGrp="1"/>
          </p:cNvSpPr>
          <p:nvPr/>
        </p:nvSpPr>
        <p:spPr>
          <a:xfrm>
            <a:off x="2432050" y="3467100"/>
            <a:ext cx="2207536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智能思维</a:t>
            </a:r>
          </a:p>
        </p:txBody>
      </p:sp>
      <p:sp>
        <p:nvSpPr>
          <p:cNvPr id="18" name="怎样借助数据，并面对不确定的结果？">
            <a:extLst>
              <a:ext uri="{FF2B5EF4-FFF2-40B4-BE49-F238E27FC236}">
                <a16:creationId xmlns:a16="http://schemas.microsoft.com/office/drawing/2014/main" id="{9209518F-3364-F373-533B-27A612690BA1}"/>
              </a:ext>
            </a:extLst>
          </p:cNvPr>
          <p:cNvSpPr>
            <a:spLocks noGrp="1"/>
          </p:cNvSpPr>
          <p:nvPr/>
        </p:nvSpPr>
        <p:spPr>
          <a:xfrm>
            <a:off x="4756149" y="3467100"/>
            <a:ext cx="6321581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chemeClr val="tx1">
                    <a:lumMod val="75000"/>
                    <a:lumOff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怎样借助数据，并面对不确定的结果？</a:t>
            </a:r>
          </a:p>
        </p:txBody>
      </p:sp>
      <p:sp>
        <p:nvSpPr>
          <p:cNvPr id="19" name="04">
            <a:extLst>
              <a:ext uri="{FF2B5EF4-FFF2-40B4-BE49-F238E27FC236}">
                <a16:creationId xmlns:a16="http://schemas.microsoft.com/office/drawing/2014/main" id="{8B04A430-AE61-C894-EF3D-C6BED34B1B0C}"/>
              </a:ext>
            </a:extLst>
          </p:cNvPr>
          <p:cNvSpPr>
            <a:spLocks noGrp="1"/>
          </p:cNvSpPr>
          <p:nvPr/>
        </p:nvSpPr>
        <p:spPr>
          <a:xfrm>
            <a:off x="1765299" y="4305300"/>
            <a:ext cx="521781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04</a:t>
            </a:r>
          </a:p>
        </p:txBody>
      </p:sp>
      <p:sp>
        <p:nvSpPr>
          <p:cNvPr id="20" name="方法配合">
            <a:extLst>
              <a:ext uri="{FF2B5EF4-FFF2-40B4-BE49-F238E27FC236}">
                <a16:creationId xmlns:a16="http://schemas.microsoft.com/office/drawing/2014/main" id="{BB79FC1F-8406-F05F-803D-EA2DB3517531}"/>
              </a:ext>
            </a:extLst>
          </p:cNvPr>
          <p:cNvSpPr>
            <a:spLocks noGrp="1"/>
          </p:cNvSpPr>
          <p:nvPr/>
        </p:nvSpPr>
        <p:spPr>
          <a:xfrm>
            <a:off x="2432050" y="4305300"/>
            <a:ext cx="2207536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方法配合</a:t>
            </a:r>
          </a:p>
        </p:txBody>
      </p:sp>
      <p:sp>
        <p:nvSpPr>
          <p:cNvPr id="21" name="怎样把规则和从数据中学习的方法一起用起来？">
            <a:extLst>
              <a:ext uri="{FF2B5EF4-FFF2-40B4-BE49-F238E27FC236}">
                <a16:creationId xmlns:a16="http://schemas.microsoft.com/office/drawing/2014/main" id="{C7436D03-B540-1834-E697-F42CFBA9C328}"/>
              </a:ext>
            </a:extLst>
          </p:cNvPr>
          <p:cNvSpPr>
            <a:spLocks noGrp="1"/>
          </p:cNvSpPr>
          <p:nvPr/>
        </p:nvSpPr>
        <p:spPr>
          <a:xfrm>
            <a:off x="4756149" y="4305300"/>
            <a:ext cx="6321581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chemeClr val="tx1">
                    <a:lumMod val="75000"/>
                    <a:lumOff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怎样把规则和从数据中学习的方法一起用起来？</a:t>
            </a:r>
          </a:p>
        </p:txBody>
      </p:sp>
      <p:sp>
        <p:nvSpPr>
          <p:cNvPr id="22" name="05">
            <a:extLst>
              <a:ext uri="{FF2B5EF4-FFF2-40B4-BE49-F238E27FC236}">
                <a16:creationId xmlns:a16="http://schemas.microsoft.com/office/drawing/2014/main" id="{E0E536BD-74E3-0606-7D90-CBA71566FEF9}"/>
              </a:ext>
            </a:extLst>
          </p:cNvPr>
          <p:cNvSpPr>
            <a:spLocks noGrp="1"/>
          </p:cNvSpPr>
          <p:nvPr/>
        </p:nvSpPr>
        <p:spPr>
          <a:xfrm>
            <a:off x="1765299" y="5143500"/>
            <a:ext cx="521781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05</a:t>
            </a:r>
          </a:p>
        </p:txBody>
      </p:sp>
      <p:sp>
        <p:nvSpPr>
          <p:cNvPr id="23" name="学习方式">
            <a:extLst>
              <a:ext uri="{FF2B5EF4-FFF2-40B4-BE49-F238E27FC236}">
                <a16:creationId xmlns:a16="http://schemas.microsoft.com/office/drawing/2014/main" id="{8CD4E00F-19C1-1001-C5EA-0D8F4BF10697}"/>
              </a:ext>
            </a:extLst>
          </p:cNvPr>
          <p:cNvSpPr>
            <a:spLocks noGrp="1"/>
          </p:cNvSpPr>
          <p:nvPr/>
        </p:nvSpPr>
        <p:spPr>
          <a:xfrm>
            <a:off x="2432050" y="5143500"/>
            <a:ext cx="2207536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学习</a:t>
            </a:r>
            <a:r>
              <a:rPr lang="zh-CN" altLang="en-US" sz="2200" b="1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范式</a:t>
            </a:r>
            <a:endParaRPr sz="2200" b="1" dirty="0">
              <a:solidFill>
                <a:srgbClr val="213547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24" name="机器获得什么信息，又怎样利用这些信息？">
            <a:extLst>
              <a:ext uri="{FF2B5EF4-FFF2-40B4-BE49-F238E27FC236}">
                <a16:creationId xmlns:a16="http://schemas.microsoft.com/office/drawing/2014/main" id="{8CE14801-4857-6C87-B7E7-DA86B3C2F1ED}"/>
              </a:ext>
            </a:extLst>
          </p:cNvPr>
          <p:cNvSpPr>
            <a:spLocks noGrp="1"/>
          </p:cNvSpPr>
          <p:nvPr/>
        </p:nvSpPr>
        <p:spPr>
          <a:xfrm>
            <a:off x="4756149" y="5143500"/>
            <a:ext cx="6321581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chemeClr val="tx1">
                    <a:lumMod val="75000"/>
                    <a:lumOff val="2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机器获得什么信息，又怎样利用这些信息？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55010" y="3064510"/>
            <a:ext cx="5817235" cy="1018540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从校园生活讲起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689" y="124297"/>
            <a:ext cx="5576866" cy="705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校园生活：六个熟悉的任务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546C00-76E0-66E1-DC2E-8AA238BB5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22"/>
          <a:stretch>
            <a:fillRect/>
          </a:stretch>
        </p:blipFill>
        <p:spPr>
          <a:xfrm>
            <a:off x="0" y="1181100"/>
            <a:ext cx="12192000" cy="5676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966" y="124304"/>
            <a:ext cx="4361760" cy="705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把这些任务交给机器，难在哪里？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5E2492-4775-FCB0-743F-DD94ADFAD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31"/>
          <a:stretch>
            <a:fillRect/>
          </a:stretch>
        </p:blipFill>
        <p:spPr>
          <a:xfrm>
            <a:off x="0" y="1154242"/>
            <a:ext cx="12192000" cy="57037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B1695-4479-A853-8FFE-DF1D9F7E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9435896-A2E9-11C8-9CBD-DE285F8E8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5010" y="2758190"/>
            <a:ext cx="5817235" cy="1324860"/>
          </a:xfrm>
        </p:spPr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带着这个问题，</a:t>
            </a:r>
            <a:br>
              <a:rPr lang="en-US" altLang="zh-CN" dirty="0">
                <a:cs typeface="+mn-ea"/>
                <a:sym typeface="+mn-lt"/>
              </a:rPr>
            </a:br>
            <a:r>
              <a:rPr lang="zh-CN" altLang="en-US" dirty="0">
                <a:cs typeface="+mn-ea"/>
                <a:sym typeface="+mn-lt"/>
              </a:rPr>
              <a:t>我们进入到本章学习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0322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本章学习目标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DBEFF8C-60FB-8644-EEBA-D5D11A56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FECEF0-08D1-C43E-0C95-523B24BED1B9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2C34AD4A-C37B-D4AF-A9EB-EE49159313F6}"/>
              </a:ext>
            </a:extLst>
          </p:cNvPr>
          <p:cNvSpPr/>
          <p:nvPr/>
        </p:nvSpPr>
        <p:spPr>
          <a:xfrm>
            <a:off x="502920" y="1353312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4" name="Picture 11" descr="p08_s43.png">
            <a:extLst>
              <a:ext uri="{FF2B5EF4-FFF2-40B4-BE49-F238E27FC236}">
                <a16:creationId xmlns:a16="http://schemas.microsoft.com/office/drawing/2014/main" id="{3358EFE2-A4B0-D78F-1ADF-484556040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54480"/>
            <a:ext cx="301752" cy="301752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7BAD03CA-A19A-4C52-750A-89433F0ECB53}"/>
              </a:ext>
            </a:extLst>
          </p:cNvPr>
          <p:cNvSpPr txBox="1"/>
          <p:nvPr/>
        </p:nvSpPr>
        <p:spPr>
          <a:xfrm>
            <a:off x="1115568" y="1517904"/>
            <a:ext cx="4718304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会拆解问题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113100C3-435F-31AC-44D9-7120D91F16EC}"/>
              </a:ext>
            </a:extLst>
          </p:cNvPr>
          <p:cNvSpPr txBox="1"/>
          <p:nvPr/>
        </p:nvSpPr>
        <p:spPr>
          <a:xfrm>
            <a:off x="713232" y="2185416"/>
            <a:ext cx="5065776" cy="69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能用分解、模式识别、抽象和算法设计分析一个生活任务。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69DDF086-2116-D050-E245-95383E5F8157}"/>
              </a:ext>
            </a:extLst>
          </p:cNvPr>
          <p:cNvSpPr/>
          <p:nvPr/>
        </p:nvSpPr>
        <p:spPr>
          <a:xfrm>
            <a:off x="6190488" y="1353312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9" name="Picture 15" descr="p08_s47.png">
            <a:extLst>
              <a:ext uri="{FF2B5EF4-FFF2-40B4-BE49-F238E27FC236}">
                <a16:creationId xmlns:a16="http://schemas.microsoft.com/office/drawing/2014/main" id="{F607CDAB-5B75-AF7A-0523-F506F2DB2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1554480"/>
            <a:ext cx="301752" cy="301752"/>
          </a:xfrm>
          <a:prstGeom prst="rect">
            <a:avLst/>
          </a:prstGeom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C0D2BA53-8A91-67D0-8F01-F09F24A20C37}"/>
              </a:ext>
            </a:extLst>
          </p:cNvPr>
          <p:cNvSpPr txBox="1"/>
          <p:nvPr/>
        </p:nvSpPr>
        <p:spPr>
          <a:xfrm>
            <a:off x="6803136" y="1517904"/>
            <a:ext cx="4718304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懂规则与数据</a:t>
            </a: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5ED6771E-CBD7-67AA-E611-86D291B5E95E}"/>
              </a:ext>
            </a:extLst>
          </p:cNvPr>
          <p:cNvSpPr txBox="1"/>
          <p:nvPr/>
        </p:nvSpPr>
        <p:spPr>
          <a:xfrm>
            <a:off x="6400800" y="2185416"/>
            <a:ext cx="5065776" cy="69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能说明人工规则与数据学习的不同作用及各自局限。</a:t>
            </a:r>
          </a:p>
        </p:txBody>
      </p: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B4485358-75E5-0079-981C-675A4A308196}"/>
              </a:ext>
            </a:extLst>
          </p:cNvPr>
          <p:cNvSpPr/>
          <p:nvPr/>
        </p:nvSpPr>
        <p:spPr>
          <a:xfrm>
            <a:off x="502920" y="3520440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29" name="Picture 19" descr="p08_s51.png">
            <a:extLst>
              <a:ext uri="{FF2B5EF4-FFF2-40B4-BE49-F238E27FC236}">
                <a16:creationId xmlns:a16="http://schemas.microsoft.com/office/drawing/2014/main" id="{3972924D-C660-BC79-3506-EB5446C47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721608"/>
            <a:ext cx="301752" cy="301752"/>
          </a:xfrm>
          <a:prstGeom prst="rect">
            <a:avLst/>
          </a:prstGeom>
        </p:spPr>
      </p:pic>
      <p:sp>
        <p:nvSpPr>
          <p:cNvPr id="30" name="TextBox 20">
            <a:extLst>
              <a:ext uri="{FF2B5EF4-FFF2-40B4-BE49-F238E27FC236}">
                <a16:creationId xmlns:a16="http://schemas.microsoft.com/office/drawing/2014/main" id="{5D42E865-2CAC-280E-5049-BACBE8E69241}"/>
              </a:ext>
            </a:extLst>
          </p:cNvPr>
          <p:cNvSpPr txBox="1"/>
          <p:nvPr/>
        </p:nvSpPr>
        <p:spPr>
          <a:xfrm>
            <a:off x="1115568" y="3685032"/>
            <a:ext cx="4718304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能审慎判断</a:t>
            </a:r>
            <a:endParaRPr sz="28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7D2368F8-6646-87BE-2EF2-AF80B61B59CC}"/>
              </a:ext>
            </a:extLst>
          </p:cNvPr>
          <p:cNvSpPr txBox="1"/>
          <p:nvPr/>
        </p:nvSpPr>
        <p:spPr>
          <a:xfrm>
            <a:off x="713232" y="4352544"/>
            <a:ext cx="5065776" cy="690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理解概率、关联和反馈，不把模型输出当作必然正确的答案。</a:t>
            </a:r>
          </a:p>
        </p:txBody>
      </p:sp>
      <p:sp>
        <p:nvSpPr>
          <p:cNvPr id="32" name="Rounded Rectangle 22">
            <a:extLst>
              <a:ext uri="{FF2B5EF4-FFF2-40B4-BE49-F238E27FC236}">
                <a16:creationId xmlns:a16="http://schemas.microsoft.com/office/drawing/2014/main" id="{C2027A31-4853-B4D2-09C4-4AEC89379A56}"/>
              </a:ext>
            </a:extLst>
          </p:cNvPr>
          <p:cNvSpPr/>
          <p:nvPr/>
        </p:nvSpPr>
        <p:spPr>
          <a:xfrm>
            <a:off x="6190488" y="3520440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33" name="Picture 23" descr="p08_s55.png">
            <a:extLst>
              <a:ext uri="{FF2B5EF4-FFF2-40B4-BE49-F238E27FC236}">
                <a16:creationId xmlns:a16="http://schemas.microsoft.com/office/drawing/2014/main" id="{B005DF2C-4B41-5D37-4C11-831830223D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721608"/>
            <a:ext cx="301752" cy="301752"/>
          </a:xfrm>
          <a:prstGeom prst="rect">
            <a:avLst/>
          </a:prstGeom>
        </p:spPr>
      </p:pic>
      <p:sp>
        <p:nvSpPr>
          <p:cNvPr id="34" name="TextBox 24">
            <a:extLst>
              <a:ext uri="{FF2B5EF4-FFF2-40B4-BE49-F238E27FC236}">
                <a16:creationId xmlns:a16="http://schemas.microsoft.com/office/drawing/2014/main" id="{4FF693FF-52B2-8F35-1177-8A59007DEAB9}"/>
              </a:ext>
            </a:extLst>
          </p:cNvPr>
          <p:cNvSpPr txBox="1"/>
          <p:nvPr/>
        </p:nvSpPr>
        <p:spPr>
          <a:xfrm>
            <a:off x="6803136" y="3685032"/>
            <a:ext cx="4718304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区分</a:t>
            </a:r>
            <a:r>
              <a:rPr sz="28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学习</a:t>
            </a:r>
            <a:r>
              <a:rPr lang="zh-CN" altLang="en-US" sz="28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范</a:t>
            </a:r>
            <a:r>
              <a:rPr sz="28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式</a:t>
            </a:r>
            <a:endParaRPr sz="28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F8191123-0A5B-36C4-75E6-2A69C61C35B6}"/>
              </a:ext>
            </a:extLst>
          </p:cNvPr>
          <p:cNvSpPr txBox="1"/>
          <p:nvPr/>
        </p:nvSpPr>
        <p:spPr>
          <a:xfrm>
            <a:off x="6400800" y="4352544"/>
            <a:ext cx="5065776" cy="708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初步区分</a:t>
            </a:r>
            <a:r>
              <a:rPr lang="zh-CN" altLang="en-US" sz="210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endParaRPr lang="en-US" altLang="zh-CN" sz="2100" dirty="0">
              <a:solidFill>
                <a:srgbClr val="24343C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监督学习、无监督学习和强化学习</a:t>
            </a:r>
            <a:r>
              <a:rPr sz="210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F32C8A00-F8AC-1FFB-E8FF-2B5283D2DD94}"/>
              </a:ext>
            </a:extLst>
          </p:cNvPr>
          <p:cNvSpPr/>
          <p:nvPr/>
        </p:nvSpPr>
        <p:spPr>
          <a:xfrm>
            <a:off x="411480" y="5733288"/>
            <a:ext cx="11338560" cy="56692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77BBDC56-25F5-297E-AECC-88C91F66A997}"/>
              </a:ext>
            </a:extLst>
          </p:cNvPr>
          <p:cNvSpPr txBox="1"/>
          <p:nvPr/>
        </p:nvSpPr>
        <p:spPr>
          <a:xfrm>
            <a:off x="603504" y="5837460"/>
            <a:ext cx="10927080" cy="3677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学习结果：说得清思路，举得出例子，能检查结论</a:t>
            </a:r>
            <a:r>
              <a:rPr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0002-1525-2224-3BAE-1826AE1D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ABA67787-BD0F-62CC-BC54-15EC4649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81" y="2938071"/>
            <a:ext cx="5817235" cy="670810"/>
          </a:xfrm>
        </p:spPr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计算思维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9C1C2892-59C0-BBAA-8A74-B10F8E697D85}"/>
              </a:ext>
            </a:extLst>
          </p:cNvPr>
          <p:cNvSpPr txBox="1"/>
          <p:nvPr/>
        </p:nvSpPr>
        <p:spPr>
          <a:xfrm>
            <a:off x="952498" y="3668841"/>
            <a:ext cx="1028700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把问题表达清楚，把解决方案组织成可执行的形式</a:t>
            </a:r>
            <a:r>
              <a:rPr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45481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什么是计算思维？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4EEE7D14-5F6C-C590-F227-CE565F08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F44680-B45A-B196-E771-02CA69D9A26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EEFBD07D-753F-8198-73E3-71A8DECF5D36}"/>
              </a:ext>
            </a:extLst>
          </p:cNvPr>
          <p:cNvSpPr/>
          <p:nvPr/>
        </p:nvSpPr>
        <p:spPr>
          <a:xfrm>
            <a:off x="483038" y="1181033"/>
            <a:ext cx="11098924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333333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5FA1A03E-401B-74A3-2DCB-FA88F47B90D1}"/>
              </a:ext>
            </a:extLst>
          </p:cNvPr>
          <p:cNvSpPr/>
          <p:nvPr/>
        </p:nvSpPr>
        <p:spPr>
          <a:xfrm>
            <a:off x="746759" y="1366273"/>
            <a:ext cx="10510126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627063" algn="l">
              <a:lnSpc>
                <a:spcPct val="116666"/>
              </a:lnSpc>
              <a:defRPr/>
            </a:pPr>
            <a:r>
              <a:rPr lang="en-US" sz="2400" b="1" i="0" u="none" strike="noStrike" dirty="0" err="1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Noto Sans SC"/>
              </a:rPr>
              <a:t>运用计算机科学的基础概念进行问题求解、系统设计以及人类行为理解等思维活动</a:t>
            </a:r>
            <a:r>
              <a:rPr lang="en-US" sz="2400" b="1" i="0" u="none" strike="noStrike" dirty="0"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  <a:sym typeface="Noto Sans SC"/>
              </a:rPr>
              <a:t>。</a:t>
            </a:r>
            <a:endParaRPr lang="en-US" sz="2400" b="1" dirty="0"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marL="0" indent="0" algn="r">
              <a:lnSpc>
                <a:spcPct val="125000"/>
              </a:lnSpc>
            </a:pPr>
            <a:r>
              <a:rPr lang="en-US" sz="2000" b="1" i="0" u="none" strike="noStrike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/>
              </a:rPr>
              <a:t>—— </a:t>
            </a:r>
            <a:r>
              <a:rPr lang="en-US" sz="2000" b="1" i="0" u="none" strike="noStrike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/>
              </a:rPr>
              <a:t>周以真</a:t>
            </a:r>
            <a:r>
              <a:rPr lang="en-US" sz="2000" b="1" i="0" u="none" strike="noStrike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/>
              </a:rPr>
              <a:t> (Jeannette M. Wing)</a:t>
            </a:r>
            <a:r>
              <a:rPr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Noto Sans SC"/>
              </a:rPr>
              <a:t>，计算机科学家</a:t>
            </a:r>
            <a:endParaRPr lang="en-US" sz="2000" b="1" i="0" u="none" strike="noStrike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Noto Sans SC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787527C-8D6A-06DA-A328-A824D47B2DDF}"/>
              </a:ext>
            </a:extLst>
          </p:cNvPr>
          <p:cNvSpPr/>
          <p:nvPr/>
        </p:nvSpPr>
        <p:spPr>
          <a:xfrm>
            <a:off x="407994" y="2702380"/>
            <a:ext cx="5486400" cy="1869619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8" name="Oval 13">
            <a:extLst>
              <a:ext uri="{FF2B5EF4-FFF2-40B4-BE49-F238E27FC236}">
                <a16:creationId xmlns:a16="http://schemas.microsoft.com/office/drawing/2014/main" id="{FAC02E02-E9F0-5343-571E-EF1F4315AF77}"/>
              </a:ext>
            </a:extLst>
          </p:cNvPr>
          <p:cNvSpPr/>
          <p:nvPr/>
        </p:nvSpPr>
        <p:spPr>
          <a:xfrm>
            <a:off x="600018" y="2903548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C0C83C72-5922-43CD-F2A6-F19CAC13B639}"/>
              </a:ext>
            </a:extLst>
          </p:cNvPr>
          <p:cNvSpPr txBox="1"/>
          <p:nvPr/>
        </p:nvSpPr>
        <p:spPr>
          <a:xfrm>
            <a:off x="600018" y="2920007"/>
            <a:ext cx="329184" cy="191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586D56A2-5F5D-A728-DB6A-4DB93A365B30}"/>
              </a:ext>
            </a:extLst>
          </p:cNvPr>
          <p:cNvSpPr txBox="1"/>
          <p:nvPr/>
        </p:nvSpPr>
        <p:spPr>
          <a:xfrm>
            <a:off x="1038930" y="2866972"/>
            <a:ext cx="4700016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</a:t>
            </a: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是简单</a:t>
            </a: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等于“像机器一样思考</a:t>
            </a:r>
            <a:r>
              <a:rPr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”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7208CD78-84B4-E982-AE1C-E28FF042777C}"/>
              </a:ext>
            </a:extLst>
          </p:cNvPr>
          <p:cNvSpPr txBox="1"/>
          <p:nvPr/>
        </p:nvSpPr>
        <p:spPr>
          <a:xfrm>
            <a:off x="618306" y="3459534"/>
            <a:ext cx="5065776" cy="9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 err="1">
                <a:solidFill>
                  <a:srgbClr val="24343C"/>
                </a:solidFill>
                <a:latin typeface="Microsoft YaHei"/>
                <a:ea typeface="Microsoft YaHei"/>
              </a:rPr>
              <a:t>计算思维是人解决问题的方法，不是机械地照搬指令</a:t>
            </a:r>
            <a:r>
              <a:rPr sz="2100" b="0" dirty="0">
                <a:solidFill>
                  <a:srgbClr val="24343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2" name="Rounded Rectangle 17">
            <a:extLst>
              <a:ext uri="{FF2B5EF4-FFF2-40B4-BE49-F238E27FC236}">
                <a16:creationId xmlns:a16="http://schemas.microsoft.com/office/drawing/2014/main" id="{4A116813-E0D3-6D86-9AA7-D699804AC2D1}"/>
              </a:ext>
            </a:extLst>
          </p:cNvPr>
          <p:cNvSpPr/>
          <p:nvPr/>
        </p:nvSpPr>
        <p:spPr>
          <a:xfrm>
            <a:off x="6095562" y="2702380"/>
            <a:ext cx="5486400" cy="1869619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Oval 18">
            <a:extLst>
              <a:ext uri="{FF2B5EF4-FFF2-40B4-BE49-F238E27FC236}">
                <a16:creationId xmlns:a16="http://schemas.microsoft.com/office/drawing/2014/main" id="{A607FF56-2430-4A50-23D5-7B0C304056D4}"/>
              </a:ext>
            </a:extLst>
          </p:cNvPr>
          <p:cNvSpPr/>
          <p:nvPr/>
        </p:nvSpPr>
        <p:spPr>
          <a:xfrm>
            <a:off x="6287586" y="2903548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DEC47622-2895-97CE-150E-375DC7009428}"/>
              </a:ext>
            </a:extLst>
          </p:cNvPr>
          <p:cNvSpPr txBox="1"/>
          <p:nvPr/>
        </p:nvSpPr>
        <p:spPr>
          <a:xfrm>
            <a:off x="6287586" y="2920007"/>
            <a:ext cx="329184" cy="191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C3D5461F-79AB-8BBF-4989-FA4597665330}"/>
              </a:ext>
            </a:extLst>
          </p:cNvPr>
          <p:cNvSpPr txBox="1"/>
          <p:nvPr/>
        </p:nvSpPr>
        <p:spPr>
          <a:xfrm>
            <a:off x="6726497" y="2866972"/>
            <a:ext cx="4700016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也不</a:t>
            </a: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是简单</a:t>
            </a: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等于“会写</a:t>
            </a: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代码</a:t>
            </a:r>
            <a:r>
              <a:rPr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”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2703D0D5-45CC-C160-90E1-DA0ECA9C1FD1}"/>
              </a:ext>
            </a:extLst>
          </p:cNvPr>
          <p:cNvSpPr txBox="1"/>
          <p:nvPr/>
        </p:nvSpPr>
        <p:spPr>
          <a:xfrm>
            <a:off x="6305874" y="3459534"/>
            <a:ext cx="5065776" cy="91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 err="1">
                <a:solidFill>
                  <a:srgbClr val="24343C"/>
                </a:solidFill>
                <a:latin typeface="Microsoft YaHei"/>
                <a:ea typeface="Microsoft YaHei"/>
              </a:rPr>
              <a:t>明确目标、分解问题、选择表示、设计算法和检验结果，都是重要环节</a:t>
            </a:r>
            <a:r>
              <a:rPr sz="2100" b="0" dirty="0">
                <a:solidFill>
                  <a:srgbClr val="24343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E158F0B1-DA5D-3A1C-5E7B-E2680BAC9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519" y="4858853"/>
            <a:ext cx="10723216" cy="1397000"/>
          </a:xfrm>
          <a:effectLst/>
        </p:spPr>
        <p:txBody>
          <a:bodyPr>
            <a:noAutofit/>
          </a:bodyPr>
          <a:lstStyle/>
          <a:p>
            <a:pPr marL="403225" indent="-403225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300" b="1" kern="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计算思维</a:t>
            </a:r>
            <a:r>
              <a:rPr lang="zh-CN" altLang="en-US" sz="2300" b="1" kern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是一种思考方式：</a:t>
            </a:r>
            <a:r>
              <a:rPr lang="zh-CN" altLang="en-US" sz="2300" b="1" kern="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把问题想清楚，把办法（执行步骤）说清楚</a:t>
            </a:r>
            <a:endParaRPr lang="en-US" altLang="zh-CN" sz="2300" b="1" kern="0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cs typeface="Raleway"/>
            </a:endParaRPr>
          </a:p>
          <a:p>
            <a:pPr marL="403225" indent="-403225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300" b="1" kern="0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编程（写代码）</a:t>
            </a:r>
            <a:r>
              <a:rPr lang="zh-CN" altLang="en-US" sz="2300" b="1" kern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可以帮助实现其中的方案</a:t>
            </a:r>
            <a:endParaRPr lang="zh-CN" altLang="en-US" sz="3200" b="1" kern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Raleway"/>
            </a:endParaRPr>
          </a:p>
          <a:p>
            <a:pPr marL="403225" indent="-403225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zh-CN" altLang="en-US" sz="3200" b="1" kern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8A521-A154-8328-E250-405C8AA4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FDDB2-52C2-DBD6-47D8-EC86FBB08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83" y="149676"/>
            <a:ext cx="5364537" cy="705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理解计算思维的两个视角：抽象与自动化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4F861A-D3C9-80ED-94C1-874289C3F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86"/>
          <a:stretch>
            <a:fillRect/>
          </a:stretch>
        </p:blipFill>
        <p:spPr>
          <a:xfrm>
            <a:off x="0" y="1199212"/>
            <a:ext cx="12192000" cy="565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65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F5011-2BA5-B529-8908-C74B17FB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30AFEDB-D2EF-91D9-7031-F0CFEC1D3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82" y="2983042"/>
            <a:ext cx="5817235" cy="670810"/>
          </a:xfrm>
        </p:spPr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以</a:t>
            </a:r>
            <a:r>
              <a:rPr lang="zh-CN" altLang="en-US" dirty="0">
                <a:solidFill>
                  <a:srgbClr val="C00000"/>
                </a:solidFill>
                <a:cs typeface="+mn-ea"/>
                <a:sym typeface="+mn-lt"/>
              </a:rPr>
              <a:t>小明选餐</a:t>
            </a:r>
            <a:r>
              <a:rPr lang="zh-CN" altLang="en-US" dirty="0">
                <a:cs typeface="+mn-ea"/>
                <a:sym typeface="+mn-lt"/>
              </a:rPr>
              <a:t>为例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3989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965" y="229235"/>
            <a:ext cx="8000673" cy="705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只有 </a:t>
            </a:r>
            <a:r>
              <a:rPr lang="en-US" altLang="zh-CN" dirty="0"/>
              <a:t>20 </a:t>
            </a:r>
            <a:r>
              <a:rPr lang="zh-CN" altLang="en-US" dirty="0"/>
              <a:t>分钟，怎样选一个合适的窗口？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17782" y="1235075"/>
            <a:ext cx="6352644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+mn-ea"/>
              </a:rPr>
              <a:t>小明走进食堂，</a:t>
            </a:r>
            <a:r>
              <a:rPr lang="en-US" altLang="zh-CN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+mn-ea"/>
              </a:rPr>
              <a:t>20</a:t>
            </a: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宋体" panose="02010600030101010101" pitchFamily="2" charset="-122"/>
                <a:sym typeface="+mn-ea"/>
              </a:rPr>
              <a:t>分钟内离开，他该怎么办？</a:t>
            </a:r>
            <a:endParaRPr lang="zh-CN" altLang="en-US" sz="2400" b="1" dirty="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17C8473-1EEE-0175-BDC3-FAF1AECF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BF17FC-EF8A-23FC-CB46-C57B7A7ACDB2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0F9142E-9446-7239-4DC8-F3C377F23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7783" y="2003435"/>
            <a:ext cx="7294389" cy="4105275"/>
          </a:xfrm>
          <a:prstGeom prst="rect">
            <a:avLst/>
          </a:prstGeom>
        </p:spPr>
      </p:pic>
      <p:sp>
        <p:nvSpPr>
          <p:cNvPr id="9" name="20 分钟内完成 等餐和用餐">
            <a:extLst>
              <a:ext uri="{FF2B5EF4-FFF2-40B4-BE49-F238E27FC236}">
                <a16:creationId xmlns:a16="http://schemas.microsoft.com/office/drawing/2014/main" id="{D69F89DD-EFE3-4140-DE40-3EC13ABBF639}"/>
              </a:ext>
            </a:extLst>
          </p:cNvPr>
          <p:cNvSpPr>
            <a:spLocks noGrp="1"/>
          </p:cNvSpPr>
          <p:nvPr/>
        </p:nvSpPr>
        <p:spPr>
          <a:xfrm>
            <a:off x="8241665" y="2003435"/>
            <a:ext cx="347662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20</a:t>
            </a:r>
            <a:r>
              <a:rPr lang="zh-CN" altLang="en-US"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 </a:t>
            </a:r>
            <a:r>
              <a:rPr sz="22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分钟内完成</a:t>
            </a:r>
            <a:endParaRPr sz="2200" b="1" dirty="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  <a:p>
            <a:pPr algn="l">
              <a:defRPr sz="21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等餐和用餐</a:t>
            </a:r>
            <a:endParaRPr sz="2200" b="1" dirty="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10" name="5 个窗口：排队人数、 出餐速度、口味和价格 各不相同。">
            <a:extLst>
              <a:ext uri="{FF2B5EF4-FFF2-40B4-BE49-F238E27FC236}">
                <a16:creationId xmlns:a16="http://schemas.microsoft.com/office/drawing/2014/main" id="{880DD609-A0F3-651E-9DED-D4C9D2FB34D7}"/>
              </a:ext>
            </a:extLst>
          </p:cNvPr>
          <p:cNvSpPr>
            <a:spLocks noGrp="1"/>
          </p:cNvSpPr>
          <p:nvPr/>
        </p:nvSpPr>
        <p:spPr>
          <a:xfrm>
            <a:off x="8241665" y="2927360"/>
            <a:ext cx="3705496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5个窗口</a:t>
            </a:r>
            <a:r>
              <a:rPr sz="22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：排队人数、出餐速度、口味和价格</a:t>
            </a:r>
            <a:r>
              <a:rPr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各不相同</a:t>
            </a:r>
            <a:r>
              <a:rPr sz="22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</a:p>
        </p:txBody>
      </p:sp>
      <p:sp>
        <p:nvSpPr>
          <p:cNvPr id="11" name="目标：花费能接受、 饭菜合口味，并按时吃完。">
            <a:extLst>
              <a:ext uri="{FF2B5EF4-FFF2-40B4-BE49-F238E27FC236}">
                <a16:creationId xmlns:a16="http://schemas.microsoft.com/office/drawing/2014/main" id="{CE7C5B61-5B63-1867-F4E3-1DAB4FB337AA}"/>
              </a:ext>
            </a:extLst>
          </p:cNvPr>
          <p:cNvSpPr>
            <a:spLocks noGrp="1"/>
          </p:cNvSpPr>
          <p:nvPr/>
        </p:nvSpPr>
        <p:spPr>
          <a:xfrm>
            <a:off x="8241665" y="4146560"/>
            <a:ext cx="34766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目标</a:t>
            </a:r>
            <a:r>
              <a:rPr sz="2200" b="0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：花费能接受、饭菜合口味，并按时吃完</a:t>
            </a:r>
            <a:r>
              <a:rPr sz="22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</a:p>
        </p:txBody>
      </p:sp>
      <p:sp>
        <p:nvSpPr>
          <p:cNvPr id="12" name="还需要知道什么， 才能作决定？">
            <a:extLst>
              <a:ext uri="{FF2B5EF4-FFF2-40B4-BE49-F238E27FC236}">
                <a16:creationId xmlns:a16="http://schemas.microsoft.com/office/drawing/2014/main" id="{D0C9E710-1DD5-BADB-36C1-5B097A2D0759}"/>
              </a:ext>
            </a:extLst>
          </p:cNvPr>
          <p:cNvSpPr>
            <a:spLocks noGrp="1"/>
          </p:cNvSpPr>
          <p:nvPr/>
        </p:nvSpPr>
        <p:spPr>
          <a:xfrm>
            <a:off x="8241665" y="5251460"/>
            <a:ext cx="347662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还需要知道什么</a:t>
            </a:r>
            <a:r>
              <a:rPr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，</a:t>
            </a:r>
          </a:p>
          <a:p>
            <a:pPr algn="l">
              <a:defRPr sz="210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才能作决定</a:t>
            </a:r>
            <a:r>
              <a:rPr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166" y="149676"/>
            <a:ext cx="6212247" cy="705485"/>
          </a:xfrm>
        </p:spPr>
        <p:txBody>
          <a:bodyPr>
            <a:normAutofit/>
          </a:bodyPr>
          <a:lstStyle/>
          <a:p>
            <a:r>
              <a:rPr lang="zh-CN" altLang="en-US" dirty="0"/>
              <a:t>步骤一：分解（拆分任务）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A942B1F-7701-93B7-0FF4-9C607B47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5DA0B8-A6FF-17EF-5AFB-13861ECA9928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1" name="要吃什么？ 能等多久？ 愿意花多少钱？">
            <a:extLst>
              <a:ext uri="{FF2B5EF4-FFF2-40B4-BE49-F238E27FC236}">
                <a16:creationId xmlns:a16="http://schemas.microsoft.com/office/drawing/2014/main" id="{AA9BE199-075C-5CBC-EFA3-B8EB9E6199C4}"/>
              </a:ext>
            </a:extLst>
          </p:cNvPr>
          <p:cNvSpPr>
            <a:spLocks noGrp="1"/>
          </p:cNvSpPr>
          <p:nvPr/>
        </p:nvSpPr>
        <p:spPr>
          <a:xfrm>
            <a:off x="741363" y="2546268"/>
            <a:ext cx="3048000" cy="23179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50000"/>
              </a:lnSpc>
              <a:defRPr sz="210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把选餐问题拆开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10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要吃什么</a:t>
            </a:r>
            <a:r>
              <a:rPr sz="2200" dirty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10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能等多久</a:t>
            </a:r>
            <a:r>
              <a:rPr sz="2200" dirty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10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愿意花多少钱</a:t>
            </a:r>
            <a:r>
              <a:rPr sz="2200" dirty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CF2436B0-1A6B-E91B-E0C4-726EB004ED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0979769"/>
              </p:ext>
            </p:extLst>
          </p:nvPr>
        </p:nvGraphicFramePr>
        <p:xfrm>
          <a:off x="4019550" y="2038350"/>
          <a:ext cx="7253053" cy="3333750"/>
        </p:xfrm>
        <a:graphic>
          <a:graphicData uri="http://schemas.openxmlformats.org/drawingml/2006/table">
            <a:tbl>
              <a:tblPr/>
              <a:tblGrid>
                <a:gridCol w="286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2400" b="1" dirty="0" err="1">
                          <a:solidFill>
                            <a:srgbClr val="FFFFFF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先回答的小问题</a:t>
                      </a:r>
                      <a:endParaRPr sz="2400" b="1" dirty="0">
                        <a:solidFill>
                          <a:srgbClr val="FFFFFF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127B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 dirty="0" err="1">
                          <a:solidFill>
                            <a:srgbClr val="FFFFFF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需要了解的信息</a:t>
                      </a:r>
                      <a:endParaRPr sz="2400" b="1" dirty="0">
                        <a:solidFill>
                          <a:srgbClr val="FFFFFF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127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哪些窗口</a:t>
                      </a:r>
                      <a:r>
                        <a:rPr sz="2000" b="1" dirty="0" err="1">
                          <a:solidFill>
                            <a:srgbClr val="C0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有饭</a:t>
                      </a:r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可买</a:t>
                      </a:r>
                      <a:r>
                        <a:rPr sz="2000" b="0" dirty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？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供应什么，是否售完</a:t>
                      </a:r>
                      <a:endParaRPr sz="2000" b="0" dirty="0">
                        <a:solidFill>
                          <a:srgbClr val="213547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C0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时间</a:t>
                      </a:r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来得及吗</a:t>
                      </a:r>
                      <a:r>
                        <a:rPr sz="2000" b="0" dirty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？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等餐多久，吃饭需要多久</a:t>
                      </a:r>
                      <a:endParaRPr sz="2000" b="0" dirty="0">
                        <a:solidFill>
                          <a:srgbClr val="213547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C0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口味</a:t>
                      </a:r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合适吗</a:t>
                      </a:r>
                      <a:r>
                        <a:rPr sz="2000" b="0" dirty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？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口味、忌口等个人需要</a:t>
                      </a:r>
                      <a:endParaRPr sz="2000" b="0" dirty="0">
                        <a:solidFill>
                          <a:srgbClr val="213547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C00000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花费</a:t>
                      </a:r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能接受吗</a:t>
                      </a:r>
                      <a:r>
                        <a:rPr sz="2000" b="0" dirty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？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餐费，以及愿意花多少钱</a:t>
                      </a:r>
                      <a:endParaRPr sz="2000" b="0" dirty="0">
                        <a:solidFill>
                          <a:srgbClr val="213547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任意形状 15">
            <a:extLst>
              <a:ext uri="{FF2B5EF4-FFF2-40B4-BE49-F238E27FC236}">
                <a16:creationId xmlns:a16="http://schemas.microsoft.com/office/drawing/2014/main" id="{D266C3DD-A5A2-54F3-4327-BDE4EE5CDB49}"/>
              </a:ext>
            </a:extLst>
          </p:cNvPr>
          <p:cNvSpPr>
            <a:spLocks noGrp="1"/>
          </p:cNvSpPr>
          <p:nvPr/>
        </p:nvSpPr>
        <p:spPr>
          <a:xfrm>
            <a:off x="523875" y="5600700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9525">
            <a:solidFill>
              <a:srgbClr val="D8E4E7"/>
            </a:solidFill>
          </a:ln>
        </p:spPr>
      </p:sp>
      <p:sp>
        <p:nvSpPr>
          <p:cNvPr id="17" name="合起来检查：合口味、不超预算，并能在 20 分钟内吃完。">
            <a:extLst>
              <a:ext uri="{FF2B5EF4-FFF2-40B4-BE49-F238E27FC236}">
                <a16:creationId xmlns:a16="http://schemas.microsoft.com/office/drawing/2014/main" id="{87EB5E57-D4E3-FD39-71D6-A44B1E4B73BA}"/>
              </a:ext>
            </a:extLst>
          </p:cNvPr>
          <p:cNvSpPr>
            <a:spLocks noGrp="1"/>
          </p:cNvSpPr>
          <p:nvPr/>
        </p:nvSpPr>
        <p:spPr>
          <a:xfrm>
            <a:off x="552450" y="5715000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合起来检查：合口味、不超预算，并能在</a:t>
            </a:r>
            <a:r>
              <a:rPr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 20 </a:t>
            </a:r>
            <a:r>
              <a:rPr sz="22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分钟内吃完</a:t>
            </a:r>
            <a:r>
              <a:rPr sz="22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A67BAD2C-4B41-DC2A-FCDB-3BE69310B38B}"/>
              </a:ext>
            </a:extLst>
          </p:cNvPr>
          <p:cNvSpPr txBox="1"/>
          <p:nvPr/>
        </p:nvSpPr>
        <p:spPr>
          <a:xfrm>
            <a:off x="552450" y="1325299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分解：把一个大任务拆成几个容易处理的小任务。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18B17-D42A-787B-4D20-38F1EB0C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4DB4F-C793-15E5-4D23-D5F89411A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44" y="149676"/>
            <a:ext cx="8334531" cy="705485"/>
          </a:xfrm>
        </p:spPr>
        <p:txBody>
          <a:bodyPr>
            <a:normAutofit/>
          </a:bodyPr>
          <a:lstStyle/>
          <a:p>
            <a:r>
              <a:rPr lang="zh-CN" altLang="en-US" dirty="0"/>
              <a:t>分解示例：组织一次秋游要做哪些事？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CFA2E059-75C7-3B18-0043-37F89432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9C7C95-3335-EAFB-BD06-DA40A2C40B22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6" name="01">
            <a:extLst>
              <a:ext uri="{FF2B5EF4-FFF2-40B4-BE49-F238E27FC236}">
                <a16:creationId xmlns:a16="http://schemas.microsoft.com/office/drawing/2014/main" id="{07FB5E41-E0F8-C00B-C7F3-EC85CF0394C1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2000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01</a:t>
            </a:r>
          </a:p>
        </p:txBody>
      </p:sp>
      <p:sp>
        <p:nvSpPr>
          <p:cNvPr id="8" name="交通">
            <a:extLst>
              <a:ext uri="{FF2B5EF4-FFF2-40B4-BE49-F238E27FC236}">
                <a16:creationId xmlns:a16="http://schemas.microsoft.com/office/drawing/2014/main" id="{22553019-EFFB-4C1D-6992-A972F05ACD52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0097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交通</a:t>
            </a:r>
            <a:endParaRPr sz="2800" b="1" dirty="0">
              <a:solidFill>
                <a:srgbClr val="213547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9" name="怎么去？ 几点集合？ 几点返回？">
            <a:extLst>
              <a:ext uri="{FF2B5EF4-FFF2-40B4-BE49-F238E27FC236}">
                <a16:creationId xmlns:a16="http://schemas.microsoft.com/office/drawing/2014/main" id="{F81F35D9-04BE-DBDA-461C-C400C2D09C89}"/>
              </a:ext>
            </a:extLst>
          </p:cNvPr>
          <p:cNvSpPr>
            <a:spLocks noGrp="1"/>
          </p:cNvSpPr>
          <p:nvPr/>
        </p:nvSpPr>
        <p:spPr>
          <a:xfrm>
            <a:off x="590550" y="3552825"/>
            <a:ext cx="20383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怎么去？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几点集合？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几点返回？</a:t>
            </a:r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77ED99D9-0723-E331-5797-32A0D61B210F}"/>
              </a:ext>
            </a:extLst>
          </p:cNvPr>
          <p:cNvSpPr>
            <a:spLocks noGrp="1"/>
          </p:cNvSpPr>
          <p:nvPr/>
        </p:nvSpPr>
        <p:spPr>
          <a:xfrm>
            <a:off x="2895600" y="2095500"/>
            <a:ext cx="2000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02</a:t>
            </a:r>
          </a:p>
        </p:txBody>
      </p:sp>
      <p:sp>
        <p:nvSpPr>
          <p:cNvPr id="12" name="餐饮">
            <a:extLst>
              <a:ext uri="{FF2B5EF4-FFF2-40B4-BE49-F238E27FC236}">
                <a16:creationId xmlns:a16="http://schemas.microsoft.com/office/drawing/2014/main" id="{0005030B-29F3-D28D-6318-9B6B838FEE82}"/>
              </a:ext>
            </a:extLst>
          </p:cNvPr>
          <p:cNvSpPr>
            <a:spLocks noGrp="1"/>
          </p:cNvSpPr>
          <p:nvPr/>
        </p:nvSpPr>
        <p:spPr>
          <a:xfrm>
            <a:off x="2895600" y="2857500"/>
            <a:ext cx="20097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餐饮</a:t>
            </a:r>
          </a:p>
        </p:txBody>
      </p:sp>
      <p:sp>
        <p:nvSpPr>
          <p:cNvPr id="13" name="在哪里吃？ 有哪些饮食 需要？">
            <a:extLst>
              <a:ext uri="{FF2B5EF4-FFF2-40B4-BE49-F238E27FC236}">
                <a16:creationId xmlns:a16="http://schemas.microsoft.com/office/drawing/2014/main" id="{583ACDAB-8F20-17CC-3280-0C5BDEC2D949}"/>
              </a:ext>
            </a:extLst>
          </p:cNvPr>
          <p:cNvSpPr>
            <a:spLocks noGrp="1"/>
          </p:cNvSpPr>
          <p:nvPr/>
        </p:nvSpPr>
        <p:spPr>
          <a:xfrm>
            <a:off x="2895600" y="3552825"/>
            <a:ext cx="20383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在哪里吃？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有哪些饮食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需要？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AEEC8D56-92D6-E1BB-2627-C055D4949EE5}"/>
              </a:ext>
            </a:extLst>
          </p:cNvPr>
          <p:cNvSpPr>
            <a:spLocks noGrp="1"/>
          </p:cNvSpPr>
          <p:nvPr/>
        </p:nvSpPr>
        <p:spPr>
          <a:xfrm>
            <a:off x="5200650" y="2095500"/>
            <a:ext cx="2000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03</a:t>
            </a:r>
          </a:p>
        </p:txBody>
      </p:sp>
      <p:sp>
        <p:nvSpPr>
          <p:cNvPr id="18" name="活动">
            <a:extLst>
              <a:ext uri="{FF2B5EF4-FFF2-40B4-BE49-F238E27FC236}">
                <a16:creationId xmlns:a16="http://schemas.microsoft.com/office/drawing/2014/main" id="{0782056E-6A59-E58B-74C9-811BA521708A}"/>
              </a:ext>
            </a:extLst>
          </p:cNvPr>
          <p:cNvSpPr>
            <a:spLocks noGrp="1"/>
          </p:cNvSpPr>
          <p:nvPr/>
        </p:nvSpPr>
        <p:spPr>
          <a:xfrm>
            <a:off x="5200650" y="2857500"/>
            <a:ext cx="20097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活动</a:t>
            </a:r>
          </a:p>
        </p:txBody>
      </p:sp>
      <p:sp>
        <p:nvSpPr>
          <p:cNvPr id="19" name="玩什么？ 谁负责？ 要准备什么？">
            <a:extLst>
              <a:ext uri="{FF2B5EF4-FFF2-40B4-BE49-F238E27FC236}">
                <a16:creationId xmlns:a16="http://schemas.microsoft.com/office/drawing/2014/main" id="{4ABF3E15-0DE0-BC84-2AB3-93EC17B203F0}"/>
              </a:ext>
            </a:extLst>
          </p:cNvPr>
          <p:cNvSpPr>
            <a:spLocks noGrp="1"/>
          </p:cNvSpPr>
          <p:nvPr/>
        </p:nvSpPr>
        <p:spPr>
          <a:xfrm>
            <a:off x="5200650" y="3552825"/>
            <a:ext cx="20383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玩什么？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谁负责？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要准备什么？</a:t>
            </a:r>
          </a:p>
        </p:txBody>
      </p:sp>
      <p:sp>
        <p:nvSpPr>
          <p:cNvPr id="20" name="04">
            <a:extLst>
              <a:ext uri="{FF2B5EF4-FFF2-40B4-BE49-F238E27FC236}">
                <a16:creationId xmlns:a16="http://schemas.microsoft.com/office/drawing/2014/main" id="{2BF8FFF0-A691-11B2-BB4D-E199502FC790}"/>
              </a:ext>
            </a:extLst>
          </p:cNvPr>
          <p:cNvSpPr>
            <a:spLocks noGrp="1"/>
          </p:cNvSpPr>
          <p:nvPr/>
        </p:nvSpPr>
        <p:spPr>
          <a:xfrm>
            <a:off x="7505700" y="2095500"/>
            <a:ext cx="2000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04</a:t>
            </a:r>
          </a:p>
        </p:txBody>
      </p:sp>
      <p:sp>
        <p:nvSpPr>
          <p:cNvPr id="21" name="预算">
            <a:extLst>
              <a:ext uri="{FF2B5EF4-FFF2-40B4-BE49-F238E27FC236}">
                <a16:creationId xmlns:a16="http://schemas.microsoft.com/office/drawing/2014/main" id="{83968A3A-6BB7-B1E8-B638-2E39B6F7F494}"/>
              </a:ext>
            </a:extLst>
          </p:cNvPr>
          <p:cNvSpPr>
            <a:spLocks noGrp="1"/>
          </p:cNvSpPr>
          <p:nvPr/>
        </p:nvSpPr>
        <p:spPr>
          <a:xfrm>
            <a:off x="7505700" y="2857500"/>
            <a:ext cx="20097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预算</a:t>
            </a:r>
            <a:endParaRPr sz="2800" b="1" dirty="0">
              <a:solidFill>
                <a:srgbClr val="213547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22" name="每项花多少？ 每人承担 多少？">
            <a:extLst>
              <a:ext uri="{FF2B5EF4-FFF2-40B4-BE49-F238E27FC236}">
                <a16:creationId xmlns:a16="http://schemas.microsoft.com/office/drawing/2014/main" id="{76347ABF-8AE1-B34F-03A4-EFE4154DD570}"/>
              </a:ext>
            </a:extLst>
          </p:cNvPr>
          <p:cNvSpPr>
            <a:spLocks noGrp="1"/>
          </p:cNvSpPr>
          <p:nvPr/>
        </p:nvSpPr>
        <p:spPr>
          <a:xfrm>
            <a:off x="7505700" y="3552825"/>
            <a:ext cx="20383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每项花多少？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每人承担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多少？</a:t>
            </a:r>
          </a:p>
        </p:txBody>
      </p:sp>
      <p:sp>
        <p:nvSpPr>
          <p:cNvPr id="23" name="05">
            <a:extLst>
              <a:ext uri="{FF2B5EF4-FFF2-40B4-BE49-F238E27FC236}">
                <a16:creationId xmlns:a16="http://schemas.microsoft.com/office/drawing/2014/main" id="{F2B87B65-1D5A-1D89-42AB-84DEFDDC1EF3}"/>
              </a:ext>
            </a:extLst>
          </p:cNvPr>
          <p:cNvSpPr>
            <a:spLocks noGrp="1"/>
          </p:cNvSpPr>
          <p:nvPr/>
        </p:nvSpPr>
        <p:spPr>
          <a:xfrm>
            <a:off x="9810750" y="2095500"/>
            <a:ext cx="2000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05</a:t>
            </a:r>
          </a:p>
        </p:txBody>
      </p:sp>
      <p:sp>
        <p:nvSpPr>
          <p:cNvPr id="24" name="天气预案">
            <a:extLst>
              <a:ext uri="{FF2B5EF4-FFF2-40B4-BE49-F238E27FC236}">
                <a16:creationId xmlns:a16="http://schemas.microsoft.com/office/drawing/2014/main" id="{BEA138B3-7DAB-A58F-162B-DE96839E1BF9}"/>
              </a:ext>
            </a:extLst>
          </p:cNvPr>
          <p:cNvSpPr>
            <a:spLocks noGrp="1"/>
          </p:cNvSpPr>
          <p:nvPr/>
        </p:nvSpPr>
        <p:spPr>
          <a:xfrm>
            <a:off x="9810750" y="2857500"/>
            <a:ext cx="20097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天气预案</a:t>
            </a:r>
          </a:p>
        </p:txBody>
      </p:sp>
      <p:sp>
        <p:nvSpPr>
          <p:cNvPr id="25" name="下雨怎么办？ 何时决定？ 怎样通知？">
            <a:extLst>
              <a:ext uri="{FF2B5EF4-FFF2-40B4-BE49-F238E27FC236}">
                <a16:creationId xmlns:a16="http://schemas.microsoft.com/office/drawing/2014/main" id="{1EEF5BAE-6A55-CAB6-710C-1FA694A0E60C}"/>
              </a:ext>
            </a:extLst>
          </p:cNvPr>
          <p:cNvSpPr>
            <a:spLocks noGrp="1"/>
          </p:cNvSpPr>
          <p:nvPr/>
        </p:nvSpPr>
        <p:spPr>
          <a:xfrm>
            <a:off x="9810750" y="3552825"/>
            <a:ext cx="203835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下雨怎么办？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何时决定？</a:t>
            </a:r>
          </a:p>
          <a:p>
            <a:pPr algn="l">
              <a:defRPr sz="187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怎样通知？</a:t>
            </a:r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6EC8334B-5A4E-4FFA-C85F-40080799A4F1}"/>
              </a:ext>
            </a:extLst>
          </p:cNvPr>
          <p:cNvSpPr>
            <a:spLocks noGrp="1"/>
          </p:cNvSpPr>
          <p:nvPr/>
        </p:nvSpPr>
        <p:spPr>
          <a:xfrm>
            <a:off x="476250" y="5049811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12700">
            <a:solidFill>
              <a:srgbClr val="C00000"/>
            </a:solidFill>
          </a:ln>
        </p:spPr>
      </p:sp>
      <p:sp>
        <p:nvSpPr>
          <p:cNvPr id="29" name="内容占位符 2">
            <a:extLst>
              <a:ext uri="{FF2B5EF4-FFF2-40B4-BE49-F238E27FC236}">
                <a16:creationId xmlns:a16="http://schemas.microsoft.com/office/drawing/2014/main" id="{0C94F170-3C6F-CCAB-735F-BBE268C85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5217566"/>
            <a:ext cx="10723216" cy="1397000"/>
          </a:xfrm>
          <a:effectLst/>
        </p:spPr>
        <p:txBody>
          <a:bodyPr>
            <a:noAutofit/>
          </a:bodyPr>
          <a:lstStyle/>
          <a:p>
            <a:pPr marL="403225" indent="-403225">
              <a:lnSpc>
                <a:spcPct val="14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300" kern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交通变化可能压缩活动时间，雨天方案可能增加费用</a:t>
            </a:r>
            <a:endParaRPr lang="en-US" altLang="zh-CN" sz="2300" kern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Raleway"/>
            </a:endParaRPr>
          </a:p>
          <a:p>
            <a:pPr marL="403225" indent="-403225">
              <a:lnSpc>
                <a:spcPct val="14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zh-CN" altLang="en-US" sz="2300" kern="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Raleway"/>
              </a:rPr>
              <a:t>每项有人负责，各项安排还要互相核对</a:t>
            </a:r>
            <a:endParaRPr lang="zh-CN" altLang="en-US" sz="3200" kern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Raleway"/>
            </a:endParaRPr>
          </a:p>
          <a:p>
            <a:pPr marL="403225" indent="-403225">
              <a:lnSpc>
                <a:spcPct val="14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zh-CN" altLang="en-US" sz="3200" kern="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Raleway"/>
            </a:endParaRP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75E8025B-C9E1-AFAD-93B1-8309E994C227}"/>
              </a:ext>
            </a:extLst>
          </p:cNvPr>
          <p:cNvSpPr>
            <a:spLocks noGrp="1"/>
          </p:cNvSpPr>
          <p:nvPr/>
        </p:nvSpPr>
        <p:spPr>
          <a:xfrm>
            <a:off x="476250" y="1985820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12700">
            <a:solidFill>
              <a:srgbClr val="C00000"/>
            </a:solidFill>
          </a:ln>
        </p:spPr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615FD114-C6A3-CA46-C812-DD35ADA525D0}"/>
              </a:ext>
            </a:extLst>
          </p:cNvPr>
          <p:cNvSpPr txBox="1"/>
          <p:nvPr/>
        </p:nvSpPr>
        <p:spPr>
          <a:xfrm>
            <a:off x="516255" y="1292757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把大任务拆成可以分工、检查与衔接的小任务。</a:t>
            </a:r>
          </a:p>
        </p:txBody>
      </p:sp>
    </p:spTree>
    <p:extLst>
      <p:ext uri="{BB962C8B-B14F-4D97-AF65-F5344CB8AC3E}">
        <p14:creationId xmlns:p14="http://schemas.microsoft.com/office/powerpoint/2010/main" val="2349303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199D-EB28-3E49-B9B3-1A0F8E29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510D7-EF5C-EBBE-28B5-B28AA9F8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" y="148988"/>
            <a:ext cx="8034728" cy="705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步骤二：模式识别（寻找相似的结构）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775A6A50-BD6F-1268-DE97-63B4610A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20902A-6CDD-C8EB-D0C6-C41F653CA4A2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95AAE29C-5CD8-A581-0042-8F13DF3D65FF}"/>
              </a:ext>
            </a:extLst>
          </p:cNvPr>
          <p:cNvSpPr txBox="1"/>
          <p:nvPr/>
        </p:nvSpPr>
        <p:spPr>
          <a:xfrm>
            <a:off x="563879" y="1264720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比较</a:t>
            </a: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三个</a:t>
            </a:r>
            <a:r>
              <a:rPr sz="2400" b="1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不同</a:t>
            </a: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任务</a:t>
            </a:r>
            <a:r>
              <a:rPr sz="2400" b="1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中的相似结构</a:t>
            </a:r>
            <a:r>
              <a:rPr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规律和可以借用的</a:t>
            </a:r>
            <a:r>
              <a:rPr sz="2400" b="1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方法</a:t>
            </a:r>
            <a:r>
              <a:rPr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6" name="安排旅行">
            <a:extLst>
              <a:ext uri="{FF2B5EF4-FFF2-40B4-BE49-F238E27FC236}">
                <a16:creationId xmlns:a16="http://schemas.microsoft.com/office/drawing/2014/main" id="{14E1CE6A-7548-AA8F-6336-3E08D5F910D0}"/>
              </a:ext>
            </a:extLst>
          </p:cNvPr>
          <p:cNvSpPr>
            <a:spLocks noGrp="1"/>
          </p:cNvSpPr>
          <p:nvPr/>
        </p:nvSpPr>
        <p:spPr>
          <a:xfrm>
            <a:off x="590550" y="2133600"/>
            <a:ext cx="31813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安排旅行</a:t>
            </a:r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05EADF9E-DCDA-689C-EC12-4C54CF2EC4CE}"/>
              </a:ext>
            </a:extLst>
          </p:cNvPr>
          <p:cNvSpPr>
            <a:spLocks noGrp="1"/>
          </p:cNvSpPr>
          <p:nvPr/>
        </p:nvSpPr>
        <p:spPr>
          <a:xfrm>
            <a:off x="590550" y="2752725"/>
            <a:ext cx="3105150" cy="95"/>
          </a:xfrm>
          <a:custGeom>
            <a:avLst/>
            <a:gdLst/>
            <a:ahLst/>
            <a:cxnLst/>
            <a:rect l="0" t="0" r="0" b="0"/>
            <a:pathLst>
              <a:path w="3105150" h="9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12700">
            <a:solidFill>
              <a:srgbClr val="127B70"/>
            </a:solidFill>
          </a:ln>
        </p:spPr>
      </p:sp>
      <p:sp>
        <p:nvSpPr>
          <p:cNvPr id="9" name="时间够不够？ 路线怎么排？ 预算怎么分？">
            <a:extLst>
              <a:ext uri="{FF2B5EF4-FFF2-40B4-BE49-F238E27FC236}">
                <a16:creationId xmlns:a16="http://schemas.microsoft.com/office/drawing/2014/main" id="{3E1CE074-7B9B-4DCB-D49D-E8D4C45A666C}"/>
              </a:ext>
            </a:extLst>
          </p:cNvPr>
          <p:cNvSpPr>
            <a:spLocks noGrp="1"/>
          </p:cNvSpPr>
          <p:nvPr/>
        </p:nvSpPr>
        <p:spPr>
          <a:xfrm>
            <a:off x="590550" y="3067050"/>
            <a:ext cx="321945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时间够不够？</a:t>
            </a:r>
          </a:p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路线怎么排？</a:t>
            </a:r>
          </a:p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预算怎么分？</a:t>
            </a:r>
          </a:p>
        </p:txBody>
      </p:sp>
      <p:sp>
        <p:nvSpPr>
          <p:cNvPr id="10" name="策划活动">
            <a:extLst>
              <a:ext uri="{FF2B5EF4-FFF2-40B4-BE49-F238E27FC236}">
                <a16:creationId xmlns:a16="http://schemas.microsoft.com/office/drawing/2014/main" id="{8872B7BB-1E1D-1DB4-F879-8DB2FE5D164D}"/>
              </a:ext>
            </a:extLst>
          </p:cNvPr>
          <p:cNvSpPr>
            <a:spLocks noGrp="1"/>
          </p:cNvSpPr>
          <p:nvPr/>
        </p:nvSpPr>
        <p:spPr>
          <a:xfrm>
            <a:off x="4476750" y="2133600"/>
            <a:ext cx="31813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策划活动</a:t>
            </a:r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0D43AC73-BE17-1528-E9E7-57FBA0AEFC12}"/>
              </a:ext>
            </a:extLst>
          </p:cNvPr>
          <p:cNvSpPr>
            <a:spLocks noGrp="1"/>
          </p:cNvSpPr>
          <p:nvPr/>
        </p:nvSpPr>
        <p:spPr>
          <a:xfrm>
            <a:off x="4476750" y="2752725"/>
            <a:ext cx="3105150" cy="95"/>
          </a:xfrm>
          <a:custGeom>
            <a:avLst/>
            <a:gdLst/>
            <a:ahLst/>
            <a:cxnLst/>
            <a:rect l="0" t="0" r="0" b="0"/>
            <a:pathLst>
              <a:path w="3105150" h="9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12700">
            <a:solidFill>
              <a:srgbClr val="3A7FB3"/>
            </a:solidFill>
          </a:ln>
        </p:spPr>
      </p:sp>
      <p:sp>
        <p:nvSpPr>
          <p:cNvPr id="13" name="时间够不够？ 环节怎么排？ 人员怎么分？">
            <a:extLst>
              <a:ext uri="{FF2B5EF4-FFF2-40B4-BE49-F238E27FC236}">
                <a16:creationId xmlns:a16="http://schemas.microsoft.com/office/drawing/2014/main" id="{713E7632-4C93-431B-8CC5-B3C58C6D9CDF}"/>
              </a:ext>
            </a:extLst>
          </p:cNvPr>
          <p:cNvSpPr>
            <a:spLocks noGrp="1"/>
          </p:cNvSpPr>
          <p:nvPr/>
        </p:nvSpPr>
        <p:spPr>
          <a:xfrm>
            <a:off x="4476750" y="3067050"/>
            <a:ext cx="321945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时间够不够？</a:t>
            </a:r>
          </a:p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环节怎么排？</a:t>
            </a:r>
          </a:p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人员怎么分？</a:t>
            </a:r>
          </a:p>
        </p:txBody>
      </p:sp>
      <p:sp>
        <p:nvSpPr>
          <p:cNvPr id="14" name="安排课程表">
            <a:extLst>
              <a:ext uri="{FF2B5EF4-FFF2-40B4-BE49-F238E27FC236}">
                <a16:creationId xmlns:a16="http://schemas.microsoft.com/office/drawing/2014/main" id="{583DDF5C-C4FB-3FF5-C000-584F6654088E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31813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安排课程表</a:t>
            </a:r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87B4BA92-3FA3-E8B9-F961-E2B69D030355}"/>
              </a:ext>
            </a:extLst>
          </p:cNvPr>
          <p:cNvSpPr>
            <a:spLocks noGrp="1"/>
          </p:cNvSpPr>
          <p:nvPr/>
        </p:nvSpPr>
        <p:spPr>
          <a:xfrm>
            <a:off x="8362950" y="2752725"/>
            <a:ext cx="3105150" cy="95"/>
          </a:xfrm>
          <a:custGeom>
            <a:avLst/>
            <a:gdLst/>
            <a:ahLst/>
            <a:cxnLst/>
            <a:rect l="0" t="0" r="0" b="0"/>
            <a:pathLst>
              <a:path w="3105150" h="95">
                <a:moveTo>
                  <a:pt x="0" y="0"/>
                </a:moveTo>
                <a:lnTo>
                  <a:pt x="3105150" y="0"/>
                </a:lnTo>
              </a:path>
            </a:pathLst>
          </a:custGeom>
          <a:noFill/>
          <a:ln w="12700">
            <a:solidFill>
              <a:srgbClr val="CB8B36"/>
            </a:solidFill>
          </a:ln>
        </p:spPr>
      </p:sp>
      <p:sp>
        <p:nvSpPr>
          <p:cNvPr id="19" name="时间会冲突吗？ 教室够用吗？ 课程怎么排？">
            <a:extLst>
              <a:ext uri="{FF2B5EF4-FFF2-40B4-BE49-F238E27FC236}">
                <a16:creationId xmlns:a16="http://schemas.microsoft.com/office/drawing/2014/main" id="{69CC304B-E199-58A5-0C90-F88F1594EE6F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321945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时间会冲突吗？</a:t>
            </a:r>
          </a:p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教室够用吗？</a:t>
            </a:r>
          </a:p>
          <a:p>
            <a:pPr algn="l">
              <a:defRPr sz="21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课程怎么排？</a:t>
            </a:r>
          </a:p>
        </p:txBody>
      </p:sp>
      <p:sp>
        <p:nvSpPr>
          <p:cNvPr id="20" name="共同问题：时间和资源有限，怎样把事情安排得合理？">
            <a:extLst>
              <a:ext uri="{FF2B5EF4-FFF2-40B4-BE49-F238E27FC236}">
                <a16:creationId xmlns:a16="http://schemas.microsoft.com/office/drawing/2014/main" id="{E38A4DC9-2659-93B7-0BDD-50F7C719717C}"/>
              </a:ext>
            </a:extLst>
          </p:cNvPr>
          <p:cNvSpPr>
            <a:spLocks noGrp="1"/>
          </p:cNvSpPr>
          <p:nvPr/>
        </p:nvSpPr>
        <p:spPr>
          <a:xfrm>
            <a:off x="563879" y="4612716"/>
            <a:ext cx="11018521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共同问题：时间和资源有限，怎样把事情安排得合理</a:t>
            </a:r>
            <a:r>
              <a:rPr sz="2400" b="1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</a:t>
            </a:r>
          </a:p>
        </p:txBody>
      </p:sp>
      <p:sp>
        <p:nvSpPr>
          <p:cNvPr id="22" name="可以借用的方法：先列条件，再排顺序，最后查冲突。">
            <a:extLst>
              <a:ext uri="{FF2B5EF4-FFF2-40B4-BE49-F238E27FC236}">
                <a16:creationId xmlns:a16="http://schemas.microsoft.com/office/drawing/2014/main" id="{CDAEFED1-ABB3-03C3-46A8-1C9568B21427}"/>
              </a:ext>
            </a:extLst>
          </p:cNvPr>
          <p:cNvSpPr>
            <a:spLocks noGrp="1"/>
          </p:cNvSpPr>
          <p:nvPr/>
        </p:nvSpPr>
        <p:spPr>
          <a:xfrm>
            <a:off x="563879" y="5466020"/>
            <a:ext cx="11018521" cy="3517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可以借用的方法：先列条件，再排顺序，最后查冲突</a:t>
            </a:r>
            <a:r>
              <a:rPr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</a:p>
        </p:txBody>
      </p:sp>
      <p:sp>
        <p:nvSpPr>
          <p:cNvPr id="23" name="任意形状 22">
            <a:extLst>
              <a:ext uri="{FF2B5EF4-FFF2-40B4-BE49-F238E27FC236}">
                <a16:creationId xmlns:a16="http://schemas.microsoft.com/office/drawing/2014/main" id="{7007A9A8-61E4-DCE8-5B52-96E96C0F3252}"/>
              </a:ext>
            </a:extLst>
          </p:cNvPr>
          <p:cNvSpPr>
            <a:spLocks noGrp="1"/>
          </p:cNvSpPr>
          <p:nvPr/>
        </p:nvSpPr>
        <p:spPr>
          <a:xfrm>
            <a:off x="476250" y="1985820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12700">
            <a:solidFill>
              <a:srgbClr val="C00000"/>
            </a:solidFill>
          </a:ln>
        </p:spPr>
      </p: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98B2843F-450B-7C6E-1C22-E7A5ECE52A18}"/>
              </a:ext>
            </a:extLst>
          </p:cNvPr>
          <p:cNvSpPr>
            <a:spLocks noGrp="1"/>
          </p:cNvSpPr>
          <p:nvPr/>
        </p:nvSpPr>
        <p:spPr>
          <a:xfrm>
            <a:off x="457200" y="5187782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12700">
            <a:solidFill>
              <a:srgbClr val="C00000"/>
            </a:solidFill>
          </a:ln>
        </p:spPr>
      </p:sp>
    </p:spTree>
    <p:extLst>
      <p:ext uri="{BB962C8B-B14F-4D97-AF65-F5344CB8AC3E}">
        <p14:creationId xmlns:p14="http://schemas.microsoft.com/office/powerpoint/2010/main" val="2852927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33281"/>
            <a:ext cx="5516382" cy="70548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ym typeface="+mn-ea"/>
              </a:rPr>
              <a:t>场景不同，处理方法可以相通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ABBFAA4-2581-BF62-18BA-5B679A5D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397507-71ED-8577-1F3A-1F6952EAA4B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207195F-4F46-A6E1-D825-A8B58ACCE5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728454"/>
              </p:ext>
            </p:extLst>
          </p:nvPr>
        </p:nvGraphicFramePr>
        <p:xfrm>
          <a:off x="571500" y="2188252"/>
          <a:ext cx="11049000" cy="2847976"/>
        </p:xfrm>
        <a:graphic>
          <a:graphicData uri="http://schemas.openxmlformats.org/drawingml/2006/table">
            <a:tbl>
              <a:tblPr/>
              <a:tblGrid>
                <a:gridCol w="199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9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5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994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要考虑什么</a:t>
                      </a:r>
                      <a:endParaRPr sz="2000" b="1" dirty="0">
                        <a:solidFill>
                          <a:srgbClr val="FFFFFF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127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规划旅行</a:t>
                      </a:r>
                    </a:p>
                  </a:txBody>
                  <a:tcPr anchor="ctr">
                    <a:solidFill>
                      <a:srgbClr val="127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策划活动</a:t>
                      </a:r>
                      <a:endParaRPr sz="2000" b="1" dirty="0">
                        <a:solidFill>
                          <a:srgbClr val="FFFFFF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127B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安排课程表</a:t>
                      </a:r>
                      <a:endParaRPr sz="2000" b="1" dirty="0">
                        <a:solidFill>
                          <a:srgbClr val="FFFFFF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127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994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时间够不够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每天能去几个地方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每个环节留多久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每门课排在哪一时段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994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资源够不够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车票、房间和预算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人员、场地和物资</a:t>
                      </a:r>
                      <a:endParaRPr sz="2000" b="0" dirty="0">
                        <a:solidFill>
                          <a:srgbClr val="213547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教师、教室和设备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994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顺序与冲突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先到达，再游览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先布置，再入场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 err="1">
                          <a:solidFill>
                            <a:srgbClr val="213547"/>
                          </a:solidFill>
                          <a:latin typeface="SimHei" panose="02010609060101010101" pitchFamily="49" charset="-122"/>
                          <a:ea typeface="SimHei" panose="02010609060101010101" pitchFamily="49" charset="-122"/>
                          <a:cs typeface="微软雅黑"/>
                        </a:rPr>
                        <a:t>同一教室不能同时上两门课</a:t>
                      </a:r>
                      <a:endParaRPr sz="2000" b="0" dirty="0">
                        <a:solidFill>
                          <a:srgbClr val="213547"/>
                        </a:solidFill>
                        <a:latin typeface="SimHei" panose="02010609060101010101" pitchFamily="49" charset="-122"/>
                        <a:ea typeface="SimHei" panose="02010609060101010101" pitchFamily="49" charset="-122"/>
                        <a:cs typeface="微软雅黑"/>
                      </a:endParaRP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共同做法：列出条件 → 安排顺序 → 检查冲突">
            <a:extLst>
              <a:ext uri="{FF2B5EF4-FFF2-40B4-BE49-F238E27FC236}">
                <a16:creationId xmlns:a16="http://schemas.microsoft.com/office/drawing/2014/main" id="{F74D72D0-1CFB-8F10-EE3E-EB4A83D0B9D8}"/>
              </a:ext>
            </a:extLst>
          </p:cNvPr>
          <p:cNvSpPr>
            <a:spLocks noGrp="1"/>
          </p:cNvSpPr>
          <p:nvPr/>
        </p:nvSpPr>
        <p:spPr>
          <a:xfrm>
            <a:off x="581025" y="5302927"/>
            <a:ext cx="110109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共同做法：列出条件</a:t>
            </a:r>
            <a:r>
              <a:rPr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 → </a:t>
            </a: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安排顺序</a:t>
            </a:r>
            <a:r>
              <a:rPr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 → </a:t>
            </a: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检查冲突</a:t>
            </a:r>
            <a:endParaRPr sz="2400" b="1" dirty="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41AE74AE-100B-28EF-F441-8CD7E955C3B9}"/>
              </a:ext>
            </a:extLst>
          </p:cNvPr>
          <p:cNvSpPr>
            <a:spLocks noGrp="1"/>
          </p:cNvSpPr>
          <p:nvPr/>
        </p:nvSpPr>
        <p:spPr>
          <a:xfrm>
            <a:off x="523875" y="5855377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9525">
            <a:solidFill>
              <a:srgbClr val="D8E4E7"/>
            </a:solidFill>
          </a:ln>
        </p:spPr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576C9232-8B03-35AD-303E-C4947542D864}"/>
              </a:ext>
            </a:extLst>
          </p:cNvPr>
          <p:cNvSpPr txBox="1"/>
          <p:nvPr/>
        </p:nvSpPr>
        <p:spPr>
          <a:xfrm>
            <a:off x="527685" y="1389476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把不同任务放在一起比较，看看哪些问题反复出现。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5708-FE5B-5757-2CC2-382D7307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B6C7B-8E0E-77DE-61F7-E9507D1B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1" y="149676"/>
            <a:ext cx="7629991" cy="705485"/>
          </a:xfrm>
        </p:spPr>
        <p:txBody>
          <a:bodyPr>
            <a:noAutofit/>
          </a:bodyPr>
          <a:lstStyle/>
          <a:p>
            <a:r>
              <a:rPr lang="zh-CN" altLang="en-US" dirty="0">
                <a:sym typeface="+mn-ea"/>
              </a:rPr>
              <a:t>步骤三：抽象（按目标保留信息）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EA51553-68FE-8E32-BE89-C8C27967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6DA9B2-6591-F346-382C-2177754E58C0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2" name="共同做法：列出条件 → 安排顺序 → 检查冲突">
            <a:extLst>
              <a:ext uri="{FF2B5EF4-FFF2-40B4-BE49-F238E27FC236}">
                <a16:creationId xmlns:a16="http://schemas.microsoft.com/office/drawing/2014/main" id="{D53DF6C4-933D-418D-3E42-5608A06407D3}"/>
              </a:ext>
            </a:extLst>
          </p:cNvPr>
          <p:cNvSpPr>
            <a:spLocks noGrp="1"/>
          </p:cNvSpPr>
          <p:nvPr/>
        </p:nvSpPr>
        <p:spPr>
          <a:xfrm>
            <a:off x="590549" y="5726806"/>
            <a:ext cx="110109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先筛出日期、人数和预算都合适的路线，再比较行程用时。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322244FE-9DC4-4E57-2CF9-4D68E4DF4969}"/>
              </a:ext>
            </a:extLst>
          </p:cNvPr>
          <p:cNvSpPr txBox="1"/>
          <p:nvPr/>
        </p:nvSpPr>
        <p:spPr>
          <a:xfrm>
            <a:off x="590549" y="1341934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抽象：先确定目标，再保留与这个目标有关的信息。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904B1F39-547C-79D8-C5CC-EE98C195FE2A}"/>
              </a:ext>
            </a:extLst>
          </p:cNvPr>
          <p:cNvSpPr>
            <a:spLocks noGrp="1"/>
          </p:cNvSpPr>
          <p:nvPr/>
        </p:nvSpPr>
        <p:spPr>
          <a:xfrm>
            <a:off x="798539" y="2228850"/>
            <a:ext cx="410373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01</a:t>
            </a:r>
          </a:p>
        </p:txBody>
      </p:sp>
      <p:sp>
        <p:nvSpPr>
          <p:cNvPr id="5" name="明确要做的决定">
            <a:extLst>
              <a:ext uri="{FF2B5EF4-FFF2-40B4-BE49-F238E27FC236}">
                <a16:creationId xmlns:a16="http://schemas.microsoft.com/office/drawing/2014/main" id="{C9326405-3907-0EC6-F0B0-FC42A193DC01}"/>
              </a:ext>
            </a:extLst>
          </p:cNvPr>
          <p:cNvSpPr>
            <a:spLocks noGrp="1"/>
          </p:cNvSpPr>
          <p:nvPr/>
        </p:nvSpPr>
        <p:spPr>
          <a:xfrm>
            <a:off x="1227742" y="2228850"/>
            <a:ext cx="287261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明确要做的决定</a:t>
            </a:r>
            <a:endParaRPr sz="2400" b="1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7" name="为班级秋游选交通路线">
            <a:extLst>
              <a:ext uri="{FF2B5EF4-FFF2-40B4-BE49-F238E27FC236}">
                <a16:creationId xmlns:a16="http://schemas.microsoft.com/office/drawing/2014/main" id="{06D98563-D7F7-5FB7-8FA7-C333324FACF6}"/>
              </a:ext>
            </a:extLst>
          </p:cNvPr>
          <p:cNvSpPr>
            <a:spLocks noGrp="1"/>
          </p:cNvSpPr>
          <p:nvPr/>
        </p:nvSpPr>
        <p:spPr>
          <a:xfrm>
            <a:off x="846166" y="2781300"/>
            <a:ext cx="3045402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95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为班级秋游选交通路线</a:t>
            </a:r>
            <a:endParaRPr sz="2200" b="1" dirty="0">
              <a:solidFill>
                <a:srgbClr val="213547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8" name="出行日期">
            <a:extLst>
              <a:ext uri="{FF2B5EF4-FFF2-40B4-BE49-F238E27FC236}">
                <a16:creationId xmlns:a16="http://schemas.microsoft.com/office/drawing/2014/main" id="{7122F085-949E-BA81-B604-46D3AB9497C0}"/>
              </a:ext>
            </a:extLst>
          </p:cNvPr>
          <p:cNvSpPr>
            <a:spLocks noGrp="1"/>
          </p:cNvSpPr>
          <p:nvPr/>
        </p:nvSpPr>
        <p:spPr>
          <a:xfrm>
            <a:off x="893790" y="3495675"/>
            <a:ext cx="1403908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出行日期</a:t>
            </a:r>
          </a:p>
        </p:txBody>
      </p:sp>
      <p:sp>
        <p:nvSpPr>
          <p:cNvPr id="9" name="参加人数">
            <a:extLst>
              <a:ext uri="{FF2B5EF4-FFF2-40B4-BE49-F238E27FC236}">
                <a16:creationId xmlns:a16="http://schemas.microsoft.com/office/drawing/2014/main" id="{5C7DD8B6-1615-50CD-9D9A-54371DE95E1F}"/>
              </a:ext>
            </a:extLst>
          </p:cNvPr>
          <p:cNvSpPr>
            <a:spLocks noGrp="1"/>
          </p:cNvSpPr>
          <p:nvPr/>
        </p:nvSpPr>
        <p:spPr>
          <a:xfrm>
            <a:off x="2274915" y="3495675"/>
            <a:ext cx="1403908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参加人数</a:t>
            </a:r>
          </a:p>
        </p:txBody>
      </p:sp>
      <p:sp>
        <p:nvSpPr>
          <p:cNvPr id="10" name="交通费用">
            <a:extLst>
              <a:ext uri="{FF2B5EF4-FFF2-40B4-BE49-F238E27FC236}">
                <a16:creationId xmlns:a16="http://schemas.microsoft.com/office/drawing/2014/main" id="{FF41D564-53B9-0C25-F0C6-0A9EFB1DEF58}"/>
              </a:ext>
            </a:extLst>
          </p:cNvPr>
          <p:cNvSpPr>
            <a:spLocks noGrp="1"/>
          </p:cNvSpPr>
          <p:nvPr/>
        </p:nvSpPr>
        <p:spPr>
          <a:xfrm>
            <a:off x="893790" y="4114800"/>
            <a:ext cx="1403908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交通费用</a:t>
            </a:r>
          </a:p>
        </p:txBody>
      </p:sp>
      <p:sp>
        <p:nvSpPr>
          <p:cNvPr id="14" name="行程用时">
            <a:extLst>
              <a:ext uri="{FF2B5EF4-FFF2-40B4-BE49-F238E27FC236}">
                <a16:creationId xmlns:a16="http://schemas.microsoft.com/office/drawing/2014/main" id="{86D4C6E0-DD18-D0E8-D586-A14A37B77CC4}"/>
              </a:ext>
            </a:extLst>
          </p:cNvPr>
          <p:cNvSpPr>
            <a:spLocks noGrp="1"/>
          </p:cNvSpPr>
          <p:nvPr/>
        </p:nvSpPr>
        <p:spPr>
          <a:xfrm>
            <a:off x="2274915" y="4114800"/>
            <a:ext cx="1403908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行程用时</a:t>
            </a:r>
          </a:p>
        </p:txBody>
      </p:sp>
      <p:sp>
        <p:nvSpPr>
          <p:cNvPr id="16" name="衣服颜色">
            <a:extLst>
              <a:ext uri="{FF2B5EF4-FFF2-40B4-BE49-F238E27FC236}">
                <a16:creationId xmlns:a16="http://schemas.microsoft.com/office/drawing/2014/main" id="{73D3BD9F-2B43-1AA1-2794-90C6B0E36070}"/>
              </a:ext>
            </a:extLst>
          </p:cNvPr>
          <p:cNvSpPr>
            <a:spLocks noGrp="1"/>
          </p:cNvSpPr>
          <p:nvPr/>
        </p:nvSpPr>
        <p:spPr>
          <a:xfrm>
            <a:off x="893790" y="4733925"/>
            <a:ext cx="1403908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AFBDC4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衣服颜色</a:t>
            </a:r>
          </a:p>
        </p:txBody>
      </p:sp>
      <p:sp>
        <p:nvSpPr>
          <p:cNvPr id="17" name="任意形状 16">
            <a:extLst>
              <a:ext uri="{FF2B5EF4-FFF2-40B4-BE49-F238E27FC236}">
                <a16:creationId xmlns:a16="http://schemas.microsoft.com/office/drawing/2014/main" id="{460DE9FE-C9C9-2C2B-8948-4BE3DC93A3E2}"/>
              </a:ext>
            </a:extLst>
          </p:cNvPr>
          <p:cNvSpPr>
            <a:spLocks noGrp="1"/>
          </p:cNvSpPr>
          <p:nvPr/>
        </p:nvSpPr>
        <p:spPr>
          <a:xfrm>
            <a:off x="893789" y="4895850"/>
            <a:ext cx="1079929" cy="95"/>
          </a:xfrm>
          <a:custGeom>
            <a:avLst/>
            <a:gdLst/>
            <a:ahLst/>
            <a:cxnLst/>
            <a:rect l="0" t="0" r="0" b="0"/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AFBDC4"/>
            </a:solidFill>
          </a:ln>
        </p:spPr>
      </p:sp>
      <p:sp>
        <p:nvSpPr>
          <p:cNvPr id="18" name="手机型号">
            <a:extLst>
              <a:ext uri="{FF2B5EF4-FFF2-40B4-BE49-F238E27FC236}">
                <a16:creationId xmlns:a16="http://schemas.microsoft.com/office/drawing/2014/main" id="{9C81C4F4-8773-7125-93C0-0E636B301165}"/>
              </a:ext>
            </a:extLst>
          </p:cNvPr>
          <p:cNvSpPr>
            <a:spLocks noGrp="1"/>
          </p:cNvSpPr>
          <p:nvPr/>
        </p:nvSpPr>
        <p:spPr>
          <a:xfrm>
            <a:off x="2274915" y="4733925"/>
            <a:ext cx="1403908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650" b="0">
                <a:solidFill>
                  <a:srgbClr val="AFBDC4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手机型号</a:t>
            </a:r>
          </a:p>
        </p:txBody>
      </p:sp>
      <p:sp>
        <p:nvSpPr>
          <p:cNvPr id="19" name="任意形状 18">
            <a:extLst>
              <a:ext uri="{FF2B5EF4-FFF2-40B4-BE49-F238E27FC236}">
                <a16:creationId xmlns:a16="http://schemas.microsoft.com/office/drawing/2014/main" id="{90398FAC-7E69-6292-551A-BC76351B7345}"/>
              </a:ext>
            </a:extLst>
          </p:cNvPr>
          <p:cNvSpPr>
            <a:spLocks noGrp="1"/>
          </p:cNvSpPr>
          <p:nvPr/>
        </p:nvSpPr>
        <p:spPr>
          <a:xfrm>
            <a:off x="2274914" y="4895850"/>
            <a:ext cx="1079929" cy="95"/>
          </a:xfrm>
          <a:custGeom>
            <a:avLst/>
            <a:gdLst/>
            <a:ahLst/>
            <a:cxnLst/>
            <a:rect l="0" t="0" r="0" b="0"/>
            <a:pathLst>
              <a:path w="952500" h="9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AFBDC4"/>
            </a:solidFill>
          </a:ln>
        </p:spPr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74BC77CD-BA43-A4CB-976C-08B403EFBD0A}"/>
              </a:ext>
            </a:extLst>
          </p:cNvPr>
          <p:cNvSpPr>
            <a:spLocks noGrp="1"/>
          </p:cNvSpPr>
          <p:nvPr/>
        </p:nvSpPr>
        <p:spPr>
          <a:xfrm>
            <a:off x="3981450" y="3724275"/>
            <a:ext cx="485968" cy="228600"/>
          </a:xfrm>
          <a:prstGeom prst="rightArrow">
            <a:avLst/>
          </a:prstGeom>
          <a:solidFill>
            <a:srgbClr val="3A7FB3"/>
          </a:solidFill>
          <a:ln w="0">
            <a:noFill/>
          </a:ln>
        </p:spPr>
      </p:sp>
      <p:sp>
        <p:nvSpPr>
          <p:cNvPr id="21" name="02">
            <a:extLst>
              <a:ext uri="{FF2B5EF4-FFF2-40B4-BE49-F238E27FC236}">
                <a16:creationId xmlns:a16="http://schemas.microsoft.com/office/drawing/2014/main" id="{D9C3F117-0E47-BCC7-92EC-E60893BFC731}"/>
              </a:ext>
            </a:extLst>
          </p:cNvPr>
          <p:cNvSpPr>
            <a:spLocks noGrp="1"/>
          </p:cNvSpPr>
          <p:nvPr/>
        </p:nvSpPr>
        <p:spPr>
          <a:xfrm>
            <a:off x="4803409" y="2228850"/>
            <a:ext cx="410373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3A7FB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A7FB3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02</a:t>
            </a:r>
          </a:p>
        </p:txBody>
      </p:sp>
      <p:sp>
        <p:nvSpPr>
          <p:cNvPr id="22" name="保留有关信息">
            <a:extLst>
              <a:ext uri="{FF2B5EF4-FFF2-40B4-BE49-F238E27FC236}">
                <a16:creationId xmlns:a16="http://schemas.microsoft.com/office/drawing/2014/main" id="{C0305F8A-EF48-0794-A2C0-654DA0C3441F}"/>
              </a:ext>
            </a:extLst>
          </p:cNvPr>
          <p:cNvSpPr>
            <a:spLocks noGrp="1"/>
          </p:cNvSpPr>
          <p:nvPr/>
        </p:nvSpPr>
        <p:spPr>
          <a:xfrm>
            <a:off x="5232612" y="2215360"/>
            <a:ext cx="2227601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保留有关信息</a:t>
            </a:r>
            <a:endParaRPr sz="2400" b="1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23" name="参加人数">
            <a:extLst>
              <a:ext uri="{FF2B5EF4-FFF2-40B4-BE49-F238E27FC236}">
                <a16:creationId xmlns:a16="http://schemas.microsoft.com/office/drawing/2014/main" id="{29F5554B-C77D-C8FE-B7FA-0B011BC4D674}"/>
              </a:ext>
            </a:extLst>
          </p:cNvPr>
          <p:cNvSpPr>
            <a:spLocks noGrp="1"/>
          </p:cNvSpPr>
          <p:nvPr/>
        </p:nvSpPr>
        <p:spPr>
          <a:xfrm>
            <a:off x="4965335" y="2847975"/>
            <a:ext cx="2065052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95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参加人数</a:t>
            </a:r>
            <a:endParaRPr sz="2200" dirty="0">
              <a:solidFill>
                <a:srgbClr val="213547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24" name="出行日期">
            <a:extLst>
              <a:ext uri="{FF2B5EF4-FFF2-40B4-BE49-F238E27FC236}">
                <a16:creationId xmlns:a16="http://schemas.microsoft.com/office/drawing/2014/main" id="{1565E29E-F479-5C7C-10A0-D7CAF72BD22E}"/>
              </a:ext>
            </a:extLst>
          </p:cNvPr>
          <p:cNvSpPr>
            <a:spLocks noGrp="1"/>
          </p:cNvSpPr>
          <p:nvPr/>
        </p:nvSpPr>
        <p:spPr>
          <a:xfrm>
            <a:off x="4965334" y="3409950"/>
            <a:ext cx="3045401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95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出行日期</a:t>
            </a:r>
          </a:p>
        </p:txBody>
      </p:sp>
      <p:sp>
        <p:nvSpPr>
          <p:cNvPr id="25" name="预算上限">
            <a:extLst>
              <a:ext uri="{FF2B5EF4-FFF2-40B4-BE49-F238E27FC236}">
                <a16:creationId xmlns:a16="http://schemas.microsoft.com/office/drawing/2014/main" id="{9399A206-0EC8-6DD1-A635-A005AF26921C}"/>
              </a:ext>
            </a:extLst>
          </p:cNvPr>
          <p:cNvSpPr>
            <a:spLocks noGrp="1"/>
          </p:cNvSpPr>
          <p:nvPr/>
        </p:nvSpPr>
        <p:spPr>
          <a:xfrm>
            <a:off x="4965334" y="3971925"/>
            <a:ext cx="3045401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95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预算上限</a:t>
            </a:r>
            <a:endParaRPr sz="2200" dirty="0">
              <a:solidFill>
                <a:srgbClr val="213547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26" name="可选路线">
            <a:extLst>
              <a:ext uri="{FF2B5EF4-FFF2-40B4-BE49-F238E27FC236}">
                <a16:creationId xmlns:a16="http://schemas.microsoft.com/office/drawing/2014/main" id="{D49730FC-3F8E-F778-1BF7-1703D93206A3}"/>
              </a:ext>
            </a:extLst>
          </p:cNvPr>
          <p:cNvSpPr>
            <a:spLocks noGrp="1"/>
          </p:cNvSpPr>
          <p:nvPr/>
        </p:nvSpPr>
        <p:spPr>
          <a:xfrm>
            <a:off x="4965334" y="4533900"/>
            <a:ext cx="3045401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95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可选路线</a:t>
            </a:r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A94B6CFF-9136-0766-6AEB-4E91ABD1ED53}"/>
              </a:ext>
            </a:extLst>
          </p:cNvPr>
          <p:cNvSpPr>
            <a:spLocks noGrp="1"/>
          </p:cNvSpPr>
          <p:nvPr/>
        </p:nvSpPr>
        <p:spPr>
          <a:xfrm>
            <a:off x="7834860" y="3724275"/>
            <a:ext cx="485968" cy="228600"/>
          </a:xfrm>
          <a:prstGeom prst="rightArrow">
            <a:avLst/>
          </a:prstGeom>
          <a:solidFill>
            <a:srgbClr val="3A7FB3"/>
          </a:solidFill>
          <a:ln w="0">
            <a:noFill/>
          </a:ln>
        </p:spPr>
      </p:sp>
      <p:sp>
        <p:nvSpPr>
          <p:cNvPr id="28" name="03">
            <a:extLst>
              <a:ext uri="{FF2B5EF4-FFF2-40B4-BE49-F238E27FC236}">
                <a16:creationId xmlns:a16="http://schemas.microsoft.com/office/drawing/2014/main" id="{15B400D2-1B3B-3FA2-C41E-1AA5F6F8E913}"/>
              </a:ext>
            </a:extLst>
          </p:cNvPr>
          <p:cNvSpPr>
            <a:spLocks noGrp="1"/>
          </p:cNvSpPr>
          <p:nvPr/>
        </p:nvSpPr>
        <p:spPr>
          <a:xfrm>
            <a:off x="8629649" y="2228850"/>
            <a:ext cx="410373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CB8B3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B8B36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03</a:t>
            </a:r>
          </a:p>
        </p:txBody>
      </p:sp>
      <p:sp>
        <p:nvSpPr>
          <p:cNvPr id="29" name="写清选择条件">
            <a:extLst>
              <a:ext uri="{FF2B5EF4-FFF2-40B4-BE49-F238E27FC236}">
                <a16:creationId xmlns:a16="http://schemas.microsoft.com/office/drawing/2014/main" id="{C2A2BB2C-9804-CD28-7F3E-8024B3520B61}"/>
              </a:ext>
            </a:extLst>
          </p:cNvPr>
          <p:cNvSpPr>
            <a:spLocks noGrp="1"/>
          </p:cNvSpPr>
          <p:nvPr/>
        </p:nvSpPr>
        <p:spPr>
          <a:xfrm>
            <a:off x="9070002" y="2228850"/>
            <a:ext cx="2548633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0000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写清选择条件</a:t>
            </a:r>
            <a:endParaRPr sz="2400" b="1" dirty="0">
              <a:solidFill>
                <a:srgbClr val="0000FF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30" name="选择一条路线">
            <a:extLst>
              <a:ext uri="{FF2B5EF4-FFF2-40B4-BE49-F238E27FC236}">
                <a16:creationId xmlns:a16="http://schemas.microsoft.com/office/drawing/2014/main" id="{3FA62074-FF00-72B5-D526-029F653D82D1}"/>
              </a:ext>
            </a:extLst>
          </p:cNvPr>
          <p:cNvSpPr>
            <a:spLocks noGrp="1"/>
          </p:cNvSpPr>
          <p:nvPr/>
        </p:nvSpPr>
        <p:spPr>
          <a:xfrm>
            <a:off x="8831693" y="2839838"/>
            <a:ext cx="275382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10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选择一条路线</a:t>
            </a:r>
            <a:endParaRPr sz="2200" b="1" dirty="0">
              <a:solidFill>
                <a:srgbClr val="213547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31" name="日期可行， 人数满足要求， 费用不超预算。">
            <a:extLst>
              <a:ext uri="{FF2B5EF4-FFF2-40B4-BE49-F238E27FC236}">
                <a16:creationId xmlns:a16="http://schemas.microsoft.com/office/drawing/2014/main" id="{DBC292E8-CB36-BA89-1AFE-CC0DEC8123D1}"/>
              </a:ext>
            </a:extLst>
          </p:cNvPr>
          <p:cNvSpPr>
            <a:spLocks noGrp="1"/>
          </p:cNvSpPr>
          <p:nvPr/>
        </p:nvSpPr>
        <p:spPr>
          <a:xfrm>
            <a:off x="8831693" y="3521066"/>
            <a:ext cx="3088598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30000"/>
              </a:lnSpc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日期可行</a:t>
            </a:r>
            <a:r>
              <a:rPr sz="22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，</a:t>
            </a:r>
          </a:p>
          <a:p>
            <a:pPr>
              <a:lnSpc>
                <a:spcPct val="130000"/>
              </a:lnSpc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人数满足要求</a:t>
            </a:r>
            <a:r>
              <a:rPr sz="22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，</a:t>
            </a:r>
          </a:p>
          <a:p>
            <a:pPr>
              <a:lnSpc>
                <a:spcPct val="130000"/>
              </a:lnSpc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费用不超预算</a:t>
            </a:r>
            <a:r>
              <a:rPr sz="22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</a:p>
        </p:txBody>
      </p:sp>
      <p:sp>
        <p:nvSpPr>
          <p:cNvPr id="32" name="再比较各路线用时">
            <a:extLst>
              <a:ext uri="{FF2B5EF4-FFF2-40B4-BE49-F238E27FC236}">
                <a16:creationId xmlns:a16="http://schemas.microsoft.com/office/drawing/2014/main" id="{B3980110-5156-4CED-A4B5-B0758536B874}"/>
              </a:ext>
            </a:extLst>
          </p:cNvPr>
          <p:cNvSpPr>
            <a:spLocks noGrp="1"/>
          </p:cNvSpPr>
          <p:nvPr/>
        </p:nvSpPr>
        <p:spPr>
          <a:xfrm>
            <a:off x="8831693" y="4929378"/>
            <a:ext cx="3088598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 dirty="0" err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再比较各路线用时</a:t>
            </a:r>
            <a:endParaRPr sz="2200" b="1" dirty="0">
              <a:solidFill>
                <a:srgbClr val="127B70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33" name="各路线的费用和用时">
            <a:extLst>
              <a:ext uri="{FF2B5EF4-FFF2-40B4-BE49-F238E27FC236}">
                <a16:creationId xmlns:a16="http://schemas.microsoft.com/office/drawing/2014/main" id="{9ACA9F15-BA69-A7E2-D77B-8188FC1EAF5B}"/>
              </a:ext>
            </a:extLst>
          </p:cNvPr>
          <p:cNvSpPr>
            <a:spLocks noGrp="1"/>
          </p:cNvSpPr>
          <p:nvPr/>
        </p:nvSpPr>
        <p:spPr>
          <a:xfrm>
            <a:off x="4965334" y="5019675"/>
            <a:ext cx="2724619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725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各路线的费用和用时</a:t>
            </a:r>
            <a:endParaRPr sz="2200" dirty="0">
              <a:solidFill>
                <a:srgbClr val="5D7180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34" name="与本次交通比较无关">
            <a:extLst>
              <a:ext uri="{FF2B5EF4-FFF2-40B4-BE49-F238E27FC236}">
                <a16:creationId xmlns:a16="http://schemas.microsoft.com/office/drawing/2014/main" id="{034C4355-C12E-DB9E-85D6-05FCE5128918}"/>
              </a:ext>
            </a:extLst>
          </p:cNvPr>
          <p:cNvSpPr>
            <a:spLocks noGrp="1"/>
          </p:cNvSpPr>
          <p:nvPr/>
        </p:nvSpPr>
        <p:spPr>
          <a:xfrm>
            <a:off x="893789" y="5134124"/>
            <a:ext cx="3250587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425" b="0">
                <a:solidFill>
                  <a:srgbClr val="AFBDC4"/>
                </a:solidFill>
                <a:latin typeface="微软雅黑"/>
                <a:ea typeface="微软雅黑"/>
                <a:cs typeface="微软雅黑"/>
              </a:defRPr>
            </a:pPr>
            <a:r>
              <a:rPr sz="2000" dirty="0" err="1">
                <a:solidFill>
                  <a:srgbClr val="00B05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与本次交通比较无关</a:t>
            </a:r>
            <a:endParaRPr sz="2000" dirty="0">
              <a:solidFill>
                <a:srgbClr val="00B050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FC14F4AD-4FDC-F74E-7462-1F71888A7392}"/>
              </a:ext>
            </a:extLst>
          </p:cNvPr>
          <p:cNvSpPr>
            <a:spLocks noGrp="1"/>
          </p:cNvSpPr>
          <p:nvPr/>
        </p:nvSpPr>
        <p:spPr>
          <a:xfrm>
            <a:off x="476250" y="1985820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12700">
            <a:solidFill>
              <a:srgbClr val="C00000"/>
            </a:solidFill>
          </a:ln>
        </p:spPr>
      </p:sp>
      <p:sp>
        <p:nvSpPr>
          <p:cNvPr id="36" name="任意形状 35">
            <a:extLst>
              <a:ext uri="{FF2B5EF4-FFF2-40B4-BE49-F238E27FC236}">
                <a16:creationId xmlns:a16="http://schemas.microsoft.com/office/drawing/2014/main" id="{41886706-4945-E025-DBEF-3714F1A7D931}"/>
              </a:ext>
            </a:extLst>
          </p:cNvPr>
          <p:cNvSpPr>
            <a:spLocks noGrp="1"/>
          </p:cNvSpPr>
          <p:nvPr/>
        </p:nvSpPr>
        <p:spPr>
          <a:xfrm>
            <a:off x="476250" y="5612506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12700">
            <a:solidFill>
              <a:srgbClr val="C00000"/>
            </a:solidFill>
          </a:ln>
        </p:spPr>
      </p:sp>
    </p:spTree>
    <p:extLst>
      <p:ext uri="{BB962C8B-B14F-4D97-AF65-F5344CB8AC3E}">
        <p14:creationId xmlns:p14="http://schemas.microsoft.com/office/powerpoint/2010/main" val="773431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243E-2FB2-486B-B34B-B108E3987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78726-F483-44FA-31B3-AE32C65F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45" y="149676"/>
            <a:ext cx="8219138" cy="705485"/>
          </a:xfrm>
        </p:spPr>
        <p:txBody>
          <a:bodyPr>
            <a:normAutofit/>
          </a:bodyPr>
          <a:lstStyle/>
          <a:p>
            <a:r>
              <a:rPr lang="zh-CN" altLang="en-US" dirty="0"/>
              <a:t>抽象示例：把校园画成一张寻路简图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5070D5-CD9C-1A26-8C62-7F66E6006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68"/>
          <a:stretch>
            <a:fillRect/>
          </a:stretch>
        </p:blipFill>
        <p:spPr>
          <a:xfrm>
            <a:off x="0" y="1184222"/>
            <a:ext cx="12192000" cy="56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529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036EB-54FB-1AF4-2FEF-338266CA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A5238-C046-1140-8D0E-2D9616C2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1" y="149676"/>
            <a:ext cx="8260867" cy="705485"/>
          </a:xfrm>
        </p:spPr>
        <p:txBody>
          <a:bodyPr>
            <a:noAutofit/>
          </a:bodyPr>
          <a:lstStyle/>
          <a:p>
            <a:r>
              <a:rPr lang="zh-CN" altLang="en-US" dirty="0">
                <a:sym typeface="+mn-ea"/>
              </a:rPr>
              <a:t>步骤四：算法设计（写清操作步骤）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694E74D8-1CF9-4742-F917-ABCDD17B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DA61C5-552C-428F-C2FA-EF9A223DDC8A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A2755BE4-E4A9-CA24-69A9-785FB8310F4B}"/>
              </a:ext>
            </a:extLst>
          </p:cNvPr>
          <p:cNvSpPr txBox="1"/>
          <p:nvPr/>
        </p:nvSpPr>
        <p:spPr>
          <a:xfrm>
            <a:off x="571500" y="1299146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算法是为解决一类问题而设计的明确、可执行的步骤</a:t>
            </a:r>
          </a:p>
        </p:txBody>
      </p:sp>
      <p:sp>
        <p:nvSpPr>
          <p:cNvPr id="3" name="例：按照面饼包装上的说明煮面">
            <a:extLst>
              <a:ext uri="{FF2B5EF4-FFF2-40B4-BE49-F238E27FC236}">
                <a16:creationId xmlns:a16="http://schemas.microsoft.com/office/drawing/2014/main" id="{623423D5-F259-AD67-D25D-0E4DC5E0D018}"/>
              </a:ext>
            </a:extLst>
          </p:cNvPr>
          <p:cNvSpPr>
            <a:spLocks noGrp="1"/>
          </p:cNvSpPr>
          <p:nvPr/>
        </p:nvSpPr>
        <p:spPr>
          <a:xfrm>
            <a:off x="571500" y="1914525"/>
            <a:ext cx="67437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例：按照面饼包装上的说明煮面</a:t>
            </a:r>
          </a:p>
        </p:txBody>
      </p:sp>
      <p:sp>
        <p:nvSpPr>
          <p:cNvPr id="5" name="1">
            <a:extLst>
              <a:ext uri="{FF2B5EF4-FFF2-40B4-BE49-F238E27FC236}">
                <a16:creationId xmlns:a16="http://schemas.microsoft.com/office/drawing/2014/main" id="{798A2623-098A-7E20-3B38-8F239DB196DA}"/>
              </a:ext>
            </a:extLst>
          </p:cNvPr>
          <p:cNvSpPr>
            <a:spLocks noGrp="1"/>
          </p:cNvSpPr>
          <p:nvPr/>
        </p:nvSpPr>
        <p:spPr>
          <a:xfrm>
            <a:off x="619125" y="2571750"/>
            <a:ext cx="4095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1</a:t>
            </a:r>
          </a:p>
        </p:txBody>
      </p:sp>
      <p:sp>
        <p:nvSpPr>
          <p:cNvPr id="7" name="准备锅、水、面饼和调料。">
            <a:extLst>
              <a:ext uri="{FF2B5EF4-FFF2-40B4-BE49-F238E27FC236}">
                <a16:creationId xmlns:a16="http://schemas.microsoft.com/office/drawing/2014/main" id="{25C8ADEE-AB4E-6858-AEDF-18C2494F951E}"/>
              </a:ext>
            </a:extLst>
          </p:cNvPr>
          <p:cNvSpPr>
            <a:spLocks noGrp="1"/>
          </p:cNvSpPr>
          <p:nvPr/>
        </p:nvSpPr>
        <p:spPr>
          <a:xfrm>
            <a:off x="1143000" y="2552700"/>
            <a:ext cx="606742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准备锅、水、面饼和调料。</a:t>
            </a:r>
          </a:p>
        </p:txBody>
      </p:sp>
      <p:sp>
        <p:nvSpPr>
          <p:cNvPr id="8" name="2">
            <a:extLst>
              <a:ext uri="{FF2B5EF4-FFF2-40B4-BE49-F238E27FC236}">
                <a16:creationId xmlns:a16="http://schemas.microsoft.com/office/drawing/2014/main" id="{EEAA9913-9040-784E-73D6-D30666B3D361}"/>
              </a:ext>
            </a:extLst>
          </p:cNvPr>
          <p:cNvSpPr>
            <a:spLocks noGrp="1"/>
          </p:cNvSpPr>
          <p:nvPr/>
        </p:nvSpPr>
        <p:spPr>
          <a:xfrm>
            <a:off x="619125" y="3267075"/>
            <a:ext cx="4095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2</a:t>
            </a:r>
          </a:p>
        </p:txBody>
      </p:sp>
      <p:sp>
        <p:nvSpPr>
          <p:cNvPr id="9" name="按包装要求加水，并把水烧开。">
            <a:extLst>
              <a:ext uri="{FF2B5EF4-FFF2-40B4-BE49-F238E27FC236}">
                <a16:creationId xmlns:a16="http://schemas.microsoft.com/office/drawing/2014/main" id="{B29867FD-0179-1C99-2878-C46644509943}"/>
              </a:ext>
            </a:extLst>
          </p:cNvPr>
          <p:cNvSpPr>
            <a:spLocks noGrp="1"/>
          </p:cNvSpPr>
          <p:nvPr/>
        </p:nvSpPr>
        <p:spPr>
          <a:xfrm>
            <a:off x="1143000" y="3248025"/>
            <a:ext cx="606742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按包装要求加水，并把水烧开。</a:t>
            </a:r>
          </a:p>
        </p:txBody>
      </p:sp>
      <p:sp>
        <p:nvSpPr>
          <p:cNvPr id="10" name="3">
            <a:extLst>
              <a:ext uri="{FF2B5EF4-FFF2-40B4-BE49-F238E27FC236}">
                <a16:creationId xmlns:a16="http://schemas.microsoft.com/office/drawing/2014/main" id="{FF680CB3-9DD9-8CC9-895F-18BFCAC8CD24}"/>
              </a:ext>
            </a:extLst>
          </p:cNvPr>
          <p:cNvSpPr>
            <a:spLocks noGrp="1"/>
          </p:cNvSpPr>
          <p:nvPr/>
        </p:nvSpPr>
        <p:spPr>
          <a:xfrm>
            <a:off x="619125" y="3962400"/>
            <a:ext cx="4095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3</a:t>
            </a:r>
          </a:p>
        </p:txBody>
      </p:sp>
      <p:sp>
        <p:nvSpPr>
          <p:cNvPr id="12" name="放入面饼，按包装要求计时煮制。">
            <a:extLst>
              <a:ext uri="{FF2B5EF4-FFF2-40B4-BE49-F238E27FC236}">
                <a16:creationId xmlns:a16="http://schemas.microsoft.com/office/drawing/2014/main" id="{F2531765-EEE7-51CB-5955-09E4AB68E558}"/>
              </a:ext>
            </a:extLst>
          </p:cNvPr>
          <p:cNvSpPr>
            <a:spLocks noGrp="1"/>
          </p:cNvSpPr>
          <p:nvPr/>
        </p:nvSpPr>
        <p:spPr>
          <a:xfrm>
            <a:off x="1143000" y="3943350"/>
            <a:ext cx="606742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放入面饼，按包装要求计时煮制。</a:t>
            </a:r>
          </a:p>
        </p:txBody>
      </p:sp>
      <p:sp>
        <p:nvSpPr>
          <p:cNvPr id="14" name="4">
            <a:extLst>
              <a:ext uri="{FF2B5EF4-FFF2-40B4-BE49-F238E27FC236}">
                <a16:creationId xmlns:a16="http://schemas.microsoft.com/office/drawing/2014/main" id="{E020C488-4AB5-E5CD-CD30-73D2C44DBCED}"/>
              </a:ext>
            </a:extLst>
          </p:cNvPr>
          <p:cNvSpPr>
            <a:spLocks noGrp="1"/>
          </p:cNvSpPr>
          <p:nvPr/>
        </p:nvSpPr>
        <p:spPr>
          <a:xfrm>
            <a:off x="619125" y="4657725"/>
            <a:ext cx="4095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27B7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4</a:t>
            </a:r>
          </a:p>
        </p:txBody>
      </p:sp>
      <p:sp>
        <p:nvSpPr>
          <p:cNvPr id="16" name="按包装要求加入调料， 完成后关火、盛出。">
            <a:extLst>
              <a:ext uri="{FF2B5EF4-FFF2-40B4-BE49-F238E27FC236}">
                <a16:creationId xmlns:a16="http://schemas.microsoft.com/office/drawing/2014/main" id="{7B106175-DE8A-43AB-A2F0-DA05AA7475C2}"/>
              </a:ext>
            </a:extLst>
          </p:cNvPr>
          <p:cNvSpPr>
            <a:spLocks noGrp="1"/>
          </p:cNvSpPr>
          <p:nvPr/>
        </p:nvSpPr>
        <p:spPr>
          <a:xfrm>
            <a:off x="1143000" y="4638675"/>
            <a:ext cx="606742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按包装要求加入调料，</a:t>
            </a:r>
          </a:p>
          <a:p>
            <a:pPr algn="l"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完成后关火、盛出。</a:t>
            </a:r>
          </a:p>
        </p:txBody>
      </p:sp>
      <p:sp>
        <p:nvSpPr>
          <p:cNvPr id="17" name="用三个问题检查步骤">
            <a:extLst>
              <a:ext uri="{FF2B5EF4-FFF2-40B4-BE49-F238E27FC236}">
                <a16:creationId xmlns:a16="http://schemas.microsoft.com/office/drawing/2014/main" id="{E87F4BE5-AC45-F414-169B-D2A2E146764B}"/>
              </a:ext>
            </a:extLst>
          </p:cNvPr>
          <p:cNvSpPr>
            <a:spLocks noGrp="1"/>
          </p:cNvSpPr>
          <p:nvPr/>
        </p:nvSpPr>
        <p:spPr>
          <a:xfrm>
            <a:off x="7591425" y="2190750"/>
            <a:ext cx="40195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3A7FB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A7FB3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用三个问题检查步骤</a:t>
            </a:r>
          </a:p>
        </p:txBody>
      </p:sp>
      <p:sp>
        <p:nvSpPr>
          <p:cNvPr id="18" name="能结束吗？（有穷性）">
            <a:extLst>
              <a:ext uri="{FF2B5EF4-FFF2-40B4-BE49-F238E27FC236}">
                <a16:creationId xmlns:a16="http://schemas.microsoft.com/office/drawing/2014/main" id="{C9DA8D7D-C628-D05C-8D07-07BF51A8C275}"/>
              </a:ext>
            </a:extLst>
          </p:cNvPr>
          <p:cNvSpPr>
            <a:spLocks noGrp="1"/>
          </p:cNvSpPr>
          <p:nvPr/>
        </p:nvSpPr>
        <p:spPr>
          <a:xfrm>
            <a:off x="7591425" y="3019425"/>
            <a:ext cx="40290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能结束吗</a:t>
            </a:r>
            <a:r>
              <a:rPr sz="20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？（</a:t>
            </a:r>
            <a:r>
              <a:rPr sz="20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有穷性</a:t>
            </a:r>
            <a:r>
              <a:rPr sz="20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）</a:t>
            </a:r>
          </a:p>
        </p:txBody>
      </p:sp>
      <p:sp>
        <p:nvSpPr>
          <p:cNvPr id="19" name="每一步清楚吗？（确定性）">
            <a:extLst>
              <a:ext uri="{FF2B5EF4-FFF2-40B4-BE49-F238E27FC236}">
                <a16:creationId xmlns:a16="http://schemas.microsoft.com/office/drawing/2014/main" id="{D74A5A80-CD79-969B-99B0-C89FF6E367BC}"/>
              </a:ext>
            </a:extLst>
          </p:cNvPr>
          <p:cNvSpPr>
            <a:spLocks noGrp="1"/>
          </p:cNvSpPr>
          <p:nvPr/>
        </p:nvSpPr>
        <p:spPr>
          <a:xfrm>
            <a:off x="7591425" y="3695700"/>
            <a:ext cx="40290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每一步清楚吗</a:t>
            </a:r>
            <a:r>
              <a:rPr sz="20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？（</a:t>
            </a:r>
            <a:r>
              <a:rPr sz="20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确定性</a:t>
            </a:r>
            <a:r>
              <a:rPr sz="20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）</a:t>
            </a:r>
          </a:p>
        </p:txBody>
      </p:sp>
      <p:sp>
        <p:nvSpPr>
          <p:cNvPr id="20" name="条件允许执行吗？（可行性）">
            <a:extLst>
              <a:ext uri="{FF2B5EF4-FFF2-40B4-BE49-F238E27FC236}">
                <a16:creationId xmlns:a16="http://schemas.microsoft.com/office/drawing/2014/main" id="{E169023C-E1B6-9731-116F-ACB50B29195E}"/>
              </a:ext>
            </a:extLst>
          </p:cNvPr>
          <p:cNvSpPr>
            <a:spLocks noGrp="1"/>
          </p:cNvSpPr>
          <p:nvPr/>
        </p:nvSpPr>
        <p:spPr>
          <a:xfrm>
            <a:off x="7591425" y="4371975"/>
            <a:ext cx="40290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条件允许执行吗</a:t>
            </a:r>
            <a:r>
              <a:rPr sz="20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？（</a:t>
            </a:r>
            <a:r>
              <a:rPr sz="2000" b="1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可行性</a:t>
            </a:r>
            <a:r>
              <a:rPr sz="2000" b="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）</a:t>
            </a:r>
          </a:p>
        </p:txBody>
      </p:sp>
      <p:sp>
        <p:nvSpPr>
          <p:cNvPr id="21" name="任意形状 20">
            <a:extLst>
              <a:ext uri="{FF2B5EF4-FFF2-40B4-BE49-F238E27FC236}">
                <a16:creationId xmlns:a16="http://schemas.microsoft.com/office/drawing/2014/main" id="{91149D54-AB5F-5B5A-A30B-A2351C28ABBE}"/>
              </a:ext>
            </a:extLst>
          </p:cNvPr>
          <p:cNvSpPr>
            <a:spLocks noGrp="1"/>
          </p:cNvSpPr>
          <p:nvPr/>
        </p:nvSpPr>
        <p:spPr>
          <a:xfrm>
            <a:off x="523875" y="5648325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9525">
            <a:solidFill>
              <a:srgbClr val="B0BABD"/>
            </a:solidFill>
          </a:ln>
        </p:spPr>
      </p:sp>
      <p:sp>
        <p:nvSpPr>
          <p:cNvPr id="22" name="“煮到差不多”够清楚吗？可以用什么说明代替？">
            <a:extLst>
              <a:ext uri="{FF2B5EF4-FFF2-40B4-BE49-F238E27FC236}">
                <a16:creationId xmlns:a16="http://schemas.microsoft.com/office/drawing/2014/main" id="{CC307B59-D0AF-8775-F1A7-5AD4C53258E6}"/>
              </a:ext>
            </a:extLst>
          </p:cNvPr>
          <p:cNvSpPr>
            <a:spLocks noGrp="1"/>
          </p:cNvSpPr>
          <p:nvPr/>
        </p:nvSpPr>
        <p:spPr>
          <a:xfrm>
            <a:off x="552450" y="5762625"/>
            <a:ext cx="11096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“</a:t>
            </a:r>
            <a:r>
              <a:rPr sz="20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煮到差不多”够清楚吗？可以用什么说明代替</a:t>
            </a:r>
            <a:r>
              <a:rPr sz="20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086939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19403-4430-4888-C49D-1812A8F36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6CDDF-6EB5-4004-4C79-F0617AC8B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1" y="149676"/>
            <a:ext cx="8260867" cy="705485"/>
          </a:xfrm>
        </p:spPr>
        <p:txBody>
          <a:bodyPr>
            <a:noAutofit/>
          </a:bodyPr>
          <a:lstStyle/>
          <a:p>
            <a:r>
              <a:rPr lang="zh-CN" altLang="en-US" dirty="0">
                <a:sym typeface="+mn-ea"/>
              </a:rPr>
              <a:t>步骤四：算法设计（写清操作步骤）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F3C2C662-64B6-1ACA-A7BF-71FED5F7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406DBA-1492-141A-E839-83B8F07FBFC0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1FB7E338-D10C-452C-5E19-20120B461ADC}"/>
              </a:ext>
            </a:extLst>
          </p:cNvPr>
          <p:cNvSpPr txBox="1"/>
          <p:nvPr/>
        </p:nvSpPr>
        <p:spPr>
          <a:xfrm>
            <a:off x="590549" y="1341934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算法是为解决一类问题而设计的明确、可执行的步骤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FC5C9667-218D-370F-FDEE-3B5ED3F50A54}"/>
              </a:ext>
            </a:extLst>
          </p:cNvPr>
          <p:cNvSpPr/>
          <p:nvPr/>
        </p:nvSpPr>
        <p:spPr>
          <a:xfrm>
            <a:off x="590548" y="2598806"/>
            <a:ext cx="2651760" cy="667512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1F8987-6D56-2C30-8645-C53778D4400B}"/>
              </a:ext>
            </a:extLst>
          </p:cNvPr>
          <p:cNvSpPr txBox="1"/>
          <p:nvPr/>
        </p:nvSpPr>
        <p:spPr>
          <a:xfrm>
            <a:off x="691132" y="2753268"/>
            <a:ext cx="2450591" cy="3677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01 </a:t>
            </a: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输入</a:t>
            </a:r>
            <a:endParaRPr sz="24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7" name="TextBox 13">
            <a:extLst>
              <a:ext uri="{FF2B5EF4-FFF2-40B4-BE49-F238E27FC236}">
                <a16:creationId xmlns:a16="http://schemas.microsoft.com/office/drawing/2014/main" id="{C9D710C7-08E7-DC8B-B9ED-6944A4D0F919}"/>
              </a:ext>
            </a:extLst>
          </p:cNvPr>
          <p:cNvSpPr txBox="1"/>
          <p:nvPr/>
        </p:nvSpPr>
        <p:spPr>
          <a:xfrm>
            <a:off x="3536416" y="2727670"/>
            <a:ext cx="688990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各窗口的价格、预计耗时与口味信息。</a:t>
            </a:r>
          </a:p>
        </p:txBody>
      </p:sp>
      <p:cxnSp>
        <p:nvCxnSpPr>
          <p:cNvPr id="38" name="Connector 14">
            <a:extLst>
              <a:ext uri="{FF2B5EF4-FFF2-40B4-BE49-F238E27FC236}">
                <a16:creationId xmlns:a16="http://schemas.microsoft.com/office/drawing/2014/main" id="{33712EB5-4C8A-DE71-7D59-3B7833E1A210}"/>
              </a:ext>
            </a:extLst>
          </p:cNvPr>
          <p:cNvCxnSpPr/>
          <p:nvPr/>
        </p:nvCxnSpPr>
        <p:spPr>
          <a:xfrm>
            <a:off x="1916428" y="3302894"/>
            <a:ext cx="0" cy="109728"/>
          </a:xfrm>
          <a:prstGeom prst="line">
            <a:avLst/>
          </a:prstGeom>
          <a:ln w="1905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15">
            <a:extLst>
              <a:ext uri="{FF2B5EF4-FFF2-40B4-BE49-F238E27FC236}">
                <a16:creationId xmlns:a16="http://schemas.microsoft.com/office/drawing/2014/main" id="{2AEE6B4A-6D4E-6BD2-F2D1-EA7EC2678BAD}"/>
              </a:ext>
            </a:extLst>
          </p:cNvPr>
          <p:cNvSpPr/>
          <p:nvPr/>
        </p:nvSpPr>
        <p:spPr>
          <a:xfrm>
            <a:off x="590548" y="3449198"/>
            <a:ext cx="2651760" cy="667512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2FBC9D94-C4A8-7A4E-CB55-10D7D22B4910}"/>
              </a:ext>
            </a:extLst>
          </p:cNvPr>
          <p:cNvSpPr txBox="1"/>
          <p:nvPr/>
        </p:nvSpPr>
        <p:spPr>
          <a:xfrm>
            <a:off x="691132" y="3603661"/>
            <a:ext cx="2450591" cy="3677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02 </a:t>
            </a: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筛选</a:t>
            </a:r>
            <a:endParaRPr sz="24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8B28C18B-F0DB-9D12-FD1F-92928D5FFB90}"/>
              </a:ext>
            </a:extLst>
          </p:cNvPr>
          <p:cNvSpPr txBox="1"/>
          <p:nvPr/>
        </p:nvSpPr>
        <p:spPr>
          <a:xfrm>
            <a:off x="3536416" y="3578062"/>
            <a:ext cx="688990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去掉超预算、超时或不符合饮食需求的选项。</a:t>
            </a:r>
          </a:p>
        </p:txBody>
      </p:sp>
      <p:cxnSp>
        <p:nvCxnSpPr>
          <p:cNvPr id="42" name="Connector 18">
            <a:extLst>
              <a:ext uri="{FF2B5EF4-FFF2-40B4-BE49-F238E27FC236}">
                <a16:creationId xmlns:a16="http://schemas.microsoft.com/office/drawing/2014/main" id="{79AE7CB6-96EB-4579-AB9C-A47BD16CB21D}"/>
              </a:ext>
            </a:extLst>
          </p:cNvPr>
          <p:cNvCxnSpPr/>
          <p:nvPr/>
        </p:nvCxnSpPr>
        <p:spPr>
          <a:xfrm>
            <a:off x="1916428" y="4153286"/>
            <a:ext cx="0" cy="109728"/>
          </a:xfrm>
          <a:prstGeom prst="line">
            <a:avLst/>
          </a:prstGeom>
          <a:ln w="1905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19">
            <a:extLst>
              <a:ext uri="{FF2B5EF4-FFF2-40B4-BE49-F238E27FC236}">
                <a16:creationId xmlns:a16="http://schemas.microsoft.com/office/drawing/2014/main" id="{16FEB19D-B714-917E-4576-CD1DB063F89A}"/>
              </a:ext>
            </a:extLst>
          </p:cNvPr>
          <p:cNvSpPr/>
          <p:nvPr/>
        </p:nvSpPr>
        <p:spPr>
          <a:xfrm>
            <a:off x="590548" y="4299590"/>
            <a:ext cx="2651760" cy="667512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68D2C542-923C-95D3-EF40-ADECC30BF920}"/>
              </a:ext>
            </a:extLst>
          </p:cNvPr>
          <p:cNvSpPr txBox="1"/>
          <p:nvPr/>
        </p:nvSpPr>
        <p:spPr>
          <a:xfrm>
            <a:off x="691132" y="4454053"/>
            <a:ext cx="2450591" cy="3677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03 </a:t>
            </a: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比较</a:t>
            </a:r>
            <a:endParaRPr sz="24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5" name="TextBox 21">
            <a:extLst>
              <a:ext uri="{FF2B5EF4-FFF2-40B4-BE49-F238E27FC236}">
                <a16:creationId xmlns:a16="http://schemas.microsoft.com/office/drawing/2014/main" id="{F00C4B57-E6E5-FA1E-6835-A1223C31977A}"/>
              </a:ext>
            </a:extLst>
          </p:cNvPr>
          <p:cNvSpPr txBox="1"/>
          <p:nvPr/>
        </p:nvSpPr>
        <p:spPr>
          <a:xfrm>
            <a:off x="3536416" y="4428454"/>
            <a:ext cx="688990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按既定标准选择；出现并列时采用约定规则。</a:t>
            </a:r>
          </a:p>
        </p:txBody>
      </p:sp>
      <p:cxnSp>
        <p:nvCxnSpPr>
          <p:cNvPr id="46" name="Connector 22">
            <a:extLst>
              <a:ext uri="{FF2B5EF4-FFF2-40B4-BE49-F238E27FC236}">
                <a16:creationId xmlns:a16="http://schemas.microsoft.com/office/drawing/2014/main" id="{42DAD23F-510A-F1E5-4761-4EE39FC8B8A5}"/>
              </a:ext>
            </a:extLst>
          </p:cNvPr>
          <p:cNvCxnSpPr/>
          <p:nvPr/>
        </p:nvCxnSpPr>
        <p:spPr>
          <a:xfrm>
            <a:off x="1916428" y="5003678"/>
            <a:ext cx="0" cy="109728"/>
          </a:xfrm>
          <a:prstGeom prst="line">
            <a:avLst/>
          </a:prstGeom>
          <a:ln w="1905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23">
            <a:extLst>
              <a:ext uri="{FF2B5EF4-FFF2-40B4-BE49-F238E27FC236}">
                <a16:creationId xmlns:a16="http://schemas.microsoft.com/office/drawing/2014/main" id="{84E9A8D1-E7EE-971B-41E8-370458C56079}"/>
              </a:ext>
            </a:extLst>
          </p:cNvPr>
          <p:cNvSpPr/>
          <p:nvPr/>
        </p:nvSpPr>
        <p:spPr>
          <a:xfrm>
            <a:off x="590548" y="5149982"/>
            <a:ext cx="2651760" cy="667512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E257886A-CC87-D5D7-3EA7-BBE8CE481E6E}"/>
              </a:ext>
            </a:extLst>
          </p:cNvPr>
          <p:cNvSpPr txBox="1"/>
          <p:nvPr/>
        </p:nvSpPr>
        <p:spPr>
          <a:xfrm>
            <a:off x="691132" y="5304445"/>
            <a:ext cx="2450591" cy="3677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04 </a:t>
            </a: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输出与检查</a:t>
            </a:r>
            <a:endParaRPr sz="24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9" name="TextBox 25">
            <a:extLst>
              <a:ext uri="{FF2B5EF4-FFF2-40B4-BE49-F238E27FC236}">
                <a16:creationId xmlns:a16="http://schemas.microsoft.com/office/drawing/2014/main" id="{F6C7BD56-B955-0990-F753-F538DDC92F42}"/>
              </a:ext>
            </a:extLst>
          </p:cNvPr>
          <p:cNvSpPr txBox="1"/>
          <p:nvPr/>
        </p:nvSpPr>
        <p:spPr>
          <a:xfrm>
            <a:off x="3536416" y="5278846"/>
            <a:ext cx="688990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给出选项；若没有可选项，调整要求或另寻方案。</a:t>
            </a:r>
          </a:p>
        </p:txBody>
      </p:sp>
      <p:sp>
        <p:nvSpPr>
          <p:cNvPr id="50" name="云形 49">
            <a:extLst>
              <a:ext uri="{FF2B5EF4-FFF2-40B4-BE49-F238E27FC236}">
                <a16:creationId xmlns:a16="http://schemas.microsoft.com/office/drawing/2014/main" id="{102C9632-4A0D-9ABA-0578-DA08B3ABB3EE}"/>
              </a:ext>
            </a:extLst>
          </p:cNvPr>
          <p:cNvSpPr/>
          <p:nvPr/>
        </p:nvSpPr>
        <p:spPr>
          <a:xfrm>
            <a:off x="8512256" y="1362961"/>
            <a:ext cx="3436641" cy="1569601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kumimoji="1" lang="zh-CN" altLang="en-US" sz="26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回到</a:t>
            </a:r>
            <a:r>
              <a:rPr kumimoji="1" lang="zh-CN" altLang="en-US" sz="26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小明选餐</a:t>
            </a:r>
            <a:r>
              <a:rPr kumimoji="1" lang="zh-CN" altLang="en-US" sz="2600" b="1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的例子</a:t>
            </a:r>
            <a:endParaRPr kumimoji="1" lang="en-US" altLang="zh-CN" sz="2600" b="1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0016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3E08F-3253-B9BE-896F-AEC52BF8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4E846-0FA0-5689-CA8F-0FE0DAD6C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9" y="149676"/>
            <a:ext cx="4677976" cy="705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算法设计示例：</a:t>
            </a:r>
            <a:br>
              <a:rPr lang="en-US" altLang="zh-CN" dirty="0"/>
            </a:br>
            <a:r>
              <a:rPr lang="zh-CN" altLang="en-US" dirty="0"/>
              <a:t>为机器人寻找最短路线</a:t>
            </a:r>
          </a:p>
        </p:txBody>
      </p:sp>
      <p:sp>
        <p:nvSpPr>
          <p:cNvPr id="377" name="同侧圆角矩形 29">
            <a:extLst>
              <a:ext uri="{FF2B5EF4-FFF2-40B4-BE49-F238E27FC236}">
                <a16:creationId xmlns:a16="http://schemas.microsoft.com/office/drawing/2014/main" id="{BFFF25F3-0F5E-BCD8-771F-74F2EEE490D7}"/>
              </a:ext>
            </a:extLst>
          </p:cNvPr>
          <p:cNvSpPr/>
          <p:nvPr/>
        </p:nvSpPr>
        <p:spPr>
          <a:xfrm>
            <a:off x="4695826" y="-1"/>
            <a:ext cx="7496174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拓展了解，不要求掌握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7CFC6E-DE98-D9B1-BF7A-B11EE455F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63"/>
          <a:stretch>
            <a:fillRect/>
          </a:stretch>
        </p:blipFill>
        <p:spPr>
          <a:xfrm>
            <a:off x="0" y="1170218"/>
            <a:ext cx="12192000" cy="568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445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49EC-1F02-EF34-AAC6-C3243329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F0ECD-B0F0-A435-7CE7-4027C62F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2" y="149676"/>
            <a:ext cx="5748066" cy="705485"/>
          </a:xfrm>
        </p:spPr>
        <p:txBody>
          <a:bodyPr>
            <a:noAutofit/>
          </a:bodyPr>
          <a:lstStyle/>
          <a:p>
            <a:r>
              <a:rPr lang="zh-CN" altLang="en-US" dirty="0">
                <a:sym typeface="+mn-ea"/>
              </a:rPr>
              <a:t>计算思维的四个常用环节</a:t>
            </a:r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E4C3C87-36F6-CE47-49C3-A7318603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0EBB8E-6278-5C93-77ED-8B2FEBC8AB29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cxnSp>
        <p:nvCxnSpPr>
          <p:cNvPr id="3" name="Connector 11">
            <a:extLst>
              <a:ext uri="{FF2B5EF4-FFF2-40B4-BE49-F238E27FC236}">
                <a16:creationId xmlns:a16="http://schemas.microsoft.com/office/drawing/2014/main" id="{B0E7C626-84BB-BA35-F051-D075AAAADC76}"/>
              </a:ext>
            </a:extLst>
          </p:cNvPr>
          <p:cNvCxnSpPr/>
          <p:nvPr/>
        </p:nvCxnSpPr>
        <p:spPr>
          <a:xfrm>
            <a:off x="5335748" y="2379726"/>
            <a:ext cx="1143000" cy="0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12">
            <a:extLst>
              <a:ext uri="{FF2B5EF4-FFF2-40B4-BE49-F238E27FC236}">
                <a16:creationId xmlns:a16="http://schemas.microsoft.com/office/drawing/2014/main" id="{1DDCF4E1-BBFC-53F3-352D-DAD0B2662C68}"/>
              </a:ext>
            </a:extLst>
          </p:cNvPr>
          <p:cNvCxnSpPr/>
          <p:nvPr/>
        </p:nvCxnSpPr>
        <p:spPr>
          <a:xfrm>
            <a:off x="8993348" y="3339846"/>
            <a:ext cx="0" cy="301752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13">
            <a:extLst>
              <a:ext uri="{FF2B5EF4-FFF2-40B4-BE49-F238E27FC236}">
                <a16:creationId xmlns:a16="http://schemas.microsoft.com/office/drawing/2014/main" id="{0136DAB2-BA8E-0365-A424-B38DB59D4190}"/>
              </a:ext>
            </a:extLst>
          </p:cNvPr>
          <p:cNvCxnSpPr/>
          <p:nvPr/>
        </p:nvCxnSpPr>
        <p:spPr>
          <a:xfrm flipH="1">
            <a:off x="5445476" y="4574286"/>
            <a:ext cx="1024128" cy="0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14">
            <a:extLst>
              <a:ext uri="{FF2B5EF4-FFF2-40B4-BE49-F238E27FC236}">
                <a16:creationId xmlns:a16="http://schemas.microsoft.com/office/drawing/2014/main" id="{A688B441-8D86-2EF4-65BE-C552EE0D6AAC}"/>
              </a:ext>
            </a:extLst>
          </p:cNvPr>
          <p:cNvCxnSpPr/>
          <p:nvPr/>
        </p:nvCxnSpPr>
        <p:spPr>
          <a:xfrm flipV="1">
            <a:off x="2958308" y="3358134"/>
            <a:ext cx="0" cy="283464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15">
            <a:extLst>
              <a:ext uri="{FF2B5EF4-FFF2-40B4-BE49-F238E27FC236}">
                <a16:creationId xmlns:a16="http://schemas.microsoft.com/office/drawing/2014/main" id="{6017B33E-D1C3-B706-203F-87087EAC0A50}"/>
              </a:ext>
            </a:extLst>
          </p:cNvPr>
          <p:cNvSpPr/>
          <p:nvPr/>
        </p:nvSpPr>
        <p:spPr>
          <a:xfrm>
            <a:off x="571724" y="1547622"/>
            <a:ext cx="4818888" cy="161848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Oval 16">
            <a:extLst>
              <a:ext uri="{FF2B5EF4-FFF2-40B4-BE49-F238E27FC236}">
                <a16:creationId xmlns:a16="http://schemas.microsoft.com/office/drawing/2014/main" id="{F66C9BD7-148D-2BE1-D283-70ACDBBAA184}"/>
              </a:ext>
            </a:extLst>
          </p:cNvPr>
          <p:cNvSpPr/>
          <p:nvPr/>
        </p:nvSpPr>
        <p:spPr>
          <a:xfrm>
            <a:off x="763748" y="1748790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8CE82C29-B9F9-7A51-FCA3-D91DBA9C3A45}"/>
              </a:ext>
            </a:extLst>
          </p:cNvPr>
          <p:cNvSpPr txBox="1"/>
          <p:nvPr/>
        </p:nvSpPr>
        <p:spPr>
          <a:xfrm>
            <a:off x="763748" y="1765249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14" name="TextBox 18">
            <a:extLst>
              <a:ext uri="{FF2B5EF4-FFF2-40B4-BE49-F238E27FC236}">
                <a16:creationId xmlns:a16="http://schemas.microsoft.com/office/drawing/2014/main" id="{38A65BC7-A952-D55A-7EFE-AF77E1D732B4}"/>
              </a:ext>
            </a:extLst>
          </p:cNvPr>
          <p:cNvSpPr txBox="1"/>
          <p:nvPr/>
        </p:nvSpPr>
        <p:spPr>
          <a:xfrm>
            <a:off x="1202660" y="1712214"/>
            <a:ext cx="4032504" cy="384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分解</a:t>
            </a:r>
            <a:r>
              <a:rPr lang="zh-CN" altLang="en-US"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sz="2400" b="1" dirty="0">
                <a:solidFill>
                  <a:srgbClr val="075C48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(Decomposition)</a:t>
            </a:r>
            <a:endParaRPr sz="2400" b="1" dirty="0">
              <a:solidFill>
                <a:srgbClr val="075C48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3BD47940-0ED6-F234-D565-CCFAD49E1BE2}"/>
              </a:ext>
            </a:extLst>
          </p:cNvPr>
          <p:cNvSpPr txBox="1"/>
          <p:nvPr/>
        </p:nvSpPr>
        <p:spPr>
          <a:xfrm>
            <a:off x="782036" y="2379726"/>
            <a:ext cx="439826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把问题拆成可处理的子任务。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0955A3C9-2C18-A24F-68AC-FD74E4CDE1AD}"/>
              </a:ext>
            </a:extLst>
          </p:cNvPr>
          <p:cNvSpPr/>
          <p:nvPr/>
        </p:nvSpPr>
        <p:spPr>
          <a:xfrm>
            <a:off x="6597619" y="1547622"/>
            <a:ext cx="5049733" cy="1618488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8" name="Oval 21">
            <a:extLst>
              <a:ext uri="{FF2B5EF4-FFF2-40B4-BE49-F238E27FC236}">
                <a16:creationId xmlns:a16="http://schemas.microsoft.com/office/drawing/2014/main" id="{322F2BD9-4EFE-18F6-C016-0D0F91BDFCE3}"/>
              </a:ext>
            </a:extLst>
          </p:cNvPr>
          <p:cNvSpPr/>
          <p:nvPr/>
        </p:nvSpPr>
        <p:spPr>
          <a:xfrm>
            <a:off x="6789644" y="1748790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63AD449A-4633-CB6B-8BF4-318EFB435862}"/>
              </a:ext>
            </a:extLst>
          </p:cNvPr>
          <p:cNvSpPr txBox="1"/>
          <p:nvPr/>
        </p:nvSpPr>
        <p:spPr>
          <a:xfrm>
            <a:off x="6789644" y="1765249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6A0BD1DC-62D5-F964-A8D2-AECEDE59188D}"/>
              </a:ext>
            </a:extLst>
          </p:cNvPr>
          <p:cNvSpPr txBox="1"/>
          <p:nvPr/>
        </p:nvSpPr>
        <p:spPr>
          <a:xfrm>
            <a:off x="7228556" y="1712214"/>
            <a:ext cx="4187952" cy="384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模式识别</a:t>
            </a:r>
            <a:r>
              <a:rPr lang="zh-CN" altLang="en-US"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075C48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(Pattern Recognition)</a:t>
            </a:r>
            <a:endParaRPr sz="2400" b="1" dirty="0">
              <a:solidFill>
                <a:srgbClr val="075C48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8C9C1554-7DCA-911C-2ED3-BEC4FD744E99}"/>
              </a:ext>
            </a:extLst>
          </p:cNvPr>
          <p:cNvSpPr txBox="1"/>
          <p:nvPr/>
        </p:nvSpPr>
        <p:spPr>
          <a:xfrm>
            <a:off x="6807932" y="2379726"/>
            <a:ext cx="439826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发现可借鉴的结构与方法。</a:t>
            </a:r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98CF7B7A-8C8F-9405-AA9B-6D801987951B}"/>
              </a:ext>
            </a:extLst>
          </p:cNvPr>
          <p:cNvSpPr/>
          <p:nvPr/>
        </p:nvSpPr>
        <p:spPr>
          <a:xfrm>
            <a:off x="6597619" y="3751326"/>
            <a:ext cx="5049725" cy="161848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E8C4D01D-D4C1-BC4D-EBE8-19B052EEBE23}"/>
              </a:ext>
            </a:extLst>
          </p:cNvPr>
          <p:cNvSpPr/>
          <p:nvPr/>
        </p:nvSpPr>
        <p:spPr>
          <a:xfrm>
            <a:off x="6789644" y="3952494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4" name="TextBox 27">
            <a:extLst>
              <a:ext uri="{FF2B5EF4-FFF2-40B4-BE49-F238E27FC236}">
                <a16:creationId xmlns:a16="http://schemas.microsoft.com/office/drawing/2014/main" id="{5F86ED85-8613-7CCE-8948-594C121BABD8}"/>
              </a:ext>
            </a:extLst>
          </p:cNvPr>
          <p:cNvSpPr txBox="1"/>
          <p:nvPr/>
        </p:nvSpPr>
        <p:spPr>
          <a:xfrm>
            <a:off x="6789644" y="3968953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4577CA7D-66B4-A95D-CD6E-41259E162265}"/>
              </a:ext>
            </a:extLst>
          </p:cNvPr>
          <p:cNvSpPr txBox="1"/>
          <p:nvPr/>
        </p:nvSpPr>
        <p:spPr>
          <a:xfrm>
            <a:off x="7228556" y="3915918"/>
            <a:ext cx="4032504" cy="384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抽象</a:t>
            </a:r>
            <a:r>
              <a:rPr lang="zh-CN" altLang="en-US"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sz="2400" b="1" dirty="0">
                <a:solidFill>
                  <a:srgbClr val="075C48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(Abstraction)</a:t>
            </a:r>
            <a:endParaRPr sz="2400" b="1" dirty="0">
              <a:solidFill>
                <a:srgbClr val="075C48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Box 29">
            <a:extLst>
              <a:ext uri="{FF2B5EF4-FFF2-40B4-BE49-F238E27FC236}">
                <a16:creationId xmlns:a16="http://schemas.microsoft.com/office/drawing/2014/main" id="{1EB4AD85-03B5-422B-7C93-55BC25DD6E47}"/>
              </a:ext>
            </a:extLst>
          </p:cNvPr>
          <p:cNvSpPr txBox="1"/>
          <p:nvPr/>
        </p:nvSpPr>
        <p:spPr>
          <a:xfrm>
            <a:off x="6807932" y="4583430"/>
            <a:ext cx="439826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围绕目标建立合适的表示。</a:t>
            </a:r>
          </a:p>
        </p:txBody>
      </p:sp>
      <p:sp>
        <p:nvSpPr>
          <p:cNvPr id="27" name="Rounded Rectangle 30">
            <a:extLst>
              <a:ext uri="{FF2B5EF4-FFF2-40B4-BE49-F238E27FC236}">
                <a16:creationId xmlns:a16="http://schemas.microsoft.com/office/drawing/2014/main" id="{B5FDC4E0-B4A9-CB42-2EDF-0DAC524B49E8}"/>
              </a:ext>
            </a:extLst>
          </p:cNvPr>
          <p:cNvSpPr/>
          <p:nvPr/>
        </p:nvSpPr>
        <p:spPr>
          <a:xfrm>
            <a:off x="571724" y="3751326"/>
            <a:ext cx="4818888" cy="1618488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8" name="Oval 31">
            <a:extLst>
              <a:ext uri="{FF2B5EF4-FFF2-40B4-BE49-F238E27FC236}">
                <a16:creationId xmlns:a16="http://schemas.microsoft.com/office/drawing/2014/main" id="{1E07EFB7-B793-05B1-CDDE-9B7C25F24537}"/>
              </a:ext>
            </a:extLst>
          </p:cNvPr>
          <p:cNvSpPr/>
          <p:nvPr/>
        </p:nvSpPr>
        <p:spPr>
          <a:xfrm>
            <a:off x="763748" y="3952494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9" name="TextBox 32">
            <a:extLst>
              <a:ext uri="{FF2B5EF4-FFF2-40B4-BE49-F238E27FC236}">
                <a16:creationId xmlns:a16="http://schemas.microsoft.com/office/drawing/2014/main" id="{83510C4F-F284-7CBF-78BA-061C6A9BB680}"/>
              </a:ext>
            </a:extLst>
          </p:cNvPr>
          <p:cNvSpPr txBox="1"/>
          <p:nvPr/>
        </p:nvSpPr>
        <p:spPr>
          <a:xfrm>
            <a:off x="763748" y="3968953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4</a:t>
            </a:r>
          </a:p>
        </p:txBody>
      </p:sp>
      <p:sp>
        <p:nvSpPr>
          <p:cNvPr id="30" name="TextBox 33">
            <a:extLst>
              <a:ext uri="{FF2B5EF4-FFF2-40B4-BE49-F238E27FC236}">
                <a16:creationId xmlns:a16="http://schemas.microsoft.com/office/drawing/2014/main" id="{03F45C0D-1558-0F51-293A-00425F365B9B}"/>
              </a:ext>
            </a:extLst>
          </p:cNvPr>
          <p:cNvSpPr txBox="1"/>
          <p:nvPr/>
        </p:nvSpPr>
        <p:spPr>
          <a:xfrm>
            <a:off x="1202660" y="3915918"/>
            <a:ext cx="4032504" cy="384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设计</a:t>
            </a:r>
            <a:r>
              <a:rPr sz="2400" b="1" dirty="0" err="1">
                <a:solidFill>
                  <a:srgbClr val="075C48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zh-CN" altLang="en-US" sz="2400" b="1" dirty="0">
                <a:solidFill>
                  <a:srgbClr val="075C48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75C48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  <a:sym typeface="Noto Sans SC"/>
              </a:rPr>
              <a:t>(Algorithm)</a:t>
            </a:r>
            <a:endParaRPr sz="2400" b="1" dirty="0">
              <a:solidFill>
                <a:srgbClr val="075C48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TextBox 34">
            <a:extLst>
              <a:ext uri="{FF2B5EF4-FFF2-40B4-BE49-F238E27FC236}">
                <a16:creationId xmlns:a16="http://schemas.microsoft.com/office/drawing/2014/main" id="{3B54A24C-2CBC-E628-A7B1-1977591B34D5}"/>
              </a:ext>
            </a:extLst>
          </p:cNvPr>
          <p:cNvSpPr txBox="1"/>
          <p:nvPr/>
        </p:nvSpPr>
        <p:spPr>
          <a:xfrm>
            <a:off x="782036" y="4583430"/>
            <a:ext cx="439826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形成明确、可执行的步骤。</a:t>
            </a:r>
          </a:p>
        </p:txBody>
      </p:sp>
      <p:sp>
        <p:nvSpPr>
          <p:cNvPr id="32" name="TextBox 35">
            <a:extLst>
              <a:ext uri="{FF2B5EF4-FFF2-40B4-BE49-F238E27FC236}">
                <a16:creationId xmlns:a16="http://schemas.microsoft.com/office/drawing/2014/main" id="{35C814E0-7359-461D-1123-38CD85EC43F9}"/>
              </a:ext>
            </a:extLst>
          </p:cNvPr>
          <p:cNvSpPr txBox="1"/>
          <p:nvPr/>
        </p:nvSpPr>
        <p:spPr>
          <a:xfrm>
            <a:off x="5015708" y="3284982"/>
            <a:ext cx="2020824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评估与修正</a:t>
            </a:r>
          </a:p>
        </p:txBody>
      </p:sp>
    </p:spTree>
    <p:extLst>
      <p:ext uri="{BB962C8B-B14F-4D97-AF65-F5344CB8AC3E}">
        <p14:creationId xmlns:p14="http://schemas.microsoft.com/office/powerpoint/2010/main" val="2933452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9B496-E773-5530-B956-18D8C5E2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9A41A294-CBF3-9CA0-1F5B-4787D700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81" y="2938071"/>
            <a:ext cx="5817235" cy="670810"/>
          </a:xfrm>
        </p:spPr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智能思维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737F168C-9849-8A32-CC5F-1F49C303C756}"/>
              </a:ext>
            </a:extLst>
          </p:cNvPr>
          <p:cNvSpPr txBox="1"/>
          <p:nvPr/>
        </p:nvSpPr>
        <p:spPr>
          <a:xfrm>
            <a:off x="960120" y="3685032"/>
            <a:ext cx="1028700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借助数据发现规律，在不确定性中判断，并依据反馈修正。</a:t>
            </a:r>
          </a:p>
        </p:txBody>
      </p:sp>
    </p:spTree>
    <p:extLst>
      <p:ext uri="{BB962C8B-B14F-4D97-AF65-F5344CB8AC3E}">
        <p14:creationId xmlns:p14="http://schemas.microsoft.com/office/powerpoint/2010/main" val="1734759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960" y="170516"/>
            <a:ext cx="4642877" cy="705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当人工规则难以写全时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6D77CB3E-2402-BCF2-AADB-1B4DADAC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6A3E42-16C4-1D6D-5E53-C162CE03539E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6AC78BEF-8978-8DB4-F98C-90F434D280CD}"/>
              </a:ext>
            </a:extLst>
          </p:cNvPr>
          <p:cNvSpPr txBox="1"/>
          <p:nvPr/>
        </p:nvSpPr>
        <p:spPr>
          <a:xfrm>
            <a:off x="437278" y="1294700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例如，判断一张图像中是否有猫：怎样写出适用于所有图片的规则？</a:t>
            </a:r>
          </a:p>
        </p:txBody>
      </p:sp>
      <p:sp>
        <p:nvSpPr>
          <p:cNvPr id="10" name="Rounded Rectangle 12">
            <a:extLst>
              <a:ext uri="{FF2B5EF4-FFF2-40B4-BE49-F238E27FC236}">
                <a16:creationId xmlns:a16="http://schemas.microsoft.com/office/drawing/2014/main" id="{FC694C71-B795-CDE8-FE1F-FBA13427A40C}"/>
              </a:ext>
            </a:extLst>
          </p:cNvPr>
          <p:cNvSpPr/>
          <p:nvPr/>
        </p:nvSpPr>
        <p:spPr>
          <a:xfrm>
            <a:off x="556151" y="1927136"/>
            <a:ext cx="2596896" cy="2011680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Isosceles Triangle 13">
            <a:extLst>
              <a:ext uri="{FF2B5EF4-FFF2-40B4-BE49-F238E27FC236}">
                <a16:creationId xmlns:a16="http://schemas.microsoft.com/office/drawing/2014/main" id="{3C8A8E47-4B57-8788-9C55-4F68C2B37397}"/>
              </a:ext>
            </a:extLst>
          </p:cNvPr>
          <p:cNvSpPr/>
          <p:nvPr/>
        </p:nvSpPr>
        <p:spPr>
          <a:xfrm>
            <a:off x="1378745" y="2161222"/>
            <a:ext cx="266273" cy="481340"/>
          </a:xfrm>
          <a:prstGeom prst="triangl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Isosceles Triangle 14">
            <a:extLst>
              <a:ext uri="{FF2B5EF4-FFF2-40B4-BE49-F238E27FC236}">
                <a16:creationId xmlns:a16="http://schemas.microsoft.com/office/drawing/2014/main" id="{1D6E9326-1B88-938D-3F2F-F05DE12FDAA8}"/>
              </a:ext>
            </a:extLst>
          </p:cNvPr>
          <p:cNvSpPr/>
          <p:nvPr/>
        </p:nvSpPr>
        <p:spPr>
          <a:xfrm>
            <a:off x="1982980" y="2161222"/>
            <a:ext cx="266273" cy="481340"/>
          </a:xfrm>
          <a:prstGeom prst="triangl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3DBCD179-38E5-C404-56AF-CCA2EE97A5EE}"/>
              </a:ext>
            </a:extLst>
          </p:cNvPr>
          <p:cNvSpPr/>
          <p:nvPr/>
        </p:nvSpPr>
        <p:spPr>
          <a:xfrm>
            <a:off x="1296815" y="2366048"/>
            <a:ext cx="1003645" cy="819302"/>
          </a:xfrm>
          <a:prstGeom prst="ellips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4" name="Oval 16">
            <a:extLst>
              <a:ext uri="{FF2B5EF4-FFF2-40B4-BE49-F238E27FC236}">
                <a16:creationId xmlns:a16="http://schemas.microsoft.com/office/drawing/2014/main" id="{B176A740-CA2B-F23A-C1A9-D52D9FA5D0FB}"/>
              </a:ext>
            </a:extLst>
          </p:cNvPr>
          <p:cNvSpPr/>
          <p:nvPr/>
        </p:nvSpPr>
        <p:spPr>
          <a:xfrm>
            <a:off x="1583570" y="2632321"/>
            <a:ext cx="87050" cy="112654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5" name="Oval 17">
            <a:extLst>
              <a:ext uri="{FF2B5EF4-FFF2-40B4-BE49-F238E27FC236}">
                <a16:creationId xmlns:a16="http://schemas.microsoft.com/office/drawing/2014/main" id="{C70F148D-B03E-17F2-A713-D30F0936B742}"/>
              </a:ext>
            </a:extLst>
          </p:cNvPr>
          <p:cNvSpPr/>
          <p:nvPr/>
        </p:nvSpPr>
        <p:spPr>
          <a:xfrm>
            <a:off x="2013704" y="2632321"/>
            <a:ext cx="87050" cy="112654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6" name="Oval 18">
            <a:extLst>
              <a:ext uri="{FF2B5EF4-FFF2-40B4-BE49-F238E27FC236}">
                <a16:creationId xmlns:a16="http://schemas.microsoft.com/office/drawing/2014/main" id="{1D096559-B2F9-C72E-A2CA-C9810F40C776}"/>
              </a:ext>
            </a:extLst>
          </p:cNvPr>
          <p:cNvSpPr/>
          <p:nvPr/>
        </p:nvSpPr>
        <p:spPr>
          <a:xfrm>
            <a:off x="1757672" y="2837146"/>
            <a:ext cx="102412" cy="61447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17" name="Connector 19">
            <a:extLst>
              <a:ext uri="{FF2B5EF4-FFF2-40B4-BE49-F238E27FC236}">
                <a16:creationId xmlns:a16="http://schemas.microsoft.com/office/drawing/2014/main" id="{49B7E73F-CE08-1F2B-F3CA-4D18453454D2}"/>
              </a:ext>
            </a:extLst>
          </p:cNvPr>
          <p:cNvCxnSpPr/>
          <p:nvPr/>
        </p:nvCxnSpPr>
        <p:spPr>
          <a:xfrm flipH="1" flipV="1">
            <a:off x="1122713" y="2652803"/>
            <a:ext cx="430134" cy="8193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20">
            <a:extLst>
              <a:ext uri="{FF2B5EF4-FFF2-40B4-BE49-F238E27FC236}">
                <a16:creationId xmlns:a16="http://schemas.microsoft.com/office/drawing/2014/main" id="{C32E240D-97AB-A8DE-8C81-FBD2C4504FC2}"/>
              </a:ext>
            </a:extLst>
          </p:cNvPr>
          <p:cNvCxnSpPr/>
          <p:nvPr/>
        </p:nvCxnSpPr>
        <p:spPr>
          <a:xfrm flipV="1">
            <a:off x="2044428" y="2652803"/>
            <a:ext cx="430134" cy="8193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21">
            <a:extLst>
              <a:ext uri="{FF2B5EF4-FFF2-40B4-BE49-F238E27FC236}">
                <a16:creationId xmlns:a16="http://schemas.microsoft.com/office/drawing/2014/main" id="{1693718B-9C59-9F5F-592A-09B30B999932}"/>
              </a:ext>
            </a:extLst>
          </p:cNvPr>
          <p:cNvCxnSpPr/>
          <p:nvPr/>
        </p:nvCxnSpPr>
        <p:spPr>
          <a:xfrm flipH="1" flipV="1">
            <a:off x="1122713" y="2826905"/>
            <a:ext cx="430134" cy="1024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22">
            <a:extLst>
              <a:ext uri="{FF2B5EF4-FFF2-40B4-BE49-F238E27FC236}">
                <a16:creationId xmlns:a16="http://schemas.microsoft.com/office/drawing/2014/main" id="{87997152-EDEB-013E-FC82-D49F2FAF07B3}"/>
              </a:ext>
            </a:extLst>
          </p:cNvPr>
          <p:cNvCxnSpPr/>
          <p:nvPr/>
        </p:nvCxnSpPr>
        <p:spPr>
          <a:xfrm flipV="1">
            <a:off x="2044428" y="2826905"/>
            <a:ext cx="430134" cy="1024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3">
            <a:extLst>
              <a:ext uri="{FF2B5EF4-FFF2-40B4-BE49-F238E27FC236}">
                <a16:creationId xmlns:a16="http://schemas.microsoft.com/office/drawing/2014/main" id="{9887D569-5259-3871-5DDC-FE2979D63507}"/>
              </a:ext>
            </a:extLst>
          </p:cNvPr>
          <p:cNvCxnSpPr/>
          <p:nvPr/>
        </p:nvCxnSpPr>
        <p:spPr>
          <a:xfrm flipH="1">
            <a:off x="1122713" y="2939559"/>
            <a:ext cx="430134" cy="61448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4">
            <a:extLst>
              <a:ext uri="{FF2B5EF4-FFF2-40B4-BE49-F238E27FC236}">
                <a16:creationId xmlns:a16="http://schemas.microsoft.com/office/drawing/2014/main" id="{C28B17D3-BC40-AB18-971C-EC4B38FFBF61}"/>
              </a:ext>
            </a:extLst>
          </p:cNvPr>
          <p:cNvCxnSpPr/>
          <p:nvPr/>
        </p:nvCxnSpPr>
        <p:spPr>
          <a:xfrm>
            <a:off x="2044428" y="2939559"/>
            <a:ext cx="430134" cy="61448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5">
            <a:extLst>
              <a:ext uri="{FF2B5EF4-FFF2-40B4-BE49-F238E27FC236}">
                <a16:creationId xmlns:a16="http://schemas.microsoft.com/office/drawing/2014/main" id="{66CEE3B6-8417-1D26-A04C-B8B8766D04C8}"/>
              </a:ext>
            </a:extLst>
          </p:cNvPr>
          <p:cNvSpPr txBox="1"/>
          <p:nvPr/>
        </p:nvSpPr>
        <p:spPr>
          <a:xfrm>
            <a:off x="702455" y="3499904"/>
            <a:ext cx="2304288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清晰正面</a:t>
            </a:r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70721DBB-F29B-CE14-3026-C9B434898D08}"/>
              </a:ext>
            </a:extLst>
          </p:cNvPr>
          <p:cNvSpPr/>
          <p:nvPr/>
        </p:nvSpPr>
        <p:spPr>
          <a:xfrm>
            <a:off x="3409079" y="1927136"/>
            <a:ext cx="2596896" cy="20116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5" name="Isosceles Triangle 27">
            <a:extLst>
              <a:ext uri="{FF2B5EF4-FFF2-40B4-BE49-F238E27FC236}">
                <a16:creationId xmlns:a16="http://schemas.microsoft.com/office/drawing/2014/main" id="{B3CCC9EF-DE96-5724-6125-97E61EBEED77}"/>
              </a:ext>
            </a:extLst>
          </p:cNvPr>
          <p:cNvSpPr/>
          <p:nvPr/>
        </p:nvSpPr>
        <p:spPr>
          <a:xfrm>
            <a:off x="4231673" y="2161222"/>
            <a:ext cx="266273" cy="481340"/>
          </a:xfrm>
          <a:prstGeom prst="triangl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6" name="Isosceles Triangle 28">
            <a:extLst>
              <a:ext uri="{FF2B5EF4-FFF2-40B4-BE49-F238E27FC236}">
                <a16:creationId xmlns:a16="http://schemas.microsoft.com/office/drawing/2014/main" id="{833F4010-B278-F83A-C992-A676FB4E8CFC}"/>
              </a:ext>
            </a:extLst>
          </p:cNvPr>
          <p:cNvSpPr/>
          <p:nvPr/>
        </p:nvSpPr>
        <p:spPr>
          <a:xfrm>
            <a:off x="4835908" y="2161222"/>
            <a:ext cx="266273" cy="481340"/>
          </a:xfrm>
          <a:prstGeom prst="triangl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7" name="Oval 29">
            <a:extLst>
              <a:ext uri="{FF2B5EF4-FFF2-40B4-BE49-F238E27FC236}">
                <a16:creationId xmlns:a16="http://schemas.microsoft.com/office/drawing/2014/main" id="{62328592-2C82-CF48-CD1B-2FFA4BDFC33D}"/>
              </a:ext>
            </a:extLst>
          </p:cNvPr>
          <p:cNvSpPr/>
          <p:nvPr/>
        </p:nvSpPr>
        <p:spPr>
          <a:xfrm>
            <a:off x="4149743" y="2366048"/>
            <a:ext cx="1003645" cy="819302"/>
          </a:xfrm>
          <a:prstGeom prst="ellips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8" name="Oval 30">
            <a:extLst>
              <a:ext uri="{FF2B5EF4-FFF2-40B4-BE49-F238E27FC236}">
                <a16:creationId xmlns:a16="http://schemas.microsoft.com/office/drawing/2014/main" id="{8F0CC937-00B6-04D3-03F7-2AB38402A01D}"/>
              </a:ext>
            </a:extLst>
          </p:cNvPr>
          <p:cNvSpPr/>
          <p:nvPr/>
        </p:nvSpPr>
        <p:spPr>
          <a:xfrm>
            <a:off x="4436498" y="2632321"/>
            <a:ext cx="87050" cy="112654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9" name="Oval 31">
            <a:extLst>
              <a:ext uri="{FF2B5EF4-FFF2-40B4-BE49-F238E27FC236}">
                <a16:creationId xmlns:a16="http://schemas.microsoft.com/office/drawing/2014/main" id="{8782BFAE-770B-6457-58C7-ED4D1CB807E2}"/>
              </a:ext>
            </a:extLst>
          </p:cNvPr>
          <p:cNvSpPr/>
          <p:nvPr/>
        </p:nvSpPr>
        <p:spPr>
          <a:xfrm>
            <a:off x="4866632" y="2632321"/>
            <a:ext cx="87050" cy="112654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0" name="Oval 32">
            <a:extLst>
              <a:ext uri="{FF2B5EF4-FFF2-40B4-BE49-F238E27FC236}">
                <a16:creationId xmlns:a16="http://schemas.microsoft.com/office/drawing/2014/main" id="{AB7F2137-6A04-2DBC-C352-CBBF682B0221}"/>
              </a:ext>
            </a:extLst>
          </p:cNvPr>
          <p:cNvSpPr/>
          <p:nvPr/>
        </p:nvSpPr>
        <p:spPr>
          <a:xfrm>
            <a:off x="4610600" y="2837146"/>
            <a:ext cx="102412" cy="61447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31" name="Connector 33">
            <a:extLst>
              <a:ext uri="{FF2B5EF4-FFF2-40B4-BE49-F238E27FC236}">
                <a16:creationId xmlns:a16="http://schemas.microsoft.com/office/drawing/2014/main" id="{59FB4FB8-FA40-6AFD-57C7-6871EB36677F}"/>
              </a:ext>
            </a:extLst>
          </p:cNvPr>
          <p:cNvCxnSpPr/>
          <p:nvPr/>
        </p:nvCxnSpPr>
        <p:spPr>
          <a:xfrm flipH="1" flipV="1">
            <a:off x="3975641" y="2652803"/>
            <a:ext cx="430134" cy="8193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4">
            <a:extLst>
              <a:ext uri="{FF2B5EF4-FFF2-40B4-BE49-F238E27FC236}">
                <a16:creationId xmlns:a16="http://schemas.microsoft.com/office/drawing/2014/main" id="{A66FAB87-8B05-885B-1E0F-1635BDD0C6DF}"/>
              </a:ext>
            </a:extLst>
          </p:cNvPr>
          <p:cNvCxnSpPr/>
          <p:nvPr/>
        </p:nvCxnSpPr>
        <p:spPr>
          <a:xfrm flipV="1">
            <a:off x="4897356" y="2652803"/>
            <a:ext cx="430134" cy="8193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5">
            <a:extLst>
              <a:ext uri="{FF2B5EF4-FFF2-40B4-BE49-F238E27FC236}">
                <a16:creationId xmlns:a16="http://schemas.microsoft.com/office/drawing/2014/main" id="{F20B04EC-64B5-5831-0346-C49F40B2C0A1}"/>
              </a:ext>
            </a:extLst>
          </p:cNvPr>
          <p:cNvCxnSpPr/>
          <p:nvPr/>
        </p:nvCxnSpPr>
        <p:spPr>
          <a:xfrm flipH="1" flipV="1">
            <a:off x="3975641" y="2826905"/>
            <a:ext cx="430134" cy="1024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6">
            <a:extLst>
              <a:ext uri="{FF2B5EF4-FFF2-40B4-BE49-F238E27FC236}">
                <a16:creationId xmlns:a16="http://schemas.microsoft.com/office/drawing/2014/main" id="{A305DE60-ED11-CB30-672C-BA88176464F3}"/>
              </a:ext>
            </a:extLst>
          </p:cNvPr>
          <p:cNvCxnSpPr/>
          <p:nvPr/>
        </p:nvCxnSpPr>
        <p:spPr>
          <a:xfrm flipV="1">
            <a:off x="4897356" y="2826905"/>
            <a:ext cx="430134" cy="1024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7">
            <a:extLst>
              <a:ext uri="{FF2B5EF4-FFF2-40B4-BE49-F238E27FC236}">
                <a16:creationId xmlns:a16="http://schemas.microsoft.com/office/drawing/2014/main" id="{5FF387C9-DD8F-BAF5-5220-EFFCFE83AF03}"/>
              </a:ext>
            </a:extLst>
          </p:cNvPr>
          <p:cNvCxnSpPr/>
          <p:nvPr/>
        </p:nvCxnSpPr>
        <p:spPr>
          <a:xfrm flipH="1">
            <a:off x="3975641" y="2939559"/>
            <a:ext cx="430134" cy="61448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8">
            <a:extLst>
              <a:ext uri="{FF2B5EF4-FFF2-40B4-BE49-F238E27FC236}">
                <a16:creationId xmlns:a16="http://schemas.microsoft.com/office/drawing/2014/main" id="{937595FC-A433-53FE-70F5-B509FA3C2DF6}"/>
              </a:ext>
            </a:extLst>
          </p:cNvPr>
          <p:cNvCxnSpPr/>
          <p:nvPr/>
        </p:nvCxnSpPr>
        <p:spPr>
          <a:xfrm>
            <a:off x="4897356" y="2939559"/>
            <a:ext cx="430134" cy="61448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9">
            <a:extLst>
              <a:ext uri="{FF2B5EF4-FFF2-40B4-BE49-F238E27FC236}">
                <a16:creationId xmlns:a16="http://schemas.microsoft.com/office/drawing/2014/main" id="{1A5E5329-D80C-2417-0EC4-09A7C65E0F5E}"/>
              </a:ext>
            </a:extLst>
          </p:cNvPr>
          <p:cNvSpPr/>
          <p:nvPr/>
        </p:nvSpPr>
        <p:spPr>
          <a:xfrm>
            <a:off x="4774461" y="2089533"/>
            <a:ext cx="553029" cy="1147023"/>
          </a:xfrm>
          <a:prstGeom prst="roundRect">
            <a:avLst>
              <a:gd name="adj" fmla="val 10000"/>
            </a:avLst>
          </a:prstGeom>
          <a:solidFill>
            <a:srgbClr val="D6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CDEC7CB5-F3E1-9B4E-F6B7-96740BFA70BE}"/>
              </a:ext>
            </a:extLst>
          </p:cNvPr>
          <p:cNvSpPr txBox="1"/>
          <p:nvPr/>
        </p:nvSpPr>
        <p:spPr>
          <a:xfrm>
            <a:off x="3555383" y="3499904"/>
            <a:ext cx="2304288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部分遮挡</a:t>
            </a:r>
          </a:p>
        </p:txBody>
      </p:sp>
      <p:sp>
        <p:nvSpPr>
          <p:cNvPr id="39" name="Rounded Rectangle 41">
            <a:extLst>
              <a:ext uri="{FF2B5EF4-FFF2-40B4-BE49-F238E27FC236}">
                <a16:creationId xmlns:a16="http://schemas.microsoft.com/office/drawing/2014/main" id="{7CC36F47-4970-6C83-D327-2556F609FE14}"/>
              </a:ext>
            </a:extLst>
          </p:cNvPr>
          <p:cNvSpPr/>
          <p:nvPr/>
        </p:nvSpPr>
        <p:spPr>
          <a:xfrm>
            <a:off x="6262007" y="1927136"/>
            <a:ext cx="2596896" cy="2011680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0" name="Isosceles Triangle 42">
            <a:extLst>
              <a:ext uri="{FF2B5EF4-FFF2-40B4-BE49-F238E27FC236}">
                <a16:creationId xmlns:a16="http://schemas.microsoft.com/office/drawing/2014/main" id="{1391CF68-758D-D8A6-13D6-B95FA05D9FF2}"/>
              </a:ext>
            </a:extLst>
          </p:cNvPr>
          <p:cNvSpPr/>
          <p:nvPr/>
        </p:nvSpPr>
        <p:spPr>
          <a:xfrm>
            <a:off x="7084601" y="2161222"/>
            <a:ext cx="266273" cy="481340"/>
          </a:xfrm>
          <a:prstGeom prst="triangle">
            <a:avLst/>
          </a:prstGeom>
          <a:solidFill>
            <a:srgbClr val="6F7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1" name="Isosceles Triangle 43">
            <a:extLst>
              <a:ext uri="{FF2B5EF4-FFF2-40B4-BE49-F238E27FC236}">
                <a16:creationId xmlns:a16="http://schemas.microsoft.com/office/drawing/2014/main" id="{DCCEB9EE-7542-989D-8761-25F750D71536}"/>
              </a:ext>
            </a:extLst>
          </p:cNvPr>
          <p:cNvSpPr/>
          <p:nvPr/>
        </p:nvSpPr>
        <p:spPr>
          <a:xfrm>
            <a:off x="7688836" y="2161222"/>
            <a:ext cx="266273" cy="481340"/>
          </a:xfrm>
          <a:prstGeom prst="triangle">
            <a:avLst/>
          </a:prstGeom>
          <a:solidFill>
            <a:srgbClr val="6F7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2" name="Oval 44">
            <a:extLst>
              <a:ext uri="{FF2B5EF4-FFF2-40B4-BE49-F238E27FC236}">
                <a16:creationId xmlns:a16="http://schemas.microsoft.com/office/drawing/2014/main" id="{5E16AB90-A9C0-23DC-E09B-AFAC9226BB8F}"/>
              </a:ext>
            </a:extLst>
          </p:cNvPr>
          <p:cNvSpPr/>
          <p:nvPr/>
        </p:nvSpPr>
        <p:spPr>
          <a:xfrm>
            <a:off x="7002671" y="2366048"/>
            <a:ext cx="1003645" cy="819302"/>
          </a:xfrm>
          <a:prstGeom prst="ellipse">
            <a:avLst/>
          </a:prstGeom>
          <a:solidFill>
            <a:srgbClr val="6F7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3" name="Oval 45">
            <a:extLst>
              <a:ext uri="{FF2B5EF4-FFF2-40B4-BE49-F238E27FC236}">
                <a16:creationId xmlns:a16="http://schemas.microsoft.com/office/drawing/2014/main" id="{C4DCCC06-76A6-2298-1BD8-C39A23809709}"/>
              </a:ext>
            </a:extLst>
          </p:cNvPr>
          <p:cNvSpPr/>
          <p:nvPr/>
        </p:nvSpPr>
        <p:spPr>
          <a:xfrm>
            <a:off x="7289426" y="2632321"/>
            <a:ext cx="87050" cy="112654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4" name="Oval 46">
            <a:extLst>
              <a:ext uri="{FF2B5EF4-FFF2-40B4-BE49-F238E27FC236}">
                <a16:creationId xmlns:a16="http://schemas.microsoft.com/office/drawing/2014/main" id="{C5E63B91-0FB1-6219-BDDB-36C738E6E5AB}"/>
              </a:ext>
            </a:extLst>
          </p:cNvPr>
          <p:cNvSpPr/>
          <p:nvPr/>
        </p:nvSpPr>
        <p:spPr>
          <a:xfrm>
            <a:off x="7719560" y="2632321"/>
            <a:ext cx="87050" cy="112654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5" name="Oval 47">
            <a:extLst>
              <a:ext uri="{FF2B5EF4-FFF2-40B4-BE49-F238E27FC236}">
                <a16:creationId xmlns:a16="http://schemas.microsoft.com/office/drawing/2014/main" id="{BCA4135B-BBFE-B593-923D-AA334483CDD5}"/>
              </a:ext>
            </a:extLst>
          </p:cNvPr>
          <p:cNvSpPr/>
          <p:nvPr/>
        </p:nvSpPr>
        <p:spPr>
          <a:xfrm>
            <a:off x="7463528" y="2837146"/>
            <a:ext cx="102412" cy="61447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46" name="Connector 48">
            <a:extLst>
              <a:ext uri="{FF2B5EF4-FFF2-40B4-BE49-F238E27FC236}">
                <a16:creationId xmlns:a16="http://schemas.microsoft.com/office/drawing/2014/main" id="{CEF74E90-E702-19CD-A7F4-EA36768069D2}"/>
              </a:ext>
            </a:extLst>
          </p:cNvPr>
          <p:cNvCxnSpPr/>
          <p:nvPr/>
        </p:nvCxnSpPr>
        <p:spPr>
          <a:xfrm flipH="1" flipV="1">
            <a:off x="6828569" y="2652803"/>
            <a:ext cx="430133" cy="8193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9">
            <a:extLst>
              <a:ext uri="{FF2B5EF4-FFF2-40B4-BE49-F238E27FC236}">
                <a16:creationId xmlns:a16="http://schemas.microsoft.com/office/drawing/2014/main" id="{A9484F00-4EC2-0148-2BC5-CBABA4FAC6D3}"/>
              </a:ext>
            </a:extLst>
          </p:cNvPr>
          <p:cNvCxnSpPr/>
          <p:nvPr/>
        </p:nvCxnSpPr>
        <p:spPr>
          <a:xfrm flipV="1">
            <a:off x="7750284" y="2652803"/>
            <a:ext cx="430134" cy="8193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50">
            <a:extLst>
              <a:ext uri="{FF2B5EF4-FFF2-40B4-BE49-F238E27FC236}">
                <a16:creationId xmlns:a16="http://schemas.microsoft.com/office/drawing/2014/main" id="{D532AF0B-1F01-B489-87AA-57C32F33617A}"/>
              </a:ext>
            </a:extLst>
          </p:cNvPr>
          <p:cNvCxnSpPr/>
          <p:nvPr/>
        </p:nvCxnSpPr>
        <p:spPr>
          <a:xfrm flipH="1" flipV="1">
            <a:off x="6828569" y="2826905"/>
            <a:ext cx="430133" cy="1024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51">
            <a:extLst>
              <a:ext uri="{FF2B5EF4-FFF2-40B4-BE49-F238E27FC236}">
                <a16:creationId xmlns:a16="http://schemas.microsoft.com/office/drawing/2014/main" id="{A45611B0-E614-F6B6-0F50-678861324A7F}"/>
              </a:ext>
            </a:extLst>
          </p:cNvPr>
          <p:cNvCxnSpPr/>
          <p:nvPr/>
        </p:nvCxnSpPr>
        <p:spPr>
          <a:xfrm flipV="1">
            <a:off x="7750284" y="2826905"/>
            <a:ext cx="430134" cy="1024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52">
            <a:extLst>
              <a:ext uri="{FF2B5EF4-FFF2-40B4-BE49-F238E27FC236}">
                <a16:creationId xmlns:a16="http://schemas.microsoft.com/office/drawing/2014/main" id="{1C6FF18F-91F7-4BB9-4EE3-1DEF2F1FDF85}"/>
              </a:ext>
            </a:extLst>
          </p:cNvPr>
          <p:cNvCxnSpPr/>
          <p:nvPr/>
        </p:nvCxnSpPr>
        <p:spPr>
          <a:xfrm flipH="1">
            <a:off x="6828569" y="2939559"/>
            <a:ext cx="430133" cy="61448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3">
            <a:extLst>
              <a:ext uri="{FF2B5EF4-FFF2-40B4-BE49-F238E27FC236}">
                <a16:creationId xmlns:a16="http://schemas.microsoft.com/office/drawing/2014/main" id="{D0D14AE9-9F40-D63C-1C56-4BC21ECDAD39}"/>
              </a:ext>
            </a:extLst>
          </p:cNvPr>
          <p:cNvCxnSpPr/>
          <p:nvPr/>
        </p:nvCxnSpPr>
        <p:spPr>
          <a:xfrm>
            <a:off x="7750284" y="2939559"/>
            <a:ext cx="430134" cy="61448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4">
            <a:extLst>
              <a:ext uri="{FF2B5EF4-FFF2-40B4-BE49-F238E27FC236}">
                <a16:creationId xmlns:a16="http://schemas.microsoft.com/office/drawing/2014/main" id="{ABD5E5EC-8FF6-33BA-05BF-6ED6BBF38A80}"/>
              </a:ext>
            </a:extLst>
          </p:cNvPr>
          <p:cNvSpPr txBox="1"/>
          <p:nvPr/>
        </p:nvSpPr>
        <p:spPr>
          <a:xfrm>
            <a:off x="6408311" y="3499904"/>
            <a:ext cx="2304288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光照较暗</a:t>
            </a:r>
          </a:p>
        </p:txBody>
      </p:sp>
      <p:sp>
        <p:nvSpPr>
          <p:cNvPr id="53" name="Rounded Rectangle 55">
            <a:extLst>
              <a:ext uri="{FF2B5EF4-FFF2-40B4-BE49-F238E27FC236}">
                <a16:creationId xmlns:a16="http://schemas.microsoft.com/office/drawing/2014/main" id="{743D3C01-C666-78F7-21BF-7A6E77BF8BD5}"/>
              </a:ext>
            </a:extLst>
          </p:cNvPr>
          <p:cNvSpPr/>
          <p:nvPr/>
        </p:nvSpPr>
        <p:spPr>
          <a:xfrm>
            <a:off x="9114934" y="1927136"/>
            <a:ext cx="2596896" cy="201168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4" name="Isosceles Triangle 56">
            <a:extLst>
              <a:ext uri="{FF2B5EF4-FFF2-40B4-BE49-F238E27FC236}">
                <a16:creationId xmlns:a16="http://schemas.microsoft.com/office/drawing/2014/main" id="{637F20BC-D09E-EDC2-87BC-6803F6DCE8F8}"/>
              </a:ext>
            </a:extLst>
          </p:cNvPr>
          <p:cNvSpPr/>
          <p:nvPr/>
        </p:nvSpPr>
        <p:spPr>
          <a:xfrm>
            <a:off x="9937529" y="2161222"/>
            <a:ext cx="266273" cy="481340"/>
          </a:xfrm>
          <a:prstGeom prst="triangl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5" name="Isosceles Triangle 57">
            <a:extLst>
              <a:ext uri="{FF2B5EF4-FFF2-40B4-BE49-F238E27FC236}">
                <a16:creationId xmlns:a16="http://schemas.microsoft.com/office/drawing/2014/main" id="{D17D51B6-DDB8-9ADC-5FDD-6AF88E6C13F5}"/>
              </a:ext>
            </a:extLst>
          </p:cNvPr>
          <p:cNvSpPr/>
          <p:nvPr/>
        </p:nvSpPr>
        <p:spPr>
          <a:xfrm>
            <a:off x="10541764" y="2161222"/>
            <a:ext cx="266273" cy="481340"/>
          </a:xfrm>
          <a:prstGeom prst="triangl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6" name="Oval 58">
            <a:extLst>
              <a:ext uri="{FF2B5EF4-FFF2-40B4-BE49-F238E27FC236}">
                <a16:creationId xmlns:a16="http://schemas.microsoft.com/office/drawing/2014/main" id="{6860B751-733B-7AD3-91FB-17210B609484}"/>
              </a:ext>
            </a:extLst>
          </p:cNvPr>
          <p:cNvSpPr/>
          <p:nvPr/>
        </p:nvSpPr>
        <p:spPr>
          <a:xfrm>
            <a:off x="9855599" y="2366048"/>
            <a:ext cx="1003645" cy="819302"/>
          </a:xfrm>
          <a:prstGeom prst="ellipse">
            <a:avLst/>
          </a:prstGeom>
          <a:solidFill>
            <a:srgbClr val="B69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7" name="Oval 59">
            <a:extLst>
              <a:ext uri="{FF2B5EF4-FFF2-40B4-BE49-F238E27FC236}">
                <a16:creationId xmlns:a16="http://schemas.microsoft.com/office/drawing/2014/main" id="{0D0B47F4-4989-1949-1ED1-5BC9E32DBA4A}"/>
              </a:ext>
            </a:extLst>
          </p:cNvPr>
          <p:cNvSpPr/>
          <p:nvPr/>
        </p:nvSpPr>
        <p:spPr>
          <a:xfrm>
            <a:off x="10142354" y="2632321"/>
            <a:ext cx="87050" cy="112654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8" name="Oval 60">
            <a:extLst>
              <a:ext uri="{FF2B5EF4-FFF2-40B4-BE49-F238E27FC236}">
                <a16:creationId xmlns:a16="http://schemas.microsoft.com/office/drawing/2014/main" id="{73E1B261-DD03-32B8-A1F7-B8E841F238D4}"/>
              </a:ext>
            </a:extLst>
          </p:cNvPr>
          <p:cNvSpPr/>
          <p:nvPr/>
        </p:nvSpPr>
        <p:spPr>
          <a:xfrm>
            <a:off x="10572488" y="2632321"/>
            <a:ext cx="87050" cy="112654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9" name="Oval 61">
            <a:extLst>
              <a:ext uri="{FF2B5EF4-FFF2-40B4-BE49-F238E27FC236}">
                <a16:creationId xmlns:a16="http://schemas.microsoft.com/office/drawing/2014/main" id="{DC527662-5800-5CCF-F20E-A5F027C86386}"/>
              </a:ext>
            </a:extLst>
          </p:cNvPr>
          <p:cNvSpPr/>
          <p:nvPr/>
        </p:nvSpPr>
        <p:spPr>
          <a:xfrm>
            <a:off x="10316456" y="2837146"/>
            <a:ext cx="102412" cy="61447"/>
          </a:xfrm>
          <a:prstGeom prst="ellipse">
            <a:avLst/>
          </a:prstGeom>
          <a:solidFill>
            <a:srgbClr val="243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60" name="Connector 62">
            <a:extLst>
              <a:ext uri="{FF2B5EF4-FFF2-40B4-BE49-F238E27FC236}">
                <a16:creationId xmlns:a16="http://schemas.microsoft.com/office/drawing/2014/main" id="{54293D09-E56D-BA23-D947-45BF7563E695}"/>
              </a:ext>
            </a:extLst>
          </p:cNvPr>
          <p:cNvCxnSpPr/>
          <p:nvPr/>
        </p:nvCxnSpPr>
        <p:spPr>
          <a:xfrm flipH="1" flipV="1">
            <a:off x="9681497" y="2652803"/>
            <a:ext cx="430133" cy="8193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3">
            <a:extLst>
              <a:ext uri="{FF2B5EF4-FFF2-40B4-BE49-F238E27FC236}">
                <a16:creationId xmlns:a16="http://schemas.microsoft.com/office/drawing/2014/main" id="{4EDCD599-7497-6C21-328D-183582DE7DD4}"/>
              </a:ext>
            </a:extLst>
          </p:cNvPr>
          <p:cNvCxnSpPr/>
          <p:nvPr/>
        </p:nvCxnSpPr>
        <p:spPr>
          <a:xfrm flipV="1">
            <a:off x="10603212" y="2652803"/>
            <a:ext cx="430134" cy="8193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4">
            <a:extLst>
              <a:ext uri="{FF2B5EF4-FFF2-40B4-BE49-F238E27FC236}">
                <a16:creationId xmlns:a16="http://schemas.microsoft.com/office/drawing/2014/main" id="{6EF2A04C-FA72-5C37-B80A-982F1DC3DFAF}"/>
              </a:ext>
            </a:extLst>
          </p:cNvPr>
          <p:cNvCxnSpPr/>
          <p:nvPr/>
        </p:nvCxnSpPr>
        <p:spPr>
          <a:xfrm flipH="1" flipV="1">
            <a:off x="9681497" y="2826905"/>
            <a:ext cx="430133" cy="1024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5">
            <a:extLst>
              <a:ext uri="{FF2B5EF4-FFF2-40B4-BE49-F238E27FC236}">
                <a16:creationId xmlns:a16="http://schemas.microsoft.com/office/drawing/2014/main" id="{3D3261BD-D709-8CD6-51F3-6A69E914E07F}"/>
              </a:ext>
            </a:extLst>
          </p:cNvPr>
          <p:cNvCxnSpPr/>
          <p:nvPr/>
        </p:nvCxnSpPr>
        <p:spPr>
          <a:xfrm flipV="1">
            <a:off x="10603212" y="2826905"/>
            <a:ext cx="430134" cy="10241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6">
            <a:extLst>
              <a:ext uri="{FF2B5EF4-FFF2-40B4-BE49-F238E27FC236}">
                <a16:creationId xmlns:a16="http://schemas.microsoft.com/office/drawing/2014/main" id="{E8E4B639-DFDA-BE6A-B935-CE155E74B03F}"/>
              </a:ext>
            </a:extLst>
          </p:cNvPr>
          <p:cNvCxnSpPr/>
          <p:nvPr/>
        </p:nvCxnSpPr>
        <p:spPr>
          <a:xfrm flipH="1">
            <a:off x="9681497" y="2939559"/>
            <a:ext cx="430133" cy="61448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7">
            <a:extLst>
              <a:ext uri="{FF2B5EF4-FFF2-40B4-BE49-F238E27FC236}">
                <a16:creationId xmlns:a16="http://schemas.microsoft.com/office/drawing/2014/main" id="{63375F29-C18D-A1DA-F71B-691F1334CA58}"/>
              </a:ext>
            </a:extLst>
          </p:cNvPr>
          <p:cNvCxnSpPr/>
          <p:nvPr/>
        </p:nvCxnSpPr>
        <p:spPr>
          <a:xfrm>
            <a:off x="10603212" y="2939559"/>
            <a:ext cx="430134" cy="61448"/>
          </a:xfrm>
          <a:prstGeom prst="line">
            <a:avLst/>
          </a:prstGeom>
          <a:ln w="11430">
            <a:solidFill>
              <a:srgbClr val="2434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8">
            <a:extLst>
              <a:ext uri="{FF2B5EF4-FFF2-40B4-BE49-F238E27FC236}">
                <a16:creationId xmlns:a16="http://schemas.microsoft.com/office/drawing/2014/main" id="{B14A9358-241F-8DC4-A533-DAE864D1BAA2}"/>
              </a:ext>
            </a:extLst>
          </p:cNvPr>
          <p:cNvSpPr/>
          <p:nvPr/>
        </p:nvSpPr>
        <p:spPr>
          <a:xfrm>
            <a:off x="9712221" y="2847388"/>
            <a:ext cx="1351848" cy="440375"/>
          </a:xfrm>
          <a:prstGeom prst="roundRect">
            <a:avLst>
              <a:gd name="adj" fmla="val 10000"/>
            </a:avLst>
          </a:prstGeom>
          <a:solidFill>
            <a:srgbClr val="BDD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7" name="TextBox 69">
            <a:extLst>
              <a:ext uri="{FF2B5EF4-FFF2-40B4-BE49-F238E27FC236}">
                <a16:creationId xmlns:a16="http://schemas.microsoft.com/office/drawing/2014/main" id="{DFFD276B-3D87-71C4-4412-618EC5D3AA1F}"/>
              </a:ext>
            </a:extLst>
          </p:cNvPr>
          <p:cNvSpPr txBox="1"/>
          <p:nvPr/>
        </p:nvSpPr>
        <p:spPr>
          <a:xfrm>
            <a:off x="9261238" y="3499904"/>
            <a:ext cx="2304288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下半部遮挡</a:t>
            </a:r>
          </a:p>
        </p:txBody>
      </p:sp>
      <p:sp>
        <p:nvSpPr>
          <p:cNvPr id="68" name="TextBox 70">
            <a:extLst>
              <a:ext uri="{FF2B5EF4-FFF2-40B4-BE49-F238E27FC236}">
                <a16:creationId xmlns:a16="http://schemas.microsoft.com/office/drawing/2014/main" id="{07955DD9-A764-B4F4-4941-DD214E73C601}"/>
              </a:ext>
            </a:extLst>
          </p:cNvPr>
          <p:cNvSpPr txBox="1"/>
          <p:nvPr/>
        </p:nvSpPr>
        <p:spPr>
          <a:xfrm>
            <a:off x="601871" y="4048544"/>
            <a:ext cx="10881360" cy="245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586A7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外观变化示意；不是实际训练图像</a:t>
            </a:r>
            <a:endParaRPr sz="1600" b="0" dirty="0">
              <a:solidFill>
                <a:srgbClr val="586A7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9" name="TextBox 71">
            <a:extLst>
              <a:ext uri="{FF2B5EF4-FFF2-40B4-BE49-F238E27FC236}">
                <a16:creationId xmlns:a16="http://schemas.microsoft.com/office/drawing/2014/main" id="{FC5FFF96-C54C-4ED9-6446-47537FD4518F}"/>
              </a:ext>
            </a:extLst>
          </p:cNvPr>
          <p:cNvSpPr txBox="1"/>
          <p:nvPr/>
        </p:nvSpPr>
        <p:spPr>
          <a:xfrm>
            <a:off x="574439" y="4440236"/>
            <a:ext cx="347472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外观会变化</a:t>
            </a:r>
          </a:p>
        </p:txBody>
      </p:sp>
      <p:sp>
        <p:nvSpPr>
          <p:cNvPr id="70" name="TextBox 72">
            <a:extLst>
              <a:ext uri="{FF2B5EF4-FFF2-40B4-BE49-F238E27FC236}">
                <a16:creationId xmlns:a16="http://schemas.microsoft.com/office/drawing/2014/main" id="{672760AE-CA70-A8D9-080E-BDEC8F61DFC8}"/>
              </a:ext>
            </a:extLst>
          </p:cNvPr>
          <p:cNvSpPr txBox="1"/>
          <p:nvPr/>
        </p:nvSpPr>
        <p:spPr>
          <a:xfrm>
            <a:off x="574439" y="4970588"/>
            <a:ext cx="3502152" cy="657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姿态、光照、背景与遮挡会改变可见信息。</a:t>
            </a:r>
          </a:p>
        </p:txBody>
      </p:sp>
      <p:sp>
        <p:nvSpPr>
          <p:cNvPr id="71" name="TextBox 73">
            <a:extLst>
              <a:ext uri="{FF2B5EF4-FFF2-40B4-BE49-F238E27FC236}">
                <a16:creationId xmlns:a16="http://schemas.microsoft.com/office/drawing/2014/main" id="{9459A4EE-1EC2-BB86-7736-B13F31EA7695}"/>
              </a:ext>
            </a:extLst>
          </p:cNvPr>
          <p:cNvSpPr txBox="1"/>
          <p:nvPr/>
        </p:nvSpPr>
        <p:spPr>
          <a:xfrm>
            <a:off x="4378343" y="4440236"/>
            <a:ext cx="347472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少量条件不充分</a:t>
            </a:r>
          </a:p>
        </p:txBody>
      </p:sp>
      <p:sp>
        <p:nvSpPr>
          <p:cNvPr id="72" name="TextBox 74">
            <a:extLst>
              <a:ext uri="{FF2B5EF4-FFF2-40B4-BE49-F238E27FC236}">
                <a16:creationId xmlns:a16="http://schemas.microsoft.com/office/drawing/2014/main" id="{47D73B23-50D7-7F2E-26CF-655B3E242242}"/>
              </a:ext>
            </a:extLst>
          </p:cNvPr>
          <p:cNvSpPr txBox="1"/>
          <p:nvPr/>
        </p:nvSpPr>
        <p:spPr>
          <a:xfrm>
            <a:off x="4378343" y="4970588"/>
            <a:ext cx="3502152" cy="657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“尖耳朵”“有胡须”并非每张图片都清晰可见。</a:t>
            </a:r>
          </a:p>
        </p:txBody>
      </p:sp>
      <p:sp>
        <p:nvSpPr>
          <p:cNvPr id="73" name="TextBox 75">
            <a:extLst>
              <a:ext uri="{FF2B5EF4-FFF2-40B4-BE49-F238E27FC236}">
                <a16:creationId xmlns:a16="http://schemas.microsoft.com/office/drawing/2014/main" id="{A3EDFDD4-EB79-2BDE-63D0-212CB6B99FC0}"/>
              </a:ext>
            </a:extLst>
          </p:cNvPr>
          <p:cNvSpPr txBox="1"/>
          <p:nvPr/>
        </p:nvSpPr>
        <p:spPr>
          <a:xfrm>
            <a:off x="8182247" y="4440236"/>
            <a:ext cx="347472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另一种</a:t>
            </a:r>
            <a:r>
              <a:rPr lang="zh-CN" altLang="en-US"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思路？数据驱动</a:t>
            </a:r>
            <a:endParaRPr sz="24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4" name="TextBox 76">
            <a:extLst>
              <a:ext uri="{FF2B5EF4-FFF2-40B4-BE49-F238E27FC236}">
                <a16:creationId xmlns:a16="http://schemas.microsoft.com/office/drawing/2014/main" id="{39694074-A1E9-74A9-4594-75D451E38C22}"/>
              </a:ext>
            </a:extLst>
          </p:cNvPr>
          <p:cNvSpPr txBox="1"/>
          <p:nvPr/>
        </p:nvSpPr>
        <p:spPr>
          <a:xfrm>
            <a:off x="8182247" y="4970588"/>
            <a:ext cx="3502152" cy="1008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利用标注样本训练模型，并在未参与训练的图像上检查效果。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19CA-B9BC-CA89-032D-1F4FA5ABD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0727F-1103-775E-4B03-E69EC118E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" y="170516"/>
            <a:ext cx="4642877" cy="705485"/>
          </a:xfrm>
        </p:spPr>
        <p:txBody>
          <a:bodyPr>
            <a:normAutofit/>
          </a:bodyPr>
          <a:lstStyle/>
          <a:p>
            <a:r>
              <a:rPr lang="zh-CN" altLang="en-US" dirty="0"/>
              <a:t>规则驱动与数据驱动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86DED96D-53E9-DBBB-202D-4E0B849C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89376F-A31C-04C9-EDFE-714CF5156F9C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pic>
        <p:nvPicPr>
          <p:cNvPr id="5" name="Picture 10" descr="p29_s6.png">
            <a:extLst>
              <a:ext uri="{FF2B5EF4-FFF2-40B4-BE49-F238E27FC236}">
                <a16:creationId xmlns:a16="http://schemas.microsoft.com/office/drawing/2014/main" id="{10E638DC-9242-5B82-FBF0-C051D8668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" y="1543738"/>
            <a:ext cx="310896" cy="310896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C0394668-6985-8DA0-B9FB-4EF7BB018BF2}"/>
              </a:ext>
            </a:extLst>
          </p:cNvPr>
          <p:cNvSpPr txBox="1"/>
          <p:nvPr/>
        </p:nvSpPr>
        <p:spPr>
          <a:xfrm>
            <a:off x="1062228" y="1460604"/>
            <a:ext cx="10168128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规则驱动</a:t>
            </a:r>
            <a:r>
              <a:rPr sz="28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zh-CN" altLang="en-US" sz="28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人为给定</a:t>
            </a:r>
            <a:r>
              <a:rPr sz="28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规则</a:t>
            </a:r>
            <a:endParaRPr sz="28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32904EE6-194E-C9D3-5622-787CBECA0136}"/>
              </a:ext>
            </a:extLst>
          </p:cNvPr>
          <p:cNvSpPr txBox="1"/>
          <p:nvPr/>
        </p:nvSpPr>
        <p:spPr>
          <a:xfrm>
            <a:off x="669036" y="2055802"/>
            <a:ext cx="1085392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人依据知识或业务要求制定规则；程序根据规则处理输入。</a:t>
            </a:r>
          </a:p>
        </p:txBody>
      </p: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75EB87B9-BBB9-BBB9-ED0D-CE0064D9F545}"/>
              </a:ext>
            </a:extLst>
          </p:cNvPr>
          <p:cNvSpPr/>
          <p:nvPr/>
        </p:nvSpPr>
        <p:spPr>
          <a:xfrm>
            <a:off x="696468" y="2641018"/>
            <a:ext cx="3337560" cy="676656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5" name="TextBox 14">
            <a:extLst>
              <a:ext uri="{FF2B5EF4-FFF2-40B4-BE49-F238E27FC236}">
                <a16:creationId xmlns:a16="http://schemas.microsoft.com/office/drawing/2014/main" id="{6A87209D-4C1E-9D0C-1A2B-F5E2A1DD4702}"/>
              </a:ext>
            </a:extLst>
          </p:cNvPr>
          <p:cNvSpPr txBox="1"/>
          <p:nvPr/>
        </p:nvSpPr>
        <p:spPr>
          <a:xfrm>
            <a:off x="797052" y="2815378"/>
            <a:ext cx="3136391" cy="33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输入数据</a:t>
            </a:r>
          </a:p>
        </p:txBody>
      </p:sp>
      <p:cxnSp>
        <p:nvCxnSpPr>
          <p:cNvPr id="76" name="Connector 15">
            <a:extLst>
              <a:ext uri="{FF2B5EF4-FFF2-40B4-BE49-F238E27FC236}">
                <a16:creationId xmlns:a16="http://schemas.microsoft.com/office/drawing/2014/main" id="{FC2CD86F-AE3A-A401-8FA8-716A14FE85A7}"/>
              </a:ext>
            </a:extLst>
          </p:cNvPr>
          <p:cNvCxnSpPr/>
          <p:nvPr/>
        </p:nvCxnSpPr>
        <p:spPr>
          <a:xfrm>
            <a:off x="4079748" y="2979346"/>
            <a:ext cx="283464" cy="0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16">
            <a:extLst>
              <a:ext uri="{FF2B5EF4-FFF2-40B4-BE49-F238E27FC236}">
                <a16:creationId xmlns:a16="http://schemas.microsoft.com/office/drawing/2014/main" id="{A25452B7-1452-4C48-14A1-6DE91A100F60}"/>
              </a:ext>
            </a:extLst>
          </p:cNvPr>
          <p:cNvSpPr/>
          <p:nvPr/>
        </p:nvSpPr>
        <p:spPr>
          <a:xfrm>
            <a:off x="4482083" y="2641018"/>
            <a:ext cx="3337560" cy="676656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8" name="TextBox 17">
            <a:extLst>
              <a:ext uri="{FF2B5EF4-FFF2-40B4-BE49-F238E27FC236}">
                <a16:creationId xmlns:a16="http://schemas.microsoft.com/office/drawing/2014/main" id="{245C45EB-8A44-EF14-0779-C4D9417D4D30}"/>
              </a:ext>
            </a:extLst>
          </p:cNvPr>
          <p:cNvSpPr txBox="1"/>
          <p:nvPr/>
        </p:nvSpPr>
        <p:spPr>
          <a:xfrm>
            <a:off x="4582668" y="2815378"/>
            <a:ext cx="3136391" cy="33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人工规则</a:t>
            </a:r>
          </a:p>
        </p:txBody>
      </p:sp>
      <p:cxnSp>
        <p:nvCxnSpPr>
          <p:cNvPr id="79" name="Connector 18">
            <a:extLst>
              <a:ext uri="{FF2B5EF4-FFF2-40B4-BE49-F238E27FC236}">
                <a16:creationId xmlns:a16="http://schemas.microsoft.com/office/drawing/2014/main" id="{4D3B86EE-70DB-EE0B-6218-AD2506BB404C}"/>
              </a:ext>
            </a:extLst>
          </p:cNvPr>
          <p:cNvCxnSpPr/>
          <p:nvPr/>
        </p:nvCxnSpPr>
        <p:spPr>
          <a:xfrm>
            <a:off x="7865364" y="2979346"/>
            <a:ext cx="283464" cy="0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19">
            <a:extLst>
              <a:ext uri="{FF2B5EF4-FFF2-40B4-BE49-F238E27FC236}">
                <a16:creationId xmlns:a16="http://schemas.microsoft.com/office/drawing/2014/main" id="{05782B2E-7AC6-15C5-52A2-5CB1F1229ADF}"/>
              </a:ext>
            </a:extLst>
          </p:cNvPr>
          <p:cNvSpPr/>
          <p:nvPr/>
        </p:nvSpPr>
        <p:spPr>
          <a:xfrm>
            <a:off x="8267699" y="2641018"/>
            <a:ext cx="3337560" cy="676656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1" name="TextBox 20">
            <a:extLst>
              <a:ext uri="{FF2B5EF4-FFF2-40B4-BE49-F238E27FC236}">
                <a16:creationId xmlns:a16="http://schemas.microsoft.com/office/drawing/2014/main" id="{63E0888F-D3EF-F76D-B091-735FC8EA5C01}"/>
              </a:ext>
            </a:extLst>
          </p:cNvPr>
          <p:cNvSpPr txBox="1"/>
          <p:nvPr/>
        </p:nvSpPr>
        <p:spPr>
          <a:xfrm>
            <a:off x="8368283" y="2815378"/>
            <a:ext cx="3136391" cy="33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处理结果</a:t>
            </a:r>
          </a:p>
        </p:txBody>
      </p:sp>
      <p:pic>
        <p:nvPicPr>
          <p:cNvPr id="82" name="Picture 21" descr="p29_s17.png">
            <a:extLst>
              <a:ext uri="{FF2B5EF4-FFF2-40B4-BE49-F238E27FC236}">
                <a16:creationId xmlns:a16="http://schemas.microsoft.com/office/drawing/2014/main" id="{030825A9-4289-1085-EE8C-F8A798FA3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2" y="3901688"/>
            <a:ext cx="310896" cy="310896"/>
          </a:xfrm>
          <a:prstGeom prst="rect">
            <a:avLst/>
          </a:prstGeom>
        </p:spPr>
      </p:pic>
      <p:sp>
        <p:nvSpPr>
          <p:cNvPr id="83" name="TextBox 22">
            <a:extLst>
              <a:ext uri="{FF2B5EF4-FFF2-40B4-BE49-F238E27FC236}">
                <a16:creationId xmlns:a16="http://schemas.microsoft.com/office/drawing/2014/main" id="{33C2D1EE-3002-8CCA-131E-7887AD83B9B2}"/>
              </a:ext>
            </a:extLst>
          </p:cNvPr>
          <p:cNvSpPr txBox="1"/>
          <p:nvPr/>
        </p:nvSpPr>
        <p:spPr>
          <a:xfrm>
            <a:off x="1062228" y="3804184"/>
            <a:ext cx="10168128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数据驱动：从样本中学习规律</a:t>
            </a:r>
            <a:endParaRPr sz="2800" b="1" dirty="0">
              <a:solidFill>
                <a:srgbClr val="075C48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4" name="TextBox 23">
            <a:extLst>
              <a:ext uri="{FF2B5EF4-FFF2-40B4-BE49-F238E27FC236}">
                <a16:creationId xmlns:a16="http://schemas.microsoft.com/office/drawing/2014/main" id="{E3E6A4CB-F859-FA59-825B-82B952F67062}"/>
              </a:ext>
            </a:extLst>
          </p:cNvPr>
          <p:cNvSpPr txBox="1"/>
          <p:nvPr/>
        </p:nvSpPr>
        <p:spPr>
          <a:xfrm>
            <a:off x="669036" y="4413752"/>
            <a:ext cx="1085392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确定任务和评价标准，选择数据与模型，通过训练获得可用于预测的规律。</a:t>
            </a:r>
          </a:p>
        </p:txBody>
      </p:sp>
      <p:sp>
        <p:nvSpPr>
          <p:cNvPr id="85" name="Rounded Rectangle 24">
            <a:extLst>
              <a:ext uri="{FF2B5EF4-FFF2-40B4-BE49-F238E27FC236}">
                <a16:creationId xmlns:a16="http://schemas.microsoft.com/office/drawing/2014/main" id="{A2EA6380-85C0-8DE8-85BA-11C1B1899EF9}"/>
              </a:ext>
            </a:extLst>
          </p:cNvPr>
          <p:cNvSpPr/>
          <p:nvPr/>
        </p:nvSpPr>
        <p:spPr>
          <a:xfrm>
            <a:off x="696468" y="4998968"/>
            <a:ext cx="3337560" cy="676656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6" name="TextBox 25">
            <a:extLst>
              <a:ext uri="{FF2B5EF4-FFF2-40B4-BE49-F238E27FC236}">
                <a16:creationId xmlns:a16="http://schemas.microsoft.com/office/drawing/2014/main" id="{F6F6E35A-72A9-CFE0-56F1-B11E0077E134}"/>
              </a:ext>
            </a:extLst>
          </p:cNvPr>
          <p:cNvSpPr txBox="1"/>
          <p:nvPr/>
        </p:nvSpPr>
        <p:spPr>
          <a:xfrm>
            <a:off x="797052" y="5173329"/>
            <a:ext cx="3136391" cy="33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样本与目标</a:t>
            </a:r>
          </a:p>
        </p:txBody>
      </p:sp>
      <p:cxnSp>
        <p:nvCxnSpPr>
          <p:cNvPr id="87" name="Connector 26">
            <a:extLst>
              <a:ext uri="{FF2B5EF4-FFF2-40B4-BE49-F238E27FC236}">
                <a16:creationId xmlns:a16="http://schemas.microsoft.com/office/drawing/2014/main" id="{5C98270D-3814-2D55-0B1D-C06283E7712A}"/>
              </a:ext>
            </a:extLst>
          </p:cNvPr>
          <p:cNvCxnSpPr/>
          <p:nvPr/>
        </p:nvCxnSpPr>
        <p:spPr>
          <a:xfrm>
            <a:off x="4079748" y="5337296"/>
            <a:ext cx="283464" cy="0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27">
            <a:extLst>
              <a:ext uri="{FF2B5EF4-FFF2-40B4-BE49-F238E27FC236}">
                <a16:creationId xmlns:a16="http://schemas.microsoft.com/office/drawing/2014/main" id="{F8565AC0-9DA7-0AA6-143D-B96686189907}"/>
              </a:ext>
            </a:extLst>
          </p:cNvPr>
          <p:cNvSpPr/>
          <p:nvPr/>
        </p:nvSpPr>
        <p:spPr>
          <a:xfrm>
            <a:off x="4482083" y="4998968"/>
            <a:ext cx="3337560" cy="676656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9" name="TextBox 28">
            <a:extLst>
              <a:ext uri="{FF2B5EF4-FFF2-40B4-BE49-F238E27FC236}">
                <a16:creationId xmlns:a16="http://schemas.microsoft.com/office/drawing/2014/main" id="{B823A27C-7168-3E3A-7455-28BFC9E9104A}"/>
              </a:ext>
            </a:extLst>
          </p:cNvPr>
          <p:cNvSpPr txBox="1"/>
          <p:nvPr/>
        </p:nvSpPr>
        <p:spPr>
          <a:xfrm>
            <a:off x="4582668" y="5173329"/>
            <a:ext cx="3136391" cy="33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训练得到模型</a:t>
            </a:r>
          </a:p>
        </p:txBody>
      </p:sp>
      <p:cxnSp>
        <p:nvCxnSpPr>
          <p:cNvPr id="90" name="Connector 29">
            <a:extLst>
              <a:ext uri="{FF2B5EF4-FFF2-40B4-BE49-F238E27FC236}">
                <a16:creationId xmlns:a16="http://schemas.microsoft.com/office/drawing/2014/main" id="{DCB13783-B40B-8DE2-D55B-EC4DEC2EC2C6}"/>
              </a:ext>
            </a:extLst>
          </p:cNvPr>
          <p:cNvCxnSpPr/>
          <p:nvPr/>
        </p:nvCxnSpPr>
        <p:spPr>
          <a:xfrm>
            <a:off x="7865364" y="5337296"/>
            <a:ext cx="283464" cy="0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30">
            <a:extLst>
              <a:ext uri="{FF2B5EF4-FFF2-40B4-BE49-F238E27FC236}">
                <a16:creationId xmlns:a16="http://schemas.microsoft.com/office/drawing/2014/main" id="{DA6873F7-0AFF-B9A8-F8CC-EE5219F6F140}"/>
              </a:ext>
            </a:extLst>
          </p:cNvPr>
          <p:cNvSpPr/>
          <p:nvPr/>
        </p:nvSpPr>
        <p:spPr>
          <a:xfrm>
            <a:off x="8267699" y="4998968"/>
            <a:ext cx="3337560" cy="676656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2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92" name="TextBox 31">
            <a:extLst>
              <a:ext uri="{FF2B5EF4-FFF2-40B4-BE49-F238E27FC236}">
                <a16:creationId xmlns:a16="http://schemas.microsoft.com/office/drawing/2014/main" id="{86744997-E6C7-B03F-AA0A-FEA08DBEDBD5}"/>
              </a:ext>
            </a:extLst>
          </p:cNvPr>
          <p:cNvSpPr txBox="1"/>
          <p:nvPr/>
        </p:nvSpPr>
        <p:spPr>
          <a:xfrm>
            <a:off x="8368283" y="5173329"/>
            <a:ext cx="3136391" cy="33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新数据上的预测</a:t>
            </a:r>
          </a:p>
        </p:txBody>
      </p:sp>
      <p:sp>
        <p:nvSpPr>
          <p:cNvPr id="93" name="同侧圆角矩形 29">
            <a:extLst>
              <a:ext uri="{FF2B5EF4-FFF2-40B4-BE49-F238E27FC236}">
                <a16:creationId xmlns:a16="http://schemas.microsoft.com/office/drawing/2014/main" id="{B589729D-4F67-892C-BEC0-13AAC9504A18}"/>
              </a:ext>
            </a:extLst>
          </p:cNvPr>
          <p:cNvSpPr/>
          <p:nvPr/>
        </p:nvSpPr>
        <p:spPr>
          <a:xfrm>
            <a:off x="4695826" y="-1"/>
            <a:ext cx="7496174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下一章将进一步介绍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0262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1375A-E554-A3A5-D148-5F06DC90B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9C0E0-A2BD-179A-FAC8-4F0235A3E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" y="170516"/>
            <a:ext cx="7024641" cy="70548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数据在模型学习中发挥什么作用？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B4241957-7BCF-BF57-C7FA-FFA013AD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774888-4C44-88F2-7908-B7A156D935F9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4DBD7A2F-05E8-CA73-283A-364393973F6A}"/>
              </a:ext>
            </a:extLst>
          </p:cNvPr>
          <p:cNvSpPr/>
          <p:nvPr/>
        </p:nvSpPr>
        <p:spPr>
          <a:xfrm>
            <a:off x="470416" y="1703930"/>
            <a:ext cx="3590544" cy="2184367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Oval 12">
            <a:extLst>
              <a:ext uri="{FF2B5EF4-FFF2-40B4-BE49-F238E27FC236}">
                <a16:creationId xmlns:a16="http://schemas.microsoft.com/office/drawing/2014/main" id="{B65BA6FD-2B1D-338A-14D1-BF33D026654D}"/>
              </a:ext>
            </a:extLst>
          </p:cNvPr>
          <p:cNvSpPr/>
          <p:nvPr/>
        </p:nvSpPr>
        <p:spPr>
          <a:xfrm>
            <a:off x="662440" y="1905098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CDDA1D36-CAE2-167E-9593-13EC31ABE50C}"/>
              </a:ext>
            </a:extLst>
          </p:cNvPr>
          <p:cNvSpPr txBox="1"/>
          <p:nvPr/>
        </p:nvSpPr>
        <p:spPr>
          <a:xfrm>
            <a:off x="662440" y="1921557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908AD869-928E-B547-B380-1CC2AA66BEC8}"/>
              </a:ext>
            </a:extLst>
          </p:cNvPr>
          <p:cNvSpPr txBox="1"/>
          <p:nvPr/>
        </p:nvSpPr>
        <p:spPr>
          <a:xfrm>
            <a:off x="1101352" y="1868522"/>
            <a:ext cx="280416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提供样本</a:t>
            </a:r>
          </a:p>
        </p:txBody>
      </p:sp>
      <p:sp>
        <p:nvSpPr>
          <p:cNvPr id="75" name="TextBox 15">
            <a:extLst>
              <a:ext uri="{FF2B5EF4-FFF2-40B4-BE49-F238E27FC236}">
                <a16:creationId xmlns:a16="http://schemas.microsoft.com/office/drawing/2014/main" id="{E1D419C3-0021-8366-5B20-7CD656C66D0C}"/>
              </a:ext>
            </a:extLst>
          </p:cNvPr>
          <p:cNvSpPr txBox="1"/>
          <p:nvPr/>
        </p:nvSpPr>
        <p:spPr>
          <a:xfrm>
            <a:off x="680728" y="2536034"/>
            <a:ext cx="3169920" cy="3127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43C"/>
                </a:solidFill>
                <a:latin typeface="Microsoft YaHei"/>
                <a:ea typeface="Microsoft YaHei"/>
              </a:rPr>
              <a:t>用具有代表性的数据描述任务；质量和覆盖范围很重要。</a:t>
            </a:r>
          </a:p>
        </p:txBody>
      </p:sp>
      <p:sp>
        <p:nvSpPr>
          <p:cNvPr id="76" name="Rounded Rectangle 16">
            <a:extLst>
              <a:ext uri="{FF2B5EF4-FFF2-40B4-BE49-F238E27FC236}">
                <a16:creationId xmlns:a16="http://schemas.microsoft.com/office/drawing/2014/main" id="{D13639FA-8858-75BD-CC86-D70C276D0D8B}"/>
              </a:ext>
            </a:extLst>
          </p:cNvPr>
          <p:cNvSpPr/>
          <p:nvPr/>
        </p:nvSpPr>
        <p:spPr>
          <a:xfrm>
            <a:off x="4262128" y="1703930"/>
            <a:ext cx="3590544" cy="2184367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7" name="Oval 17">
            <a:extLst>
              <a:ext uri="{FF2B5EF4-FFF2-40B4-BE49-F238E27FC236}">
                <a16:creationId xmlns:a16="http://schemas.microsoft.com/office/drawing/2014/main" id="{899BD86F-6151-EBE0-6A00-DDE06824CDA9}"/>
              </a:ext>
            </a:extLst>
          </p:cNvPr>
          <p:cNvSpPr/>
          <p:nvPr/>
        </p:nvSpPr>
        <p:spPr>
          <a:xfrm>
            <a:off x="4454152" y="1905098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8" name="TextBox 18">
            <a:extLst>
              <a:ext uri="{FF2B5EF4-FFF2-40B4-BE49-F238E27FC236}">
                <a16:creationId xmlns:a16="http://schemas.microsoft.com/office/drawing/2014/main" id="{A9C14F4A-4320-45A1-0FBF-14EC162C487A}"/>
              </a:ext>
            </a:extLst>
          </p:cNvPr>
          <p:cNvSpPr txBox="1"/>
          <p:nvPr/>
        </p:nvSpPr>
        <p:spPr>
          <a:xfrm>
            <a:off x="4454152" y="1921557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79" name="TextBox 19">
            <a:extLst>
              <a:ext uri="{FF2B5EF4-FFF2-40B4-BE49-F238E27FC236}">
                <a16:creationId xmlns:a16="http://schemas.microsoft.com/office/drawing/2014/main" id="{621BD8C2-3EC4-7ECF-D6F4-82434B25F53B}"/>
              </a:ext>
            </a:extLst>
          </p:cNvPr>
          <p:cNvSpPr txBox="1"/>
          <p:nvPr/>
        </p:nvSpPr>
        <p:spPr>
          <a:xfrm>
            <a:off x="4893064" y="1868522"/>
            <a:ext cx="280416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支持检验</a:t>
            </a:r>
          </a:p>
        </p:txBody>
      </p:sp>
      <p:sp>
        <p:nvSpPr>
          <p:cNvPr id="80" name="TextBox 20">
            <a:extLst>
              <a:ext uri="{FF2B5EF4-FFF2-40B4-BE49-F238E27FC236}">
                <a16:creationId xmlns:a16="http://schemas.microsoft.com/office/drawing/2014/main" id="{50ECFAA0-F5DA-6D79-099D-8A79A303C0ED}"/>
              </a:ext>
            </a:extLst>
          </p:cNvPr>
          <p:cNvSpPr txBox="1"/>
          <p:nvPr/>
        </p:nvSpPr>
        <p:spPr>
          <a:xfrm>
            <a:off x="4472440" y="2536034"/>
            <a:ext cx="3169920" cy="3127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dirty="0" err="1">
                <a:solidFill>
                  <a:srgbClr val="24343C"/>
                </a:solidFill>
                <a:latin typeface="Microsoft YaHei"/>
                <a:ea typeface="Microsoft YaHei"/>
              </a:rPr>
              <a:t>用未参与训练的数据检查效果，识别误差与适用边界</a:t>
            </a:r>
            <a:r>
              <a:rPr sz="2100" b="0" dirty="0">
                <a:solidFill>
                  <a:srgbClr val="24343C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81" name="Rounded Rectangle 21">
            <a:extLst>
              <a:ext uri="{FF2B5EF4-FFF2-40B4-BE49-F238E27FC236}">
                <a16:creationId xmlns:a16="http://schemas.microsoft.com/office/drawing/2014/main" id="{48E38BE3-FB97-340B-C268-87AE8D8F4602}"/>
              </a:ext>
            </a:extLst>
          </p:cNvPr>
          <p:cNvSpPr/>
          <p:nvPr/>
        </p:nvSpPr>
        <p:spPr>
          <a:xfrm>
            <a:off x="8053840" y="1703930"/>
            <a:ext cx="3590544" cy="2184367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2" name="Oval 22">
            <a:extLst>
              <a:ext uri="{FF2B5EF4-FFF2-40B4-BE49-F238E27FC236}">
                <a16:creationId xmlns:a16="http://schemas.microsoft.com/office/drawing/2014/main" id="{C8341CEF-0B4E-90F9-4ED6-88344394FB1C}"/>
              </a:ext>
            </a:extLst>
          </p:cNvPr>
          <p:cNvSpPr/>
          <p:nvPr/>
        </p:nvSpPr>
        <p:spPr>
          <a:xfrm>
            <a:off x="8245864" y="1905098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3" name="TextBox 23">
            <a:extLst>
              <a:ext uri="{FF2B5EF4-FFF2-40B4-BE49-F238E27FC236}">
                <a16:creationId xmlns:a16="http://schemas.microsoft.com/office/drawing/2014/main" id="{E916DE56-416C-2EF0-5D19-58E50F6A69E7}"/>
              </a:ext>
            </a:extLst>
          </p:cNvPr>
          <p:cNvSpPr txBox="1"/>
          <p:nvPr/>
        </p:nvSpPr>
        <p:spPr>
          <a:xfrm>
            <a:off x="8245864" y="1921557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84" name="TextBox 24">
            <a:extLst>
              <a:ext uri="{FF2B5EF4-FFF2-40B4-BE49-F238E27FC236}">
                <a16:creationId xmlns:a16="http://schemas.microsoft.com/office/drawing/2014/main" id="{2EA63072-FF33-0B56-85FF-B0FE780647BF}"/>
              </a:ext>
            </a:extLst>
          </p:cNvPr>
          <p:cNvSpPr txBox="1"/>
          <p:nvPr/>
        </p:nvSpPr>
        <p:spPr>
          <a:xfrm>
            <a:off x="8684776" y="1868522"/>
            <a:ext cx="2804159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形成反馈</a:t>
            </a:r>
          </a:p>
        </p:txBody>
      </p:sp>
      <p:sp>
        <p:nvSpPr>
          <p:cNvPr id="85" name="TextBox 25">
            <a:extLst>
              <a:ext uri="{FF2B5EF4-FFF2-40B4-BE49-F238E27FC236}">
                <a16:creationId xmlns:a16="http://schemas.microsoft.com/office/drawing/2014/main" id="{2C9A1C76-19BB-ECF6-35FD-4F09AAB99D30}"/>
              </a:ext>
            </a:extLst>
          </p:cNvPr>
          <p:cNvSpPr txBox="1"/>
          <p:nvPr/>
        </p:nvSpPr>
        <p:spPr>
          <a:xfrm>
            <a:off x="8264152" y="2536034"/>
            <a:ext cx="3169920" cy="3127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43C"/>
                </a:solidFill>
                <a:latin typeface="Microsoft YaHei"/>
                <a:ea typeface="Microsoft YaHei"/>
              </a:rPr>
              <a:t>在合规前提下收集新数据，经分析与评估决定是否更新。</a:t>
            </a:r>
          </a:p>
        </p:txBody>
      </p:sp>
      <p:sp>
        <p:nvSpPr>
          <p:cNvPr id="86" name="Rounded Rectangle 8">
            <a:extLst>
              <a:ext uri="{FF2B5EF4-FFF2-40B4-BE49-F238E27FC236}">
                <a16:creationId xmlns:a16="http://schemas.microsoft.com/office/drawing/2014/main" id="{33D66ED4-F90E-DD40-8FD3-03CDA51854E7}"/>
              </a:ext>
            </a:extLst>
          </p:cNvPr>
          <p:cNvSpPr/>
          <p:nvPr/>
        </p:nvSpPr>
        <p:spPr>
          <a:xfrm>
            <a:off x="456700" y="4695822"/>
            <a:ext cx="11187684" cy="56692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87" name="TextBox 9">
            <a:extLst>
              <a:ext uri="{FF2B5EF4-FFF2-40B4-BE49-F238E27FC236}">
                <a16:creationId xmlns:a16="http://schemas.microsoft.com/office/drawing/2014/main" id="{D80A76A3-97F3-BB13-A9A3-1EF9B117F550}"/>
              </a:ext>
            </a:extLst>
          </p:cNvPr>
          <p:cNvSpPr txBox="1"/>
          <p:nvPr/>
        </p:nvSpPr>
        <p:spPr>
          <a:xfrm>
            <a:off x="648724" y="4799993"/>
            <a:ext cx="10781679" cy="3677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数据更多不一定更好；是否相关、是否可靠、是否</a:t>
            </a:r>
            <a:r>
              <a:rPr lang="zh-CN" altLang="en-US"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适合当前</a:t>
            </a:r>
            <a:r>
              <a:rPr sz="24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任务更重要</a:t>
            </a:r>
            <a:r>
              <a:rPr sz="24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13527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/>
        </p:nvSpPr>
        <p:spPr>
          <a:xfrm>
            <a:off x="29980" y="134686"/>
            <a:ext cx="736017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25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智能思维的特征之一：概率性思维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0754DE1F-E854-919E-1277-344DC032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CD8F0C7-C1E6-5CF9-2A09-0FACBD25065A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81AD208-9CA7-1C71-9F59-EB340E7E0879}"/>
              </a:ext>
            </a:extLst>
          </p:cNvPr>
          <p:cNvSpPr txBox="1"/>
          <p:nvPr/>
        </p:nvSpPr>
        <p:spPr>
          <a:xfrm>
            <a:off x="544012" y="1246974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面对信息不完整的任务，除了给出判断，还要关注发生的可能性。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117A6F69-3DFF-E3EF-06FF-AFD0F3E4AE0D}"/>
              </a:ext>
            </a:extLst>
          </p:cNvPr>
          <p:cNvSpPr/>
          <p:nvPr/>
        </p:nvSpPr>
        <p:spPr>
          <a:xfrm>
            <a:off x="590820" y="1892611"/>
            <a:ext cx="4572000" cy="3776472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3C80FC74-4F77-DEFB-F254-59840E73DF09}"/>
              </a:ext>
            </a:extLst>
          </p:cNvPr>
          <p:cNvSpPr txBox="1"/>
          <p:nvPr/>
        </p:nvSpPr>
        <p:spPr>
          <a:xfrm>
            <a:off x="819420" y="2130355"/>
            <a:ext cx="411480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示例：某地明日指定时段降雨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1F72C6AB-2EB9-4433-7F34-CC6FF8ED7ABF}"/>
              </a:ext>
            </a:extLst>
          </p:cNvPr>
          <p:cNvSpPr txBox="1"/>
          <p:nvPr/>
        </p:nvSpPr>
        <p:spPr>
          <a:xfrm>
            <a:off x="1157748" y="2834443"/>
            <a:ext cx="3456432" cy="1011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70%</a:t>
            </a:r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8F26C301-5216-69EE-2AC5-425413AE521C}"/>
              </a:ext>
            </a:extLst>
          </p:cNvPr>
          <p:cNvSpPr/>
          <p:nvPr/>
        </p:nvSpPr>
        <p:spPr>
          <a:xfrm>
            <a:off x="892572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1518105A-6775-D8BE-665D-22D09B0DF467}"/>
              </a:ext>
            </a:extLst>
          </p:cNvPr>
          <p:cNvSpPr/>
          <p:nvPr/>
        </p:nvSpPr>
        <p:spPr>
          <a:xfrm>
            <a:off x="1287592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8127A386-EAA1-25BD-0518-2199289E5228}"/>
              </a:ext>
            </a:extLst>
          </p:cNvPr>
          <p:cNvSpPr/>
          <p:nvPr/>
        </p:nvSpPr>
        <p:spPr>
          <a:xfrm>
            <a:off x="1682613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88F37760-FE57-D33B-064F-DA689166AB66}"/>
              </a:ext>
            </a:extLst>
          </p:cNvPr>
          <p:cNvSpPr/>
          <p:nvPr/>
        </p:nvSpPr>
        <p:spPr>
          <a:xfrm>
            <a:off x="2077634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1887D2A5-A281-30EC-B37D-7AC57C04AC62}"/>
              </a:ext>
            </a:extLst>
          </p:cNvPr>
          <p:cNvSpPr/>
          <p:nvPr/>
        </p:nvSpPr>
        <p:spPr>
          <a:xfrm>
            <a:off x="2472655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9" name="Rounded Rectangle 20">
            <a:extLst>
              <a:ext uri="{FF2B5EF4-FFF2-40B4-BE49-F238E27FC236}">
                <a16:creationId xmlns:a16="http://schemas.microsoft.com/office/drawing/2014/main" id="{3157F393-0C80-46A6-513E-4456DEA41D06}"/>
              </a:ext>
            </a:extLst>
          </p:cNvPr>
          <p:cNvSpPr/>
          <p:nvPr/>
        </p:nvSpPr>
        <p:spPr>
          <a:xfrm>
            <a:off x="2867676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0" name="Rounded Rectangle 21">
            <a:extLst>
              <a:ext uri="{FF2B5EF4-FFF2-40B4-BE49-F238E27FC236}">
                <a16:creationId xmlns:a16="http://schemas.microsoft.com/office/drawing/2014/main" id="{632505DA-4D96-1222-D7DB-AB07762EE08E}"/>
              </a:ext>
            </a:extLst>
          </p:cNvPr>
          <p:cNvSpPr/>
          <p:nvPr/>
        </p:nvSpPr>
        <p:spPr>
          <a:xfrm>
            <a:off x="3262696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F30742F2-58DE-5F05-0B00-3EE60C81B042}"/>
              </a:ext>
            </a:extLst>
          </p:cNvPr>
          <p:cNvSpPr/>
          <p:nvPr/>
        </p:nvSpPr>
        <p:spPr>
          <a:xfrm>
            <a:off x="3657717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D6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2" name="Rounded Rectangle 23">
            <a:extLst>
              <a:ext uri="{FF2B5EF4-FFF2-40B4-BE49-F238E27FC236}">
                <a16:creationId xmlns:a16="http://schemas.microsoft.com/office/drawing/2014/main" id="{41C98A0D-56FB-CE3E-7A90-2D78E4BF1DF5}"/>
              </a:ext>
            </a:extLst>
          </p:cNvPr>
          <p:cNvSpPr/>
          <p:nvPr/>
        </p:nvSpPr>
        <p:spPr>
          <a:xfrm>
            <a:off x="4052738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D6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Rounded Rectangle 24">
            <a:extLst>
              <a:ext uri="{FF2B5EF4-FFF2-40B4-BE49-F238E27FC236}">
                <a16:creationId xmlns:a16="http://schemas.microsoft.com/office/drawing/2014/main" id="{21B3E0B8-6BBF-50C8-BEE9-F698FEA0E22A}"/>
              </a:ext>
            </a:extLst>
          </p:cNvPr>
          <p:cNvSpPr/>
          <p:nvPr/>
        </p:nvSpPr>
        <p:spPr>
          <a:xfrm>
            <a:off x="4447759" y="4169467"/>
            <a:ext cx="324612" cy="484632"/>
          </a:xfrm>
          <a:prstGeom prst="roundRect">
            <a:avLst>
              <a:gd name="adj" fmla="val 10000"/>
            </a:avLst>
          </a:prstGeom>
          <a:solidFill>
            <a:srgbClr val="D6E1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5BD00589-27D2-1368-897F-D802338FB8A7}"/>
              </a:ext>
            </a:extLst>
          </p:cNvPr>
          <p:cNvSpPr txBox="1"/>
          <p:nvPr/>
        </p:nvSpPr>
        <p:spPr>
          <a:xfrm>
            <a:off x="920004" y="4891843"/>
            <a:ext cx="3913632" cy="642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表示事件的发生可能性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不是降雨时间所占的比例</a:t>
            </a: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DD82F6EB-8236-F796-4CE8-05074C37E6E3}"/>
              </a:ext>
            </a:extLst>
          </p:cNvPr>
          <p:cNvSpPr txBox="1"/>
          <p:nvPr/>
        </p:nvSpPr>
        <p:spPr>
          <a:xfrm>
            <a:off x="5702316" y="1959917"/>
            <a:ext cx="571500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例：降雨概率70%</a:t>
            </a:r>
          </a:p>
        </p:txBody>
      </p:sp>
      <p:sp>
        <p:nvSpPr>
          <p:cNvPr id="26" name="TextBox 27">
            <a:extLst>
              <a:ext uri="{FF2B5EF4-FFF2-40B4-BE49-F238E27FC236}">
                <a16:creationId xmlns:a16="http://schemas.microsoft.com/office/drawing/2014/main" id="{61532DDB-1DCB-68B5-40A2-365D0DB89B3A}"/>
              </a:ext>
            </a:extLst>
          </p:cNvPr>
          <p:cNvSpPr txBox="1"/>
          <p:nvPr/>
        </p:nvSpPr>
        <p:spPr>
          <a:xfrm>
            <a:off x="5702316" y="2435405"/>
            <a:ext cx="5605272" cy="788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需先明确地点与预报时段；70%不表示一定降雨。</a:t>
            </a:r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169C212F-A6B2-F8A9-8129-3F54BDCD4A52}"/>
              </a:ext>
            </a:extLst>
          </p:cNvPr>
          <p:cNvSpPr txBox="1"/>
          <p:nvPr/>
        </p:nvSpPr>
        <p:spPr>
          <a:xfrm>
            <a:off x="5702316" y="3388477"/>
            <a:ext cx="571500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怎样理解？</a:t>
            </a:r>
          </a:p>
        </p:txBody>
      </p:sp>
      <p:sp>
        <p:nvSpPr>
          <p:cNvPr id="28" name="TextBox 29">
            <a:extLst>
              <a:ext uri="{FF2B5EF4-FFF2-40B4-BE49-F238E27FC236}">
                <a16:creationId xmlns:a16="http://schemas.microsoft.com/office/drawing/2014/main" id="{114BBC65-B744-9F91-2405-236954155254}"/>
              </a:ext>
            </a:extLst>
          </p:cNvPr>
          <p:cNvSpPr txBox="1"/>
          <p:nvPr/>
        </p:nvSpPr>
        <p:spPr>
          <a:xfrm>
            <a:off x="5702316" y="3863965"/>
            <a:ext cx="5605272" cy="788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它表示所定义降雨事件的发生可能性，不是下雨时长占70%。</a:t>
            </a:r>
          </a:p>
        </p:txBody>
      </p:sp>
      <p:sp>
        <p:nvSpPr>
          <p:cNvPr id="29" name="TextBox 30">
            <a:extLst>
              <a:ext uri="{FF2B5EF4-FFF2-40B4-BE49-F238E27FC236}">
                <a16:creationId xmlns:a16="http://schemas.microsoft.com/office/drawing/2014/main" id="{DD28176B-E494-C68B-AB53-1A4AFF3541AC}"/>
              </a:ext>
            </a:extLst>
          </p:cNvPr>
          <p:cNvSpPr txBox="1"/>
          <p:nvPr/>
        </p:nvSpPr>
        <p:spPr>
          <a:xfrm>
            <a:off x="5702316" y="4847017"/>
            <a:ext cx="571500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怎样决策？</a:t>
            </a:r>
          </a:p>
        </p:txBody>
      </p:sp>
      <p:sp>
        <p:nvSpPr>
          <p:cNvPr id="30" name="TextBox 31">
            <a:extLst>
              <a:ext uri="{FF2B5EF4-FFF2-40B4-BE49-F238E27FC236}">
                <a16:creationId xmlns:a16="http://schemas.microsoft.com/office/drawing/2014/main" id="{A1667B54-E888-2C03-A048-9347D418742E}"/>
              </a:ext>
            </a:extLst>
          </p:cNvPr>
          <p:cNvSpPr txBox="1"/>
          <p:nvPr/>
        </p:nvSpPr>
        <p:spPr>
          <a:xfrm>
            <a:off x="5702316" y="5322505"/>
            <a:ext cx="5605272" cy="788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结合误判的后果作选择；是否带伞还取决于携带成本和淋雨风险。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3420-0139-B2AA-5010-9AD003A21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A4066E76-22E2-7501-EA17-F72CC82DBD4D}"/>
              </a:ext>
            </a:extLst>
          </p:cNvPr>
          <p:cNvSpPr>
            <a:spLocks noGrp="1"/>
          </p:cNvSpPr>
          <p:nvPr/>
        </p:nvSpPr>
        <p:spPr>
          <a:xfrm>
            <a:off x="29980" y="134686"/>
            <a:ext cx="736017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25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智能思维的特征之二：关联性逻辑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6A7EF05C-F071-3B44-514C-003C03FE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D6FD25-C079-F865-1A75-B4ED5C1AB2B1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07100BC-65DA-9514-F723-634A872BF217}"/>
              </a:ext>
            </a:extLst>
          </p:cNvPr>
          <p:cNvSpPr txBox="1"/>
          <p:nvPr/>
        </p:nvSpPr>
        <p:spPr>
          <a:xfrm>
            <a:off x="537210" y="1338962"/>
            <a:ext cx="1106424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先找出买了咖啡的 </a:t>
            </a:r>
            <a:r>
              <a:rPr lang="en-US" altLang="zh-CN"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4 </a:t>
            </a:r>
            <a:r>
              <a:rPr lang="zh-CN" altLang="en-US"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笔订单，再看其中有几笔同时买了滤纸。</a:t>
            </a:r>
          </a:p>
        </p:txBody>
      </p:sp>
      <p:sp>
        <p:nvSpPr>
          <p:cNvPr id="5" name="6 笔购物记录">
            <a:extLst>
              <a:ext uri="{FF2B5EF4-FFF2-40B4-BE49-F238E27FC236}">
                <a16:creationId xmlns:a16="http://schemas.microsoft.com/office/drawing/2014/main" id="{A36337F3-662C-2D65-DF40-C75A5EEA6479}"/>
              </a:ext>
            </a:extLst>
          </p:cNvPr>
          <p:cNvSpPr>
            <a:spLocks noGrp="1"/>
          </p:cNvSpPr>
          <p:nvPr/>
        </p:nvSpPr>
        <p:spPr>
          <a:xfrm>
            <a:off x="590550" y="2009775"/>
            <a:ext cx="4819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3547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6 笔购物记录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8A287DB-E74C-CCBD-FA3D-8382BE2600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7105541"/>
              </p:ext>
            </p:extLst>
          </p:nvPr>
        </p:nvGraphicFramePr>
        <p:xfrm>
          <a:off x="590550" y="2593610"/>
          <a:ext cx="4819650" cy="2686047"/>
        </p:xfrm>
        <a:graphic>
          <a:graphicData uri="http://schemas.openxmlformats.org/drawingml/2006/table">
            <a:tbl>
              <a:tblPr/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721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</a:t>
                      </a:r>
                    </a:p>
                  </a:txBody>
                  <a:tcPr anchor="ctr">
                    <a:solidFill>
                      <a:srgbClr val="127B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购买的商品</a:t>
                      </a:r>
                    </a:p>
                  </a:txBody>
                  <a:tcPr anchor="ctr">
                    <a:solidFill>
                      <a:srgbClr val="127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21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咖啡、滤纸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21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咖啡、滤纸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21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咖啡、滤纸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21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咖啡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21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茶叶</a:t>
                      </a:r>
                    </a:p>
                  </a:txBody>
                  <a:tcPr anchor="ctr">
                    <a:solidFill>
                      <a:srgbClr val="EA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721"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 err="1">
                          <a:solidFill>
                            <a:srgbClr val="21354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牛奶</a:t>
                      </a:r>
                      <a:endParaRPr sz="1650" b="0" dirty="0">
                        <a:solidFill>
                          <a:srgbClr val="213547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5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只看买了咖啡的 4 笔订单">
            <a:extLst>
              <a:ext uri="{FF2B5EF4-FFF2-40B4-BE49-F238E27FC236}">
                <a16:creationId xmlns:a16="http://schemas.microsoft.com/office/drawing/2014/main" id="{1A2123A3-AF2E-792E-253B-EB3BF0B91889}"/>
              </a:ext>
            </a:extLst>
          </p:cNvPr>
          <p:cNvSpPr>
            <a:spLocks noGrp="1"/>
          </p:cNvSpPr>
          <p:nvPr/>
        </p:nvSpPr>
        <p:spPr>
          <a:xfrm>
            <a:off x="6267450" y="205740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3547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只看买了咖啡的 4 笔订单</a:t>
            </a:r>
          </a:p>
        </p:txBody>
      </p:sp>
      <p:sp>
        <p:nvSpPr>
          <p:cNvPr id="31" name="买了咖啡">
            <a:extLst>
              <a:ext uri="{FF2B5EF4-FFF2-40B4-BE49-F238E27FC236}">
                <a16:creationId xmlns:a16="http://schemas.microsoft.com/office/drawing/2014/main" id="{5A95980B-53B3-D122-AD9A-E44A29DECEC6}"/>
              </a:ext>
            </a:extLst>
          </p:cNvPr>
          <p:cNvSpPr>
            <a:spLocks noGrp="1"/>
          </p:cNvSpPr>
          <p:nvPr/>
        </p:nvSpPr>
        <p:spPr>
          <a:xfrm>
            <a:off x="6315075" y="2686050"/>
            <a:ext cx="1809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买了咖啡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7D41D5B5-3252-CE79-6D59-78BF44C719C2}"/>
              </a:ext>
            </a:extLst>
          </p:cNvPr>
          <p:cNvSpPr>
            <a:spLocks noGrp="1"/>
          </p:cNvSpPr>
          <p:nvPr/>
        </p:nvSpPr>
        <p:spPr>
          <a:xfrm>
            <a:off x="6353175" y="3371850"/>
            <a:ext cx="323850" cy="609600"/>
          </a:xfrm>
          <a:prstGeom prst="roundRect">
            <a:avLst>
              <a:gd name="adj" fmla="val 23529"/>
            </a:avLst>
          </a:prstGeom>
          <a:solidFill>
            <a:srgbClr val="127B70"/>
          </a:solidFill>
          <a:ln w="0">
            <a:noFill/>
          </a:ln>
        </p:spPr>
      </p:sp>
      <p:sp>
        <p:nvSpPr>
          <p:cNvPr id="33" name="1">
            <a:extLst>
              <a:ext uri="{FF2B5EF4-FFF2-40B4-BE49-F238E27FC236}">
                <a16:creationId xmlns:a16="http://schemas.microsoft.com/office/drawing/2014/main" id="{647DD280-B3DB-BA58-4000-39635A1EDD4A}"/>
              </a:ext>
            </a:extLst>
          </p:cNvPr>
          <p:cNvSpPr>
            <a:spLocks noGrp="1"/>
          </p:cNvSpPr>
          <p:nvPr/>
        </p:nvSpPr>
        <p:spPr>
          <a:xfrm>
            <a:off x="6353175" y="35337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127FAC65-1A75-0C6B-FF09-2BCE21542B88}"/>
              </a:ext>
            </a:extLst>
          </p:cNvPr>
          <p:cNvSpPr>
            <a:spLocks noGrp="1"/>
          </p:cNvSpPr>
          <p:nvPr/>
        </p:nvSpPr>
        <p:spPr>
          <a:xfrm>
            <a:off x="6819900" y="3371850"/>
            <a:ext cx="323850" cy="609600"/>
          </a:xfrm>
          <a:prstGeom prst="roundRect">
            <a:avLst>
              <a:gd name="adj" fmla="val 23529"/>
            </a:avLst>
          </a:prstGeom>
          <a:solidFill>
            <a:srgbClr val="127B70"/>
          </a:solidFill>
          <a:ln w="0">
            <a:noFill/>
          </a:ln>
        </p:spPr>
      </p:sp>
      <p:sp>
        <p:nvSpPr>
          <p:cNvPr id="35" name="2">
            <a:extLst>
              <a:ext uri="{FF2B5EF4-FFF2-40B4-BE49-F238E27FC236}">
                <a16:creationId xmlns:a16="http://schemas.microsoft.com/office/drawing/2014/main" id="{9B75A938-C2E3-F1B8-D634-7C4E9B9AC3B4}"/>
              </a:ext>
            </a:extLst>
          </p:cNvPr>
          <p:cNvSpPr>
            <a:spLocks noGrp="1"/>
          </p:cNvSpPr>
          <p:nvPr/>
        </p:nvSpPr>
        <p:spPr>
          <a:xfrm>
            <a:off x="6819900" y="35337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A88863FA-E9CC-0523-DC9A-24362FD1D6B6}"/>
              </a:ext>
            </a:extLst>
          </p:cNvPr>
          <p:cNvSpPr>
            <a:spLocks noGrp="1"/>
          </p:cNvSpPr>
          <p:nvPr/>
        </p:nvSpPr>
        <p:spPr>
          <a:xfrm>
            <a:off x="7286625" y="3371850"/>
            <a:ext cx="323850" cy="609600"/>
          </a:xfrm>
          <a:prstGeom prst="roundRect">
            <a:avLst>
              <a:gd name="adj" fmla="val 23529"/>
            </a:avLst>
          </a:prstGeom>
          <a:solidFill>
            <a:srgbClr val="127B70"/>
          </a:solidFill>
          <a:ln w="0">
            <a:noFill/>
          </a:ln>
        </p:spPr>
      </p:sp>
      <p:sp>
        <p:nvSpPr>
          <p:cNvPr id="37" name="3">
            <a:extLst>
              <a:ext uri="{FF2B5EF4-FFF2-40B4-BE49-F238E27FC236}">
                <a16:creationId xmlns:a16="http://schemas.microsoft.com/office/drawing/2014/main" id="{01C91868-D0C9-8783-0BFF-765F65A7BAD7}"/>
              </a:ext>
            </a:extLst>
          </p:cNvPr>
          <p:cNvSpPr>
            <a:spLocks noGrp="1"/>
          </p:cNvSpPr>
          <p:nvPr/>
        </p:nvSpPr>
        <p:spPr>
          <a:xfrm>
            <a:off x="7286625" y="35337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CBF538F4-DD6D-3F93-6B6F-7FC31311E953}"/>
              </a:ext>
            </a:extLst>
          </p:cNvPr>
          <p:cNvSpPr>
            <a:spLocks noGrp="1"/>
          </p:cNvSpPr>
          <p:nvPr/>
        </p:nvSpPr>
        <p:spPr>
          <a:xfrm>
            <a:off x="7753350" y="3371850"/>
            <a:ext cx="323850" cy="609600"/>
          </a:xfrm>
          <a:prstGeom prst="roundRect">
            <a:avLst>
              <a:gd name="adj" fmla="val 23529"/>
            </a:avLst>
          </a:prstGeom>
          <a:solidFill>
            <a:srgbClr val="CBD8DE"/>
          </a:solidFill>
          <a:ln w="0">
            <a:noFill/>
          </a:ln>
        </p:spPr>
      </p:sp>
      <p:sp>
        <p:nvSpPr>
          <p:cNvPr id="39" name="4">
            <a:extLst>
              <a:ext uri="{FF2B5EF4-FFF2-40B4-BE49-F238E27FC236}">
                <a16:creationId xmlns:a16="http://schemas.microsoft.com/office/drawing/2014/main" id="{0AB8E3E9-C256-40FE-7C6D-4919C6717111}"/>
              </a:ext>
            </a:extLst>
          </p:cNvPr>
          <p:cNvSpPr>
            <a:spLocks noGrp="1"/>
          </p:cNvSpPr>
          <p:nvPr/>
        </p:nvSpPr>
        <p:spPr>
          <a:xfrm>
            <a:off x="7753350" y="35337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0" name="订单 1、2、3、4">
            <a:extLst>
              <a:ext uri="{FF2B5EF4-FFF2-40B4-BE49-F238E27FC236}">
                <a16:creationId xmlns:a16="http://schemas.microsoft.com/office/drawing/2014/main" id="{289F811A-743F-5DD0-2B60-F9A0147A457D}"/>
              </a:ext>
            </a:extLst>
          </p:cNvPr>
          <p:cNvSpPr>
            <a:spLocks noGrp="1"/>
          </p:cNvSpPr>
          <p:nvPr/>
        </p:nvSpPr>
        <p:spPr>
          <a:xfrm>
            <a:off x="6172200" y="4152900"/>
            <a:ext cx="2133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b="0">
                <a:solidFill>
                  <a:srgbClr val="5D718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订单 1、2、3、4</a:t>
            </a:r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24896E30-7C65-2BDE-237A-34EAFE2910DF}"/>
              </a:ext>
            </a:extLst>
          </p:cNvPr>
          <p:cNvSpPr>
            <a:spLocks noGrp="1"/>
          </p:cNvSpPr>
          <p:nvPr/>
        </p:nvSpPr>
        <p:spPr>
          <a:xfrm>
            <a:off x="8515350" y="3590925"/>
            <a:ext cx="457200" cy="238125"/>
          </a:xfrm>
          <a:prstGeom prst="rightArrow">
            <a:avLst/>
          </a:prstGeom>
          <a:solidFill>
            <a:srgbClr val="3A7FB3"/>
          </a:solidFill>
          <a:ln w="0">
            <a:noFill/>
          </a:ln>
        </p:spPr>
      </p:sp>
      <p:sp>
        <p:nvSpPr>
          <p:cNvPr id="42" name="其中 3 笔还买了滤纸">
            <a:extLst>
              <a:ext uri="{FF2B5EF4-FFF2-40B4-BE49-F238E27FC236}">
                <a16:creationId xmlns:a16="http://schemas.microsoft.com/office/drawing/2014/main" id="{28E70FC3-A7B8-34A0-64D3-C9EB7F00D383}"/>
              </a:ext>
            </a:extLst>
          </p:cNvPr>
          <p:cNvSpPr>
            <a:spLocks noGrp="1"/>
          </p:cNvSpPr>
          <p:nvPr/>
        </p:nvSpPr>
        <p:spPr>
          <a:xfrm>
            <a:off x="9077325" y="2771775"/>
            <a:ext cx="24288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213547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其中 3 笔还买了滤纸</a:t>
            </a:r>
          </a:p>
        </p:txBody>
      </p:sp>
      <p:sp>
        <p:nvSpPr>
          <p:cNvPr id="43" name="3 / 4">
            <a:extLst>
              <a:ext uri="{FF2B5EF4-FFF2-40B4-BE49-F238E27FC236}">
                <a16:creationId xmlns:a16="http://schemas.microsoft.com/office/drawing/2014/main" id="{7C3185A1-D211-541F-F00E-067B94C70D71}"/>
              </a:ext>
            </a:extLst>
          </p:cNvPr>
          <p:cNvSpPr>
            <a:spLocks noGrp="1"/>
          </p:cNvSpPr>
          <p:nvPr/>
        </p:nvSpPr>
        <p:spPr>
          <a:xfrm>
            <a:off x="9315450" y="3314700"/>
            <a:ext cx="20097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9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4000" b="1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3 / 4</a:t>
            </a:r>
          </a:p>
        </p:txBody>
      </p:sp>
      <p:sp>
        <p:nvSpPr>
          <p:cNvPr id="44" name="75%">
            <a:extLst>
              <a:ext uri="{FF2B5EF4-FFF2-40B4-BE49-F238E27FC236}">
                <a16:creationId xmlns:a16="http://schemas.microsoft.com/office/drawing/2014/main" id="{6488EE08-9333-6B3C-DE27-4FC5E9E729D8}"/>
              </a:ext>
            </a:extLst>
          </p:cNvPr>
          <p:cNvSpPr>
            <a:spLocks noGrp="1"/>
          </p:cNvSpPr>
          <p:nvPr/>
        </p:nvSpPr>
        <p:spPr>
          <a:xfrm>
            <a:off x="9382125" y="4086225"/>
            <a:ext cx="18383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375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75%</a:t>
            </a:r>
          </a:p>
        </p:txBody>
      </p:sp>
      <p:sp>
        <p:nvSpPr>
          <p:cNvPr id="45" name="分母是买咖啡的 4 笔，不是全部 6 笔。">
            <a:extLst>
              <a:ext uri="{FF2B5EF4-FFF2-40B4-BE49-F238E27FC236}">
                <a16:creationId xmlns:a16="http://schemas.microsoft.com/office/drawing/2014/main" id="{F652597F-90E3-7119-A1B3-85C5D0A54D2F}"/>
              </a:ext>
            </a:extLst>
          </p:cNvPr>
          <p:cNvSpPr>
            <a:spLocks noGrp="1"/>
          </p:cNvSpPr>
          <p:nvPr/>
        </p:nvSpPr>
        <p:spPr>
          <a:xfrm>
            <a:off x="6191250" y="495300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 err="1">
                <a:solidFill>
                  <a:srgbClr val="5D718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分母是买咖啡的</a:t>
            </a:r>
            <a:r>
              <a:rPr b="1" dirty="0">
                <a:solidFill>
                  <a:srgbClr val="5D718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4 </a:t>
            </a:r>
            <a:r>
              <a:rPr b="1" dirty="0" err="1">
                <a:solidFill>
                  <a:srgbClr val="5D718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笔，不是全部</a:t>
            </a:r>
            <a:r>
              <a:rPr b="1" dirty="0">
                <a:solidFill>
                  <a:srgbClr val="5D718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6 </a:t>
            </a:r>
            <a:r>
              <a:rPr b="1" dirty="0" err="1">
                <a:solidFill>
                  <a:srgbClr val="5D718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笔</a:t>
            </a:r>
            <a:r>
              <a:rPr b="1" dirty="0">
                <a:solidFill>
                  <a:srgbClr val="5D718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6" name="任意形状 45">
            <a:extLst>
              <a:ext uri="{FF2B5EF4-FFF2-40B4-BE49-F238E27FC236}">
                <a16:creationId xmlns:a16="http://schemas.microsoft.com/office/drawing/2014/main" id="{A367C867-F52C-DB90-E78E-2E8F37492ED7}"/>
              </a:ext>
            </a:extLst>
          </p:cNvPr>
          <p:cNvSpPr>
            <a:spLocks noGrp="1"/>
          </p:cNvSpPr>
          <p:nvPr/>
        </p:nvSpPr>
        <p:spPr>
          <a:xfrm>
            <a:off x="523875" y="5648325"/>
            <a:ext cx="11144250" cy="95"/>
          </a:xfrm>
          <a:custGeom>
            <a:avLst/>
            <a:gdLst/>
            <a:ahLst/>
            <a:cxnLst/>
            <a:rect l="0" t="0" r="0" b="0"/>
            <a:pathLst>
              <a:path w="11144250" h="95">
                <a:moveTo>
                  <a:pt x="0" y="0"/>
                </a:moveTo>
                <a:lnTo>
                  <a:pt x="11144250" y="0"/>
                </a:lnTo>
              </a:path>
            </a:pathLst>
          </a:custGeom>
          <a:noFill/>
          <a:ln w="9525">
            <a:solidFill>
              <a:srgbClr val="BBC6C8"/>
            </a:solidFill>
          </a:ln>
        </p:spPr>
      </p:sp>
      <p:sp>
        <p:nvSpPr>
          <p:cNvPr id="47" name="经常一起买，可以作推荐线索；一起出现不等于导致，购买原因还需更多证据。">
            <a:extLst>
              <a:ext uri="{FF2B5EF4-FFF2-40B4-BE49-F238E27FC236}">
                <a16:creationId xmlns:a16="http://schemas.microsoft.com/office/drawing/2014/main" id="{90D3F90A-7CEB-386D-CB68-6A03677CF58B}"/>
              </a:ext>
            </a:extLst>
          </p:cNvPr>
          <p:cNvSpPr>
            <a:spLocks noGrp="1"/>
          </p:cNvSpPr>
          <p:nvPr/>
        </p:nvSpPr>
        <p:spPr>
          <a:xfrm>
            <a:off x="552450" y="5762625"/>
            <a:ext cx="110966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127B7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经常一起买，可以作推荐线索</a:t>
            </a:r>
            <a:r>
              <a:rPr sz="2400" b="1" dirty="0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400" b="1" dirty="0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但关联</a:t>
            </a:r>
            <a:r>
              <a:rPr sz="2400" b="1" dirty="0" err="1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不等于</a:t>
            </a:r>
            <a:r>
              <a:rPr lang="zh-CN" altLang="en-US" sz="2400" b="1" dirty="0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因果</a:t>
            </a:r>
            <a:r>
              <a:rPr sz="2400" b="1" dirty="0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400" b="1" dirty="0" err="1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购买原因还需更多证据</a:t>
            </a:r>
            <a:r>
              <a:rPr sz="2400" b="1" dirty="0">
                <a:solidFill>
                  <a:srgbClr val="127B70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58100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956E-5826-4853-CFAE-63F5B2BF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1D6E3410-E8E9-0111-C2F0-51A988A38813}"/>
              </a:ext>
            </a:extLst>
          </p:cNvPr>
          <p:cNvSpPr>
            <a:spLocks noGrp="1"/>
          </p:cNvSpPr>
          <p:nvPr/>
        </p:nvSpPr>
        <p:spPr>
          <a:xfrm>
            <a:off x="29980" y="134686"/>
            <a:ext cx="8047220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智能思维的特征之三：自适应演化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12920E5F-9117-6F9F-65A0-A0542819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8D42D0-E28E-6066-9A4B-8B3B849327F6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32B9091-F19D-65F6-2580-098A3BDE0FBC}"/>
              </a:ext>
            </a:extLst>
          </p:cNvPr>
          <p:cNvSpPr>
            <a:spLocks noGrp="1"/>
          </p:cNvSpPr>
          <p:nvPr/>
        </p:nvSpPr>
        <p:spPr>
          <a:xfrm>
            <a:off x="571500" y="2091405"/>
            <a:ext cx="2295525" cy="752475"/>
          </a:xfrm>
          <a:prstGeom prst="roundRect">
            <a:avLst>
              <a:gd name="adj" fmla="val 10127"/>
            </a:avLst>
          </a:prstGeom>
          <a:solidFill>
            <a:srgbClr val="EDF4FA"/>
          </a:solidFill>
          <a:ln w="0">
            <a:noFill/>
          </a:ln>
        </p:spPr>
      </p:sp>
      <p:sp>
        <p:nvSpPr>
          <p:cNvPr id="7" name="收集反馈">
            <a:extLst>
              <a:ext uri="{FF2B5EF4-FFF2-40B4-BE49-F238E27FC236}">
                <a16:creationId xmlns:a16="http://schemas.microsoft.com/office/drawing/2014/main" id="{7380CD2D-FCAC-2A53-DF46-868836BF49F7}"/>
              </a:ext>
            </a:extLst>
          </p:cNvPr>
          <p:cNvSpPr>
            <a:spLocks noGrp="1"/>
          </p:cNvSpPr>
          <p:nvPr/>
        </p:nvSpPr>
        <p:spPr>
          <a:xfrm>
            <a:off x="619125" y="2272380"/>
            <a:ext cx="2200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收集反馈</a:t>
            </a:r>
          </a:p>
        </p:txBody>
      </p:sp>
      <p:sp>
        <p:nvSpPr>
          <p:cNvPr id="11" name="哪些结果合适？ 哪些结果出了错？">
            <a:extLst>
              <a:ext uri="{FF2B5EF4-FFF2-40B4-BE49-F238E27FC236}">
                <a16:creationId xmlns:a16="http://schemas.microsoft.com/office/drawing/2014/main" id="{C12FF78A-F8D4-13C6-9D17-84D06ADC32E5}"/>
              </a:ext>
            </a:extLst>
          </p:cNvPr>
          <p:cNvSpPr>
            <a:spLocks noGrp="1"/>
          </p:cNvSpPr>
          <p:nvPr/>
        </p:nvSpPr>
        <p:spPr>
          <a:xfrm>
            <a:off x="571500" y="3148680"/>
            <a:ext cx="23336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哪些结果合适？</a:t>
            </a:r>
          </a:p>
          <a:p>
            <a:pPr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哪些结果出了错？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7E26087D-F907-1771-A90F-7927FEC19D72}"/>
              </a:ext>
            </a:extLst>
          </p:cNvPr>
          <p:cNvSpPr>
            <a:spLocks noGrp="1"/>
          </p:cNvSpPr>
          <p:nvPr/>
        </p:nvSpPr>
        <p:spPr>
          <a:xfrm>
            <a:off x="3019425" y="2367630"/>
            <a:ext cx="285750" cy="219075"/>
          </a:xfrm>
          <a:prstGeom prst="rightArrow">
            <a:avLst/>
          </a:prstGeom>
          <a:solidFill>
            <a:srgbClr val="127B70"/>
          </a:solidFill>
          <a:ln w="0">
            <a:noFill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9FFF269-4EC6-5394-6A2E-DEF80A5B623F}"/>
              </a:ext>
            </a:extLst>
          </p:cNvPr>
          <p:cNvSpPr>
            <a:spLocks noGrp="1"/>
          </p:cNvSpPr>
          <p:nvPr/>
        </p:nvSpPr>
        <p:spPr>
          <a:xfrm>
            <a:off x="3476625" y="2091405"/>
            <a:ext cx="2295525" cy="752475"/>
          </a:xfrm>
          <a:prstGeom prst="roundRect">
            <a:avLst>
              <a:gd name="adj" fmla="val 10127"/>
            </a:avLst>
          </a:prstGeom>
          <a:solidFill>
            <a:srgbClr val="EDF4FA"/>
          </a:solidFill>
          <a:ln w="0">
            <a:noFill/>
          </a:ln>
        </p:spPr>
      </p:sp>
      <p:sp>
        <p:nvSpPr>
          <p:cNvPr id="14" name="查找原因">
            <a:extLst>
              <a:ext uri="{FF2B5EF4-FFF2-40B4-BE49-F238E27FC236}">
                <a16:creationId xmlns:a16="http://schemas.microsoft.com/office/drawing/2014/main" id="{C32C4E6E-0321-F399-524D-E0E128F26F1E}"/>
              </a:ext>
            </a:extLst>
          </p:cNvPr>
          <p:cNvSpPr>
            <a:spLocks noGrp="1"/>
          </p:cNvSpPr>
          <p:nvPr/>
        </p:nvSpPr>
        <p:spPr>
          <a:xfrm>
            <a:off x="3524250" y="2272380"/>
            <a:ext cx="2200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查找原因</a:t>
            </a:r>
          </a:p>
        </p:txBody>
      </p:sp>
      <p:sp>
        <p:nvSpPr>
          <p:cNvPr id="15" name="学习材料、任务要求 或模型，哪里 需要调整？">
            <a:extLst>
              <a:ext uri="{FF2B5EF4-FFF2-40B4-BE49-F238E27FC236}">
                <a16:creationId xmlns:a16="http://schemas.microsoft.com/office/drawing/2014/main" id="{34EFE6A2-1A27-D930-5FBF-E44230CD3D46}"/>
              </a:ext>
            </a:extLst>
          </p:cNvPr>
          <p:cNvSpPr>
            <a:spLocks noGrp="1"/>
          </p:cNvSpPr>
          <p:nvPr/>
        </p:nvSpPr>
        <p:spPr>
          <a:xfrm>
            <a:off x="3476625" y="3148680"/>
            <a:ext cx="23336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0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数据</a:t>
            </a:r>
            <a:r>
              <a:rPr sz="20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、</a:t>
            </a:r>
            <a:r>
              <a:rPr lang="zh-CN" altLang="en-US" sz="20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模型或</a:t>
            </a:r>
            <a:r>
              <a:rPr sz="20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任务要求哪里需要调整</a:t>
            </a:r>
            <a:r>
              <a:rPr sz="20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？</a:t>
            </a: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20A4EDB4-7772-17FE-C240-4DA61E0EAAFC}"/>
              </a:ext>
            </a:extLst>
          </p:cNvPr>
          <p:cNvSpPr>
            <a:spLocks noGrp="1"/>
          </p:cNvSpPr>
          <p:nvPr/>
        </p:nvSpPr>
        <p:spPr>
          <a:xfrm>
            <a:off x="5924550" y="2367630"/>
            <a:ext cx="285750" cy="219075"/>
          </a:xfrm>
          <a:prstGeom prst="rightArrow">
            <a:avLst/>
          </a:prstGeom>
          <a:solidFill>
            <a:srgbClr val="127B70"/>
          </a:solidFill>
          <a:ln w="0">
            <a:noFill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B953ABB-7FBE-11AC-BC48-09BCAB2CD4E1}"/>
              </a:ext>
            </a:extLst>
          </p:cNvPr>
          <p:cNvSpPr>
            <a:spLocks noGrp="1"/>
          </p:cNvSpPr>
          <p:nvPr/>
        </p:nvSpPr>
        <p:spPr>
          <a:xfrm>
            <a:off x="6381750" y="2091405"/>
            <a:ext cx="2295525" cy="752475"/>
          </a:xfrm>
          <a:prstGeom prst="roundRect">
            <a:avLst>
              <a:gd name="adj" fmla="val 10127"/>
            </a:avLst>
          </a:prstGeom>
          <a:solidFill>
            <a:srgbClr val="EDF4FA"/>
          </a:solidFill>
          <a:ln w="0">
            <a:noFill/>
          </a:ln>
        </p:spPr>
      </p:sp>
      <p:sp>
        <p:nvSpPr>
          <p:cNvPr id="18" name="训练或调整">
            <a:extLst>
              <a:ext uri="{FF2B5EF4-FFF2-40B4-BE49-F238E27FC236}">
                <a16:creationId xmlns:a16="http://schemas.microsoft.com/office/drawing/2014/main" id="{5D8B0732-C944-54BF-BB4D-B6364C8B8122}"/>
              </a:ext>
            </a:extLst>
          </p:cNvPr>
          <p:cNvSpPr>
            <a:spLocks noGrp="1"/>
          </p:cNvSpPr>
          <p:nvPr/>
        </p:nvSpPr>
        <p:spPr>
          <a:xfrm>
            <a:off x="6429375" y="2272380"/>
            <a:ext cx="2200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训练或调整</a:t>
            </a:r>
          </a:p>
        </p:txBody>
      </p:sp>
      <p:sp>
        <p:nvSpPr>
          <p:cNvPr id="19" name="重新训练模型， 或调整相关做法。">
            <a:extLst>
              <a:ext uri="{FF2B5EF4-FFF2-40B4-BE49-F238E27FC236}">
                <a16:creationId xmlns:a16="http://schemas.microsoft.com/office/drawing/2014/main" id="{5FC18AA6-92B1-F2BB-013A-7E82DC04D257}"/>
              </a:ext>
            </a:extLst>
          </p:cNvPr>
          <p:cNvSpPr>
            <a:spLocks noGrp="1"/>
          </p:cNvSpPr>
          <p:nvPr/>
        </p:nvSpPr>
        <p:spPr>
          <a:xfrm>
            <a:off x="6556167" y="3148680"/>
            <a:ext cx="2159208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0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重新训练模型</a:t>
            </a:r>
            <a:r>
              <a:rPr sz="20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，</a:t>
            </a:r>
          </a:p>
          <a:p>
            <a:pPr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0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或调整相关做法</a:t>
            </a:r>
            <a:r>
              <a:rPr sz="20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4D7D20E6-C979-2C18-FCBC-AB5FD5554135}"/>
              </a:ext>
            </a:extLst>
          </p:cNvPr>
          <p:cNvSpPr>
            <a:spLocks noGrp="1"/>
          </p:cNvSpPr>
          <p:nvPr/>
        </p:nvSpPr>
        <p:spPr>
          <a:xfrm>
            <a:off x="8829675" y="2367630"/>
            <a:ext cx="285750" cy="219075"/>
          </a:xfrm>
          <a:prstGeom prst="rightArrow">
            <a:avLst/>
          </a:prstGeom>
          <a:solidFill>
            <a:srgbClr val="127B70"/>
          </a:solidFill>
          <a:ln w="0">
            <a:noFill/>
          </a:ln>
        </p:spPr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C2610B1-88EF-4681-7463-50722F91B816}"/>
              </a:ext>
            </a:extLst>
          </p:cNvPr>
          <p:cNvSpPr>
            <a:spLocks noGrp="1"/>
          </p:cNvSpPr>
          <p:nvPr/>
        </p:nvSpPr>
        <p:spPr>
          <a:xfrm>
            <a:off x="9286875" y="2091405"/>
            <a:ext cx="2295525" cy="752475"/>
          </a:xfrm>
          <a:prstGeom prst="roundRect">
            <a:avLst>
              <a:gd name="adj" fmla="val 10127"/>
            </a:avLst>
          </a:prstGeom>
          <a:solidFill>
            <a:srgbClr val="127B70"/>
          </a:solidFill>
          <a:ln w="0">
            <a:noFill/>
          </a:ln>
        </p:spPr>
      </p:sp>
      <p:sp>
        <p:nvSpPr>
          <p:cNvPr id="22" name="检查新结果">
            <a:extLst>
              <a:ext uri="{FF2B5EF4-FFF2-40B4-BE49-F238E27FC236}">
                <a16:creationId xmlns:a16="http://schemas.microsoft.com/office/drawing/2014/main" id="{D8E89BB7-F33A-3D86-29B6-82BA574518B7}"/>
              </a:ext>
            </a:extLst>
          </p:cNvPr>
          <p:cNvSpPr>
            <a:spLocks noGrp="1"/>
          </p:cNvSpPr>
          <p:nvPr/>
        </p:nvSpPr>
        <p:spPr>
          <a:xfrm>
            <a:off x="9334500" y="2272380"/>
            <a:ext cx="220027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检查新结果</a:t>
            </a:r>
          </a:p>
        </p:txBody>
      </p:sp>
      <p:sp>
        <p:nvSpPr>
          <p:cNvPr id="23" name="用另一批材料 检查效果。">
            <a:extLst>
              <a:ext uri="{FF2B5EF4-FFF2-40B4-BE49-F238E27FC236}">
                <a16:creationId xmlns:a16="http://schemas.microsoft.com/office/drawing/2014/main" id="{50705941-66C2-F682-190D-9CAD5E6C3D8B}"/>
              </a:ext>
            </a:extLst>
          </p:cNvPr>
          <p:cNvSpPr>
            <a:spLocks noGrp="1"/>
          </p:cNvSpPr>
          <p:nvPr/>
        </p:nvSpPr>
        <p:spPr>
          <a:xfrm>
            <a:off x="9461292" y="3148680"/>
            <a:ext cx="202133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0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用另一批</a:t>
            </a:r>
            <a:r>
              <a:rPr lang="zh-CN" altLang="en-US" sz="20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数据</a:t>
            </a:r>
            <a:endParaRPr sz="2000" dirty="0">
              <a:solidFill>
                <a:srgbClr val="5D7180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  <a:p>
            <a:pPr>
              <a:defRPr sz="1800" b="0">
                <a:solidFill>
                  <a:srgbClr val="5D7180"/>
                </a:solidFill>
                <a:latin typeface="微软雅黑"/>
                <a:ea typeface="微软雅黑"/>
                <a:cs typeface="微软雅黑"/>
              </a:defRPr>
            </a:pPr>
            <a:r>
              <a:rPr sz="2000" dirty="0" err="1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检查效果</a:t>
            </a:r>
            <a:r>
              <a:rPr sz="2000" dirty="0">
                <a:solidFill>
                  <a:srgbClr val="5D7180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</a:p>
        </p:txBody>
      </p:sp>
      <p:sp>
        <p:nvSpPr>
          <p:cNvPr id="25" name="有些系统定期更新，有些可在使用中更新。是否更新、何时更新，取决于系统设计。">
            <a:extLst>
              <a:ext uri="{FF2B5EF4-FFF2-40B4-BE49-F238E27FC236}">
                <a16:creationId xmlns:a16="http://schemas.microsoft.com/office/drawing/2014/main" id="{0F7CE43E-5277-55F0-CEA8-D99D0C271F82}"/>
              </a:ext>
            </a:extLst>
          </p:cNvPr>
          <p:cNvSpPr>
            <a:spLocks noGrp="1"/>
          </p:cNvSpPr>
          <p:nvPr/>
        </p:nvSpPr>
        <p:spPr>
          <a:xfrm>
            <a:off x="619125" y="4596480"/>
            <a:ext cx="11029950" cy="10021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有些系统定期更新，有些可在使用中更新</a:t>
            </a:r>
            <a:r>
              <a:rPr lang="zh-CN" altLang="en-US" sz="240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（在线学习）</a:t>
            </a:r>
            <a:r>
              <a:rPr sz="240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  <a:endParaRPr lang="en-US" sz="2400" dirty="0">
              <a:solidFill>
                <a:srgbClr val="213547"/>
              </a:solidFill>
              <a:latin typeface="SimHei" panose="02010609060101010101" pitchFamily="49" charset="-122"/>
              <a:ea typeface="SimHei" panose="02010609060101010101" pitchFamily="49" charset="-122"/>
              <a:cs typeface="微软雅黑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  <a:defRPr sz="1875" b="0">
                <a:solidFill>
                  <a:srgbClr val="213547"/>
                </a:solidFill>
                <a:latin typeface="微软雅黑"/>
                <a:ea typeface="微软雅黑"/>
                <a:cs typeface="微软雅黑"/>
              </a:defRPr>
            </a:pPr>
            <a:r>
              <a:rPr sz="2400" dirty="0" err="1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是否更新、何时更新，取决于系统设计</a:t>
            </a:r>
            <a:r>
              <a:rPr sz="2400" dirty="0">
                <a:solidFill>
                  <a:srgbClr val="213547"/>
                </a:solidFill>
                <a:latin typeface="SimHei" panose="02010609060101010101" pitchFamily="49" charset="-122"/>
                <a:ea typeface="SimHei" panose="02010609060101010101" pitchFamily="49" charset="-122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2397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6FDF-1876-A250-CA51-36F25CF6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D751F97F-0BDA-EA86-26B5-A857E6ACA2C9}"/>
              </a:ext>
            </a:extLst>
          </p:cNvPr>
          <p:cNvSpPr>
            <a:spLocks noGrp="1"/>
          </p:cNvSpPr>
          <p:nvPr/>
        </p:nvSpPr>
        <p:spPr>
          <a:xfrm>
            <a:off x="29980" y="134686"/>
            <a:ext cx="4721902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pPr algn="ctr"/>
            <a:r>
              <a:rPr lang="zh-CN" altLang="en-US" dirty="0">
                <a:sym typeface="+mn-ea"/>
              </a:rPr>
              <a:t>计算思维与智能思维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74D6D386-593C-BA17-76E5-6CB9F49B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F2BA7C-ED86-7FF0-04AD-DF20CA549784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A222D0CA-8B89-00F2-692F-44F1DD0F5570}"/>
              </a:ext>
            </a:extLst>
          </p:cNvPr>
          <p:cNvSpPr/>
          <p:nvPr/>
        </p:nvSpPr>
        <p:spPr>
          <a:xfrm>
            <a:off x="502967" y="5446104"/>
            <a:ext cx="11219688" cy="56692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7DDDD463-2F25-E072-22D8-33760625C2BE}"/>
              </a:ext>
            </a:extLst>
          </p:cNvPr>
          <p:cNvSpPr txBox="1"/>
          <p:nvPr/>
        </p:nvSpPr>
        <p:spPr>
          <a:xfrm>
            <a:off x="576119" y="5550275"/>
            <a:ext cx="10927080" cy="3677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计算思维</a:t>
            </a: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也</a:t>
            </a:r>
            <a:r>
              <a:rPr sz="2400" b="1" dirty="0" err="1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可以处理不确定性；学习模型也依赖计算思维来设计与实现</a:t>
            </a:r>
            <a:r>
              <a:rPr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1C529A2E-3A9E-425F-CEF4-CBBFB8E730D4}"/>
              </a:ext>
            </a:extLst>
          </p:cNvPr>
          <p:cNvSpPr/>
          <p:nvPr/>
        </p:nvSpPr>
        <p:spPr>
          <a:xfrm>
            <a:off x="500372" y="1405028"/>
            <a:ext cx="1719072" cy="640080"/>
          </a:xfrm>
          <a:prstGeom prst="rect">
            <a:avLst/>
          </a:prstGeom>
          <a:solidFill>
            <a:srgbClr val="075C4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44AD151B-CC3F-9E38-12D8-3F42F65B882E}"/>
              </a:ext>
            </a:extLst>
          </p:cNvPr>
          <p:cNvSpPr txBox="1"/>
          <p:nvPr/>
        </p:nvSpPr>
        <p:spPr>
          <a:xfrm>
            <a:off x="610100" y="1560476"/>
            <a:ext cx="1499616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维度</a:t>
            </a:r>
            <a:endParaRPr sz="2400" b="1" dirty="0">
              <a:solidFill>
                <a:srgbClr val="FFFF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197EA754-418F-F6CA-76E8-164C8705B181}"/>
              </a:ext>
            </a:extLst>
          </p:cNvPr>
          <p:cNvSpPr/>
          <p:nvPr/>
        </p:nvSpPr>
        <p:spPr>
          <a:xfrm>
            <a:off x="2219444" y="1405028"/>
            <a:ext cx="4736592" cy="640080"/>
          </a:xfrm>
          <a:prstGeom prst="rect">
            <a:avLst/>
          </a:prstGeom>
          <a:solidFill>
            <a:srgbClr val="075C4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FE5BA623-0F49-0290-2308-6BB6C6204A6D}"/>
              </a:ext>
            </a:extLst>
          </p:cNvPr>
          <p:cNvSpPr txBox="1"/>
          <p:nvPr/>
        </p:nvSpPr>
        <p:spPr>
          <a:xfrm>
            <a:off x="2329172" y="1560476"/>
            <a:ext cx="4517136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计算思维</a:t>
            </a:r>
            <a:r>
              <a:rPr sz="2400" b="1" dirty="0" err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：组织求解过程</a:t>
            </a:r>
            <a:endParaRPr sz="2400" b="1" dirty="0">
              <a:solidFill>
                <a:srgbClr val="FFFF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A1F7D6FF-471F-B72E-11BA-093537C35E36}"/>
              </a:ext>
            </a:extLst>
          </p:cNvPr>
          <p:cNvSpPr/>
          <p:nvPr/>
        </p:nvSpPr>
        <p:spPr>
          <a:xfrm>
            <a:off x="6956036" y="1405028"/>
            <a:ext cx="4736592" cy="640080"/>
          </a:xfrm>
          <a:prstGeom prst="rect">
            <a:avLst/>
          </a:prstGeom>
          <a:solidFill>
            <a:srgbClr val="075C4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8" name="TextBox 17">
            <a:extLst>
              <a:ext uri="{FF2B5EF4-FFF2-40B4-BE49-F238E27FC236}">
                <a16:creationId xmlns:a16="http://schemas.microsoft.com/office/drawing/2014/main" id="{093FE005-6E3A-95B3-B522-06A74AF3CF89}"/>
              </a:ext>
            </a:extLst>
          </p:cNvPr>
          <p:cNvSpPr txBox="1"/>
          <p:nvPr/>
        </p:nvSpPr>
        <p:spPr>
          <a:xfrm>
            <a:off x="7065764" y="1560476"/>
            <a:ext cx="4517136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FFFF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智能思维</a:t>
            </a:r>
            <a:r>
              <a:rPr sz="2400" b="1" dirty="0" err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：数据支持判断</a:t>
            </a:r>
            <a:endParaRPr sz="2400" b="1" dirty="0">
              <a:solidFill>
                <a:srgbClr val="FFFFFF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010A53DC-E677-2ACB-9B46-D3F34C039086}"/>
              </a:ext>
            </a:extLst>
          </p:cNvPr>
          <p:cNvSpPr/>
          <p:nvPr/>
        </p:nvSpPr>
        <p:spPr>
          <a:xfrm>
            <a:off x="500372" y="2045108"/>
            <a:ext cx="1719072" cy="740664"/>
          </a:xfrm>
          <a:prstGeom prst="rect">
            <a:avLst/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AAD83971-9DCF-E5F3-7E86-E1110D44BAC5}"/>
              </a:ext>
            </a:extLst>
          </p:cNvPr>
          <p:cNvSpPr txBox="1"/>
          <p:nvPr/>
        </p:nvSpPr>
        <p:spPr>
          <a:xfrm>
            <a:off x="619244" y="2191412"/>
            <a:ext cx="148132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关注问题</a:t>
            </a: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731DB1D9-A915-50CD-C75C-041E982EE699}"/>
              </a:ext>
            </a:extLst>
          </p:cNvPr>
          <p:cNvSpPr/>
          <p:nvPr/>
        </p:nvSpPr>
        <p:spPr>
          <a:xfrm>
            <a:off x="2219444" y="2045108"/>
            <a:ext cx="4736592" cy="740664"/>
          </a:xfrm>
          <a:prstGeom prst="rect">
            <a:avLst/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232A178E-E2E2-2D58-7AD3-41FA46452F17}"/>
              </a:ext>
            </a:extLst>
          </p:cNvPr>
          <p:cNvSpPr txBox="1"/>
          <p:nvPr/>
        </p:nvSpPr>
        <p:spPr>
          <a:xfrm>
            <a:off x="2338316" y="2191412"/>
            <a:ext cx="449884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怎样组织问题、表达方案？</a:t>
            </a: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18C15FE9-8C9F-A4B7-272E-2FB6C4939F30}"/>
              </a:ext>
            </a:extLst>
          </p:cNvPr>
          <p:cNvSpPr/>
          <p:nvPr/>
        </p:nvSpPr>
        <p:spPr>
          <a:xfrm>
            <a:off x="6956036" y="2045108"/>
            <a:ext cx="4736592" cy="740664"/>
          </a:xfrm>
          <a:prstGeom prst="rect">
            <a:avLst/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ADAB5931-0570-2879-1415-304031ABD57B}"/>
              </a:ext>
            </a:extLst>
          </p:cNvPr>
          <p:cNvSpPr txBox="1"/>
          <p:nvPr/>
        </p:nvSpPr>
        <p:spPr>
          <a:xfrm>
            <a:off x="7074908" y="2191412"/>
            <a:ext cx="449884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怎样利用数据、概率与反馈？</a:t>
            </a:r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015E91B2-2B50-D6F9-5282-5677B6188825}"/>
              </a:ext>
            </a:extLst>
          </p:cNvPr>
          <p:cNvSpPr/>
          <p:nvPr/>
        </p:nvSpPr>
        <p:spPr>
          <a:xfrm>
            <a:off x="500372" y="2785772"/>
            <a:ext cx="1719072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FABCF68A-02A8-3276-6360-97AF098F6C7A}"/>
              </a:ext>
            </a:extLst>
          </p:cNvPr>
          <p:cNvSpPr txBox="1"/>
          <p:nvPr/>
        </p:nvSpPr>
        <p:spPr>
          <a:xfrm>
            <a:off x="619244" y="2932076"/>
            <a:ext cx="148132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常用方法</a:t>
            </a: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5FE20C41-40EB-D5B9-D0A4-28B8F2BED8F2}"/>
              </a:ext>
            </a:extLst>
          </p:cNvPr>
          <p:cNvSpPr/>
          <p:nvPr/>
        </p:nvSpPr>
        <p:spPr>
          <a:xfrm>
            <a:off x="2219444" y="2785772"/>
            <a:ext cx="4736592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B658EB44-59B6-A146-81E4-DBDBB845CEF9}"/>
              </a:ext>
            </a:extLst>
          </p:cNvPr>
          <p:cNvSpPr txBox="1"/>
          <p:nvPr/>
        </p:nvSpPr>
        <p:spPr>
          <a:xfrm>
            <a:off x="2338316" y="2932076"/>
            <a:ext cx="449884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分解、表示、算法、测试。</a:t>
            </a:r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483100BD-442B-E672-6709-23434581EB16}"/>
              </a:ext>
            </a:extLst>
          </p:cNvPr>
          <p:cNvSpPr/>
          <p:nvPr/>
        </p:nvSpPr>
        <p:spPr>
          <a:xfrm>
            <a:off x="6956036" y="2785772"/>
            <a:ext cx="4736592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0" name="TextBox 29">
            <a:extLst>
              <a:ext uri="{FF2B5EF4-FFF2-40B4-BE49-F238E27FC236}">
                <a16:creationId xmlns:a16="http://schemas.microsoft.com/office/drawing/2014/main" id="{BAF733B3-FF46-109A-16DC-634098237C7A}"/>
              </a:ext>
            </a:extLst>
          </p:cNvPr>
          <p:cNvSpPr txBox="1"/>
          <p:nvPr/>
        </p:nvSpPr>
        <p:spPr>
          <a:xfrm>
            <a:off x="7074908" y="2932076"/>
            <a:ext cx="4498848" cy="788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数据学习、概率判断、反馈评估。</a:t>
            </a:r>
          </a:p>
        </p:txBody>
      </p:sp>
      <p:sp>
        <p:nvSpPr>
          <p:cNvPr id="41" name="Rectangle 30">
            <a:extLst>
              <a:ext uri="{FF2B5EF4-FFF2-40B4-BE49-F238E27FC236}">
                <a16:creationId xmlns:a16="http://schemas.microsoft.com/office/drawing/2014/main" id="{E8EA59E5-C9A2-0613-32F9-751D06ABACBC}"/>
              </a:ext>
            </a:extLst>
          </p:cNvPr>
          <p:cNvSpPr/>
          <p:nvPr/>
        </p:nvSpPr>
        <p:spPr>
          <a:xfrm>
            <a:off x="500372" y="3526436"/>
            <a:ext cx="1719072" cy="740664"/>
          </a:xfrm>
          <a:prstGeom prst="rect">
            <a:avLst/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2" name="TextBox 31">
            <a:extLst>
              <a:ext uri="{FF2B5EF4-FFF2-40B4-BE49-F238E27FC236}">
                <a16:creationId xmlns:a16="http://schemas.microsoft.com/office/drawing/2014/main" id="{7EABC926-9B81-5F23-DC35-52B17DF38EED}"/>
              </a:ext>
            </a:extLst>
          </p:cNvPr>
          <p:cNvSpPr txBox="1"/>
          <p:nvPr/>
        </p:nvSpPr>
        <p:spPr>
          <a:xfrm>
            <a:off x="619244" y="3672740"/>
            <a:ext cx="148132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检查重点</a:t>
            </a:r>
          </a:p>
        </p:txBody>
      </p:sp>
      <p:sp>
        <p:nvSpPr>
          <p:cNvPr id="43" name="Rectangle 32">
            <a:extLst>
              <a:ext uri="{FF2B5EF4-FFF2-40B4-BE49-F238E27FC236}">
                <a16:creationId xmlns:a16="http://schemas.microsoft.com/office/drawing/2014/main" id="{1D82B363-8663-6238-A8C6-EA6A8C26062D}"/>
              </a:ext>
            </a:extLst>
          </p:cNvPr>
          <p:cNvSpPr/>
          <p:nvPr/>
        </p:nvSpPr>
        <p:spPr>
          <a:xfrm>
            <a:off x="2219444" y="3526436"/>
            <a:ext cx="4736592" cy="740664"/>
          </a:xfrm>
          <a:prstGeom prst="rect">
            <a:avLst/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4" name="TextBox 33">
            <a:extLst>
              <a:ext uri="{FF2B5EF4-FFF2-40B4-BE49-F238E27FC236}">
                <a16:creationId xmlns:a16="http://schemas.microsoft.com/office/drawing/2014/main" id="{3E8B5FCC-8638-0190-3E4C-AE38F99A7DE7}"/>
              </a:ext>
            </a:extLst>
          </p:cNvPr>
          <p:cNvSpPr txBox="1"/>
          <p:nvPr/>
        </p:nvSpPr>
        <p:spPr>
          <a:xfrm>
            <a:off x="2338316" y="3672740"/>
            <a:ext cx="449884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步骤正确吗？资源合适吗？</a:t>
            </a:r>
          </a:p>
        </p:txBody>
      </p:sp>
      <p:sp>
        <p:nvSpPr>
          <p:cNvPr id="45" name="Rectangle 34">
            <a:extLst>
              <a:ext uri="{FF2B5EF4-FFF2-40B4-BE49-F238E27FC236}">
                <a16:creationId xmlns:a16="http://schemas.microsoft.com/office/drawing/2014/main" id="{30B135CE-10DD-EB71-084F-911C84BFE8FB}"/>
              </a:ext>
            </a:extLst>
          </p:cNvPr>
          <p:cNvSpPr/>
          <p:nvPr/>
        </p:nvSpPr>
        <p:spPr>
          <a:xfrm>
            <a:off x="6956036" y="3526436"/>
            <a:ext cx="4736592" cy="740664"/>
          </a:xfrm>
          <a:prstGeom prst="rect">
            <a:avLst/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6" name="TextBox 35">
            <a:extLst>
              <a:ext uri="{FF2B5EF4-FFF2-40B4-BE49-F238E27FC236}">
                <a16:creationId xmlns:a16="http://schemas.microsoft.com/office/drawing/2014/main" id="{FB07D435-1AEF-4B2B-296F-31CEA64A8A77}"/>
              </a:ext>
            </a:extLst>
          </p:cNvPr>
          <p:cNvSpPr txBox="1"/>
          <p:nvPr/>
        </p:nvSpPr>
        <p:spPr>
          <a:xfrm>
            <a:off x="7074908" y="3672740"/>
            <a:ext cx="449884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数据可靠吗？新情境下有效吗？</a:t>
            </a:r>
          </a:p>
        </p:txBody>
      </p:sp>
      <p:sp>
        <p:nvSpPr>
          <p:cNvPr id="47" name="Rectangle 36">
            <a:extLst>
              <a:ext uri="{FF2B5EF4-FFF2-40B4-BE49-F238E27FC236}">
                <a16:creationId xmlns:a16="http://schemas.microsoft.com/office/drawing/2014/main" id="{DF6B0DDB-5EE9-F5EE-FBBC-7DE5BB3FB78D}"/>
              </a:ext>
            </a:extLst>
          </p:cNvPr>
          <p:cNvSpPr/>
          <p:nvPr/>
        </p:nvSpPr>
        <p:spPr>
          <a:xfrm>
            <a:off x="500372" y="4267100"/>
            <a:ext cx="1719072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8" name="TextBox 37">
            <a:extLst>
              <a:ext uri="{FF2B5EF4-FFF2-40B4-BE49-F238E27FC236}">
                <a16:creationId xmlns:a16="http://schemas.microsoft.com/office/drawing/2014/main" id="{6FBC34FB-489A-3793-6C61-574470917648}"/>
              </a:ext>
            </a:extLst>
          </p:cNvPr>
          <p:cNvSpPr txBox="1"/>
          <p:nvPr/>
        </p:nvSpPr>
        <p:spPr>
          <a:xfrm>
            <a:off x="619244" y="4413404"/>
            <a:ext cx="1481328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共同要求</a:t>
            </a:r>
          </a:p>
        </p:txBody>
      </p:sp>
      <p:sp>
        <p:nvSpPr>
          <p:cNvPr id="49" name="Rectangle 38">
            <a:extLst>
              <a:ext uri="{FF2B5EF4-FFF2-40B4-BE49-F238E27FC236}">
                <a16:creationId xmlns:a16="http://schemas.microsoft.com/office/drawing/2014/main" id="{6BB8F9A6-764B-8EC6-29D2-335AE33DAFB3}"/>
              </a:ext>
            </a:extLst>
          </p:cNvPr>
          <p:cNvSpPr/>
          <p:nvPr/>
        </p:nvSpPr>
        <p:spPr>
          <a:xfrm>
            <a:off x="2219444" y="4267100"/>
            <a:ext cx="4736592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258FD8D6-040C-54D1-35D8-B15CA84A6F14}"/>
              </a:ext>
            </a:extLst>
          </p:cNvPr>
          <p:cNvSpPr txBox="1"/>
          <p:nvPr/>
        </p:nvSpPr>
        <p:spPr>
          <a:xfrm>
            <a:off x="2338316" y="4413404"/>
            <a:ext cx="461772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明确目标、选择表示、检查结果</a:t>
            </a:r>
            <a:r>
              <a:rPr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51" name="Rectangle 40">
            <a:extLst>
              <a:ext uri="{FF2B5EF4-FFF2-40B4-BE49-F238E27FC236}">
                <a16:creationId xmlns:a16="http://schemas.microsoft.com/office/drawing/2014/main" id="{0F1AB255-0E92-DAC7-EBBF-4DB8D9940BF2}"/>
              </a:ext>
            </a:extLst>
          </p:cNvPr>
          <p:cNvSpPr/>
          <p:nvPr/>
        </p:nvSpPr>
        <p:spPr>
          <a:xfrm>
            <a:off x="6956036" y="4267100"/>
            <a:ext cx="4736592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2" name="TextBox 41">
            <a:extLst>
              <a:ext uri="{FF2B5EF4-FFF2-40B4-BE49-F238E27FC236}">
                <a16:creationId xmlns:a16="http://schemas.microsoft.com/office/drawing/2014/main" id="{B5A2A2A0-AAA6-7BD4-1E14-9C2ADAE25094}"/>
              </a:ext>
            </a:extLst>
          </p:cNvPr>
          <p:cNvSpPr txBox="1"/>
          <p:nvPr/>
        </p:nvSpPr>
        <p:spPr>
          <a:xfrm>
            <a:off x="7074908" y="4413404"/>
            <a:ext cx="4645152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明确目标、选择表示、检查结果</a:t>
            </a:r>
            <a:r>
              <a:rPr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9702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F4AC6-9AE1-AE32-29E8-38225179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C3BD9224-A8E8-05E4-142D-0F80CD836D20}"/>
              </a:ext>
            </a:extLst>
          </p:cNvPr>
          <p:cNvSpPr>
            <a:spLocks noGrp="1"/>
          </p:cNvSpPr>
          <p:nvPr/>
        </p:nvSpPr>
        <p:spPr>
          <a:xfrm>
            <a:off x="29980" y="134686"/>
            <a:ext cx="6931929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</a:lstStyle>
          <a:p>
            <a:pPr algn="ctr"/>
            <a:r>
              <a:rPr lang="zh-CN" altLang="en-US" dirty="0">
                <a:sym typeface="+mn-ea"/>
              </a:rPr>
              <a:t>不是二选一，可同时发挥作用</a:t>
            </a:r>
          </a:p>
        </p:txBody>
      </p:sp>
      <p:sp>
        <p:nvSpPr>
          <p:cNvPr id="2" name="灯片编号占位符 4">
            <a:extLst>
              <a:ext uri="{FF2B5EF4-FFF2-40B4-BE49-F238E27FC236}">
                <a16:creationId xmlns:a16="http://schemas.microsoft.com/office/drawing/2014/main" id="{51DB805C-9DDE-196E-6633-6A96351E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320652-3700-ADF6-674A-BEAFC1114E7A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8B31F77E-7943-4E36-EE9D-991BF570DC95}"/>
              </a:ext>
            </a:extLst>
          </p:cNvPr>
          <p:cNvSpPr/>
          <p:nvPr/>
        </p:nvSpPr>
        <p:spPr>
          <a:xfrm>
            <a:off x="486156" y="5478634"/>
            <a:ext cx="11219688" cy="56692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rgbClr val="C0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DC99119F-0293-3174-8C16-7FE76637F64C}"/>
              </a:ext>
            </a:extLst>
          </p:cNvPr>
          <p:cNvSpPr txBox="1"/>
          <p:nvPr/>
        </p:nvSpPr>
        <p:spPr>
          <a:xfrm>
            <a:off x="559308" y="5582805"/>
            <a:ext cx="10927080" cy="3677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从“把问题说清楚”到“用证据改进判断”，两种思维可以贯穿同一个过程。</a:t>
            </a:r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3B74BB9A-8FA8-2A36-0771-193543698673}"/>
              </a:ext>
            </a:extLst>
          </p:cNvPr>
          <p:cNvSpPr/>
          <p:nvPr/>
        </p:nvSpPr>
        <p:spPr>
          <a:xfrm>
            <a:off x="606505" y="-1057045"/>
            <a:ext cx="11338560" cy="56692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6D98B-D59C-FE00-28DA-CB3B6D4AB9A6}"/>
              </a:ext>
            </a:extLst>
          </p:cNvPr>
          <p:cNvSpPr txBox="1"/>
          <p:nvPr/>
        </p:nvSpPr>
        <p:spPr>
          <a:xfrm>
            <a:off x="515065" y="1326938"/>
            <a:ext cx="11064240" cy="398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以导航为例：清楚的求解过程，与基于数据的估计可以同时发挥作用</a:t>
            </a:r>
            <a:r>
              <a:rPr sz="26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9F4EFCDE-3BA6-B7A0-7A75-271E01DE0E1E}"/>
              </a:ext>
            </a:extLst>
          </p:cNvPr>
          <p:cNvSpPr/>
          <p:nvPr/>
        </p:nvSpPr>
        <p:spPr>
          <a:xfrm>
            <a:off x="515065" y="2084060"/>
            <a:ext cx="3575304" cy="2674974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0D187CF3-12F0-7EB6-8DB9-B95C4237C5B4}"/>
              </a:ext>
            </a:extLst>
          </p:cNvPr>
          <p:cNvSpPr/>
          <p:nvPr/>
        </p:nvSpPr>
        <p:spPr>
          <a:xfrm>
            <a:off x="707089" y="2285228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16B1134-AF1A-968E-76B1-6725F91B3B79}"/>
              </a:ext>
            </a:extLst>
          </p:cNvPr>
          <p:cNvSpPr txBox="1"/>
          <p:nvPr/>
        </p:nvSpPr>
        <p:spPr>
          <a:xfrm>
            <a:off x="707089" y="2301687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B4E438E-8306-4EA4-6137-509F3200456D}"/>
              </a:ext>
            </a:extLst>
          </p:cNvPr>
          <p:cNvSpPr txBox="1"/>
          <p:nvPr/>
        </p:nvSpPr>
        <p:spPr>
          <a:xfrm>
            <a:off x="1146000" y="2248652"/>
            <a:ext cx="278892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组织问题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97D39F9-E85A-3144-CCA9-FF2E5EFCE09D}"/>
              </a:ext>
            </a:extLst>
          </p:cNvPr>
          <p:cNvSpPr txBox="1"/>
          <p:nvPr/>
        </p:nvSpPr>
        <p:spPr>
          <a:xfrm>
            <a:off x="725377" y="2916164"/>
            <a:ext cx="3154680" cy="1575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明确起终点、时间目标和通行限制，把道路表示为路网</a:t>
            </a:r>
            <a:r>
              <a:rPr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2C96681B-0E40-52E0-D2B1-D2762BC94008}"/>
              </a:ext>
            </a:extLst>
          </p:cNvPr>
          <p:cNvSpPr/>
          <p:nvPr/>
        </p:nvSpPr>
        <p:spPr>
          <a:xfrm>
            <a:off x="4300681" y="2084060"/>
            <a:ext cx="3575304" cy="2674974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8" name="Oval 18">
            <a:extLst>
              <a:ext uri="{FF2B5EF4-FFF2-40B4-BE49-F238E27FC236}">
                <a16:creationId xmlns:a16="http://schemas.microsoft.com/office/drawing/2014/main" id="{24B1F95F-575B-1C5D-4C4E-4DF7B2BD9F08}"/>
              </a:ext>
            </a:extLst>
          </p:cNvPr>
          <p:cNvSpPr/>
          <p:nvPr/>
        </p:nvSpPr>
        <p:spPr>
          <a:xfrm>
            <a:off x="4492705" y="2285228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12ED63E-3012-AED1-3181-8A34F4B8AEFC}"/>
              </a:ext>
            </a:extLst>
          </p:cNvPr>
          <p:cNvSpPr txBox="1"/>
          <p:nvPr/>
        </p:nvSpPr>
        <p:spPr>
          <a:xfrm>
            <a:off x="4492705" y="2301687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45B4831-EE79-05FC-A8C3-2E4CFD3CFC49}"/>
              </a:ext>
            </a:extLst>
          </p:cNvPr>
          <p:cNvSpPr txBox="1"/>
          <p:nvPr/>
        </p:nvSpPr>
        <p:spPr>
          <a:xfrm>
            <a:off x="4931616" y="2248652"/>
            <a:ext cx="2788920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利用数据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98A097B-8779-E882-E927-5768519AB85B}"/>
              </a:ext>
            </a:extLst>
          </p:cNvPr>
          <p:cNvSpPr txBox="1"/>
          <p:nvPr/>
        </p:nvSpPr>
        <p:spPr>
          <a:xfrm>
            <a:off x="4391292" y="2916164"/>
            <a:ext cx="3424839" cy="1575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依据历史和实时信息估计路段耗时，并关注估计误差</a:t>
            </a:r>
            <a:r>
              <a:rPr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22" name="Rounded Rectangle 22">
            <a:extLst>
              <a:ext uri="{FF2B5EF4-FFF2-40B4-BE49-F238E27FC236}">
                <a16:creationId xmlns:a16="http://schemas.microsoft.com/office/drawing/2014/main" id="{5DE510F9-CAE8-5219-2726-273397613641}"/>
              </a:ext>
            </a:extLst>
          </p:cNvPr>
          <p:cNvSpPr/>
          <p:nvPr/>
        </p:nvSpPr>
        <p:spPr>
          <a:xfrm>
            <a:off x="8086297" y="2084060"/>
            <a:ext cx="3575304" cy="2674974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3588070A-8BC9-ED65-B5C1-AD4DC95AB30C}"/>
              </a:ext>
            </a:extLst>
          </p:cNvPr>
          <p:cNvSpPr/>
          <p:nvPr/>
        </p:nvSpPr>
        <p:spPr>
          <a:xfrm>
            <a:off x="8278321" y="2285228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18C967-599E-1C04-16EA-FD5EDE2AC069}"/>
              </a:ext>
            </a:extLst>
          </p:cNvPr>
          <p:cNvSpPr txBox="1"/>
          <p:nvPr/>
        </p:nvSpPr>
        <p:spPr>
          <a:xfrm>
            <a:off x="8278321" y="2301687"/>
            <a:ext cx="329184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1D10CCDA-F9E2-C348-A5A9-A11DDE3218AD}"/>
              </a:ext>
            </a:extLst>
          </p:cNvPr>
          <p:cNvSpPr txBox="1"/>
          <p:nvPr/>
        </p:nvSpPr>
        <p:spPr>
          <a:xfrm>
            <a:off x="8717233" y="2248652"/>
            <a:ext cx="2788919" cy="367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共同检验</a:t>
            </a:r>
          </a:p>
        </p:txBody>
      </p:sp>
      <p:sp>
        <p:nvSpPr>
          <p:cNvPr id="54" name="TextBox 26">
            <a:extLst>
              <a:ext uri="{FF2B5EF4-FFF2-40B4-BE49-F238E27FC236}">
                <a16:creationId xmlns:a16="http://schemas.microsoft.com/office/drawing/2014/main" id="{566FB6DE-135D-B691-973B-E86F0E7AAEAD}"/>
              </a:ext>
            </a:extLst>
          </p:cNvPr>
          <p:cNvSpPr txBox="1"/>
          <p:nvPr/>
        </p:nvSpPr>
        <p:spPr>
          <a:xfrm>
            <a:off x="8273336" y="2916164"/>
            <a:ext cx="3438142" cy="1575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计算候选路线，比较效果；路况变化后再评估和调整</a:t>
            </a:r>
            <a:r>
              <a:rPr sz="24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cxnSp>
        <p:nvCxnSpPr>
          <p:cNvPr id="55" name="Connector 27">
            <a:extLst>
              <a:ext uri="{FF2B5EF4-FFF2-40B4-BE49-F238E27FC236}">
                <a16:creationId xmlns:a16="http://schemas.microsoft.com/office/drawing/2014/main" id="{249EFAA4-36B9-9591-9D16-9B448DD2F117}"/>
              </a:ext>
            </a:extLst>
          </p:cNvPr>
          <p:cNvCxnSpPr/>
          <p:nvPr/>
        </p:nvCxnSpPr>
        <p:spPr>
          <a:xfrm>
            <a:off x="4126945" y="3702548"/>
            <a:ext cx="118872" cy="0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28">
            <a:extLst>
              <a:ext uri="{FF2B5EF4-FFF2-40B4-BE49-F238E27FC236}">
                <a16:creationId xmlns:a16="http://schemas.microsoft.com/office/drawing/2014/main" id="{B645903C-092C-411F-EC6A-41D154821BE8}"/>
              </a:ext>
            </a:extLst>
          </p:cNvPr>
          <p:cNvCxnSpPr/>
          <p:nvPr/>
        </p:nvCxnSpPr>
        <p:spPr>
          <a:xfrm>
            <a:off x="7912560" y="3702548"/>
            <a:ext cx="118873" cy="0"/>
          </a:xfrm>
          <a:prstGeom prst="line">
            <a:avLst/>
          </a:prstGeom>
          <a:ln w="2540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29">
            <a:extLst>
              <a:ext uri="{FF2B5EF4-FFF2-40B4-BE49-F238E27FC236}">
                <a16:creationId xmlns:a16="http://schemas.microsoft.com/office/drawing/2014/main" id="{47672D92-88B3-B35D-F74C-F584F22EAB35}"/>
              </a:ext>
            </a:extLst>
          </p:cNvPr>
          <p:cNvSpPr txBox="1"/>
          <p:nvPr/>
        </p:nvSpPr>
        <p:spPr>
          <a:xfrm>
            <a:off x="725377" y="4879514"/>
            <a:ext cx="2935224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问题表示</a:t>
            </a:r>
          </a:p>
        </p:txBody>
      </p:sp>
      <p:sp>
        <p:nvSpPr>
          <p:cNvPr id="58" name="TextBox 30">
            <a:extLst>
              <a:ext uri="{FF2B5EF4-FFF2-40B4-BE49-F238E27FC236}">
                <a16:creationId xmlns:a16="http://schemas.microsoft.com/office/drawing/2014/main" id="{8F3B514B-71B4-AC5F-1E8F-08C8F640FB5E}"/>
              </a:ext>
            </a:extLst>
          </p:cNvPr>
          <p:cNvSpPr txBox="1"/>
          <p:nvPr/>
        </p:nvSpPr>
        <p:spPr>
          <a:xfrm>
            <a:off x="4510993" y="4879514"/>
            <a:ext cx="2935224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数据估计</a:t>
            </a:r>
          </a:p>
        </p:txBody>
      </p:sp>
      <p:sp>
        <p:nvSpPr>
          <p:cNvPr id="59" name="TextBox 31">
            <a:extLst>
              <a:ext uri="{FF2B5EF4-FFF2-40B4-BE49-F238E27FC236}">
                <a16:creationId xmlns:a16="http://schemas.microsoft.com/office/drawing/2014/main" id="{F6EA146A-4508-1CB4-FDC3-172F76B518F1}"/>
              </a:ext>
            </a:extLst>
          </p:cNvPr>
          <p:cNvSpPr txBox="1"/>
          <p:nvPr/>
        </p:nvSpPr>
        <p:spPr>
          <a:xfrm>
            <a:off x="8296609" y="4879514"/>
            <a:ext cx="2935224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求解与检验</a:t>
            </a:r>
          </a:p>
        </p:txBody>
      </p:sp>
    </p:spTree>
    <p:extLst>
      <p:ext uri="{BB962C8B-B14F-4D97-AF65-F5344CB8AC3E}">
        <p14:creationId xmlns:p14="http://schemas.microsoft.com/office/powerpoint/2010/main" val="1061877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3255010" y="2939818"/>
            <a:ext cx="5817235" cy="1018540"/>
          </a:xfrm>
        </p:spPr>
        <p:txBody>
          <a:bodyPr/>
          <a:lstStyle/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学习范式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35030" y="6314440"/>
            <a:ext cx="542290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6A14FFC9-0431-1CBE-533F-520D8B54F284}"/>
              </a:ext>
            </a:extLst>
          </p:cNvPr>
          <p:cNvSpPr txBox="1"/>
          <p:nvPr/>
        </p:nvSpPr>
        <p:spPr>
          <a:xfrm>
            <a:off x="960120" y="3685032"/>
            <a:ext cx="10287000" cy="398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机器从哪里得到“学得好不好”的信号</a:t>
            </a:r>
            <a:r>
              <a:rPr sz="26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" y="0"/>
            <a:ext cx="4695826" cy="96139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几类典型的学习范式</a:t>
            </a:r>
            <a:endParaRPr lang="zh-CN" altLang="en-US" sz="28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34FFE8-0FDF-68C1-58A6-01F630E1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049E0-A52E-275E-0C82-DD780F00A401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E6ACF2DF-7D8E-173D-E087-F33E1F80FCA3}"/>
              </a:ext>
            </a:extLst>
          </p:cNvPr>
          <p:cNvSpPr/>
          <p:nvPr/>
        </p:nvSpPr>
        <p:spPr>
          <a:xfrm>
            <a:off x="530352" y="1309254"/>
            <a:ext cx="3584448" cy="4114800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FA28CA2B-0353-7F50-4572-CBF8F5670CA4}"/>
              </a:ext>
            </a:extLst>
          </p:cNvPr>
          <p:cNvSpPr txBox="1"/>
          <p:nvPr/>
        </p:nvSpPr>
        <p:spPr>
          <a:xfrm>
            <a:off x="731519" y="1519566"/>
            <a:ext cx="3191256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监督学习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388EBD26-2C62-52B5-5693-C8E11129481F}"/>
              </a:ext>
            </a:extLst>
          </p:cNvPr>
          <p:cNvSpPr txBox="1"/>
          <p:nvPr/>
        </p:nvSpPr>
        <p:spPr>
          <a:xfrm>
            <a:off x="740664" y="4217046"/>
            <a:ext cx="3154680" cy="1008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有标签样本 → 学习预测。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例：用标注了“猫/狗”的图像学习分类。</a:t>
            </a:r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2572A22D-83A9-7A41-AFBA-F251B4A38966}"/>
              </a:ext>
            </a:extLst>
          </p:cNvPr>
          <p:cNvSpPr/>
          <p:nvPr/>
        </p:nvSpPr>
        <p:spPr>
          <a:xfrm>
            <a:off x="886968" y="2342526"/>
            <a:ext cx="11430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7" name="Oval 15">
            <a:extLst>
              <a:ext uri="{FF2B5EF4-FFF2-40B4-BE49-F238E27FC236}">
                <a16:creationId xmlns:a16="http://schemas.microsoft.com/office/drawing/2014/main" id="{1022147B-238B-BC8D-C40B-501E8BF2262D}"/>
              </a:ext>
            </a:extLst>
          </p:cNvPr>
          <p:cNvSpPr/>
          <p:nvPr/>
        </p:nvSpPr>
        <p:spPr>
          <a:xfrm>
            <a:off x="996695" y="2497974"/>
            <a:ext cx="210312" cy="210312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024C3B02-D147-3667-422D-EF309D609CCA}"/>
              </a:ext>
            </a:extLst>
          </p:cNvPr>
          <p:cNvSpPr txBox="1"/>
          <p:nvPr/>
        </p:nvSpPr>
        <p:spPr>
          <a:xfrm>
            <a:off x="1353312" y="2497974"/>
            <a:ext cx="502920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猫</a:t>
            </a: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9AB12078-0518-72C5-3A70-C1A3F638422E}"/>
              </a:ext>
            </a:extLst>
          </p:cNvPr>
          <p:cNvSpPr/>
          <p:nvPr/>
        </p:nvSpPr>
        <p:spPr>
          <a:xfrm>
            <a:off x="2313432" y="2342526"/>
            <a:ext cx="11430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6DCA33F1-707A-58CD-2175-1AA1E1EA8B2D}"/>
              </a:ext>
            </a:extLst>
          </p:cNvPr>
          <p:cNvSpPr/>
          <p:nvPr/>
        </p:nvSpPr>
        <p:spPr>
          <a:xfrm>
            <a:off x="2423160" y="2497974"/>
            <a:ext cx="210312" cy="210312"/>
          </a:xfrm>
          <a:prstGeom prst="ellipse">
            <a:avLst/>
          </a:prstGeom>
          <a:solidFill>
            <a:srgbClr val="B67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44490D08-7795-CA3F-C237-5979EE28780B}"/>
              </a:ext>
            </a:extLst>
          </p:cNvPr>
          <p:cNvSpPr txBox="1"/>
          <p:nvPr/>
        </p:nvSpPr>
        <p:spPr>
          <a:xfrm>
            <a:off x="2779776" y="2497974"/>
            <a:ext cx="502920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B67824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狗</a:t>
            </a:r>
          </a:p>
        </p:txBody>
      </p:sp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AAD67518-0D2C-BBBA-8D51-EEED3C458D14}"/>
              </a:ext>
            </a:extLst>
          </p:cNvPr>
          <p:cNvSpPr/>
          <p:nvPr/>
        </p:nvSpPr>
        <p:spPr>
          <a:xfrm>
            <a:off x="886968" y="3110622"/>
            <a:ext cx="11430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Oval 21">
            <a:extLst>
              <a:ext uri="{FF2B5EF4-FFF2-40B4-BE49-F238E27FC236}">
                <a16:creationId xmlns:a16="http://schemas.microsoft.com/office/drawing/2014/main" id="{F29AD996-1339-15CA-4707-B87389D7512D}"/>
              </a:ext>
            </a:extLst>
          </p:cNvPr>
          <p:cNvSpPr/>
          <p:nvPr/>
        </p:nvSpPr>
        <p:spPr>
          <a:xfrm>
            <a:off x="996695" y="3266069"/>
            <a:ext cx="210312" cy="210312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9D3E9447-E545-FD7B-FF0A-E4565043F9B7}"/>
              </a:ext>
            </a:extLst>
          </p:cNvPr>
          <p:cNvSpPr txBox="1"/>
          <p:nvPr/>
        </p:nvSpPr>
        <p:spPr>
          <a:xfrm>
            <a:off x="1353312" y="3266069"/>
            <a:ext cx="502920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猫</a:t>
            </a: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6054CAFB-AAC2-ACA9-53F1-89B4DC54A5EB}"/>
              </a:ext>
            </a:extLst>
          </p:cNvPr>
          <p:cNvSpPr/>
          <p:nvPr/>
        </p:nvSpPr>
        <p:spPr>
          <a:xfrm>
            <a:off x="2313432" y="3110622"/>
            <a:ext cx="114300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6" name="Oval 24">
            <a:extLst>
              <a:ext uri="{FF2B5EF4-FFF2-40B4-BE49-F238E27FC236}">
                <a16:creationId xmlns:a16="http://schemas.microsoft.com/office/drawing/2014/main" id="{597EC898-1250-E122-E657-C8E6B8B10965}"/>
              </a:ext>
            </a:extLst>
          </p:cNvPr>
          <p:cNvSpPr/>
          <p:nvPr/>
        </p:nvSpPr>
        <p:spPr>
          <a:xfrm>
            <a:off x="2423160" y="3266069"/>
            <a:ext cx="210312" cy="210312"/>
          </a:xfrm>
          <a:prstGeom prst="ellipse">
            <a:avLst/>
          </a:prstGeom>
          <a:solidFill>
            <a:srgbClr val="B67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1700F777-3F8F-D81D-CFD7-2EE243D637EF}"/>
              </a:ext>
            </a:extLst>
          </p:cNvPr>
          <p:cNvSpPr txBox="1"/>
          <p:nvPr/>
        </p:nvSpPr>
        <p:spPr>
          <a:xfrm>
            <a:off x="2779776" y="3266069"/>
            <a:ext cx="502920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B67824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狗</a:t>
            </a: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C82D29BA-37BA-7D57-4E28-704B02D254D9}"/>
              </a:ext>
            </a:extLst>
          </p:cNvPr>
          <p:cNvSpPr/>
          <p:nvPr/>
        </p:nvSpPr>
        <p:spPr>
          <a:xfrm>
            <a:off x="4315968" y="1309254"/>
            <a:ext cx="3584448" cy="4114800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EAC0B711-C409-1AD4-744C-18273611E794}"/>
              </a:ext>
            </a:extLst>
          </p:cNvPr>
          <p:cNvSpPr txBox="1"/>
          <p:nvPr/>
        </p:nvSpPr>
        <p:spPr>
          <a:xfrm>
            <a:off x="4517136" y="1519566"/>
            <a:ext cx="3191256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无监督学习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7A777D38-52D8-78DC-16E6-D952D6967BFC}"/>
              </a:ext>
            </a:extLst>
          </p:cNvPr>
          <p:cNvSpPr txBox="1"/>
          <p:nvPr/>
        </p:nvSpPr>
        <p:spPr>
          <a:xfrm>
            <a:off x="4526280" y="4217046"/>
            <a:ext cx="3154680" cy="1008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无标签数据 → 发现结构。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例：按相似性把相册中的照片分组。</a:t>
            </a:r>
          </a:p>
        </p:txBody>
      </p:sp>
      <p:sp>
        <p:nvSpPr>
          <p:cNvPr id="31" name="Oval 29">
            <a:extLst>
              <a:ext uri="{FF2B5EF4-FFF2-40B4-BE49-F238E27FC236}">
                <a16:creationId xmlns:a16="http://schemas.microsoft.com/office/drawing/2014/main" id="{33B9F5D9-576C-2DB5-11F2-82CB286F1148}"/>
              </a:ext>
            </a:extLst>
          </p:cNvPr>
          <p:cNvSpPr/>
          <p:nvPr/>
        </p:nvSpPr>
        <p:spPr>
          <a:xfrm>
            <a:off x="4544568" y="2324238"/>
            <a:ext cx="1426464" cy="1426464"/>
          </a:xfrm>
          <a:prstGeom prst="ellipse">
            <a:avLst/>
          </a:prstGeom>
          <a:solidFill>
            <a:srgbClr val="DDECE5"/>
          </a:solidFill>
          <a:ln w="12700">
            <a:solidFill>
              <a:srgbClr val="075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2" name="Oval 30">
            <a:extLst>
              <a:ext uri="{FF2B5EF4-FFF2-40B4-BE49-F238E27FC236}">
                <a16:creationId xmlns:a16="http://schemas.microsoft.com/office/drawing/2014/main" id="{92CF5D2F-237E-8FEA-8A7A-6D74BCADC7B8}"/>
              </a:ext>
            </a:extLst>
          </p:cNvPr>
          <p:cNvSpPr/>
          <p:nvPr/>
        </p:nvSpPr>
        <p:spPr>
          <a:xfrm>
            <a:off x="6144768" y="2324238"/>
            <a:ext cx="1426464" cy="1426464"/>
          </a:xfrm>
          <a:prstGeom prst="ellipse">
            <a:avLst/>
          </a:prstGeom>
          <a:solidFill>
            <a:srgbClr val="F4E6CD"/>
          </a:solidFill>
          <a:ln w="12700">
            <a:solidFill>
              <a:srgbClr val="B67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3" name="Oval 31">
            <a:extLst>
              <a:ext uri="{FF2B5EF4-FFF2-40B4-BE49-F238E27FC236}">
                <a16:creationId xmlns:a16="http://schemas.microsoft.com/office/drawing/2014/main" id="{713F00B1-696C-B632-8A15-0BDD6E880206}"/>
              </a:ext>
            </a:extLst>
          </p:cNvPr>
          <p:cNvSpPr/>
          <p:nvPr/>
        </p:nvSpPr>
        <p:spPr>
          <a:xfrm>
            <a:off x="5559551" y="2955174"/>
            <a:ext cx="128016" cy="128016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2A3B8890-308C-4841-6AE1-B16E75C08E7F}"/>
              </a:ext>
            </a:extLst>
          </p:cNvPr>
          <p:cNvSpPr/>
          <p:nvPr/>
        </p:nvSpPr>
        <p:spPr>
          <a:xfrm>
            <a:off x="7159751" y="2955174"/>
            <a:ext cx="128016" cy="128016"/>
          </a:xfrm>
          <a:prstGeom prst="ellipse">
            <a:avLst/>
          </a:prstGeom>
          <a:solidFill>
            <a:srgbClr val="B67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5" name="Oval 33">
            <a:extLst>
              <a:ext uri="{FF2B5EF4-FFF2-40B4-BE49-F238E27FC236}">
                <a16:creationId xmlns:a16="http://schemas.microsoft.com/office/drawing/2014/main" id="{E3277F06-C336-768E-F749-F82F2580C4DE}"/>
              </a:ext>
            </a:extLst>
          </p:cNvPr>
          <p:cNvSpPr/>
          <p:nvPr/>
        </p:nvSpPr>
        <p:spPr>
          <a:xfrm>
            <a:off x="5381244" y="3264012"/>
            <a:ext cx="128016" cy="128016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6" name="Oval 34">
            <a:extLst>
              <a:ext uri="{FF2B5EF4-FFF2-40B4-BE49-F238E27FC236}">
                <a16:creationId xmlns:a16="http://schemas.microsoft.com/office/drawing/2014/main" id="{B21E6AC7-79ED-E903-4CE1-6C614F924C0A}"/>
              </a:ext>
            </a:extLst>
          </p:cNvPr>
          <p:cNvSpPr/>
          <p:nvPr/>
        </p:nvSpPr>
        <p:spPr>
          <a:xfrm>
            <a:off x="6981444" y="3264012"/>
            <a:ext cx="128016" cy="128016"/>
          </a:xfrm>
          <a:prstGeom prst="ellipse">
            <a:avLst/>
          </a:prstGeom>
          <a:solidFill>
            <a:srgbClr val="B67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7" name="Oval 35">
            <a:extLst>
              <a:ext uri="{FF2B5EF4-FFF2-40B4-BE49-F238E27FC236}">
                <a16:creationId xmlns:a16="http://schemas.microsoft.com/office/drawing/2014/main" id="{2AE09F10-A0F7-DD3E-66C7-DC6CC127CA65}"/>
              </a:ext>
            </a:extLst>
          </p:cNvPr>
          <p:cNvSpPr/>
          <p:nvPr/>
        </p:nvSpPr>
        <p:spPr>
          <a:xfrm>
            <a:off x="5024627" y="3264012"/>
            <a:ext cx="128016" cy="128016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8" name="Oval 36">
            <a:extLst>
              <a:ext uri="{FF2B5EF4-FFF2-40B4-BE49-F238E27FC236}">
                <a16:creationId xmlns:a16="http://schemas.microsoft.com/office/drawing/2014/main" id="{91665689-E642-05A1-D4D9-0232570057C2}"/>
              </a:ext>
            </a:extLst>
          </p:cNvPr>
          <p:cNvSpPr/>
          <p:nvPr/>
        </p:nvSpPr>
        <p:spPr>
          <a:xfrm>
            <a:off x="6624827" y="3264012"/>
            <a:ext cx="128016" cy="128016"/>
          </a:xfrm>
          <a:prstGeom prst="ellipse">
            <a:avLst/>
          </a:prstGeom>
          <a:solidFill>
            <a:srgbClr val="B67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9" name="Oval 37">
            <a:extLst>
              <a:ext uri="{FF2B5EF4-FFF2-40B4-BE49-F238E27FC236}">
                <a16:creationId xmlns:a16="http://schemas.microsoft.com/office/drawing/2014/main" id="{805DDF57-A8A2-F0AA-10FD-89BBD20A4C61}"/>
              </a:ext>
            </a:extLst>
          </p:cNvPr>
          <p:cNvSpPr/>
          <p:nvPr/>
        </p:nvSpPr>
        <p:spPr>
          <a:xfrm>
            <a:off x="4846320" y="2955174"/>
            <a:ext cx="128016" cy="128016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0" name="Oval 38">
            <a:extLst>
              <a:ext uri="{FF2B5EF4-FFF2-40B4-BE49-F238E27FC236}">
                <a16:creationId xmlns:a16="http://schemas.microsoft.com/office/drawing/2014/main" id="{B6111DDE-9B44-47FB-A0B2-CD4976393C38}"/>
              </a:ext>
            </a:extLst>
          </p:cNvPr>
          <p:cNvSpPr/>
          <p:nvPr/>
        </p:nvSpPr>
        <p:spPr>
          <a:xfrm>
            <a:off x="6446520" y="2955174"/>
            <a:ext cx="128016" cy="128016"/>
          </a:xfrm>
          <a:prstGeom prst="ellipse">
            <a:avLst/>
          </a:prstGeom>
          <a:solidFill>
            <a:srgbClr val="B67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1" name="Oval 39">
            <a:extLst>
              <a:ext uri="{FF2B5EF4-FFF2-40B4-BE49-F238E27FC236}">
                <a16:creationId xmlns:a16="http://schemas.microsoft.com/office/drawing/2014/main" id="{913BB23C-CBD6-75C2-FCFD-B7276C52138E}"/>
              </a:ext>
            </a:extLst>
          </p:cNvPr>
          <p:cNvSpPr/>
          <p:nvPr/>
        </p:nvSpPr>
        <p:spPr>
          <a:xfrm>
            <a:off x="5024627" y="2646335"/>
            <a:ext cx="128016" cy="128016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47617CD4-58C3-625D-D2A6-C0049A514462}"/>
              </a:ext>
            </a:extLst>
          </p:cNvPr>
          <p:cNvSpPr/>
          <p:nvPr/>
        </p:nvSpPr>
        <p:spPr>
          <a:xfrm>
            <a:off x="6624827" y="2646335"/>
            <a:ext cx="128016" cy="128016"/>
          </a:xfrm>
          <a:prstGeom prst="ellipse">
            <a:avLst/>
          </a:prstGeom>
          <a:solidFill>
            <a:srgbClr val="B67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3" name="Oval 41">
            <a:extLst>
              <a:ext uri="{FF2B5EF4-FFF2-40B4-BE49-F238E27FC236}">
                <a16:creationId xmlns:a16="http://schemas.microsoft.com/office/drawing/2014/main" id="{C9126276-1A30-5085-E802-2B741B58F192}"/>
              </a:ext>
            </a:extLst>
          </p:cNvPr>
          <p:cNvSpPr/>
          <p:nvPr/>
        </p:nvSpPr>
        <p:spPr>
          <a:xfrm>
            <a:off x="5381244" y="2646335"/>
            <a:ext cx="128016" cy="128016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4" name="Oval 42">
            <a:extLst>
              <a:ext uri="{FF2B5EF4-FFF2-40B4-BE49-F238E27FC236}">
                <a16:creationId xmlns:a16="http://schemas.microsoft.com/office/drawing/2014/main" id="{59CDBCD4-E371-A38C-523C-004AE73AB5EB}"/>
              </a:ext>
            </a:extLst>
          </p:cNvPr>
          <p:cNvSpPr/>
          <p:nvPr/>
        </p:nvSpPr>
        <p:spPr>
          <a:xfrm>
            <a:off x="6981444" y="2646335"/>
            <a:ext cx="128016" cy="128016"/>
          </a:xfrm>
          <a:prstGeom prst="ellipse">
            <a:avLst/>
          </a:prstGeom>
          <a:solidFill>
            <a:srgbClr val="B67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5" name="TextBox 43">
            <a:extLst>
              <a:ext uri="{FF2B5EF4-FFF2-40B4-BE49-F238E27FC236}">
                <a16:creationId xmlns:a16="http://schemas.microsoft.com/office/drawing/2014/main" id="{83D02AF8-6A9D-4976-E0D2-88C33EA1DE51}"/>
              </a:ext>
            </a:extLst>
          </p:cNvPr>
          <p:cNvSpPr txBox="1"/>
          <p:nvPr/>
        </p:nvSpPr>
        <p:spPr>
          <a:xfrm>
            <a:off x="4599431" y="3842141"/>
            <a:ext cx="3017520" cy="214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A7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颜色仅表示形成的分组</a:t>
            </a:r>
          </a:p>
        </p:txBody>
      </p:sp>
      <p:sp>
        <p:nvSpPr>
          <p:cNvPr id="46" name="Rounded Rectangle 44">
            <a:extLst>
              <a:ext uri="{FF2B5EF4-FFF2-40B4-BE49-F238E27FC236}">
                <a16:creationId xmlns:a16="http://schemas.microsoft.com/office/drawing/2014/main" id="{F10F9445-D631-D017-7B5B-0F3D6D906C46}"/>
              </a:ext>
            </a:extLst>
          </p:cNvPr>
          <p:cNvSpPr/>
          <p:nvPr/>
        </p:nvSpPr>
        <p:spPr>
          <a:xfrm>
            <a:off x="8101583" y="1309254"/>
            <a:ext cx="3584448" cy="4114800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7" name="TextBox 45">
            <a:extLst>
              <a:ext uri="{FF2B5EF4-FFF2-40B4-BE49-F238E27FC236}">
                <a16:creationId xmlns:a16="http://schemas.microsoft.com/office/drawing/2014/main" id="{F2A5116B-AA4B-3D05-C240-78FC6379BE26}"/>
              </a:ext>
            </a:extLst>
          </p:cNvPr>
          <p:cNvSpPr txBox="1"/>
          <p:nvPr/>
        </p:nvSpPr>
        <p:spPr>
          <a:xfrm>
            <a:off x="8302752" y="1519566"/>
            <a:ext cx="3191256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强化学习</a:t>
            </a:r>
          </a:p>
        </p:txBody>
      </p:sp>
      <p:sp>
        <p:nvSpPr>
          <p:cNvPr id="48" name="TextBox 46">
            <a:extLst>
              <a:ext uri="{FF2B5EF4-FFF2-40B4-BE49-F238E27FC236}">
                <a16:creationId xmlns:a16="http://schemas.microsoft.com/office/drawing/2014/main" id="{B72E4D92-F237-9333-8D25-CB3BA8FB31F3}"/>
              </a:ext>
            </a:extLst>
          </p:cNvPr>
          <p:cNvSpPr txBox="1"/>
          <p:nvPr/>
        </p:nvSpPr>
        <p:spPr>
          <a:xfrm>
            <a:off x="8212973" y="4217046"/>
            <a:ext cx="3410711" cy="1008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行动与奖励反馈</a:t>
            </a:r>
            <a:r>
              <a:rPr sz="19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→ </a:t>
            </a:r>
            <a:r>
              <a:rPr sz="19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学习策略</a:t>
            </a:r>
            <a:r>
              <a:rPr sz="19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dirty="0" err="1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例：在模拟迷宫中尝试行动，改善累计回报</a:t>
            </a:r>
            <a:r>
              <a:rPr sz="19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49" name="Rounded Rectangle 47">
            <a:extLst>
              <a:ext uri="{FF2B5EF4-FFF2-40B4-BE49-F238E27FC236}">
                <a16:creationId xmlns:a16="http://schemas.microsoft.com/office/drawing/2014/main" id="{35E5A2FC-F3E9-BB82-EA28-E5B1717ECD56}"/>
              </a:ext>
            </a:extLst>
          </p:cNvPr>
          <p:cNvSpPr/>
          <p:nvPr/>
        </p:nvSpPr>
        <p:spPr>
          <a:xfrm>
            <a:off x="8933688" y="2287662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0" name="TextBox 48">
            <a:extLst>
              <a:ext uri="{FF2B5EF4-FFF2-40B4-BE49-F238E27FC236}">
                <a16:creationId xmlns:a16="http://schemas.microsoft.com/office/drawing/2014/main" id="{B9DC690F-A1B9-DC91-121B-76D41DD38B1A}"/>
              </a:ext>
            </a:extLst>
          </p:cNvPr>
          <p:cNvSpPr txBox="1"/>
          <p:nvPr/>
        </p:nvSpPr>
        <p:spPr>
          <a:xfrm>
            <a:off x="9034272" y="2413338"/>
            <a:ext cx="1719072" cy="306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智能体</a:t>
            </a:r>
          </a:p>
        </p:txBody>
      </p:sp>
      <p:sp>
        <p:nvSpPr>
          <p:cNvPr id="51" name="Rounded Rectangle 49">
            <a:extLst>
              <a:ext uri="{FF2B5EF4-FFF2-40B4-BE49-F238E27FC236}">
                <a16:creationId xmlns:a16="http://schemas.microsoft.com/office/drawing/2014/main" id="{D011E5FE-4560-E0F2-0143-D547B739FE53}"/>
              </a:ext>
            </a:extLst>
          </p:cNvPr>
          <p:cNvSpPr/>
          <p:nvPr/>
        </p:nvSpPr>
        <p:spPr>
          <a:xfrm>
            <a:off x="8933688" y="3467238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52" name="TextBox 50">
            <a:extLst>
              <a:ext uri="{FF2B5EF4-FFF2-40B4-BE49-F238E27FC236}">
                <a16:creationId xmlns:a16="http://schemas.microsoft.com/office/drawing/2014/main" id="{68DF0F14-94B5-8AF4-82F8-1A8E481E0593}"/>
              </a:ext>
            </a:extLst>
          </p:cNvPr>
          <p:cNvSpPr txBox="1"/>
          <p:nvPr/>
        </p:nvSpPr>
        <p:spPr>
          <a:xfrm>
            <a:off x="9034272" y="3592914"/>
            <a:ext cx="1719072" cy="306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环境</a:t>
            </a:r>
          </a:p>
        </p:txBody>
      </p:sp>
      <p:cxnSp>
        <p:nvCxnSpPr>
          <p:cNvPr id="53" name="Connector 51">
            <a:extLst>
              <a:ext uri="{FF2B5EF4-FFF2-40B4-BE49-F238E27FC236}">
                <a16:creationId xmlns:a16="http://schemas.microsoft.com/office/drawing/2014/main" id="{20AEF420-2DEF-F0D6-B919-4FAA706CB294}"/>
              </a:ext>
            </a:extLst>
          </p:cNvPr>
          <p:cNvCxnSpPr/>
          <p:nvPr/>
        </p:nvCxnSpPr>
        <p:spPr>
          <a:xfrm>
            <a:off x="9290304" y="2872878"/>
            <a:ext cx="0" cy="521208"/>
          </a:xfrm>
          <a:prstGeom prst="line">
            <a:avLst/>
          </a:prstGeom>
          <a:ln w="22860">
            <a:solidFill>
              <a:srgbClr val="075C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2">
            <a:extLst>
              <a:ext uri="{FF2B5EF4-FFF2-40B4-BE49-F238E27FC236}">
                <a16:creationId xmlns:a16="http://schemas.microsoft.com/office/drawing/2014/main" id="{7A05490F-BE26-DC32-5359-5A1AE424D786}"/>
              </a:ext>
            </a:extLst>
          </p:cNvPr>
          <p:cNvSpPr txBox="1"/>
          <p:nvPr/>
        </p:nvSpPr>
        <p:spPr>
          <a:xfrm>
            <a:off x="8458200" y="2991750"/>
            <a:ext cx="749808" cy="275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动作</a:t>
            </a:r>
          </a:p>
        </p:txBody>
      </p:sp>
      <p:cxnSp>
        <p:nvCxnSpPr>
          <p:cNvPr id="55" name="Connector 53">
            <a:extLst>
              <a:ext uri="{FF2B5EF4-FFF2-40B4-BE49-F238E27FC236}">
                <a16:creationId xmlns:a16="http://schemas.microsoft.com/office/drawing/2014/main" id="{71CFBB14-3C11-2E0F-A06E-C101525513BB}"/>
              </a:ext>
            </a:extLst>
          </p:cNvPr>
          <p:cNvCxnSpPr/>
          <p:nvPr/>
        </p:nvCxnSpPr>
        <p:spPr>
          <a:xfrm flipV="1">
            <a:off x="10533888" y="2872878"/>
            <a:ext cx="0" cy="521208"/>
          </a:xfrm>
          <a:prstGeom prst="line">
            <a:avLst/>
          </a:prstGeom>
          <a:ln w="22860">
            <a:solidFill>
              <a:srgbClr val="B678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4">
            <a:extLst>
              <a:ext uri="{FF2B5EF4-FFF2-40B4-BE49-F238E27FC236}">
                <a16:creationId xmlns:a16="http://schemas.microsoft.com/office/drawing/2014/main" id="{DBC324AA-E5B6-56A4-B920-DBA13E185FC5}"/>
              </a:ext>
            </a:extLst>
          </p:cNvPr>
          <p:cNvSpPr txBox="1"/>
          <p:nvPr/>
        </p:nvSpPr>
        <p:spPr>
          <a:xfrm>
            <a:off x="10735055" y="2891166"/>
            <a:ext cx="722376" cy="577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67824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观察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7824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奖励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B184E2BD-3BF7-1C2B-BE5D-25CEB891EB91}"/>
              </a:ext>
            </a:extLst>
          </p:cNvPr>
          <p:cNvSpPr/>
          <p:nvPr/>
        </p:nvSpPr>
        <p:spPr>
          <a:xfrm>
            <a:off x="530352" y="5706595"/>
            <a:ext cx="11155679" cy="56692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E98D876D-D841-2AF1-3FC0-F8BB6A0B82D8}"/>
              </a:ext>
            </a:extLst>
          </p:cNvPr>
          <p:cNvSpPr txBox="1"/>
          <p:nvPr/>
        </p:nvSpPr>
        <p:spPr>
          <a:xfrm>
            <a:off x="722376" y="5841415"/>
            <a:ext cx="10750836" cy="306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并非只有这三类</a:t>
            </a:r>
            <a:r>
              <a:rPr sz="20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zh-CN" altLang="en-US" sz="20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介于监督学习和无监督学习之间，还有</a:t>
            </a:r>
            <a:r>
              <a:rPr sz="20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半监督学习</a:t>
            </a:r>
            <a:r>
              <a:rPr sz="20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。</a:t>
            </a:r>
          </a:p>
        </p:txBody>
      </p:sp>
      <p:sp>
        <p:nvSpPr>
          <p:cNvPr id="57" name="同侧圆角矩形 29">
            <a:extLst>
              <a:ext uri="{FF2B5EF4-FFF2-40B4-BE49-F238E27FC236}">
                <a16:creationId xmlns:a16="http://schemas.microsoft.com/office/drawing/2014/main" id="{63FF2497-88D7-D2C7-54A3-325EB7F6E8AC}"/>
              </a:ext>
            </a:extLst>
          </p:cNvPr>
          <p:cNvSpPr/>
          <p:nvPr/>
        </p:nvSpPr>
        <p:spPr>
          <a:xfrm>
            <a:off x="4695826" y="-1"/>
            <a:ext cx="7496174" cy="102054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noProof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下一章将进一步介绍</a:t>
            </a:r>
            <a:endParaRPr kumimoji="0" lang="zh-CN" altLang="en-US" sz="2400" b="1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782CE-F020-D445-8EED-846C14661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00331-991F-994B-E431-1396434F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F89DDD-48CF-28EE-689A-C40ECAC6F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671" y="1600245"/>
            <a:ext cx="7020363" cy="4327214"/>
          </a:xfrm>
        </p:spPr>
        <p:txBody>
          <a:bodyPr>
            <a:normAutofit/>
          </a:bodyPr>
          <a:lstStyle/>
          <a:p>
            <a:pPr marL="320675" indent="-3206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计算思维</a:t>
            </a: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：围绕目标分解问题、发现模式、选择表示并设计算法。</a:t>
            </a:r>
            <a:endParaRPr lang="en-US" altLang="zh-CN" sz="24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320675" indent="-3206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智能思维</a:t>
            </a: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：借助数据发现规律，用概率表达不确定性，并根据反馈修正。</a:t>
            </a:r>
          </a:p>
          <a:p>
            <a:pPr marL="320675" indent="-3206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学习范式</a:t>
            </a:r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：以什么信号引导模型学习？标签，还是行动后的奖励反馈。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7DBAF7-0152-332F-77B4-9DA00CBEA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8" r="12722"/>
          <a:stretch>
            <a:fillRect/>
          </a:stretch>
        </p:blipFill>
        <p:spPr bwMode="auto">
          <a:xfrm>
            <a:off x="7675765" y="1678731"/>
            <a:ext cx="4013581" cy="382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A0CCEFE-202A-F81B-9CEB-C685B6D0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3B5088-2F49-06F1-6107-AFB4A6AE8FC4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</p:spTree>
    <p:extLst>
      <p:ext uri="{BB962C8B-B14F-4D97-AF65-F5344CB8AC3E}">
        <p14:creationId xmlns:p14="http://schemas.microsoft.com/office/powerpoint/2010/main" val="3164373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下一章预览</a:t>
            </a:r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65743C7C-F63D-2A4E-DE43-198BF09A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8027" y="6391459"/>
            <a:ext cx="5759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F16192-700E-7AC3-D788-13D163F096E5}"/>
              </a:ext>
            </a:extLst>
          </p:cNvPr>
          <p:cNvSpPr txBox="1"/>
          <p:nvPr/>
        </p:nvSpPr>
        <p:spPr>
          <a:xfrm>
            <a:off x="6346413" y="6349837"/>
            <a:ext cx="5829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0F0F0"/>
                </a:solidFill>
              </a:rPr>
              <a:t>人工智能通识教程（公共课版）主编：黄栋 等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97FA4E-F491-E134-91AE-3CFB68CA04C9}"/>
              </a:ext>
            </a:extLst>
          </p:cNvPr>
          <p:cNvSpPr/>
          <p:nvPr/>
        </p:nvSpPr>
        <p:spPr>
          <a:xfrm>
            <a:off x="509016" y="5052506"/>
            <a:ext cx="11173968" cy="566928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D93F5-15E7-61CB-F4B9-DAE984C33090}"/>
              </a:ext>
            </a:extLst>
          </p:cNvPr>
          <p:cNvSpPr txBox="1"/>
          <p:nvPr/>
        </p:nvSpPr>
        <p:spPr>
          <a:xfrm>
            <a:off x="701040" y="5179664"/>
            <a:ext cx="10768461" cy="3217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延伸思考</a:t>
            </a:r>
            <a:r>
              <a:rPr sz="21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r>
              <a:rPr lang="zh-CN" altLang="en-US" sz="21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模型对见过的样本（</a:t>
            </a:r>
            <a:r>
              <a:rPr sz="21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训练样本</a:t>
            </a:r>
            <a:r>
              <a:rPr lang="zh-CN" altLang="en-US" sz="21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）有效</a:t>
            </a:r>
            <a:r>
              <a:rPr sz="21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，</a:t>
            </a:r>
            <a:r>
              <a:rPr sz="2100" b="1" dirty="0" err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是否就意味着能处理未见过的新样本</a:t>
            </a:r>
            <a:r>
              <a:rPr sz="2100" b="1" dirty="0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？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95E51F1-CB72-97CD-5827-2DD1309C434E}"/>
              </a:ext>
            </a:extLst>
          </p:cNvPr>
          <p:cNvSpPr/>
          <p:nvPr/>
        </p:nvSpPr>
        <p:spPr>
          <a:xfrm>
            <a:off x="509016" y="2175170"/>
            <a:ext cx="3590544" cy="2491324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6282BA-1FB8-9E67-4012-3ADE28C24FEC}"/>
              </a:ext>
            </a:extLst>
          </p:cNvPr>
          <p:cNvSpPr/>
          <p:nvPr/>
        </p:nvSpPr>
        <p:spPr>
          <a:xfrm>
            <a:off x="701040" y="2376337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6CB97C-D1E5-5687-4671-7AE05BB2169F}"/>
              </a:ext>
            </a:extLst>
          </p:cNvPr>
          <p:cNvSpPr txBox="1"/>
          <p:nvPr/>
        </p:nvSpPr>
        <p:spPr>
          <a:xfrm>
            <a:off x="701040" y="2392796"/>
            <a:ext cx="329184" cy="245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9A1B9-2D9F-F713-0883-CC0971FB9052}"/>
              </a:ext>
            </a:extLst>
          </p:cNvPr>
          <p:cNvSpPr txBox="1"/>
          <p:nvPr/>
        </p:nvSpPr>
        <p:spPr>
          <a:xfrm>
            <a:off x="1139952" y="2339761"/>
            <a:ext cx="2804160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模型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0C2EE7-344C-E6EB-588D-73A8BF02E937}"/>
              </a:ext>
            </a:extLst>
          </p:cNvPr>
          <p:cNvSpPr txBox="1"/>
          <p:nvPr/>
        </p:nvSpPr>
        <p:spPr>
          <a:xfrm>
            <a:off x="719328" y="3007273"/>
            <a:ext cx="3169920" cy="1191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用什么样的函数或结构表达规律？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0E20D82-15DA-C5FB-EAE0-77368FE83FFC}"/>
              </a:ext>
            </a:extLst>
          </p:cNvPr>
          <p:cNvSpPr/>
          <p:nvPr/>
        </p:nvSpPr>
        <p:spPr>
          <a:xfrm>
            <a:off x="4300728" y="2175170"/>
            <a:ext cx="3590544" cy="2491324"/>
          </a:xfrm>
          <a:prstGeom prst="roundRect">
            <a:avLst>
              <a:gd name="adj" fmla="val 10000"/>
            </a:avLst>
          </a:prstGeom>
          <a:solidFill>
            <a:srgbClr val="EEF4F8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3BC36C5-382A-A69A-7365-F1E369863B12}"/>
              </a:ext>
            </a:extLst>
          </p:cNvPr>
          <p:cNvSpPr/>
          <p:nvPr/>
        </p:nvSpPr>
        <p:spPr>
          <a:xfrm>
            <a:off x="4492752" y="2376337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94FAF9-9384-E696-4637-02F412361D3C}"/>
              </a:ext>
            </a:extLst>
          </p:cNvPr>
          <p:cNvSpPr txBox="1"/>
          <p:nvPr/>
        </p:nvSpPr>
        <p:spPr>
          <a:xfrm>
            <a:off x="4492752" y="2392796"/>
            <a:ext cx="329184" cy="245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AC8E7D-7C7A-66BC-97D6-29D4620F3BE7}"/>
              </a:ext>
            </a:extLst>
          </p:cNvPr>
          <p:cNvSpPr txBox="1"/>
          <p:nvPr/>
        </p:nvSpPr>
        <p:spPr>
          <a:xfrm>
            <a:off x="4931664" y="2339761"/>
            <a:ext cx="2804160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学习准则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751EE6-0A45-284C-E84A-90D46A144A36}"/>
              </a:ext>
            </a:extLst>
          </p:cNvPr>
          <p:cNvSpPr txBox="1"/>
          <p:nvPr/>
        </p:nvSpPr>
        <p:spPr>
          <a:xfrm>
            <a:off x="4511040" y="3007273"/>
            <a:ext cx="3169920" cy="1191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怎样判断模型学得好不好？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17986B1-2EDD-5694-6426-919DBB0D82E8}"/>
              </a:ext>
            </a:extLst>
          </p:cNvPr>
          <p:cNvSpPr/>
          <p:nvPr/>
        </p:nvSpPr>
        <p:spPr>
          <a:xfrm>
            <a:off x="8092440" y="2175170"/>
            <a:ext cx="3590544" cy="2491324"/>
          </a:xfrm>
          <a:prstGeom prst="roundRect">
            <a:avLst>
              <a:gd name="adj" fmla="val 10000"/>
            </a:avLst>
          </a:prstGeom>
          <a:solidFill>
            <a:srgbClr val="ECF5F0"/>
          </a:solidFill>
          <a:ln w="12700">
            <a:solidFill>
              <a:srgbClr val="D2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A4ED775-FE47-78A0-741E-08FF7D8FE900}"/>
              </a:ext>
            </a:extLst>
          </p:cNvPr>
          <p:cNvSpPr/>
          <p:nvPr/>
        </p:nvSpPr>
        <p:spPr>
          <a:xfrm>
            <a:off x="8284464" y="2376337"/>
            <a:ext cx="329184" cy="329184"/>
          </a:xfrm>
          <a:prstGeom prst="ellipse">
            <a:avLst/>
          </a:prstGeom>
          <a:solidFill>
            <a:srgbClr val="07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5A44D5-F04C-D204-098F-A633AC53BBDC}"/>
              </a:ext>
            </a:extLst>
          </p:cNvPr>
          <p:cNvSpPr txBox="1"/>
          <p:nvPr/>
        </p:nvSpPr>
        <p:spPr>
          <a:xfrm>
            <a:off x="8284464" y="2392796"/>
            <a:ext cx="329184" cy="245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A887AF-BF05-775F-9E50-DBB89056FCFD}"/>
              </a:ext>
            </a:extLst>
          </p:cNvPr>
          <p:cNvSpPr txBox="1"/>
          <p:nvPr/>
        </p:nvSpPr>
        <p:spPr>
          <a:xfrm>
            <a:off x="8723376" y="2339761"/>
            <a:ext cx="2804159" cy="429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75C48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优化算法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152685-6FAF-8EB4-709A-56F649E6CA05}"/>
              </a:ext>
            </a:extLst>
          </p:cNvPr>
          <p:cNvSpPr txBox="1"/>
          <p:nvPr/>
        </p:nvSpPr>
        <p:spPr>
          <a:xfrm>
            <a:off x="8302752" y="3007273"/>
            <a:ext cx="3169920" cy="1191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怎样根据数据与目标调整模型参数？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EA16FDA4-B385-EBED-8E27-D5C19C02A21B}"/>
              </a:ext>
            </a:extLst>
          </p:cNvPr>
          <p:cNvSpPr txBox="1"/>
          <p:nvPr/>
        </p:nvSpPr>
        <p:spPr>
          <a:xfrm>
            <a:off x="553150" y="1411589"/>
            <a:ext cx="11064240" cy="398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600" b="0" dirty="0">
                <a:solidFill>
                  <a:srgbClr val="24343C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带着三个问题进入机器学习</a:t>
            </a:r>
            <a:endParaRPr sz="2600" b="0" dirty="0">
              <a:solidFill>
                <a:srgbClr val="24343C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25309" y="2358304"/>
            <a:ext cx="8764270" cy="18620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谢谢！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FCE6D8-AA98-59F1-C088-EFE3A971A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622"/>
            <a:ext cx="4038600" cy="75413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90E8119-914A-1ADE-4F33-E942D8A64736}"/>
              </a:ext>
            </a:extLst>
          </p:cNvPr>
          <p:cNvSpPr txBox="1"/>
          <p:nvPr/>
        </p:nvSpPr>
        <p:spPr>
          <a:xfrm>
            <a:off x="8694513" y="6249630"/>
            <a:ext cx="36633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  <a:hlinkClick r:id="rId3"/>
              </a:rPr>
              <a:t>https://ai4ge.github.io/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8372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k2Y2NjMTA2OGY2YzgxNDNlNTNhZjEzMjRhOTZi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3560</TotalTime>
  <Words>1814</Words>
  <Application>Microsoft Macintosh PowerPoint</Application>
  <PresentationFormat>宽屏</PresentationFormat>
  <Paragraphs>440</Paragraphs>
  <Slides>38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SimHei</vt:lpstr>
      <vt:lpstr>SimHei</vt:lpstr>
      <vt:lpstr>宋体</vt:lpstr>
      <vt:lpstr>Microsoft YaHei</vt:lpstr>
      <vt:lpstr>Microsoft YaHei</vt:lpstr>
      <vt:lpstr>Arial</vt:lpstr>
      <vt:lpstr>Calibri</vt:lpstr>
      <vt:lpstr>Times New Roman</vt:lpstr>
      <vt:lpstr>Wingdings</vt:lpstr>
      <vt:lpstr>WPS</vt:lpstr>
      <vt:lpstr>1_WPS</vt:lpstr>
      <vt:lpstr>4_WPS</vt:lpstr>
      <vt:lpstr>PowerPoint 演示文稿</vt:lpstr>
      <vt:lpstr>课程教材</vt:lpstr>
      <vt:lpstr>智能与计算思维</vt:lpstr>
      <vt:lpstr>教学目录</vt:lpstr>
      <vt:lpstr>从校园生活讲起</vt:lpstr>
      <vt:lpstr>校园生活：六个熟悉的任务</vt:lpstr>
      <vt:lpstr>把这些任务交给机器，难在哪里？</vt:lpstr>
      <vt:lpstr>带着这个问题， 我们进入到本章学习</vt:lpstr>
      <vt:lpstr>本章学习目标</vt:lpstr>
      <vt:lpstr>计算思维</vt:lpstr>
      <vt:lpstr>什么是计算思维？</vt:lpstr>
      <vt:lpstr>理解计算思维的两个视角：抽象与自动化</vt:lpstr>
      <vt:lpstr>以小明选餐为例</vt:lpstr>
      <vt:lpstr>只有 20 分钟，怎样选一个合适的窗口？</vt:lpstr>
      <vt:lpstr>步骤一：分解（拆分任务）</vt:lpstr>
      <vt:lpstr>分解示例：组织一次秋游要做哪些事？</vt:lpstr>
      <vt:lpstr>步骤二：模式识别（寻找相似的结构）</vt:lpstr>
      <vt:lpstr>场景不同，处理方法可以相通</vt:lpstr>
      <vt:lpstr>步骤三：抽象（按目标保留信息）</vt:lpstr>
      <vt:lpstr>抽象示例：把校园画成一张寻路简图</vt:lpstr>
      <vt:lpstr>步骤四：算法设计（写清操作步骤）</vt:lpstr>
      <vt:lpstr>步骤四：算法设计（写清操作步骤）</vt:lpstr>
      <vt:lpstr>算法设计示例： 为机器人寻找最短路线</vt:lpstr>
      <vt:lpstr>计算思维的四个常用环节</vt:lpstr>
      <vt:lpstr>智能思维</vt:lpstr>
      <vt:lpstr>当人工规则难以写全时</vt:lpstr>
      <vt:lpstr>规则驱动与数据驱动</vt:lpstr>
      <vt:lpstr>数据在模型学习中发挥什么作用？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学习范式</vt:lpstr>
      <vt:lpstr>几类典型的学习范式</vt:lpstr>
      <vt:lpstr>本章小结</vt:lpstr>
      <vt:lpstr>下一章预览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Huang Dong</cp:lastModifiedBy>
  <cp:revision>353</cp:revision>
  <dcterms:created xsi:type="dcterms:W3CDTF">2019-06-19T02:08:00Z</dcterms:created>
  <dcterms:modified xsi:type="dcterms:W3CDTF">2026-09-17T18:31:10Z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B21F3D0E3631484380C7E713BAEED2A0_13</vt:lpwstr>
  </property>
</Properties>
</file>
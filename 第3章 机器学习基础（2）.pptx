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9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65" r:id="rId3"/>
    <p:sldMasterId id="2147483670" r:id="rId4"/>
    <p:sldMasterId id="2147483683" r:id="rId5"/>
  </p:sldMasterIdLst>
  <p:notesMasterIdLst>
    <p:notesMasterId r:id="rId52"/>
  </p:notesMasterIdLst>
  <p:handoutMasterIdLst>
    <p:handoutMasterId r:id="rId53"/>
  </p:handoutMasterIdLst>
  <p:sldIdLst>
    <p:sldId id="1244" r:id="rId6"/>
    <p:sldId id="1245" r:id="rId7"/>
    <p:sldId id="329" r:id="rId8"/>
    <p:sldId id="557" r:id="rId9"/>
    <p:sldId id="610" r:id="rId10"/>
    <p:sldId id="357" r:id="rId11"/>
    <p:sldId id="614" r:id="rId12"/>
    <p:sldId id="300" r:id="rId13"/>
    <p:sldId id="301" r:id="rId14"/>
    <p:sldId id="358" r:id="rId15"/>
    <p:sldId id="359" r:id="rId16"/>
    <p:sldId id="302" r:id="rId17"/>
    <p:sldId id="360" r:id="rId18"/>
    <p:sldId id="579" r:id="rId19"/>
    <p:sldId id="303" r:id="rId20"/>
    <p:sldId id="456" r:id="rId21"/>
    <p:sldId id="458" r:id="rId22"/>
    <p:sldId id="459" r:id="rId23"/>
    <p:sldId id="363" r:id="rId24"/>
    <p:sldId id="310" r:id="rId25"/>
    <p:sldId id="311" r:id="rId26"/>
    <p:sldId id="315" r:id="rId27"/>
    <p:sldId id="313" r:id="rId28"/>
    <p:sldId id="312" r:id="rId29"/>
    <p:sldId id="314" r:id="rId30"/>
    <p:sldId id="316" r:id="rId31"/>
    <p:sldId id="580" r:id="rId32"/>
    <p:sldId id="364" r:id="rId33"/>
    <p:sldId id="365" r:id="rId34"/>
    <p:sldId id="366" r:id="rId35"/>
    <p:sldId id="574" r:id="rId36"/>
    <p:sldId id="317" r:id="rId37"/>
    <p:sldId id="550" r:id="rId38"/>
    <p:sldId id="581" r:id="rId39"/>
    <p:sldId id="582" r:id="rId40"/>
    <p:sldId id="320" r:id="rId41"/>
    <p:sldId id="321" r:id="rId42"/>
    <p:sldId id="266" r:id="rId43"/>
    <p:sldId id="298" r:id="rId44"/>
    <p:sldId id="611" r:id="rId45"/>
    <p:sldId id="612" r:id="rId46"/>
    <p:sldId id="613" r:id="rId47"/>
    <p:sldId id="355" r:id="rId48"/>
    <p:sldId id="356" r:id="rId49"/>
    <p:sldId id="322" r:id="rId50"/>
    <p:sldId id="1247" r:id="rId51"/>
  </p:sldIdLst>
  <p:sldSz cx="12192000" cy="6858000"/>
  <p:notesSz cx="6858000" cy="9144000"/>
  <p:custDataLst>
    <p:tags r:id="rId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s" initials="y" lastIdx="0" clrIdx="0"/>
  <p:cmAuthor id="2" name="Administrat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0000FF"/>
    <a:srgbClr val="03553F"/>
    <a:srgbClr val="FFFFFF"/>
    <a:srgbClr val="DCDCDC"/>
    <a:srgbClr val="F0F0F0"/>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050" autoAdjust="0"/>
    <p:restoredTop sz="94660"/>
  </p:normalViewPr>
  <p:slideViewPr>
    <p:cSldViewPr snapToGrid="0" showGuides="1">
      <p:cViewPr varScale="1">
        <p:scale>
          <a:sx n="116" d="100"/>
          <a:sy n="116" d="100"/>
        </p:scale>
        <p:origin x="192" y="352"/>
      </p:cViewPr>
      <p:guideLst>
        <p:guide orient="horz" pos="224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2026/9/18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dirty="0">
              <a:latin typeface="黑体" panose="02010609060101010101" charset="-122"/>
              <a:ea typeface="黑体" panose="02010609060101010101" charset="-122"/>
              <a:cs typeface="+mn-ea"/>
              <a:sym typeface="+mn-l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从以下几个方面展开。</a:t>
            </a:r>
          </a:p>
          <a:p>
            <a:r>
              <a:rPr lang="zh-CN" altLang="en-US">
                <a:sym typeface="+mn-ea"/>
              </a:rPr>
              <a:t>知识目标：理解农业从刀耕火种到智慧农业的发展脉络；了解人工智能的发展历程及其在农业中的融合趋势；掌握智慧农业的基本定义与核心特征。</a:t>
            </a:r>
            <a:endParaRPr lang="zh-CN" altLang="en-US"/>
          </a:p>
          <a:p>
            <a:r>
              <a:rPr lang="zh-CN" altLang="en-US">
                <a:sym typeface="+mn-ea"/>
              </a:rPr>
              <a:t>能力目标：具备用时代视角理解农业变迁与技术演进的能力；提升跨学科分析与总结能力。</a:t>
            </a:r>
            <a:endParaRPr lang="zh-CN" altLang="en-US"/>
          </a:p>
          <a:p>
            <a:r>
              <a:rPr lang="zh-CN" altLang="en-US">
                <a:sym typeface="+mn-ea"/>
              </a:rPr>
              <a:t>素养目标：增强学生的农业认同感与数字素养，激发投身智慧农业发展的责任意识。</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atin typeface="黑体" panose="02010609060101010101" charset="-122"/>
                <a:ea typeface="黑体" panose="02010609060101010101" charset="-122"/>
                <a:cs typeface="+mn-ea"/>
                <a:sym typeface="+mn-lt"/>
              </a:rPr>
              <a:t>第一章</a:t>
            </a:r>
            <a:r>
              <a:rPr lang="zh-CN" altLang="en-US">
                <a:sym typeface="+mn-ea"/>
              </a:rPr>
              <a:t>内容预计</a:t>
            </a:r>
            <a:r>
              <a:rPr lang="en-US" altLang="zh-CN">
                <a:sym typeface="+mn-ea"/>
              </a:rPr>
              <a:t>4</a:t>
            </a:r>
            <a:r>
              <a:rPr lang="zh-CN" altLang="en-US">
                <a:sym typeface="+mn-ea"/>
              </a:rPr>
              <a:t>学时，</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7FBD3-E337-E69F-9F9B-5228B8C122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E35C36-E546-96A7-DD3D-D28F8BC8E6D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288CE67-F833-5577-B8B1-B2BA2CD49D3C}"/>
              </a:ext>
            </a:extLst>
          </p:cNvPr>
          <p:cNvSpPr>
            <a:spLocks noGrp="1"/>
          </p:cNvSpPr>
          <p:nvPr>
            <p:ph type="body" idx="3"/>
          </p:nvPr>
        </p:nvSpPr>
        <p:spPr/>
        <p:txBody>
          <a:bodyPr/>
          <a:lstStyle/>
          <a:p>
            <a:r>
              <a:rPr lang="zh-CN" altLang="en-US"/>
              <a:t>从以下几个方面展开。</a:t>
            </a:r>
          </a:p>
          <a:p>
            <a:r>
              <a:rPr lang="zh-CN" altLang="en-US">
                <a:sym typeface="+mn-ea"/>
              </a:rPr>
              <a:t>知识目标：理解农业从刀耕火种到智慧农业的发展脉络；了解人工智能的发展历程及其在农业中的融合趋势；掌握智慧农业的基本定义与核心特征。</a:t>
            </a:r>
            <a:endParaRPr lang="zh-CN" altLang="en-US"/>
          </a:p>
          <a:p>
            <a:r>
              <a:rPr lang="zh-CN" altLang="en-US">
                <a:sym typeface="+mn-ea"/>
              </a:rPr>
              <a:t>能力目标：具备用时代视角理解农业变迁与技术演进的能力；提升跨学科分析与总结能力。</a:t>
            </a:r>
            <a:endParaRPr lang="zh-CN" altLang="en-US"/>
          </a:p>
          <a:p>
            <a:r>
              <a:rPr lang="zh-CN" altLang="en-US">
                <a:sym typeface="+mn-ea"/>
              </a:rPr>
              <a:t>素养目标：增强学生的农业认同感与数字素养，激发投身智慧农业发展的责任意识。</a:t>
            </a:r>
            <a:endParaRPr lang="zh-CN" altLang="en-US"/>
          </a:p>
          <a:p>
            <a:endParaRPr lang="zh-CN" altLang="en-US"/>
          </a:p>
        </p:txBody>
      </p:sp>
    </p:spTree>
    <p:extLst>
      <p:ext uri="{BB962C8B-B14F-4D97-AF65-F5344CB8AC3E}">
        <p14:creationId xmlns:p14="http://schemas.microsoft.com/office/powerpoint/2010/main" val="427753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tags" Target="../tags/tag1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5.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6.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xml"/><Relationship Id="rId1" Type="http://schemas.openxmlformats.org/officeDocument/2006/relationships/tags" Target="../tags/tag17.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4.xml"/><Relationship Id="rId5" Type="http://schemas.openxmlformats.org/officeDocument/2006/relationships/tags" Target="../tags/tag30.xml"/><Relationship Id="rId4" Type="http://schemas.openxmlformats.org/officeDocument/2006/relationships/tags" Target="../tags/tag2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slideMaster" Target="../slideMasters/slideMaster4.xml"/><Relationship Id="rId5" Type="http://schemas.openxmlformats.org/officeDocument/2006/relationships/tags" Target="../tags/tag35.xml"/><Relationship Id="rId4" Type="http://schemas.openxmlformats.org/officeDocument/2006/relationships/tags" Target="../tags/tag34.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Master" Target="../slideMasters/slideMaster4.xml"/><Relationship Id="rId5" Type="http://schemas.openxmlformats.org/officeDocument/2006/relationships/tags" Target="../tags/tag40.xml"/><Relationship Id="rId4" Type="http://schemas.openxmlformats.org/officeDocument/2006/relationships/tags" Target="../tags/tag39.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slideMaster" Target="../slideMasters/slideMaster4.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4.xml"/><Relationship Id="rId4" Type="http://schemas.openxmlformats.org/officeDocument/2006/relationships/tags" Target="../tags/tag58.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slideMaster" Target="../slideMasters/slideMaster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4.xml"/><Relationship Id="rId5" Type="http://schemas.openxmlformats.org/officeDocument/2006/relationships/tags" Target="../tags/tag72.xml"/><Relationship Id="rId4" Type="http://schemas.openxmlformats.org/officeDocument/2006/relationships/tags" Target="../tags/tag71.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slideMaster" Target="../slideMasters/slideMaster4.xml"/><Relationship Id="rId4" Type="http://schemas.openxmlformats.org/officeDocument/2006/relationships/tags" Target="../tags/tag76.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Master" Target="../slideMasters/slideMaster4.xml"/><Relationship Id="rId5" Type="http://schemas.openxmlformats.org/officeDocument/2006/relationships/tags" Target="../tags/tag81.xml"/><Relationship Id="rId4" Type="http://schemas.openxmlformats.org/officeDocument/2006/relationships/tags" Target="../tags/tag80.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2.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4.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86.xml"/><Relationship Id="rId1" Type="http://schemas.openxmlformats.org/officeDocument/2006/relationships/tags" Target="../tags/tag85.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4"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90.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Rectangle 1"/>
          <p:cNvSpPr/>
          <p:nvPr userDrawn="1"/>
        </p:nvSpPr>
        <p:spPr>
          <a:xfrm>
            <a:off x="0" y="1855470"/>
            <a:ext cx="12192000" cy="2761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cs typeface="+mn-ea"/>
              <a:sym typeface="+mn-lt"/>
            </a:endParaRPr>
          </a:p>
        </p:txBody>
      </p:sp>
      <p:sp>
        <p:nvSpPr>
          <p:cNvPr id="2" name="标题 1"/>
          <p:cNvSpPr>
            <a:spLocks noGrp="1"/>
          </p:cNvSpPr>
          <p:nvPr>
            <p:ph type="ctrTitle" hasCustomPrompt="1"/>
            <p:custDataLst>
              <p:tags r:id="rId1"/>
            </p:custDataLst>
          </p:nvPr>
        </p:nvSpPr>
        <p:spPr>
          <a:xfrm>
            <a:off x="2333625" y="2294890"/>
            <a:ext cx="7828280" cy="1512570"/>
          </a:xfrm>
          <a:prstGeom prst="rect">
            <a:avLst/>
          </a:prstGeom>
        </p:spPr>
        <p:txBody>
          <a:bodyPr lIns="90000" tIns="46800" rIns="90000" bIns="46800" anchor="b" anchorCtr="0">
            <a:normAutofit/>
          </a:bodyPr>
          <a:lstStyle>
            <a:lvl1pPr algn="ctr">
              <a:defRPr sz="7200">
                <a:latin typeface="黑体" panose="02010609060101010101" charset="-122"/>
                <a:ea typeface="黑体" panose="02010609060101010101" charset="-122"/>
              </a:defRPr>
            </a:lvl1pPr>
          </a:lstStyle>
          <a:p>
            <a:r>
              <a:rPr lang="zh-CN" altLang="en-US" dirty="0"/>
              <a:t>编辑母版标题样式</a:t>
            </a:r>
          </a:p>
        </p:txBody>
      </p:sp>
      <p:grpSp>
        <p:nvGrpSpPr>
          <p:cNvPr id="41" name="组合 40"/>
          <p:cNvGrpSpPr/>
          <p:nvPr userDrawn="1"/>
        </p:nvGrpSpPr>
        <p:grpSpPr>
          <a:xfrm rot="16200000">
            <a:off x="1997710" y="-742950"/>
            <a:ext cx="145415" cy="4141470"/>
            <a:chOff x="1393371" y="-1243804"/>
            <a:chExt cx="145143" cy="4817947"/>
          </a:xfrm>
          <a:solidFill>
            <a:srgbClr val="03553F"/>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grpSp>
        <p:nvGrpSpPr>
          <p:cNvPr id="5" name="组合 4"/>
          <p:cNvGrpSpPr/>
          <p:nvPr userDrawn="1"/>
        </p:nvGrpSpPr>
        <p:grpSpPr>
          <a:xfrm rot="5400000">
            <a:off x="10439312" y="4487126"/>
            <a:ext cx="145143" cy="3360234"/>
            <a:chOff x="1393371" y="213909"/>
            <a:chExt cx="145143" cy="3360234"/>
          </a:xfrm>
          <a:solidFill>
            <a:srgbClr val="03553F"/>
          </a:solidFill>
        </p:grpSpPr>
        <p:cxnSp>
          <p:nvCxnSpPr>
            <p:cNvPr id="4" name="直接连接符 3"/>
            <p:cNvCxnSpPr/>
            <p:nvPr/>
          </p:nvCxnSpPr>
          <p:spPr>
            <a:xfrm rot="16200000" flipH="1">
              <a:off x="-141603" y="1821455"/>
              <a:ext cx="3215091" cy="0"/>
            </a:xfrm>
            <a:prstGeom prst="line">
              <a:avLst/>
            </a:prstGeom>
            <a:grpFill/>
            <a:ln w="38100">
              <a:solidFill>
                <a:srgbClr val="00573F"/>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8" name="标题 7"/>
          <p:cNvSpPr>
            <a:spLocks noGrp="1"/>
          </p:cNvSpPr>
          <p:nvPr>
            <p:ph type="title" hasCustomPrompt="1"/>
            <p:custDataLst>
              <p:tags r:id="rId1"/>
            </p:custDataLst>
          </p:nvPr>
        </p:nvSpPr>
        <p:spPr>
          <a:xfrm>
            <a:off x="3312795" y="3007995"/>
            <a:ext cx="5817235" cy="1018540"/>
          </a:xfrm>
          <a:prstGeom prst="rect">
            <a:avLst/>
          </a:prstGeom>
        </p:spPr>
        <p:txBody>
          <a:bodyPr vert="horz" lIns="90000" tIns="46800" rIns="90000" bIns="46800" rtlCol="0" anchor="t" anchorCtr="0">
            <a:normAutofit/>
          </a:bodyPr>
          <a:lstStyle>
            <a:lvl1pPr algn="ctr">
              <a:defRPr sz="3600" b="1">
                <a:latin typeface="黑体" panose="02010609060101010101" charset="-122"/>
                <a:ea typeface="黑体" panose="02010609060101010101" charset="-122"/>
              </a:defRPr>
            </a:lvl1pPr>
          </a:lstStyle>
          <a:p>
            <a:pPr lvl="0"/>
            <a:r>
              <a:rPr lang="zh-CN" altLang="en-US"/>
              <a:t>单击此处编辑标题</a:t>
            </a:r>
          </a:p>
        </p:txBody>
      </p:sp>
      <p:grpSp>
        <p:nvGrpSpPr>
          <p:cNvPr id="9" name="组合 8"/>
          <p:cNvGrpSpPr/>
          <p:nvPr userDrawn="1"/>
        </p:nvGrpSpPr>
        <p:grpSpPr>
          <a:xfrm rot="5400000">
            <a:off x="1813521" y="2341994"/>
            <a:ext cx="145143" cy="2066864"/>
            <a:chOff x="1393371" y="1507279"/>
            <a:chExt cx="145143" cy="2066864"/>
          </a:xfrm>
          <a:solidFill>
            <a:srgbClr val="03553F"/>
          </a:solidFill>
        </p:grpSpPr>
        <p:cxnSp>
          <p:nvCxnSpPr>
            <p:cNvPr id="10" name="直接连接符 9"/>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grpSp>
        <p:nvGrpSpPr>
          <p:cNvPr id="15" name="组合 14"/>
          <p:cNvGrpSpPr/>
          <p:nvPr userDrawn="1"/>
        </p:nvGrpSpPr>
        <p:grpSpPr>
          <a:xfrm rot="16200000">
            <a:off x="10233335" y="2341994"/>
            <a:ext cx="145143" cy="2066864"/>
            <a:chOff x="1393371" y="1507279"/>
            <a:chExt cx="145143" cy="2066864"/>
          </a:xfrm>
          <a:solidFill>
            <a:srgbClr val="03553F"/>
          </a:solidFill>
        </p:grpSpPr>
        <p:cxnSp>
          <p:nvCxnSpPr>
            <p:cNvPr id="16" name="直接连接符 15"/>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252730" y="229235"/>
            <a:ext cx="4277995" cy="705485"/>
          </a:xfrm>
          <a:prstGeom prst="rect">
            <a:avLst/>
          </a:prstGeom>
        </p:spPr>
        <p:txBody>
          <a:bodyPr vert="horz" lIns="90000" tIns="46800" rIns="90000" bIns="46800" rtlCol="0" anchor="ctr" anchorCtr="0">
            <a:normAutofit/>
          </a:bodyPr>
          <a:lstStyle>
            <a:lvl1pPr>
              <a:defRPr>
                <a:latin typeface="黑体" panose="02010609060101010101" charset="-122"/>
                <a:ea typeface="黑体" panose="02010609060101010101" charset="-122"/>
              </a:defRPr>
            </a:lvl1pPr>
          </a:lstStyle>
          <a:p>
            <a:pPr lvl="0"/>
            <a:r>
              <a:rPr lang="zh-CN" altLang="en-US"/>
              <a:t>编辑母版标题样式</a:t>
            </a:r>
          </a:p>
        </p:txBody>
      </p:sp>
      <p:sp>
        <p:nvSpPr>
          <p:cNvPr id="3" name="内容占位符 2"/>
          <p:cNvSpPr>
            <a:spLocks noGrp="1"/>
          </p:cNvSpPr>
          <p:nvPr>
            <p:ph idx="1"/>
            <p:custDataLst>
              <p:tags r:id="rId2"/>
            </p:custDataLst>
          </p:nvPr>
        </p:nvSpPr>
        <p:spPr>
          <a:xfrm>
            <a:off x="608330" y="1350645"/>
            <a:ext cx="10968990" cy="4545965"/>
          </a:xfrm>
          <a:prstGeom prst="rect">
            <a:avLst/>
          </a:prstGeom>
        </p:spPr>
        <p:txBody>
          <a:bodyPr vert="horz" lIns="90000" tIns="46800" rIns="90000" bIns="46800" rtlCol="0">
            <a:normAutofit/>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grpSp>
        <p:nvGrpSpPr>
          <p:cNvPr id="41" name="组合 40"/>
          <p:cNvGrpSpPr/>
          <p:nvPr userDrawn="1"/>
        </p:nvGrpSpPr>
        <p:grpSpPr>
          <a:xfrm rot="16200000">
            <a:off x="2336402" y="-1401400"/>
            <a:ext cx="145143" cy="4817947"/>
            <a:chOff x="1393371" y="-1243804"/>
            <a:chExt cx="145143" cy="4817947"/>
          </a:xfrm>
          <a:solidFill>
            <a:srgbClr val="364765"/>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solidFill>
              <a:srgbClr val="03553F"/>
            </a:solid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14" name="组合 13"/>
          <p:cNvGrpSpPr/>
          <p:nvPr userDrawn="1"/>
        </p:nvGrpSpPr>
        <p:grpSpPr>
          <a:xfrm>
            <a:off x="2823814" y="3193868"/>
            <a:ext cx="1028700" cy="190500"/>
            <a:chOff x="2305050" y="1847850"/>
            <a:chExt cx="1028700" cy="190500"/>
          </a:xfrm>
        </p:grpSpPr>
        <p:cxnSp>
          <p:nvCxnSpPr>
            <p:cNvPr id="15" name="直接连接符 14"/>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9" name="组合 18"/>
          <p:cNvGrpSpPr/>
          <p:nvPr userDrawn="1"/>
        </p:nvGrpSpPr>
        <p:grpSpPr>
          <a:xfrm rot="10800000">
            <a:off x="8339486" y="3193868"/>
            <a:ext cx="1028700" cy="190500"/>
            <a:chOff x="2305050" y="1847850"/>
            <a:chExt cx="1028700" cy="190500"/>
          </a:xfrm>
        </p:grpSpPr>
        <p:cxnSp>
          <p:nvCxnSpPr>
            <p:cNvPr id="20" name="直接连接符 19"/>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 name="标题 21"/>
          <p:cNvSpPr>
            <a:spLocks noGrp="1"/>
          </p:cNvSpPr>
          <p:nvPr>
            <p:ph type="title" hasCustomPrompt="1"/>
            <p:custDataLst>
              <p:tags r:id="rId1"/>
            </p:custDataLst>
          </p:nvPr>
        </p:nvSpPr>
        <p:spPr>
          <a:xfrm>
            <a:off x="3906520" y="2524760"/>
            <a:ext cx="4438015" cy="1501775"/>
          </a:xfrm>
          <a:prstGeom prst="rect">
            <a:avLst/>
          </a:prstGeom>
        </p:spPr>
        <p:txBody>
          <a:bodyPr vert="horz" lIns="90000" tIns="46800" rIns="90000" bIns="46800" rtlCol="0" anchor="t" anchorCtr="0">
            <a:noAutofit/>
          </a:bodyPr>
          <a:lstStyle>
            <a:lvl1pPr algn="ctr">
              <a:defRPr sz="6000" b="1">
                <a:latin typeface="宋体" panose="02010600030101010101" pitchFamily="2" charset="-122"/>
                <a:ea typeface="宋体" panose="02010600030101010101" pitchFamily="2" charset="-122"/>
              </a:defRPr>
            </a:lvl1pPr>
          </a:lstStyle>
          <a:p>
            <a:pPr lvl="0"/>
            <a:r>
              <a:rPr lang="zh-CN" altLang="en-US"/>
              <a:t>单击此处编辑标题</a:t>
            </a:r>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Rectangle 1"/>
          <p:cNvSpPr/>
          <p:nvPr userDrawn="1"/>
        </p:nvSpPr>
        <p:spPr>
          <a:xfrm>
            <a:off x="0" y="1855470"/>
            <a:ext cx="12192000" cy="2761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cs typeface="+mn-ea"/>
              <a:sym typeface="+mn-lt"/>
            </a:endParaRPr>
          </a:p>
        </p:txBody>
      </p:sp>
      <p:sp>
        <p:nvSpPr>
          <p:cNvPr id="2" name="标题 1"/>
          <p:cNvSpPr>
            <a:spLocks noGrp="1"/>
          </p:cNvSpPr>
          <p:nvPr>
            <p:ph type="ctrTitle" hasCustomPrompt="1"/>
            <p:custDataLst>
              <p:tags r:id="rId1"/>
            </p:custDataLst>
          </p:nvPr>
        </p:nvSpPr>
        <p:spPr>
          <a:xfrm>
            <a:off x="2333625" y="2294890"/>
            <a:ext cx="7828280" cy="1512570"/>
          </a:xfrm>
          <a:prstGeom prst="rect">
            <a:avLst/>
          </a:prstGeom>
        </p:spPr>
        <p:txBody>
          <a:bodyPr lIns="90000" tIns="46800" rIns="90000" bIns="46800" anchor="b" anchorCtr="0">
            <a:normAutofit/>
          </a:bodyPr>
          <a:lstStyle>
            <a:lvl1pPr algn="ctr">
              <a:defRPr sz="7200">
                <a:latin typeface="黑体" panose="02010609060101010101" charset="-122"/>
                <a:ea typeface="黑体" panose="02010609060101010101" charset="-122"/>
              </a:defRPr>
            </a:lvl1pPr>
          </a:lstStyle>
          <a:p>
            <a:r>
              <a:rPr lang="zh-CN" altLang="en-US" dirty="0"/>
              <a:t>编辑母版标题样式</a:t>
            </a:r>
          </a:p>
        </p:txBody>
      </p:sp>
      <p:grpSp>
        <p:nvGrpSpPr>
          <p:cNvPr id="41" name="组合 40"/>
          <p:cNvGrpSpPr/>
          <p:nvPr userDrawn="1"/>
        </p:nvGrpSpPr>
        <p:grpSpPr>
          <a:xfrm rot="16200000">
            <a:off x="1997710" y="-742950"/>
            <a:ext cx="145415" cy="4141470"/>
            <a:chOff x="1393371" y="-1243804"/>
            <a:chExt cx="145143" cy="4817947"/>
          </a:xfrm>
          <a:solidFill>
            <a:srgbClr val="03553F"/>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grpSp>
        <p:nvGrpSpPr>
          <p:cNvPr id="5" name="组合 4"/>
          <p:cNvGrpSpPr/>
          <p:nvPr userDrawn="1"/>
        </p:nvGrpSpPr>
        <p:grpSpPr>
          <a:xfrm rot="5400000">
            <a:off x="10439312" y="4487126"/>
            <a:ext cx="145143" cy="3360234"/>
            <a:chOff x="1393371" y="213909"/>
            <a:chExt cx="145143" cy="3360234"/>
          </a:xfrm>
          <a:solidFill>
            <a:srgbClr val="03553F"/>
          </a:solidFill>
        </p:grpSpPr>
        <p:cxnSp>
          <p:nvCxnSpPr>
            <p:cNvPr id="4" name="直接连接符 3"/>
            <p:cNvCxnSpPr/>
            <p:nvPr/>
          </p:nvCxnSpPr>
          <p:spPr>
            <a:xfrm rot="16200000" flipH="1">
              <a:off x="-141603" y="1821455"/>
              <a:ext cx="3215091" cy="0"/>
            </a:xfrm>
            <a:prstGeom prst="line">
              <a:avLst/>
            </a:prstGeom>
            <a:grpFill/>
            <a:ln w="38100">
              <a:solidFill>
                <a:srgbClr val="00573F"/>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extLst>
      <p:ext uri="{BB962C8B-B14F-4D97-AF65-F5344CB8AC3E}">
        <p14:creationId xmlns:p14="http://schemas.microsoft.com/office/powerpoint/2010/main" val="228662405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8" name="标题 7"/>
          <p:cNvSpPr>
            <a:spLocks noGrp="1"/>
          </p:cNvSpPr>
          <p:nvPr>
            <p:ph type="title" hasCustomPrompt="1"/>
            <p:custDataLst>
              <p:tags r:id="rId1"/>
            </p:custDataLst>
          </p:nvPr>
        </p:nvSpPr>
        <p:spPr>
          <a:xfrm>
            <a:off x="3312795" y="3007995"/>
            <a:ext cx="5817235" cy="1018540"/>
          </a:xfrm>
          <a:prstGeom prst="rect">
            <a:avLst/>
          </a:prstGeom>
        </p:spPr>
        <p:txBody>
          <a:bodyPr vert="horz" lIns="90000" tIns="46800" rIns="90000" bIns="46800" rtlCol="0" anchor="t" anchorCtr="0">
            <a:normAutofit/>
          </a:bodyPr>
          <a:lstStyle>
            <a:lvl1pPr algn="ctr">
              <a:defRPr sz="3600" b="1">
                <a:latin typeface="黑体" panose="02010609060101010101" charset="-122"/>
                <a:ea typeface="黑体" panose="02010609060101010101" charset="-122"/>
              </a:defRPr>
            </a:lvl1pPr>
          </a:lstStyle>
          <a:p>
            <a:pPr lvl="0"/>
            <a:r>
              <a:rPr lang="zh-CN" altLang="en-US"/>
              <a:t>单击此处编辑标题</a:t>
            </a:r>
          </a:p>
        </p:txBody>
      </p:sp>
      <p:grpSp>
        <p:nvGrpSpPr>
          <p:cNvPr id="9" name="组合 8"/>
          <p:cNvGrpSpPr/>
          <p:nvPr userDrawn="1"/>
        </p:nvGrpSpPr>
        <p:grpSpPr>
          <a:xfrm rot="5400000">
            <a:off x="1813521" y="2341994"/>
            <a:ext cx="145143" cy="2066864"/>
            <a:chOff x="1393371" y="1507279"/>
            <a:chExt cx="145143" cy="2066864"/>
          </a:xfrm>
          <a:solidFill>
            <a:srgbClr val="03553F"/>
          </a:solidFill>
        </p:grpSpPr>
        <p:cxnSp>
          <p:nvCxnSpPr>
            <p:cNvPr id="10" name="直接连接符 9"/>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grpSp>
        <p:nvGrpSpPr>
          <p:cNvPr id="15" name="组合 14"/>
          <p:cNvGrpSpPr/>
          <p:nvPr userDrawn="1"/>
        </p:nvGrpSpPr>
        <p:grpSpPr>
          <a:xfrm rot="16200000">
            <a:off x="10233335" y="2341994"/>
            <a:ext cx="145143" cy="2066864"/>
            <a:chOff x="1393371" y="1507279"/>
            <a:chExt cx="145143" cy="2066864"/>
          </a:xfrm>
          <a:solidFill>
            <a:srgbClr val="03553F"/>
          </a:solidFill>
        </p:grpSpPr>
        <p:cxnSp>
          <p:nvCxnSpPr>
            <p:cNvPr id="16" name="直接连接符 15"/>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spTree>
    <p:extLst>
      <p:ext uri="{BB962C8B-B14F-4D97-AF65-F5344CB8AC3E}">
        <p14:creationId xmlns:p14="http://schemas.microsoft.com/office/powerpoint/2010/main" val="2003874389"/>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8966" y="229235"/>
            <a:ext cx="4361760" cy="705485"/>
          </a:xfrm>
          <a:prstGeom prst="rect">
            <a:avLst/>
          </a:prstGeom>
        </p:spPr>
        <p:txBody>
          <a:bodyPr vert="horz" lIns="90000" tIns="46800" rIns="90000" bIns="46800" rtlCol="0" anchor="ctr" anchorCtr="0">
            <a:normAutofit/>
          </a:bodyPr>
          <a:lstStyle>
            <a:lvl1pPr algn="ctr">
              <a:defRPr>
                <a:latin typeface="黑体" panose="02010609060101010101" charset="-122"/>
                <a:ea typeface="黑体" panose="02010609060101010101" charset="-122"/>
              </a:defRPr>
            </a:lvl1pPr>
          </a:lstStyle>
          <a:p>
            <a:pPr lvl="0"/>
            <a:r>
              <a:rPr lang="zh-CN" altLang="en-US" dirty="0"/>
              <a:t>编辑母版标题样式</a:t>
            </a:r>
          </a:p>
        </p:txBody>
      </p:sp>
      <p:sp>
        <p:nvSpPr>
          <p:cNvPr id="3" name="内容占位符 2"/>
          <p:cNvSpPr>
            <a:spLocks noGrp="1"/>
          </p:cNvSpPr>
          <p:nvPr>
            <p:ph idx="1"/>
            <p:custDataLst>
              <p:tags r:id="rId2"/>
            </p:custDataLst>
          </p:nvPr>
        </p:nvSpPr>
        <p:spPr>
          <a:xfrm>
            <a:off x="608330" y="1350645"/>
            <a:ext cx="10968990" cy="4545965"/>
          </a:xfrm>
          <a:prstGeom prst="rect">
            <a:avLst/>
          </a:prstGeom>
        </p:spPr>
        <p:txBody>
          <a:bodyPr vert="horz" lIns="90000" tIns="46800" rIns="90000" bIns="46800" rtlCol="0">
            <a:normAutofit/>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grpSp>
        <p:nvGrpSpPr>
          <p:cNvPr id="41" name="组合 40"/>
          <p:cNvGrpSpPr/>
          <p:nvPr userDrawn="1"/>
        </p:nvGrpSpPr>
        <p:grpSpPr>
          <a:xfrm rot="16200000">
            <a:off x="2336402" y="-1401400"/>
            <a:ext cx="145143" cy="4817947"/>
            <a:chOff x="1393371" y="-1243804"/>
            <a:chExt cx="145143" cy="4817947"/>
          </a:xfrm>
          <a:solidFill>
            <a:srgbClr val="364765"/>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solidFill>
              <a:srgbClr val="03553F"/>
            </a:solid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
        <p:nvSpPr>
          <p:cNvPr id="4" name="AutoShape 2">
            <a:extLst>
              <a:ext uri="{FF2B5EF4-FFF2-40B4-BE49-F238E27FC236}">
                <a16:creationId xmlns:a16="http://schemas.microsoft.com/office/drawing/2014/main" id="{B4717D10-A366-9CC8-48A9-48EBB26ADE42}"/>
              </a:ext>
            </a:extLst>
          </p:cNvPr>
          <p:cNvSpPr>
            <a:spLocks noChangeAspect="1" noChangeArrowheads="1"/>
          </p:cNvSpPr>
          <p:nvPr userDrawn="1"/>
        </p:nvSpPr>
        <p:spPr bwMode="auto">
          <a:xfrm>
            <a:off x="8538425" y="40432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77892153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14" name="组合 13"/>
          <p:cNvGrpSpPr/>
          <p:nvPr userDrawn="1"/>
        </p:nvGrpSpPr>
        <p:grpSpPr>
          <a:xfrm>
            <a:off x="2823814" y="3193868"/>
            <a:ext cx="1028700" cy="190500"/>
            <a:chOff x="2305050" y="1847850"/>
            <a:chExt cx="1028700" cy="190500"/>
          </a:xfrm>
        </p:grpSpPr>
        <p:cxnSp>
          <p:nvCxnSpPr>
            <p:cNvPr id="15" name="直接连接符 14"/>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9" name="组合 18"/>
          <p:cNvGrpSpPr/>
          <p:nvPr userDrawn="1"/>
        </p:nvGrpSpPr>
        <p:grpSpPr>
          <a:xfrm rot="10800000">
            <a:off x="8339486" y="3193868"/>
            <a:ext cx="1028700" cy="190500"/>
            <a:chOff x="2305050" y="1847850"/>
            <a:chExt cx="1028700" cy="190500"/>
          </a:xfrm>
        </p:grpSpPr>
        <p:cxnSp>
          <p:nvCxnSpPr>
            <p:cNvPr id="20" name="直接连接符 19"/>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 name="标题 21"/>
          <p:cNvSpPr>
            <a:spLocks noGrp="1"/>
          </p:cNvSpPr>
          <p:nvPr>
            <p:ph type="title" hasCustomPrompt="1"/>
            <p:custDataLst>
              <p:tags r:id="rId1"/>
            </p:custDataLst>
          </p:nvPr>
        </p:nvSpPr>
        <p:spPr>
          <a:xfrm>
            <a:off x="3906520" y="2524760"/>
            <a:ext cx="4438015" cy="1501775"/>
          </a:xfrm>
          <a:prstGeom prst="rect">
            <a:avLst/>
          </a:prstGeom>
        </p:spPr>
        <p:txBody>
          <a:bodyPr vert="horz" lIns="90000" tIns="46800" rIns="90000" bIns="46800" rtlCol="0" anchor="t" anchorCtr="0">
            <a:noAutofit/>
          </a:bodyPr>
          <a:lstStyle>
            <a:lvl1pPr algn="ctr">
              <a:defRPr sz="6000" b="1">
                <a:latin typeface="宋体" panose="02010600030101010101" pitchFamily="2" charset="-122"/>
                <a:ea typeface="宋体" panose="02010600030101010101" pitchFamily="2" charset="-122"/>
              </a:defRPr>
            </a:lvl1pPr>
          </a:lstStyle>
          <a:p>
            <a:pPr lvl="0"/>
            <a:r>
              <a:rPr lang="zh-CN" altLang="en-US"/>
              <a:t>单击此处编辑标题</a:t>
            </a:r>
          </a:p>
        </p:txBody>
      </p:sp>
    </p:spTree>
    <p:extLst>
      <p:ext uri="{BB962C8B-B14F-4D97-AF65-F5344CB8AC3E}">
        <p14:creationId xmlns:p14="http://schemas.microsoft.com/office/powerpoint/2010/main" val="4014877817"/>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6" name="矩形 5"/>
          <p:cNvSpPr/>
          <p:nvPr userDrawn="1"/>
        </p:nvSpPr>
        <p:spPr>
          <a:xfrm>
            <a:off x="0" y="-15963"/>
            <a:ext cx="12192000" cy="701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cxnSp>
        <p:nvCxnSpPr>
          <p:cNvPr id="9" name="直接连接符 8"/>
          <p:cNvCxnSpPr/>
          <p:nvPr userDrawn="1"/>
        </p:nvCxnSpPr>
        <p:spPr>
          <a:xfrm>
            <a:off x="0" y="740508"/>
            <a:ext cx="12192000" cy="8996"/>
          </a:xfrm>
          <a:prstGeom prst="line">
            <a:avLst/>
          </a:prstGeom>
          <a:ln w="31750">
            <a:gradFill flip="none" rotWithShape="1">
              <a:gsLst>
                <a:gs pos="0">
                  <a:schemeClr val="accent1"/>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3" hasCustomPrompt="1"/>
          </p:nvPr>
        </p:nvSpPr>
        <p:spPr>
          <a:xfrm>
            <a:off x="508000" y="195218"/>
            <a:ext cx="2618739" cy="701763"/>
          </a:xfrm>
        </p:spPr>
        <p:txBody>
          <a:bodyPr lIns="0" tIns="0" rIns="0" bIns="0">
            <a:normAutofit/>
          </a:bodyPr>
          <a:lstStyle>
            <a:lvl1pPr marL="0" indent="0">
              <a:buNone/>
              <a:defRPr sz="2800" b="1">
                <a:solidFill>
                  <a:schemeClr val="bg1"/>
                </a:soli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单击插入文字</a:t>
            </a:r>
          </a:p>
        </p:txBody>
      </p:sp>
    </p:spTree>
    <p:extLst>
      <p:ext uri="{BB962C8B-B14F-4D97-AF65-F5344CB8AC3E}">
        <p14:creationId xmlns:p14="http://schemas.microsoft.com/office/powerpoint/2010/main" val="1484760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235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65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内容占位符 2"/>
          <p:cNvSpPr>
            <a:spLocks noGrp="1"/>
          </p:cNvSpPr>
          <p:nvPr>
            <p:ph idx="1"/>
          </p:nvPr>
        </p:nvSpPr>
        <p:spPr>
          <a:xfrm>
            <a:off x="573171" y="1435139"/>
            <a:ext cx="5522829" cy="4351338"/>
          </a:xfrm>
          <a:prstGeom prst="rect">
            <a:avLst/>
          </a:prstGeom>
        </p:spPr>
        <p:txBody>
          <a:bodyPr/>
          <a:lstStyle>
            <a:lvl1pPr>
              <a:lnSpc>
                <a:spcPct val="100000"/>
              </a:lnSpc>
              <a:defRPr sz="2000">
                <a:latin typeface="微软雅黑" panose="020B0503020204020204" charset="-122"/>
                <a:ea typeface="微软雅黑" panose="020B0503020204020204" charset="-122"/>
              </a:defRPr>
            </a:lvl1pPr>
            <a:lvl2pPr>
              <a:defRPr sz="1800">
                <a:latin typeface="微软雅黑" panose="020B0503020204020204" charset="-122"/>
                <a:ea typeface="微软雅黑" panose="020B0503020204020204" charset="-122"/>
              </a:defRPr>
            </a:lvl2pPr>
            <a:lvl3pPr>
              <a:defRPr sz="1600">
                <a:latin typeface="微软雅黑" panose="020B0503020204020204" charset="-122"/>
                <a:ea typeface="微软雅黑" panose="020B0503020204020204" charset="-122"/>
              </a:defRPr>
            </a:lvl3pPr>
            <a:lvl4pPr>
              <a:defRPr sz="1400">
                <a:latin typeface="微软雅黑" panose="020B0503020204020204" charset="-122"/>
                <a:ea typeface="微软雅黑" panose="020B0503020204020204" charset="-122"/>
              </a:defRPr>
            </a:lvl4pPr>
            <a:lvl5pPr>
              <a:defRPr sz="120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标题 1"/>
          <p:cNvSpPr>
            <a:spLocks noGrp="1"/>
          </p:cNvSpPr>
          <p:nvPr>
            <p:ph type="title"/>
          </p:nvPr>
        </p:nvSpPr>
        <p:spPr>
          <a:xfrm>
            <a:off x="341657" y="497149"/>
            <a:ext cx="10515600" cy="861646"/>
          </a:xfrm>
          <a:prstGeom prst="rect">
            <a:avLst/>
          </a:prstGeo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3097342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标题 1"/>
          <p:cNvSpPr>
            <a:spLocks noGrp="1"/>
          </p:cNvSpPr>
          <p:nvPr>
            <p:ph type="title"/>
          </p:nvPr>
        </p:nvSpPr>
        <p:spPr>
          <a:xfrm>
            <a:off x="341657" y="497149"/>
            <a:ext cx="10515600" cy="861646"/>
          </a:xfrm>
          <a:prstGeom prst="rect">
            <a:avLst/>
          </a:prstGeo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872769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7" name="内容占位符 2"/>
          <p:cNvSpPr>
            <a:spLocks noGrp="1"/>
          </p:cNvSpPr>
          <p:nvPr>
            <p:ph idx="1"/>
          </p:nvPr>
        </p:nvSpPr>
        <p:spPr>
          <a:xfrm>
            <a:off x="573171" y="1435139"/>
            <a:ext cx="10515600" cy="3247697"/>
          </a:xfrm>
          <a:prstGeom prst="rect">
            <a:avLst/>
          </a:prstGeom>
        </p:spPr>
        <p:txBody>
          <a:bodyPr/>
          <a:lstStyle>
            <a:lvl1pPr>
              <a:lnSpc>
                <a:spcPct val="100000"/>
              </a:lnSpc>
              <a:defRPr sz="2000">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标题 1"/>
          <p:cNvSpPr>
            <a:spLocks noGrp="1"/>
          </p:cNvSpPr>
          <p:nvPr>
            <p:ph type="title"/>
          </p:nvPr>
        </p:nvSpPr>
        <p:spPr>
          <a:xfrm>
            <a:off x="341657" y="497149"/>
            <a:ext cx="10515600" cy="861646"/>
          </a:xfrm>
          <a:prstGeom prst="rect">
            <a:avLst/>
          </a:prstGeo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670785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7" name="内容占位符 2"/>
          <p:cNvSpPr>
            <a:spLocks noGrp="1"/>
          </p:cNvSpPr>
          <p:nvPr>
            <p:ph idx="1"/>
          </p:nvPr>
        </p:nvSpPr>
        <p:spPr>
          <a:xfrm>
            <a:off x="573171" y="1435139"/>
            <a:ext cx="5522829" cy="4351338"/>
          </a:xfrm>
          <a:prstGeom prst="rect">
            <a:avLst/>
          </a:prstGeom>
        </p:spPr>
        <p:txBody>
          <a:bodyPr/>
          <a:lstStyle>
            <a:lvl1pPr>
              <a:lnSpc>
                <a:spcPct val="100000"/>
              </a:lnSpc>
              <a:defRPr sz="2000">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8" name="灯片编号占位符 6"/>
          <p:cNvSpPr>
            <a:spLocks noGrp="1"/>
          </p:cNvSpPr>
          <p:nvPr>
            <p:ph type="sldNum" sz="quarter" idx="10"/>
          </p:nvPr>
        </p:nvSpPr>
        <p:spPr>
          <a:xfrm>
            <a:off x="9202609" y="6372317"/>
            <a:ext cx="2743200" cy="365125"/>
          </a:xfrm>
        </p:spPr>
        <p:txBody>
          <a:bodyPr/>
          <a:lstStyle/>
          <a:p>
            <a:fld id="{68AA89EC-6B38-409E-BD23-99513F836D0A}" type="slidenum">
              <a:rPr lang="zh-CN" altLang="en-US" smtClean="0"/>
              <a:t>‹#›</a:t>
            </a:fld>
            <a:endParaRPr lang="zh-CN" altLang="en-US"/>
          </a:p>
        </p:txBody>
      </p:sp>
      <p:sp>
        <p:nvSpPr>
          <p:cNvPr id="9" name="标题 1"/>
          <p:cNvSpPr>
            <a:spLocks noGrp="1"/>
          </p:cNvSpPr>
          <p:nvPr>
            <p:ph type="title"/>
          </p:nvPr>
        </p:nvSpPr>
        <p:spPr>
          <a:xfrm>
            <a:off x="341657" y="497149"/>
            <a:ext cx="10515600" cy="861646"/>
          </a:xfrm>
          <a:prstGeom prst="rect">
            <a:avLst/>
          </a:prstGeom>
        </p:spPr>
        <p:txBody>
          <a:bodyPr/>
          <a:lstStyle>
            <a:lvl1pPr>
              <a:defRPr b="0">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911205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Rectangle 1"/>
          <p:cNvSpPr/>
          <p:nvPr userDrawn="1"/>
        </p:nvSpPr>
        <p:spPr>
          <a:xfrm>
            <a:off x="0" y="1855470"/>
            <a:ext cx="12192000" cy="2761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cs typeface="+mn-ea"/>
              <a:sym typeface="+mn-lt"/>
            </a:endParaRPr>
          </a:p>
        </p:txBody>
      </p:sp>
      <p:sp>
        <p:nvSpPr>
          <p:cNvPr id="2" name="标题 1"/>
          <p:cNvSpPr>
            <a:spLocks noGrp="1"/>
          </p:cNvSpPr>
          <p:nvPr>
            <p:ph type="ctrTitle" hasCustomPrompt="1"/>
            <p:custDataLst>
              <p:tags r:id="rId1"/>
            </p:custDataLst>
          </p:nvPr>
        </p:nvSpPr>
        <p:spPr>
          <a:xfrm>
            <a:off x="2333625" y="2294890"/>
            <a:ext cx="7828280" cy="1512570"/>
          </a:xfrm>
          <a:prstGeom prst="rect">
            <a:avLst/>
          </a:prstGeom>
        </p:spPr>
        <p:txBody>
          <a:bodyPr lIns="90000" tIns="46800" rIns="90000" bIns="46800" anchor="b" anchorCtr="0">
            <a:normAutofit/>
          </a:bodyPr>
          <a:lstStyle>
            <a:lvl1pPr algn="ctr">
              <a:defRPr sz="7200">
                <a:latin typeface="黑体" panose="02010609060101010101" charset="-122"/>
                <a:ea typeface="黑体" panose="02010609060101010101" charset="-122"/>
              </a:defRPr>
            </a:lvl1pPr>
          </a:lstStyle>
          <a:p>
            <a:r>
              <a:rPr lang="zh-CN" altLang="en-US" dirty="0"/>
              <a:t>编辑母版标题样式</a:t>
            </a:r>
          </a:p>
        </p:txBody>
      </p:sp>
      <p:grpSp>
        <p:nvGrpSpPr>
          <p:cNvPr id="41" name="组合 40"/>
          <p:cNvGrpSpPr/>
          <p:nvPr userDrawn="1"/>
        </p:nvGrpSpPr>
        <p:grpSpPr>
          <a:xfrm rot="16200000">
            <a:off x="1997710" y="-742950"/>
            <a:ext cx="145415" cy="4141470"/>
            <a:chOff x="1393371" y="-1243804"/>
            <a:chExt cx="145143" cy="4817947"/>
          </a:xfrm>
          <a:solidFill>
            <a:srgbClr val="03553F"/>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grpSp>
        <p:nvGrpSpPr>
          <p:cNvPr id="5" name="组合 4"/>
          <p:cNvGrpSpPr/>
          <p:nvPr userDrawn="1"/>
        </p:nvGrpSpPr>
        <p:grpSpPr>
          <a:xfrm rot="5400000">
            <a:off x="10439312" y="4487126"/>
            <a:ext cx="145143" cy="3360234"/>
            <a:chOff x="1393371" y="213909"/>
            <a:chExt cx="145143" cy="3360234"/>
          </a:xfrm>
          <a:solidFill>
            <a:srgbClr val="03553F"/>
          </a:solidFill>
        </p:grpSpPr>
        <p:cxnSp>
          <p:nvCxnSpPr>
            <p:cNvPr id="4" name="直接连接符 3"/>
            <p:cNvCxnSpPr/>
            <p:nvPr/>
          </p:nvCxnSpPr>
          <p:spPr>
            <a:xfrm rot="16200000" flipH="1">
              <a:off x="-141603" y="1821455"/>
              <a:ext cx="3215091" cy="0"/>
            </a:xfrm>
            <a:prstGeom prst="line">
              <a:avLst/>
            </a:prstGeom>
            <a:grpFill/>
            <a:ln w="38100">
              <a:solidFill>
                <a:srgbClr val="00573F"/>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extLst>
      <p:ext uri="{BB962C8B-B14F-4D97-AF65-F5344CB8AC3E}">
        <p14:creationId xmlns:p14="http://schemas.microsoft.com/office/powerpoint/2010/main" val="2521041101"/>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8" name="标题 7"/>
          <p:cNvSpPr>
            <a:spLocks noGrp="1"/>
          </p:cNvSpPr>
          <p:nvPr>
            <p:ph type="title" hasCustomPrompt="1"/>
            <p:custDataLst>
              <p:tags r:id="rId1"/>
            </p:custDataLst>
          </p:nvPr>
        </p:nvSpPr>
        <p:spPr>
          <a:xfrm>
            <a:off x="3312795" y="3007995"/>
            <a:ext cx="5817235" cy="1018540"/>
          </a:xfrm>
          <a:prstGeom prst="rect">
            <a:avLst/>
          </a:prstGeom>
        </p:spPr>
        <p:txBody>
          <a:bodyPr vert="horz" lIns="90000" tIns="46800" rIns="90000" bIns="46800" rtlCol="0" anchor="t" anchorCtr="0">
            <a:normAutofit/>
          </a:bodyPr>
          <a:lstStyle>
            <a:lvl1pPr algn="ctr">
              <a:defRPr sz="3600" b="1">
                <a:latin typeface="黑体" panose="02010609060101010101" charset="-122"/>
                <a:ea typeface="黑体" panose="02010609060101010101" charset="-122"/>
              </a:defRPr>
            </a:lvl1pPr>
          </a:lstStyle>
          <a:p>
            <a:pPr lvl="0"/>
            <a:r>
              <a:rPr lang="zh-CN" altLang="en-US"/>
              <a:t>单击此处编辑标题</a:t>
            </a:r>
          </a:p>
        </p:txBody>
      </p:sp>
      <p:grpSp>
        <p:nvGrpSpPr>
          <p:cNvPr id="9" name="组合 8"/>
          <p:cNvGrpSpPr/>
          <p:nvPr userDrawn="1"/>
        </p:nvGrpSpPr>
        <p:grpSpPr>
          <a:xfrm rot="5400000">
            <a:off x="1813521" y="2341994"/>
            <a:ext cx="145143" cy="2066864"/>
            <a:chOff x="1393371" y="1507279"/>
            <a:chExt cx="145143" cy="2066864"/>
          </a:xfrm>
          <a:solidFill>
            <a:srgbClr val="03553F"/>
          </a:solidFill>
        </p:grpSpPr>
        <p:cxnSp>
          <p:nvCxnSpPr>
            <p:cNvPr id="10" name="直接连接符 9"/>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grpSp>
        <p:nvGrpSpPr>
          <p:cNvPr id="15" name="组合 14"/>
          <p:cNvGrpSpPr/>
          <p:nvPr userDrawn="1"/>
        </p:nvGrpSpPr>
        <p:grpSpPr>
          <a:xfrm rot="16200000">
            <a:off x="10233335" y="2341994"/>
            <a:ext cx="145143" cy="2066864"/>
            <a:chOff x="1393371" y="1507279"/>
            <a:chExt cx="145143" cy="2066864"/>
          </a:xfrm>
          <a:solidFill>
            <a:srgbClr val="03553F"/>
          </a:solidFill>
        </p:grpSpPr>
        <p:cxnSp>
          <p:nvCxnSpPr>
            <p:cNvPr id="16" name="直接连接符 15"/>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spTree>
    <p:extLst>
      <p:ext uri="{BB962C8B-B14F-4D97-AF65-F5344CB8AC3E}">
        <p14:creationId xmlns:p14="http://schemas.microsoft.com/office/powerpoint/2010/main" val="4042199200"/>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252730" y="229235"/>
            <a:ext cx="4277995" cy="705485"/>
          </a:xfrm>
          <a:prstGeom prst="rect">
            <a:avLst/>
          </a:prstGeom>
        </p:spPr>
        <p:txBody>
          <a:bodyPr vert="horz" lIns="90000" tIns="46800" rIns="90000" bIns="46800" rtlCol="0" anchor="ctr" anchorCtr="0">
            <a:normAutofit/>
          </a:bodyPr>
          <a:lstStyle>
            <a:lvl1pPr>
              <a:defRPr>
                <a:latin typeface="黑体" panose="02010609060101010101" charset="-122"/>
                <a:ea typeface="黑体" panose="02010609060101010101" charset="-122"/>
              </a:defRPr>
            </a:lvl1pPr>
          </a:lstStyle>
          <a:p>
            <a:pPr lvl="0"/>
            <a:r>
              <a:rPr lang="zh-CN" altLang="en-US"/>
              <a:t>编辑母版标题样式</a:t>
            </a:r>
          </a:p>
        </p:txBody>
      </p:sp>
      <p:sp>
        <p:nvSpPr>
          <p:cNvPr id="3" name="内容占位符 2"/>
          <p:cNvSpPr>
            <a:spLocks noGrp="1"/>
          </p:cNvSpPr>
          <p:nvPr>
            <p:ph idx="1"/>
            <p:custDataLst>
              <p:tags r:id="rId2"/>
            </p:custDataLst>
          </p:nvPr>
        </p:nvSpPr>
        <p:spPr>
          <a:xfrm>
            <a:off x="608330" y="1350645"/>
            <a:ext cx="10968990" cy="4545965"/>
          </a:xfrm>
          <a:prstGeom prst="rect">
            <a:avLst/>
          </a:prstGeom>
        </p:spPr>
        <p:txBody>
          <a:bodyPr vert="horz" lIns="90000" tIns="46800" rIns="90000" bIns="46800" rtlCol="0">
            <a:normAutofit/>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grpSp>
        <p:nvGrpSpPr>
          <p:cNvPr id="41" name="组合 40"/>
          <p:cNvGrpSpPr/>
          <p:nvPr userDrawn="1"/>
        </p:nvGrpSpPr>
        <p:grpSpPr>
          <a:xfrm rot="16200000">
            <a:off x="2336402" y="-1401400"/>
            <a:ext cx="145143" cy="4817947"/>
            <a:chOff x="1393371" y="-1243804"/>
            <a:chExt cx="145143" cy="4817947"/>
          </a:xfrm>
          <a:solidFill>
            <a:srgbClr val="364765"/>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solidFill>
              <a:srgbClr val="03553F"/>
            </a:solid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grpSp>
        <p:nvGrpSpPr>
          <p:cNvPr id="58" name="组合 57"/>
          <p:cNvGrpSpPr/>
          <p:nvPr userDrawn="1"/>
        </p:nvGrpSpPr>
        <p:grpSpPr>
          <a:xfrm rot="5400000">
            <a:off x="10439312" y="4487126"/>
            <a:ext cx="145143" cy="3360234"/>
            <a:chOff x="1393371" y="213909"/>
            <a:chExt cx="145143" cy="3360234"/>
          </a:xfrm>
          <a:solidFill>
            <a:srgbClr val="03553F"/>
          </a:solidFill>
        </p:grpSpPr>
        <p:cxnSp>
          <p:nvCxnSpPr>
            <p:cNvPr id="59" name="直接连接符 58"/>
            <p:cNvCxnSpPr/>
            <p:nvPr/>
          </p:nvCxnSpPr>
          <p:spPr>
            <a:xfrm rot="16200000" flipH="1">
              <a:off x="-141603" y="1821455"/>
              <a:ext cx="3215091"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extLst>
      <p:ext uri="{BB962C8B-B14F-4D97-AF65-F5344CB8AC3E}">
        <p14:creationId xmlns:p14="http://schemas.microsoft.com/office/powerpoint/2010/main" val="3055626986"/>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14" name="组合 13"/>
          <p:cNvGrpSpPr/>
          <p:nvPr userDrawn="1"/>
        </p:nvGrpSpPr>
        <p:grpSpPr>
          <a:xfrm>
            <a:off x="2823814" y="3193868"/>
            <a:ext cx="1028700" cy="190500"/>
            <a:chOff x="2305050" y="1847850"/>
            <a:chExt cx="1028700" cy="190500"/>
          </a:xfrm>
        </p:grpSpPr>
        <p:cxnSp>
          <p:nvCxnSpPr>
            <p:cNvPr id="15" name="直接连接符 14"/>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9" name="组合 18"/>
          <p:cNvGrpSpPr/>
          <p:nvPr userDrawn="1"/>
        </p:nvGrpSpPr>
        <p:grpSpPr>
          <a:xfrm rot="10800000">
            <a:off x="8339486" y="3193868"/>
            <a:ext cx="1028700" cy="190500"/>
            <a:chOff x="2305050" y="1847850"/>
            <a:chExt cx="1028700" cy="190500"/>
          </a:xfrm>
        </p:grpSpPr>
        <p:cxnSp>
          <p:nvCxnSpPr>
            <p:cNvPr id="20" name="直接连接符 19"/>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 name="标题 21"/>
          <p:cNvSpPr>
            <a:spLocks noGrp="1"/>
          </p:cNvSpPr>
          <p:nvPr>
            <p:ph type="title" hasCustomPrompt="1"/>
            <p:custDataLst>
              <p:tags r:id="rId1"/>
            </p:custDataLst>
          </p:nvPr>
        </p:nvSpPr>
        <p:spPr>
          <a:xfrm>
            <a:off x="3906520" y="2524760"/>
            <a:ext cx="4438015" cy="1501775"/>
          </a:xfrm>
          <a:prstGeom prst="rect">
            <a:avLst/>
          </a:prstGeom>
        </p:spPr>
        <p:txBody>
          <a:bodyPr vert="horz" lIns="90000" tIns="46800" rIns="90000" bIns="46800" rtlCol="0" anchor="t" anchorCtr="0">
            <a:noAutofit/>
          </a:bodyPr>
          <a:lstStyle>
            <a:lvl1pPr algn="ctr">
              <a:defRPr sz="6000" b="1">
                <a:latin typeface="宋体" panose="02010600030101010101" pitchFamily="2" charset="-122"/>
                <a:ea typeface="宋体" panose="02010600030101010101" pitchFamily="2" charset="-122"/>
              </a:defRPr>
            </a:lvl1pPr>
          </a:lstStyle>
          <a:p>
            <a:pPr lvl="0"/>
            <a:r>
              <a:rPr lang="zh-CN" altLang="en-US"/>
              <a:t>单击此处编辑标题</a:t>
            </a:r>
          </a:p>
        </p:txBody>
      </p:sp>
    </p:spTree>
    <p:extLst>
      <p:ext uri="{BB962C8B-B14F-4D97-AF65-F5344CB8AC3E}">
        <p14:creationId xmlns:p14="http://schemas.microsoft.com/office/powerpoint/2010/main" val="3860194462"/>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2026/9/18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206038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924660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4681115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2026/9/18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79538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2026/9/18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4358461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214352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2026/9/18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91995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2026/9/18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24517668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8352874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3987972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1735694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3" name="Rectangle 1"/>
          <p:cNvSpPr/>
          <p:nvPr userDrawn="1"/>
        </p:nvSpPr>
        <p:spPr>
          <a:xfrm>
            <a:off x="0" y="1855470"/>
            <a:ext cx="12192000" cy="2761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cs typeface="+mn-ea"/>
              <a:sym typeface="+mn-lt"/>
            </a:endParaRPr>
          </a:p>
        </p:txBody>
      </p:sp>
      <p:sp>
        <p:nvSpPr>
          <p:cNvPr id="2" name="标题 1"/>
          <p:cNvSpPr>
            <a:spLocks noGrp="1"/>
          </p:cNvSpPr>
          <p:nvPr>
            <p:ph type="ctrTitle" hasCustomPrompt="1"/>
            <p:custDataLst>
              <p:tags r:id="rId1"/>
            </p:custDataLst>
          </p:nvPr>
        </p:nvSpPr>
        <p:spPr>
          <a:xfrm>
            <a:off x="2333625" y="2294890"/>
            <a:ext cx="7828280" cy="1512570"/>
          </a:xfrm>
          <a:prstGeom prst="rect">
            <a:avLst/>
          </a:prstGeom>
        </p:spPr>
        <p:txBody>
          <a:bodyPr lIns="90000" tIns="46800" rIns="90000" bIns="46800" anchor="b" anchorCtr="0">
            <a:normAutofit/>
          </a:bodyPr>
          <a:lstStyle>
            <a:lvl1pPr algn="ctr">
              <a:defRPr sz="7200">
                <a:latin typeface="黑体" panose="02010609060101010101" charset="-122"/>
                <a:ea typeface="黑体" panose="02010609060101010101" charset="-122"/>
              </a:defRPr>
            </a:lvl1pPr>
          </a:lstStyle>
          <a:p>
            <a:r>
              <a:rPr lang="zh-CN" altLang="en-US" dirty="0"/>
              <a:t>编辑母版标题样式</a:t>
            </a:r>
          </a:p>
        </p:txBody>
      </p:sp>
      <p:grpSp>
        <p:nvGrpSpPr>
          <p:cNvPr id="41" name="组合 40"/>
          <p:cNvGrpSpPr/>
          <p:nvPr userDrawn="1"/>
        </p:nvGrpSpPr>
        <p:grpSpPr>
          <a:xfrm rot="16200000">
            <a:off x="1997710" y="-742950"/>
            <a:ext cx="145415" cy="4141470"/>
            <a:chOff x="1393371" y="-1243804"/>
            <a:chExt cx="145143" cy="4817947"/>
          </a:xfrm>
          <a:solidFill>
            <a:srgbClr val="03553F"/>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grpSp>
        <p:nvGrpSpPr>
          <p:cNvPr id="5" name="组合 4"/>
          <p:cNvGrpSpPr/>
          <p:nvPr userDrawn="1"/>
        </p:nvGrpSpPr>
        <p:grpSpPr>
          <a:xfrm rot="5400000">
            <a:off x="10439312" y="4487126"/>
            <a:ext cx="145143" cy="3360234"/>
            <a:chOff x="1393371" y="213909"/>
            <a:chExt cx="145143" cy="3360234"/>
          </a:xfrm>
          <a:solidFill>
            <a:srgbClr val="03553F"/>
          </a:solidFill>
        </p:grpSpPr>
        <p:cxnSp>
          <p:nvCxnSpPr>
            <p:cNvPr id="4" name="直接连接符 3"/>
            <p:cNvCxnSpPr/>
            <p:nvPr/>
          </p:nvCxnSpPr>
          <p:spPr>
            <a:xfrm rot="16200000" flipH="1">
              <a:off x="-141603" y="1821455"/>
              <a:ext cx="3215091" cy="0"/>
            </a:xfrm>
            <a:prstGeom prst="line">
              <a:avLst/>
            </a:prstGeom>
            <a:grpFill/>
            <a:ln w="38100">
              <a:solidFill>
                <a:srgbClr val="00573F"/>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extLst>
      <p:ext uri="{BB962C8B-B14F-4D97-AF65-F5344CB8AC3E}">
        <p14:creationId xmlns:p14="http://schemas.microsoft.com/office/powerpoint/2010/main" val="3382341272"/>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Rectangle 1"/>
          <p:cNvSpPr/>
          <p:nvPr userDrawn="1"/>
        </p:nvSpPr>
        <p:spPr>
          <a:xfrm>
            <a:off x="0" y="1855470"/>
            <a:ext cx="12192000" cy="2761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cs typeface="+mn-ea"/>
              <a:sym typeface="+mn-lt"/>
            </a:endParaRPr>
          </a:p>
        </p:txBody>
      </p:sp>
      <p:sp>
        <p:nvSpPr>
          <p:cNvPr id="2" name="标题 1"/>
          <p:cNvSpPr>
            <a:spLocks noGrp="1"/>
          </p:cNvSpPr>
          <p:nvPr>
            <p:ph type="ctrTitle" hasCustomPrompt="1"/>
            <p:custDataLst>
              <p:tags r:id="rId1"/>
            </p:custDataLst>
          </p:nvPr>
        </p:nvSpPr>
        <p:spPr>
          <a:xfrm>
            <a:off x="2333625" y="2294890"/>
            <a:ext cx="7828280" cy="1512570"/>
          </a:xfrm>
          <a:prstGeom prst="rect">
            <a:avLst/>
          </a:prstGeom>
        </p:spPr>
        <p:txBody>
          <a:bodyPr lIns="90000" tIns="46800" rIns="90000" bIns="46800" anchor="b" anchorCtr="0">
            <a:normAutofit/>
          </a:bodyPr>
          <a:lstStyle>
            <a:lvl1pPr algn="ctr">
              <a:defRPr sz="7200">
                <a:latin typeface="黑体" panose="02010609060101010101" charset="-122"/>
                <a:ea typeface="黑体" panose="02010609060101010101" charset="-122"/>
              </a:defRPr>
            </a:lvl1pPr>
          </a:lstStyle>
          <a:p>
            <a:r>
              <a:rPr lang="zh-CN" altLang="en-US" dirty="0"/>
              <a:t>编辑母版标题样式</a:t>
            </a:r>
          </a:p>
        </p:txBody>
      </p:sp>
      <p:grpSp>
        <p:nvGrpSpPr>
          <p:cNvPr id="41" name="组合 40"/>
          <p:cNvGrpSpPr/>
          <p:nvPr userDrawn="1"/>
        </p:nvGrpSpPr>
        <p:grpSpPr>
          <a:xfrm rot="16200000">
            <a:off x="1997710" y="-742950"/>
            <a:ext cx="145415" cy="4141470"/>
            <a:chOff x="1393371" y="-1243804"/>
            <a:chExt cx="145143" cy="4817947"/>
          </a:xfrm>
          <a:solidFill>
            <a:srgbClr val="03553F"/>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grpSp>
        <p:nvGrpSpPr>
          <p:cNvPr id="5" name="组合 4"/>
          <p:cNvGrpSpPr/>
          <p:nvPr userDrawn="1"/>
        </p:nvGrpSpPr>
        <p:grpSpPr>
          <a:xfrm rot="5400000">
            <a:off x="10439312" y="4487126"/>
            <a:ext cx="145143" cy="3360234"/>
            <a:chOff x="1393371" y="213909"/>
            <a:chExt cx="145143" cy="3360234"/>
          </a:xfrm>
          <a:solidFill>
            <a:srgbClr val="03553F"/>
          </a:solidFill>
        </p:grpSpPr>
        <p:cxnSp>
          <p:nvCxnSpPr>
            <p:cNvPr id="4" name="直接连接符 3"/>
            <p:cNvCxnSpPr/>
            <p:nvPr/>
          </p:nvCxnSpPr>
          <p:spPr>
            <a:xfrm rot="16200000" flipH="1">
              <a:off x="-141603" y="1821455"/>
              <a:ext cx="3215091" cy="0"/>
            </a:xfrm>
            <a:prstGeom prst="line">
              <a:avLst/>
            </a:prstGeom>
            <a:grpFill/>
            <a:ln w="38100">
              <a:solidFill>
                <a:srgbClr val="00573F"/>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Tree>
    <p:extLst>
      <p:ext uri="{BB962C8B-B14F-4D97-AF65-F5344CB8AC3E}">
        <p14:creationId xmlns:p14="http://schemas.microsoft.com/office/powerpoint/2010/main" val="462105267"/>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7" name="灯片编号占位符 6"/>
          <p:cNvSpPr>
            <a:spLocks noGrp="1"/>
          </p:cNvSpPr>
          <p:nvPr>
            <p:ph type="sldNum" sz="quarter" idx="12"/>
            <p:custDataLst>
              <p:tags r:id="rId1"/>
            </p:custDataLst>
          </p:nvPr>
        </p:nvSpPr>
        <p:spPr>
          <a:xfrm>
            <a:off x="11035030" y="6314440"/>
            <a:ext cx="542290" cy="316865"/>
          </a:xfrm>
          <a:prstGeom prst="rect">
            <a:avLst/>
          </a:prstGeom>
        </p:spPr>
        <p:txBody>
          <a:bodyPr/>
          <a:lstStyle>
            <a:lvl1pPr>
              <a:defRPr b="1">
                <a:solidFill>
                  <a:schemeClr val="tx1"/>
                </a:solidFill>
                <a:latin typeface="宋体" panose="02010600030101010101" pitchFamily="2" charset="-122"/>
                <a:ea typeface="宋体" panose="02010600030101010101" pitchFamily="2" charset="-122"/>
              </a:defRPr>
            </a:lvl1pPr>
          </a:lstStyle>
          <a:p>
            <a:fld id="{49AE70B2-8BF9-45C0-BB95-33D1B9D3A854}" type="slidenum">
              <a:rPr lang="zh-CN" altLang="en-US" smtClean="0"/>
              <a:t>‹#›</a:t>
            </a:fld>
            <a:endParaRPr lang="zh-CN" altLang="en-US" dirty="0"/>
          </a:p>
        </p:txBody>
      </p:sp>
      <p:sp>
        <p:nvSpPr>
          <p:cNvPr id="8" name="标题 7"/>
          <p:cNvSpPr>
            <a:spLocks noGrp="1"/>
          </p:cNvSpPr>
          <p:nvPr>
            <p:ph type="title" hasCustomPrompt="1"/>
            <p:custDataLst>
              <p:tags r:id="rId2"/>
            </p:custDataLst>
          </p:nvPr>
        </p:nvSpPr>
        <p:spPr>
          <a:xfrm>
            <a:off x="3312795" y="3007995"/>
            <a:ext cx="5817235" cy="1018540"/>
          </a:xfrm>
          <a:prstGeom prst="rect">
            <a:avLst/>
          </a:prstGeom>
        </p:spPr>
        <p:txBody>
          <a:bodyPr vert="horz" lIns="90000" tIns="46800" rIns="90000" bIns="46800" rtlCol="0" anchor="t" anchorCtr="0">
            <a:normAutofit/>
          </a:bodyPr>
          <a:lstStyle>
            <a:lvl1pPr algn="ctr">
              <a:defRPr sz="3600" b="1">
                <a:latin typeface="黑体" panose="02010609060101010101" charset="-122"/>
                <a:ea typeface="黑体" panose="02010609060101010101" charset="-122"/>
              </a:defRPr>
            </a:lvl1pPr>
          </a:lstStyle>
          <a:p>
            <a:pPr lvl="0"/>
            <a:r>
              <a:rPr lang="zh-CN" altLang="en-US"/>
              <a:t>单击此处编辑标题</a:t>
            </a:r>
          </a:p>
        </p:txBody>
      </p:sp>
      <p:grpSp>
        <p:nvGrpSpPr>
          <p:cNvPr id="9" name="组合 8"/>
          <p:cNvGrpSpPr/>
          <p:nvPr userDrawn="1"/>
        </p:nvGrpSpPr>
        <p:grpSpPr>
          <a:xfrm rot="5400000">
            <a:off x="1813521" y="2341994"/>
            <a:ext cx="145143" cy="2066864"/>
            <a:chOff x="1393371" y="1507279"/>
            <a:chExt cx="145143" cy="2066864"/>
          </a:xfrm>
          <a:solidFill>
            <a:srgbClr val="03553F"/>
          </a:solidFill>
        </p:grpSpPr>
        <p:cxnSp>
          <p:nvCxnSpPr>
            <p:cNvPr id="10" name="直接连接符 9"/>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grpSp>
        <p:nvGrpSpPr>
          <p:cNvPr id="15" name="组合 14"/>
          <p:cNvGrpSpPr/>
          <p:nvPr userDrawn="1"/>
        </p:nvGrpSpPr>
        <p:grpSpPr>
          <a:xfrm rot="16200000">
            <a:off x="10233335" y="2341994"/>
            <a:ext cx="145143" cy="2066864"/>
            <a:chOff x="1393371" y="1507279"/>
            <a:chExt cx="145143" cy="2066864"/>
          </a:xfrm>
          <a:solidFill>
            <a:srgbClr val="03553F"/>
          </a:solidFill>
        </p:grpSpPr>
        <p:cxnSp>
          <p:nvCxnSpPr>
            <p:cNvPr id="16" name="直接连接符 15"/>
            <p:cNvCxnSpPr/>
            <p:nvPr/>
          </p:nvCxnSpPr>
          <p:spPr>
            <a:xfrm rot="10800000" flipV="1">
              <a:off x="1465943" y="1507279"/>
              <a:ext cx="0" cy="192172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393371" y="3429000"/>
              <a:ext cx="145143" cy="145143"/>
            </a:xfrm>
            <a:prstGeom prst="ellipse">
              <a:avLst/>
            </a:prstGeom>
            <a:grp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spTree>
    <p:extLst>
      <p:ext uri="{BB962C8B-B14F-4D97-AF65-F5344CB8AC3E}">
        <p14:creationId xmlns:p14="http://schemas.microsoft.com/office/powerpoint/2010/main" val="1174199226"/>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8966" y="229235"/>
            <a:ext cx="4361760" cy="705485"/>
          </a:xfrm>
          <a:prstGeom prst="rect">
            <a:avLst/>
          </a:prstGeom>
        </p:spPr>
        <p:txBody>
          <a:bodyPr vert="horz" lIns="90000" tIns="46800" rIns="90000" bIns="46800" rtlCol="0" anchor="ctr" anchorCtr="0">
            <a:normAutofit/>
          </a:bodyPr>
          <a:lstStyle>
            <a:lvl1pPr algn="ctr">
              <a:defRPr>
                <a:latin typeface="黑体" panose="02010609060101010101" charset="-122"/>
                <a:ea typeface="黑体" panose="02010609060101010101" charset="-122"/>
              </a:defRPr>
            </a:lvl1pPr>
          </a:lstStyle>
          <a:p>
            <a:pPr lvl="0"/>
            <a:r>
              <a:rPr lang="zh-CN" altLang="en-US" dirty="0"/>
              <a:t>编辑母版标题样式</a:t>
            </a:r>
          </a:p>
        </p:txBody>
      </p:sp>
      <p:sp>
        <p:nvSpPr>
          <p:cNvPr id="3" name="内容占位符 2"/>
          <p:cNvSpPr>
            <a:spLocks noGrp="1"/>
          </p:cNvSpPr>
          <p:nvPr>
            <p:ph idx="1"/>
            <p:custDataLst>
              <p:tags r:id="rId2"/>
            </p:custDataLst>
          </p:nvPr>
        </p:nvSpPr>
        <p:spPr>
          <a:xfrm>
            <a:off x="608330" y="1350645"/>
            <a:ext cx="10968990" cy="4545965"/>
          </a:xfrm>
          <a:prstGeom prst="rect">
            <a:avLst/>
          </a:prstGeom>
        </p:spPr>
        <p:txBody>
          <a:bodyPr vert="horz" lIns="90000" tIns="46800" rIns="90000" bIns="46800" rtlCol="0">
            <a:normAutofit/>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 name="灯片编号占位符 17"/>
          <p:cNvSpPr>
            <a:spLocks noGrp="1"/>
          </p:cNvSpPr>
          <p:nvPr>
            <p:ph type="sldNum" sz="quarter" idx="12"/>
            <p:custDataLst>
              <p:tags r:id="rId3"/>
            </p:custDataLst>
          </p:nvPr>
        </p:nvSpPr>
        <p:spPr>
          <a:xfrm>
            <a:off x="5804852" y="6490666"/>
            <a:ext cx="575945" cy="316865"/>
          </a:xfrm>
          <a:prstGeom prst="rect">
            <a:avLst/>
          </a:prstGeom>
        </p:spPr>
        <p:txBody>
          <a:bodyPr/>
          <a:lstStyle>
            <a:lvl1pPr algn="ctr">
              <a:defRPr sz="1400" b="1">
                <a:solidFill>
                  <a:schemeClr val="tx1"/>
                </a:solidFill>
                <a:latin typeface="宋体" panose="02010600030101010101" pitchFamily="2" charset="-122"/>
                <a:ea typeface="宋体" panose="02010600030101010101" pitchFamily="2" charset="-122"/>
              </a:defRPr>
            </a:lvl1pPr>
          </a:lstStyle>
          <a:p>
            <a:fld id="{49AE70B2-8BF9-45C0-BB95-33D1B9D3A854}" type="slidenum">
              <a:rPr lang="zh-CN" altLang="en-US" smtClean="0"/>
              <a:pPr/>
              <a:t>‹#›</a:t>
            </a:fld>
            <a:endParaRPr lang="zh-CN" altLang="en-US" dirty="0"/>
          </a:p>
        </p:txBody>
      </p:sp>
      <p:grpSp>
        <p:nvGrpSpPr>
          <p:cNvPr id="41" name="组合 40"/>
          <p:cNvGrpSpPr/>
          <p:nvPr userDrawn="1"/>
        </p:nvGrpSpPr>
        <p:grpSpPr>
          <a:xfrm rot="16200000">
            <a:off x="2336402" y="-1401400"/>
            <a:ext cx="145143" cy="4817947"/>
            <a:chOff x="1393371" y="-1243804"/>
            <a:chExt cx="145143" cy="4817947"/>
          </a:xfrm>
          <a:solidFill>
            <a:srgbClr val="364765"/>
          </a:solidFill>
        </p:grpSpPr>
        <p:cxnSp>
          <p:nvCxnSpPr>
            <p:cNvPr id="42" name="直接连接符 41"/>
            <p:cNvCxnSpPr/>
            <p:nvPr/>
          </p:nvCxnSpPr>
          <p:spPr>
            <a:xfrm rot="5400000">
              <a:off x="-870459" y="1092598"/>
              <a:ext cx="4672804" cy="0"/>
            </a:xfrm>
            <a:prstGeom prst="line">
              <a:avLst/>
            </a:prstGeom>
            <a:grpFill/>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1393371" y="3429000"/>
              <a:ext cx="145143" cy="145143"/>
            </a:xfrm>
            <a:prstGeom prst="ellipse">
              <a:avLst/>
            </a:prstGeom>
            <a:solidFill>
              <a:srgbClr val="03553F"/>
            </a:solid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grpSp>
      <p:sp>
        <p:nvSpPr>
          <p:cNvPr id="4" name="AutoShape 2">
            <a:extLst>
              <a:ext uri="{FF2B5EF4-FFF2-40B4-BE49-F238E27FC236}">
                <a16:creationId xmlns:a16="http://schemas.microsoft.com/office/drawing/2014/main" id="{B4717D10-A366-9CC8-48A9-48EBB26ADE42}"/>
              </a:ext>
            </a:extLst>
          </p:cNvPr>
          <p:cNvSpPr>
            <a:spLocks noChangeAspect="1" noChangeArrowheads="1"/>
          </p:cNvSpPr>
          <p:nvPr userDrawn="1"/>
        </p:nvSpPr>
        <p:spPr bwMode="auto">
          <a:xfrm>
            <a:off x="8538425" y="40432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521653604"/>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14" name="组合 13"/>
          <p:cNvGrpSpPr/>
          <p:nvPr userDrawn="1"/>
        </p:nvGrpSpPr>
        <p:grpSpPr>
          <a:xfrm>
            <a:off x="2823814" y="3193868"/>
            <a:ext cx="1028700" cy="190500"/>
            <a:chOff x="2305050" y="1847850"/>
            <a:chExt cx="1028700" cy="190500"/>
          </a:xfrm>
        </p:grpSpPr>
        <p:cxnSp>
          <p:nvCxnSpPr>
            <p:cNvPr id="15" name="直接连接符 14"/>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9" name="组合 18"/>
          <p:cNvGrpSpPr/>
          <p:nvPr userDrawn="1"/>
        </p:nvGrpSpPr>
        <p:grpSpPr>
          <a:xfrm rot="10800000">
            <a:off x="8339486" y="3193868"/>
            <a:ext cx="1028700" cy="190500"/>
            <a:chOff x="2305050" y="1847850"/>
            <a:chExt cx="1028700" cy="190500"/>
          </a:xfrm>
        </p:grpSpPr>
        <p:cxnSp>
          <p:nvCxnSpPr>
            <p:cNvPr id="20" name="直接连接符 19"/>
            <p:cNvCxnSpPr/>
            <p:nvPr/>
          </p:nvCxnSpPr>
          <p:spPr>
            <a:xfrm>
              <a:off x="2495550" y="1943100"/>
              <a:ext cx="838200" cy="0"/>
            </a:xfrm>
            <a:prstGeom prst="line">
              <a:avLst/>
            </a:prstGeom>
            <a:ln w="38100">
              <a:solidFill>
                <a:srgbClr val="03553F"/>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305050" y="1847850"/>
              <a:ext cx="190500" cy="190500"/>
            </a:xfrm>
            <a:prstGeom prst="ellipse">
              <a:avLst/>
            </a:prstGeom>
            <a:noFill/>
            <a:ln w="38100">
              <a:solidFill>
                <a:srgbClr val="0355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 name="标题 21"/>
          <p:cNvSpPr>
            <a:spLocks noGrp="1"/>
          </p:cNvSpPr>
          <p:nvPr>
            <p:ph type="title" hasCustomPrompt="1"/>
            <p:custDataLst>
              <p:tags r:id="rId1"/>
            </p:custDataLst>
          </p:nvPr>
        </p:nvSpPr>
        <p:spPr>
          <a:xfrm>
            <a:off x="3906520" y="2524760"/>
            <a:ext cx="4438015" cy="1501775"/>
          </a:xfrm>
          <a:prstGeom prst="rect">
            <a:avLst/>
          </a:prstGeom>
        </p:spPr>
        <p:txBody>
          <a:bodyPr vert="horz" lIns="90000" tIns="46800" rIns="90000" bIns="46800" rtlCol="0" anchor="t" anchorCtr="0">
            <a:noAutofit/>
          </a:bodyPr>
          <a:lstStyle>
            <a:lvl1pPr algn="ctr">
              <a:defRPr sz="6000" b="1">
                <a:latin typeface="宋体" panose="02010600030101010101" pitchFamily="2" charset="-122"/>
                <a:ea typeface="宋体" panose="02010600030101010101" pitchFamily="2" charset="-122"/>
              </a:defRPr>
            </a:lvl1pPr>
          </a:lstStyle>
          <a:p>
            <a:pPr lvl="0"/>
            <a:r>
              <a:rPr lang="zh-CN" altLang="en-US"/>
              <a:t>单击此处编辑标题</a:t>
            </a:r>
          </a:p>
        </p:txBody>
      </p:sp>
    </p:spTree>
    <p:extLst>
      <p:ext uri="{BB962C8B-B14F-4D97-AF65-F5344CB8AC3E}">
        <p14:creationId xmlns:p14="http://schemas.microsoft.com/office/powerpoint/2010/main" val="4158385582"/>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6" name="矩形 5"/>
          <p:cNvSpPr/>
          <p:nvPr userDrawn="1"/>
        </p:nvSpPr>
        <p:spPr>
          <a:xfrm>
            <a:off x="0" y="-15963"/>
            <a:ext cx="12192000" cy="701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cxnSp>
        <p:nvCxnSpPr>
          <p:cNvPr id="9" name="直接连接符 8"/>
          <p:cNvCxnSpPr/>
          <p:nvPr userDrawn="1"/>
        </p:nvCxnSpPr>
        <p:spPr>
          <a:xfrm>
            <a:off x="0" y="740508"/>
            <a:ext cx="12192000" cy="8996"/>
          </a:xfrm>
          <a:prstGeom prst="line">
            <a:avLst/>
          </a:prstGeom>
          <a:ln w="31750">
            <a:gradFill flip="none" rotWithShape="1">
              <a:gsLst>
                <a:gs pos="0">
                  <a:schemeClr val="accent1"/>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3" hasCustomPrompt="1"/>
          </p:nvPr>
        </p:nvSpPr>
        <p:spPr>
          <a:xfrm>
            <a:off x="508000" y="195218"/>
            <a:ext cx="2618739" cy="701763"/>
          </a:xfrm>
        </p:spPr>
        <p:txBody>
          <a:bodyPr lIns="0" tIns="0" rIns="0" bIns="0">
            <a:normAutofit/>
          </a:bodyPr>
          <a:lstStyle>
            <a:lvl1pPr marL="0" indent="0">
              <a:buNone/>
              <a:defRPr sz="2800" b="1">
                <a:solidFill>
                  <a:schemeClr val="bg1"/>
                </a:soli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单击插入文字</a:t>
            </a:r>
          </a:p>
        </p:txBody>
      </p:sp>
    </p:spTree>
    <p:extLst>
      <p:ext uri="{BB962C8B-B14F-4D97-AF65-F5344CB8AC3E}">
        <p14:creationId xmlns:p14="http://schemas.microsoft.com/office/powerpoint/2010/main" val="8469526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7060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0913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内容占位符 2"/>
          <p:cNvSpPr>
            <a:spLocks noGrp="1"/>
          </p:cNvSpPr>
          <p:nvPr>
            <p:ph idx="1"/>
          </p:nvPr>
        </p:nvSpPr>
        <p:spPr>
          <a:xfrm>
            <a:off x="573171" y="1435139"/>
            <a:ext cx="5522829" cy="4351338"/>
          </a:xfrm>
          <a:prstGeom prst="rect">
            <a:avLst/>
          </a:prstGeom>
        </p:spPr>
        <p:txBody>
          <a:bodyPr/>
          <a:lstStyle>
            <a:lvl1pPr>
              <a:lnSpc>
                <a:spcPct val="100000"/>
              </a:lnSpc>
              <a:defRPr sz="2000">
                <a:latin typeface="微软雅黑" panose="020B0503020204020204" charset="-122"/>
                <a:ea typeface="微软雅黑" panose="020B0503020204020204" charset="-122"/>
              </a:defRPr>
            </a:lvl1pPr>
            <a:lvl2pPr>
              <a:defRPr sz="1800">
                <a:latin typeface="微软雅黑" panose="020B0503020204020204" charset="-122"/>
                <a:ea typeface="微软雅黑" panose="020B0503020204020204" charset="-122"/>
              </a:defRPr>
            </a:lvl2pPr>
            <a:lvl3pPr>
              <a:defRPr sz="1600">
                <a:latin typeface="微软雅黑" panose="020B0503020204020204" charset="-122"/>
                <a:ea typeface="微软雅黑" panose="020B0503020204020204" charset="-122"/>
              </a:defRPr>
            </a:lvl3pPr>
            <a:lvl4pPr>
              <a:defRPr sz="1400">
                <a:latin typeface="微软雅黑" panose="020B0503020204020204" charset="-122"/>
                <a:ea typeface="微软雅黑" panose="020B0503020204020204" charset="-122"/>
              </a:defRPr>
            </a:lvl4pPr>
            <a:lvl5pPr>
              <a:defRPr sz="120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8" name="灯片编号占位符 6"/>
          <p:cNvSpPr>
            <a:spLocks noGrp="1"/>
          </p:cNvSpPr>
          <p:nvPr>
            <p:ph type="sldNum" sz="quarter" idx="10"/>
          </p:nvPr>
        </p:nvSpPr>
        <p:spPr>
          <a:xfrm>
            <a:off x="9202609" y="6372317"/>
            <a:ext cx="2743200" cy="365125"/>
          </a:xfrm>
        </p:spPr>
        <p:txBody>
          <a:bodyPr/>
          <a:lstStyle/>
          <a:p>
            <a:fld id="{68AA89EC-6B38-409E-BD23-99513F836D0A}" type="slidenum">
              <a:rPr lang="zh-CN" altLang="en-US" smtClean="0"/>
              <a:t>‹#›</a:t>
            </a:fld>
            <a:endParaRPr lang="zh-CN" altLang="en-US"/>
          </a:p>
        </p:txBody>
      </p:sp>
      <p:sp>
        <p:nvSpPr>
          <p:cNvPr id="3" name="标题 1"/>
          <p:cNvSpPr>
            <a:spLocks noGrp="1"/>
          </p:cNvSpPr>
          <p:nvPr>
            <p:ph type="title"/>
          </p:nvPr>
        </p:nvSpPr>
        <p:spPr>
          <a:xfrm>
            <a:off x="341657" y="497149"/>
            <a:ext cx="10515600" cy="861646"/>
          </a:xfrm>
          <a:prstGeom prst="rect">
            <a:avLst/>
          </a:prstGeo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965737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8" name="灯片编号占位符 13"/>
          <p:cNvSpPr>
            <a:spLocks noGrp="1"/>
          </p:cNvSpPr>
          <p:nvPr>
            <p:ph type="sldNum" sz="quarter" idx="4"/>
          </p:nvPr>
        </p:nvSpPr>
        <p:spPr>
          <a:xfrm>
            <a:off x="9202609" y="637231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AA89EC-6B38-409E-BD23-99513F836D0A}" type="slidenum">
              <a:rPr lang="zh-CN" altLang="en-US" smtClean="0"/>
              <a:t>‹#›</a:t>
            </a:fld>
            <a:endParaRPr lang="zh-CN" altLang="en-US"/>
          </a:p>
        </p:txBody>
      </p:sp>
      <p:sp>
        <p:nvSpPr>
          <p:cNvPr id="3" name="标题 1"/>
          <p:cNvSpPr>
            <a:spLocks noGrp="1"/>
          </p:cNvSpPr>
          <p:nvPr>
            <p:ph type="title"/>
          </p:nvPr>
        </p:nvSpPr>
        <p:spPr>
          <a:xfrm>
            <a:off x="341657" y="497149"/>
            <a:ext cx="10515600" cy="861646"/>
          </a:xfrm>
          <a:prstGeom prst="rect">
            <a:avLst/>
          </a:prstGeo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27319901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7" name="内容占位符 2"/>
          <p:cNvSpPr>
            <a:spLocks noGrp="1"/>
          </p:cNvSpPr>
          <p:nvPr>
            <p:ph idx="1"/>
          </p:nvPr>
        </p:nvSpPr>
        <p:spPr>
          <a:xfrm>
            <a:off x="573171" y="1435139"/>
            <a:ext cx="10515600" cy="3247697"/>
          </a:xfrm>
          <a:prstGeom prst="rect">
            <a:avLst/>
          </a:prstGeom>
        </p:spPr>
        <p:txBody>
          <a:bodyPr/>
          <a:lstStyle>
            <a:lvl1pPr>
              <a:lnSpc>
                <a:spcPct val="100000"/>
              </a:lnSpc>
              <a:defRPr sz="2000">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8" name="灯片编号占位符 6"/>
          <p:cNvSpPr>
            <a:spLocks noGrp="1"/>
          </p:cNvSpPr>
          <p:nvPr>
            <p:ph type="sldNum" sz="quarter" idx="10"/>
          </p:nvPr>
        </p:nvSpPr>
        <p:spPr>
          <a:xfrm>
            <a:off x="9202609" y="6372317"/>
            <a:ext cx="2743200" cy="365125"/>
          </a:xfrm>
        </p:spPr>
        <p:txBody>
          <a:bodyPr/>
          <a:lstStyle/>
          <a:p>
            <a:fld id="{68AA89EC-6B38-409E-BD23-99513F836D0A}" type="slidenum">
              <a:rPr lang="zh-CN" altLang="en-US" smtClean="0"/>
              <a:t>‹#›</a:t>
            </a:fld>
            <a:endParaRPr lang="zh-CN" altLang="en-US"/>
          </a:p>
        </p:txBody>
      </p:sp>
      <p:sp>
        <p:nvSpPr>
          <p:cNvPr id="3" name="标题 1"/>
          <p:cNvSpPr>
            <a:spLocks noGrp="1"/>
          </p:cNvSpPr>
          <p:nvPr>
            <p:ph type="title"/>
          </p:nvPr>
        </p:nvSpPr>
        <p:spPr>
          <a:xfrm>
            <a:off x="341657" y="497149"/>
            <a:ext cx="10515600" cy="861646"/>
          </a:xfrm>
          <a:prstGeom prst="rect">
            <a:avLst/>
          </a:prstGeo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35430845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7" name="内容占位符 2"/>
          <p:cNvSpPr>
            <a:spLocks noGrp="1"/>
          </p:cNvSpPr>
          <p:nvPr>
            <p:ph idx="1"/>
          </p:nvPr>
        </p:nvSpPr>
        <p:spPr>
          <a:xfrm>
            <a:off x="573171" y="1435139"/>
            <a:ext cx="5522829" cy="4351338"/>
          </a:xfrm>
          <a:prstGeom prst="rect">
            <a:avLst/>
          </a:prstGeom>
        </p:spPr>
        <p:txBody>
          <a:bodyPr/>
          <a:lstStyle>
            <a:lvl1pPr>
              <a:lnSpc>
                <a:spcPct val="100000"/>
              </a:lnSpc>
              <a:defRPr sz="2000">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8" name="灯片编号占位符 6"/>
          <p:cNvSpPr>
            <a:spLocks noGrp="1"/>
          </p:cNvSpPr>
          <p:nvPr>
            <p:ph type="sldNum" sz="quarter" idx="10"/>
          </p:nvPr>
        </p:nvSpPr>
        <p:spPr>
          <a:xfrm>
            <a:off x="9202609" y="6372317"/>
            <a:ext cx="2743200" cy="365125"/>
          </a:xfrm>
        </p:spPr>
        <p:txBody>
          <a:bodyPr/>
          <a:lstStyle/>
          <a:p>
            <a:fld id="{68AA89EC-6B38-409E-BD23-99513F836D0A}" type="slidenum">
              <a:rPr lang="zh-CN" altLang="en-US" smtClean="0"/>
              <a:t>‹#›</a:t>
            </a:fld>
            <a:endParaRPr lang="zh-CN" altLang="en-US"/>
          </a:p>
        </p:txBody>
      </p:sp>
      <p:sp>
        <p:nvSpPr>
          <p:cNvPr id="9" name="标题 1"/>
          <p:cNvSpPr>
            <a:spLocks noGrp="1"/>
          </p:cNvSpPr>
          <p:nvPr>
            <p:ph type="title"/>
          </p:nvPr>
        </p:nvSpPr>
        <p:spPr>
          <a:xfrm>
            <a:off x="341657" y="497149"/>
            <a:ext cx="10515600" cy="861646"/>
          </a:xfrm>
          <a:prstGeom prst="rect">
            <a:avLst/>
          </a:prstGeom>
        </p:spPr>
        <p:txBody>
          <a:bodyPr/>
          <a:lstStyle>
            <a:lvl1pPr>
              <a:defRPr b="0">
                <a:latin typeface="微软雅黑" panose="020B0503020204020204" charset="-122"/>
                <a:ea typeface="微软雅黑" panose="020B0503020204020204" charset="-122"/>
              </a:defRPr>
            </a:lvl1pPr>
          </a:lstStyle>
          <a:p>
            <a:r>
              <a:rPr lang="zh-CN" altLang="en-US" dirty="0"/>
              <a:t>单击此处编辑母版标题样式</a:t>
            </a:r>
          </a:p>
        </p:txBody>
      </p:sp>
    </p:spTree>
    <p:extLst>
      <p:ext uri="{BB962C8B-B14F-4D97-AF65-F5344CB8AC3E}">
        <p14:creationId xmlns:p14="http://schemas.microsoft.com/office/powerpoint/2010/main" val="2156797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ags" Target="../tags/tag8.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ags" Target="../tags/tag14.xml"/><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4.xml"/><Relationship Id="rId18" Type="http://schemas.openxmlformats.org/officeDocument/2006/relationships/tags" Target="../tags/tag24.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tags" Target="../tags/tag23.xml"/><Relationship Id="rId2" Type="http://schemas.openxmlformats.org/officeDocument/2006/relationships/slideLayout" Target="../slideLayouts/slideLayout21.xml"/><Relationship Id="rId16" Type="http://schemas.openxmlformats.org/officeDocument/2006/relationships/tags" Target="../tags/tag2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ags" Target="../tags/tag21.xml"/><Relationship Id="rId10" Type="http://schemas.openxmlformats.org/officeDocument/2006/relationships/slideLayout" Target="../slideLayouts/slideLayout29.xml"/><Relationship Id="rId19" Type="http://schemas.openxmlformats.org/officeDocument/2006/relationships/tags" Target="../tags/tag25.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tags" Target="../tags/tag2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ags" Target="../tags/tag8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5.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5950800" y="6195600"/>
            <a:ext cx="67056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7D9BB5D0-35E4-459D-AEF3-FE4D7C45CC19}" type="slidenum">
              <a:rPr lang="zh-CN" altLang="en-US" smtClean="0"/>
              <a:t>‹#›</a:t>
            </a:fld>
            <a:endParaRPr lang="zh-CN" altLang="en-US"/>
          </a:p>
        </p:txBody>
      </p:sp>
    </p:spTree>
    <p:custDataLst>
      <p:tags r:id="rId6"/>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10917555" y="6356350"/>
            <a:ext cx="67056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7D9BB5D0-35E4-459D-AEF3-FE4D7C45CC19}" type="slidenum">
              <a:rPr lang="zh-CN" altLang="en-US" smtClean="0"/>
              <a:t>‹#›</a:t>
            </a:fld>
            <a:endParaRPr lang="zh-CN" altLang="en-US"/>
          </a:p>
        </p:txBody>
      </p:sp>
      <p:sp>
        <p:nvSpPr>
          <p:cNvPr id="3" name="页脚占位符 2"/>
          <p:cNvSpPr>
            <a:spLocks noGrp="1"/>
          </p:cNvSpPr>
          <p:nvPr>
            <p:ph type="ftr" sz="quarter" idx="3"/>
          </p:nvPr>
        </p:nvSpPr>
        <p:spPr>
          <a:xfrm>
            <a:off x="4261485" y="63995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custDataLst>
      <p:tags r:id="rId13"/>
    </p:custDataLst>
    <p:extLst>
      <p:ext uri="{BB962C8B-B14F-4D97-AF65-F5344CB8AC3E}">
        <p14:creationId xmlns:p14="http://schemas.microsoft.com/office/powerpoint/2010/main" val="643761295"/>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10917555" y="6356350"/>
            <a:ext cx="67056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7D9BB5D0-35E4-459D-AEF3-FE4D7C45CC19}" type="slidenum">
              <a:rPr lang="zh-CN" altLang="en-US" smtClean="0"/>
              <a:t>‹#›</a:t>
            </a:fld>
            <a:endParaRPr lang="zh-CN" altLang="en-US"/>
          </a:p>
        </p:txBody>
      </p:sp>
      <p:sp>
        <p:nvSpPr>
          <p:cNvPr id="3" name="页脚占位符 2"/>
          <p:cNvSpPr>
            <a:spLocks noGrp="1"/>
          </p:cNvSpPr>
          <p:nvPr>
            <p:ph type="ftr" sz="quarter" idx="3"/>
          </p:nvPr>
        </p:nvSpPr>
        <p:spPr>
          <a:xfrm>
            <a:off x="4261485" y="63995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custDataLst>
      <p:tags r:id="rId6"/>
    </p:custDataLst>
    <p:extLst>
      <p:ext uri="{BB962C8B-B14F-4D97-AF65-F5344CB8AC3E}">
        <p14:creationId xmlns:p14="http://schemas.microsoft.com/office/powerpoint/2010/main" val="26692220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hd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4"/>
    </p:custDataLst>
    <p:extLst>
      <p:ext uri="{BB962C8B-B14F-4D97-AF65-F5344CB8AC3E}">
        <p14:creationId xmlns:p14="http://schemas.microsoft.com/office/powerpoint/2010/main" val="422485793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10917555" y="6356350"/>
            <a:ext cx="67056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7D9BB5D0-35E4-459D-AEF3-FE4D7C45CC19}" type="slidenum">
              <a:rPr lang="zh-CN" altLang="en-US" smtClean="0"/>
              <a:t>‹#›</a:t>
            </a:fld>
            <a:endParaRPr lang="zh-CN" altLang="en-US"/>
          </a:p>
        </p:txBody>
      </p:sp>
      <p:sp>
        <p:nvSpPr>
          <p:cNvPr id="3" name="页脚占位符 2"/>
          <p:cNvSpPr>
            <a:spLocks noGrp="1"/>
          </p:cNvSpPr>
          <p:nvPr>
            <p:ph type="ftr" sz="quarter" idx="3"/>
          </p:nvPr>
        </p:nvSpPr>
        <p:spPr>
          <a:xfrm>
            <a:off x="4261485" y="63995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custDataLst>
      <p:tags r:id="rId13"/>
    </p:custDataLst>
    <p:extLst>
      <p:ext uri="{BB962C8B-B14F-4D97-AF65-F5344CB8AC3E}">
        <p14:creationId xmlns:p14="http://schemas.microsoft.com/office/powerpoint/2010/main" val="1687000586"/>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i4ge.github.io/" TargetMode="External"/><Relationship Id="rId2" Type="http://schemas.openxmlformats.org/officeDocument/2006/relationships/notesSlide" Target="../notesSlides/notesSlide1.xml"/><Relationship Id="rId1" Type="http://schemas.openxmlformats.org/officeDocument/2006/relationships/slideLayout" Target="../slideLayouts/slideLayout3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91.x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5.emf"/><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GIF"/><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ai4ge.github.io/" TargetMode="External"/><Relationship Id="rId2" Type="http://schemas.openxmlformats.org/officeDocument/2006/relationships/image" Target="../media/image33.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55788" y="1917413"/>
            <a:ext cx="10286999" cy="2530501"/>
          </a:xfrm>
          <a:prstGeom prst="rect">
            <a:avLst/>
          </a:prstGeom>
          <a:noFill/>
        </p:spPr>
        <p:txBody>
          <a:bodyPr wrap="square" rtlCol="0" anchor="t">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8000" b="1"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ea"/>
                <a:sym typeface="+mn-lt"/>
              </a:rPr>
              <a:t>人工智能通识</a:t>
            </a:r>
            <a:endParaRPr kumimoji="0" lang="en-US" altLang="zh-CN" sz="8000" b="1" i="0" u="none" strike="noStrike" kern="1200" cap="none" spc="0" normalizeH="0" baseline="0" noProof="0" dirty="0">
              <a:ln>
                <a:noFill/>
              </a:ln>
              <a:solidFill>
                <a:srgbClr val="C00000"/>
              </a:solidFill>
              <a:effectLst/>
              <a:uLnTx/>
              <a:uFillTx/>
              <a:latin typeface="黑体" panose="02010609060101010101" charset="-122"/>
              <a:ea typeface="黑体" panose="02010609060101010101" charset="-122"/>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5400" b="1"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ea"/>
                <a:sym typeface="+mn-lt"/>
              </a:rPr>
              <a:t>第三章 </a:t>
            </a:r>
            <a:r>
              <a:rPr kumimoji="0" lang="zh-CN" altLang="en-US" sz="5400" b="1"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ea"/>
                <a:sym typeface="+mn-lt"/>
              </a:rPr>
              <a:t>机器学习基础（</a:t>
            </a:r>
            <a:r>
              <a:rPr kumimoji="0" lang="en-US" altLang="zh-CN" sz="5400" b="1"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ea"/>
                <a:sym typeface="+mn-lt"/>
              </a:rPr>
              <a:t>2</a:t>
            </a:r>
            <a:r>
              <a:rPr kumimoji="0" lang="zh-CN" altLang="en-US" sz="5400" b="1"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ea"/>
                <a:sym typeface="+mn-lt"/>
              </a:rPr>
              <a:t>）</a:t>
            </a:r>
            <a:endParaRPr kumimoji="0" lang="en-US" altLang="zh-CN" sz="5400" b="1"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ea"/>
              <a:sym typeface="+mn-lt"/>
            </a:endParaRPr>
          </a:p>
        </p:txBody>
      </p:sp>
      <p:sp>
        <p:nvSpPr>
          <p:cNvPr id="6" name="文本框 5">
            <a:extLst>
              <a:ext uri="{FF2B5EF4-FFF2-40B4-BE49-F238E27FC236}">
                <a16:creationId xmlns:a16="http://schemas.microsoft.com/office/drawing/2014/main" id="{9B11CB91-2700-F309-4620-3E33490A0CD2}"/>
              </a:ext>
            </a:extLst>
          </p:cNvPr>
          <p:cNvSpPr txBox="1"/>
          <p:nvPr/>
        </p:nvSpPr>
        <p:spPr>
          <a:xfrm>
            <a:off x="8694513" y="6249630"/>
            <a:ext cx="3663387" cy="4924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hlinkClick r:id="rId3"/>
              </a:rPr>
              <a:t>https://ai4ge.github.io/</a:t>
            </a:r>
            <a:r>
              <a:rPr kumimoji="0" lang="en-US" altLang="zh-CN" sz="2600" b="0"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rPr>
              <a:t> </a:t>
            </a:r>
            <a:endParaRPr kumimoji="0" lang="zh-CN" altLang="en-US" sz="2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4" name="Rectangle 5">
            <a:extLst>
              <a:ext uri="{FF2B5EF4-FFF2-40B4-BE49-F238E27FC236}">
                <a16:creationId xmlns:a16="http://schemas.microsoft.com/office/drawing/2014/main" id="{D4EB1791-2CA9-3ECF-F0CD-AEB3A4484E2F}"/>
              </a:ext>
            </a:extLst>
          </p:cNvPr>
          <p:cNvSpPr txBox="1">
            <a:spLocks noChangeArrowheads="1"/>
          </p:cNvSpPr>
          <p:nvPr/>
        </p:nvSpPr>
        <p:spPr bwMode="auto">
          <a:xfrm>
            <a:off x="3708488" y="4770635"/>
            <a:ext cx="4775021" cy="1908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eaLnBrk="0" hangingPunct="0">
              <a:tabLst>
                <a:tab pos="354013" algn="l"/>
              </a:tabLst>
              <a:defRPr sz="2500" b="1">
                <a:solidFill>
                  <a:schemeClr val="tx1"/>
                </a:solidFill>
                <a:latin typeface="Georgia" pitchFamily="18" charset="0"/>
                <a:ea typeface="MS PGothic" pitchFamily="34" charset="-128"/>
              </a:defRPr>
            </a:lvl1pPr>
            <a:lvl2pPr marL="742950" indent="-285750" eaLnBrk="0" hangingPunct="0">
              <a:tabLst>
                <a:tab pos="354013" algn="l"/>
              </a:tabLst>
              <a:defRPr sz="2500" b="1">
                <a:solidFill>
                  <a:schemeClr val="tx1"/>
                </a:solidFill>
                <a:latin typeface="Georgia" pitchFamily="18" charset="0"/>
                <a:ea typeface="MS PGothic" pitchFamily="34" charset="-128"/>
              </a:defRPr>
            </a:lvl2pPr>
            <a:lvl3pPr marL="1143000" indent="-228600" eaLnBrk="0" hangingPunct="0">
              <a:tabLst>
                <a:tab pos="354013" algn="l"/>
              </a:tabLst>
              <a:defRPr sz="2500" b="1">
                <a:solidFill>
                  <a:schemeClr val="tx1"/>
                </a:solidFill>
                <a:latin typeface="Georgia" pitchFamily="18" charset="0"/>
                <a:ea typeface="MS PGothic" pitchFamily="34" charset="-128"/>
              </a:defRPr>
            </a:lvl3pPr>
            <a:lvl4pPr marL="1600200" indent="-228600" eaLnBrk="0" hangingPunct="0">
              <a:tabLst>
                <a:tab pos="354013" algn="l"/>
              </a:tabLst>
              <a:defRPr sz="2500" b="1">
                <a:solidFill>
                  <a:schemeClr val="tx1"/>
                </a:solidFill>
                <a:latin typeface="Georgia" pitchFamily="18" charset="0"/>
                <a:ea typeface="MS PGothic" pitchFamily="34" charset="-128"/>
              </a:defRPr>
            </a:lvl4pPr>
            <a:lvl5pPr marL="2057400" indent="-228600" eaLnBrk="0" hangingPunct="0">
              <a:tabLst>
                <a:tab pos="354013" algn="l"/>
              </a:tabLst>
              <a:defRPr sz="2500" b="1">
                <a:solidFill>
                  <a:schemeClr val="tx1"/>
                </a:solidFill>
                <a:latin typeface="Georgia" pitchFamily="18" charset="0"/>
                <a:ea typeface="MS PGothic" pitchFamily="34" charset="-128"/>
              </a:defRPr>
            </a:lvl5pPr>
            <a:lvl6pPr marL="2514600" indent="-228600" eaLnBrk="0" fontAlgn="base" hangingPunct="0">
              <a:spcBef>
                <a:spcPct val="20000"/>
              </a:spcBef>
              <a:spcAft>
                <a:spcPct val="0"/>
              </a:spcAft>
              <a:buChar char="›"/>
              <a:tabLst>
                <a:tab pos="354013" algn="l"/>
              </a:tabLst>
              <a:defRPr sz="2500" b="1">
                <a:solidFill>
                  <a:schemeClr val="tx1"/>
                </a:solidFill>
                <a:latin typeface="Georgia" pitchFamily="18" charset="0"/>
                <a:ea typeface="MS PGothic" pitchFamily="34" charset="-128"/>
              </a:defRPr>
            </a:lvl6pPr>
            <a:lvl7pPr marL="2971800" indent="-228600" eaLnBrk="0" fontAlgn="base" hangingPunct="0">
              <a:spcBef>
                <a:spcPct val="20000"/>
              </a:spcBef>
              <a:spcAft>
                <a:spcPct val="0"/>
              </a:spcAft>
              <a:buChar char="›"/>
              <a:tabLst>
                <a:tab pos="354013" algn="l"/>
              </a:tabLst>
              <a:defRPr sz="2500" b="1">
                <a:solidFill>
                  <a:schemeClr val="tx1"/>
                </a:solidFill>
                <a:latin typeface="Georgia" pitchFamily="18" charset="0"/>
                <a:ea typeface="MS PGothic" pitchFamily="34" charset="-128"/>
              </a:defRPr>
            </a:lvl7pPr>
            <a:lvl8pPr marL="3429000" indent="-228600" eaLnBrk="0" fontAlgn="base" hangingPunct="0">
              <a:spcBef>
                <a:spcPct val="20000"/>
              </a:spcBef>
              <a:spcAft>
                <a:spcPct val="0"/>
              </a:spcAft>
              <a:buChar char="›"/>
              <a:tabLst>
                <a:tab pos="354013" algn="l"/>
              </a:tabLst>
              <a:defRPr sz="2500" b="1">
                <a:solidFill>
                  <a:schemeClr val="tx1"/>
                </a:solidFill>
                <a:latin typeface="Georgia" pitchFamily="18" charset="0"/>
                <a:ea typeface="MS PGothic" pitchFamily="34" charset="-128"/>
              </a:defRPr>
            </a:lvl8pPr>
            <a:lvl9pPr marL="3886200" indent="-228600" eaLnBrk="0" fontAlgn="base" hangingPunct="0">
              <a:spcBef>
                <a:spcPct val="20000"/>
              </a:spcBef>
              <a:spcAft>
                <a:spcPct val="0"/>
              </a:spcAft>
              <a:buChar char="›"/>
              <a:tabLst>
                <a:tab pos="354013" algn="l"/>
              </a:tabLst>
              <a:defRPr sz="2500" b="1">
                <a:solidFill>
                  <a:schemeClr val="tx1"/>
                </a:solidFill>
                <a:latin typeface="Georgia" pitchFamily="18" charset="0"/>
                <a:ea typeface="MS PGothic" pitchFamily="34" charset="-128"/>
              </a:defRPr>
            </a:lvl9pPr>
          </a:lstStyle>
          <a:p>
            <a:pPr marL="0" marR="0" lvl="0" indent="0" algn="l" defTabSz="914400" rtl="0" eaLnBrk="1" fontAlgn="auto" latinLnBrk="0" hangingPunct="1">
              <a:lnSpc>
                <a:spcPct val="150000"/>
              </a:lnSpc>
              <a:spcBef>
                <a:spcPts val="0"/>
              </a:spcBef>
              <a:spcAft>
                <a:spcPts val="0"/>
              </a:spcAft>
              <a:buClr>
                <a:srgbClr val="9C5252"/>
              </a:buClr>
              <a:buSzPct val="90000"/>
              <a:buFont typeface="Wingdings" pitchFamily="2" charset="2"/>
              <a:buNone/>
              <a:tabLst>
                <a:tab pos="354013" algn="l"/>
              </a:tabLst>
              <a:defRPr/>
            </a:pPr>
            <a:r>
              <a:rPr kumimoji="0" lang="zh-CN" altLang="en-US"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rPr>
              <a:t>任课教师：</a:t>
            </a:r>
            <a:endParaRPr kumimoji="0" lang="en-US" altLang="zh-CN"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endParaRPr>
          </a:p>
          <a:p>
            <a:pPr marL="0" marR="0" lvl="0" indent="0" algn="l" defTabSz="914400" rtl="0" eaLnBrk="1" fontAlgn="auto" latinLnBrk="0" hangingPunct="1">
              <a:lnSpc>
                <a:spcPct val="150000"/>
              </a:lnSpc>
              <a:spcBef>
                <a:spcPts val="0"/>
              </a:spcBef>
              <a:spcAft>
                <a:spcPts val="0"/>
              </a:spcAft>
              <a:buClr>
                <a:srgbClr val="9C5252"/>
              </a:buClr>
              <a:buSzPct val="90000"/>
              <a:buFont typeface="Wingdings" pitchFamily="2" charset="2"/>
              <a:buNone/>
              <a:tabLst>
                <a:tab pos="354013" algn="l"/>
              </a:tabLst>
              <a:defRPr/>
            </a:pPr>
            <a:r>
              <a:rPr kumimoji="0" lang="zh-CN" altLang="en-US"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rPr>
              <a:t>联系方式：</a:t>
            </a:r>
            <a:endParaRPr kumimoji="0" lang="en-US" altLang="zh-CN"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endParaRPr>
          </a:p>
          <a:p>
            <a:pPr marL="0" marR="0" lvl="0" indent="0" algn="ctr" defTabSz="914400" rtl="0" eaLnBrk="1" fontAlgn="auto" latinLnBrk="0" hangingPunct="1">
              <a:lnSpc>
                <a:spcPct val="150000"/>
              </a:lnSpc>
              <a:spcBef>
                <a:spcPts val="0"/>
              </a:spcBef>
              <a:spcAft>
                <a:spcPts val="0"/>
              </a:spcAft>
              <a:buClr>
                <a:srgbClr val="9C5252"/>
              </a:buClr>
              <a:buSzPct val="90000"/>
              <a:buFont typeface="Wingdings" pitchFamily="2" charset="2"/>
              <a:buNone/>
              <a:tabLst>
                <a:tab pos="354013" algn="l"/>
              </a:tabLst>
              <a:defRPr/>
            </a:pPr>
            <a:r>
              <a:rPr kumimoji="0" lang="en-US" altLang="zh-CN"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rPr>
              <a:t>2026</a:t>
            </a:r>
            <a:r>
              <a:rPr kumimoji="0" lang="zh-CN" altLang="en-US"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rPr>
              <a:t>年秋季学期</a:t>
            </a:r>
            <a:endParaRPr kumimoji="0" lang="en-US" altLang="zh-CN" sz="2800" b="1"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endParaRPr>
          </a:p>
        </p:txBody>
      </p:sp>
      <p:pic>
        <p:nvPicPr>
          <p:cNvPr id="8" name="图片 7">
            <a:extLst>
              <a:ext uri="{FF2B5EF4-FFF2-40B4-BE49-F238E27FC236}">
                <a16:creationId xmlns:a16="http://schemas.microsoft.com/office/drawing/2014/main" id="{19CA2495-5BE5-88BF-F210-B9F7461670B1}"/>
              </a:ext>
            </a:extLst>
          </p:cNvPr>
          <p:cNvPicPr>
            <a:picLocks noChangeAspect="1"/>
          </p:cNvPicPr>
          <p:nvPr/>
        </p:nvPicPr>
        <p:blipFill>
          <a:blip r:embed="rId4">
            <a:extLst>
              <a:ext uri="{28A0092B-C50C-407E-A947-70E740481C1C}">
                <a14:useLocalDpi xmlns:a14="http://schemas.microsoft.com/office/drawing/2010/main" val="0"/>
              </a:ext>
            </a:extLst>
          </a:blip>
          <a:srcRect r="71590"/>
          <a:stretch>
            <a:fillRect/>
          </a:stretch>
        </p:blipFill>
        <p:spPr>
          <a:xfrm rot="16200000">
            <a:off x="3748246" y="-3763643"/>
            <a:ext cx="1929367" cy="9425861"/>
          </a:xfrm>
          <a:prstGeom prst="rect">
            <a:avLst/>
          </a:prstGeom>
        </p:spPr>
      </p:pic>
      <p:pic>
        <p:nvPicPr>
          <p:cNvPr id="10" name="图片 9">
            <a:extLst>
              <a:ext uri="{FF2B5EF4-FFF2-40B4-BE49-F238E27FC236}">
                <a16:creationId xmlns:a16="http://schemas.microsoft.com/office/drawing/2014/main" id="{6D6626CA-25A8-414D-D76E-5152F68B2D2E}"/>
              </a:ext>
            </a:extLst>
          </p:cNvPr>
          <p:cNvPicPr>
            <a:picLocks noChangeAspect="1"/>
          </p:cNvPicPr>
          <p:nvPr/>
        </p:nvPicPr>
        <p:blipFill>
          <a:blip r:embed="rId4">
            <a:extLst>
              <a:ext uri="{28A0092B-C50C-407E-A947-70E740481C1C}">
                <a14:useLocalDpi xmlns:a14="http://schemas.microsoft.com/office/drawing/2010/main" val="0"/>
              </a:ext>
            </a:extLst>
          </a:blip>
          <a:srcRect l="29181" t="48704" r="3735" b="18333"/>
          <a:stretch>
            <a:fillRect/>
          </a:stretch>
        </p:blipFill>
        <p:spPr>
          <a:xfrm>
            <a:off x="9362982" y="-15397"/>
            <a:ext cx="2829018" cy="1929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793" y="200660"/>
            <a:ext cx="3781219" cy="705485"/>
          </a:xfrm>
        </p:spPr>
        <p:txBody>
          <a:bodyPr>
            <a:normAutofit/>
          </a:bodyPr>
          <a:lstStyle/>
          <a:p>
            <a:pPr algn="ctr"/>
            <a:r>
              <a:rPr lang="zh-CN" altLang="en-US" sz="4000" b="1" dirty="0"/>
              <a:t>课程教材</a:t>
            </a:r>
          </a:p>
        </p:txBody>
      </p:sp>
      <p:sp>
        <p:nvSpPr>
          <p:cNvPr id="7" name="内容占位符 2">
            <a:extLst>
              <a:ext uri="{FF2B5EF4-FFF2-40B4-BE49-F238E27FC236}">
                <a16:creationId xmlns:a16="http://schemas.microsoft.com/office/drawing/2014/main" id="{2C81A2EC-D40C-EDE0-E440-6304FF689ED1}"/>
              </a:ext>
            </a:extLst>
          </p:cNvPr>
          <p:cNvSpPr>
            <a:spLocks noGrp="1"/>
          </p:cNvSpPr>
          <p:nvPr>
            <p:ph idx="1"/>
          </p:nvPr>
        </p:nvSpPr>
        <p:spPr>
          <a:xfrm>
            <a:off x="1213003" y="1912938"/>
            <a:ext cx="5446300" cy="3529012"/>
          </a:xfrm>
        </p:spPr>
        <p:txBody>
          <a:bodyPr>
            <a:noAutofit/>
          </a:bodyPr>
          <a:lstStyle/>
          <a:p>
            <a:pPr marL="0" indent="0">
              <a:lnSpc>
                <a:spcPct val="150000"/>
              </a:lnSpc>
              <a:buNone/>
            </a:pPr>
            <a:r>
              <a:rPr lang="zh-CN" altLang="zh-CN" sz="2600" b="1" dirty="0">
                <a:solidFill>
                  <a:srgbClr val="C00000"/>
                </a:solidFill>
                <a:latin typeface="SimHei" panose="02010609060101010101" pitchFamily="49" charset="-122"/>
                <a:ea typeface="SimHei" panose="02010609060101010101" pitchFamily="49" charset="-122"/>
              </a:rPr>
              <a:t>《</a:t>
            </a:r>
            <a:r>
              <a:rPr lang="zh-CN" altLang="en-US" sz="2600" b="1" dirty="0">
                <a:solidFill>
                  <a:srgbClr val="C00000"/>
                </a:solidFill>
                <a:latin typeface="SimHei" panose="02010609060101010101" pitchFamily="49" charset="-122"/>
                <a:ea typeface="SimHei" panose="02010609060101010101" pitchFamily="49" charset="-122"/>
              </a:rPr>
              <a:t>人工智能通识（公共课版）</a:t>
            </a:r>
            <a:r>
              <a:rPr lang="zh-CN" altLang="zh-CN" sz="2600" b="1" dirty="0">
                <a:solidFill>
                  <a:srgbClr val="C00000"/>
                </a:solidFill>
                <a:latin typeface="SimHei" panose="02010609060101010101" pitchFamily="49" charset="-122"/>
                <a:ea typeface="SimHei" panose="02010609060101010101" pitchFamily="49" charset="-122"/>
              </a:rPr>
              <a:t>》</a:t>
            </a:r>
            <a:endParaRPr lang="en-US" altLang="zh-CN" sz="2600" b="1" dirty="0">
              <a:solidFill>
                <a:srgbClr val="C00000"/>
              </a:solidFill>
              <a:latin typeface="SimHei" panose="02010609060101010101" pitchFamily="49" charset="-122"/>
              <a:ea typeface="SimHei" panose="02010609060101010101" pitchFamily="49" charset="-122"/>
            </a:endParaRPr>
          </a:p>
          <a:p>
            <a:pPr marL="0" indent="182563">
              <a:lnSpc>
                <a:spcPct val="150000"/>
              </a:lnSpc>
              <a:buNone/>
            </a:pPr>
            <a:r>
              <a:rPr lang="zh-CN" altLang="en-US" sz="2400" dirty="0">
                <a:solidFill>
                  <a:schemeClr val="tx1"/>
                </a:solidFill>
                <a:latin typeface="SimHei" panose="02010609060101010101" pitchFamily="49" charset="-122"/>
                <a:ea typeface="SimHei" panose="02010609060101010101" pitchFamily="49" charset="-122"/>
              </a:rPr>
              <a:t>机械工业</a:t>
            </a:r>
            <a:r>
              <a:rPr lang="zh-CN" altLang="zh-CN" sz="2400" dirty="0">
                <a:solidFill>
                  <a:schemeClr val="tx1"/>
                </a:solidFill>
                <a:latin typeface="SimHei" panose="02010609060101010101" pitchFamily="49" charset="-122"/>
                <a:ea typeface="SimHei" panose="02010609060101010101" pitchFamily="49" charset="-122"/>
              </a:rPr>
              <a:t>出版社</a:t>
            </a:r>
            <a:r>
              <a:rPr lang="en-US" altLang="zh-CN" sz="2400" dirty="0">
                <a:solidFill>
                  <a:schemeClr val="tx1"/>
                </a:solidFill>
                <a:latin typeface="SimHei" panose="02010609060101010101" pitchFamily="49" charset="-122"/>
                <a:ea typeface="SimHei" panose="02010609060101010101" pitchFamily="49" charset="-122"/>
              </a:rPr>
              <a:t>  </a:t>
            </a:r>
          </a:p>
          <a:p>
            <a:pPr marL="0" indent="182563">
              <a:lnSpc>
                <a:spcPct val="150000"/>
              </a:lnSpc>
              <a:spcAft>
                <a:spcPts val="0"/>
              </a:spcAft>
              <a:buNone/>
            </a:pPr>
            <a:r>
              <a:rPr lang="zh-CN" altLang="en-US" sz="2400" dirty="0">
                <a:latin typeface="SimHei" panose="02010609060101010101" pitchFamily="49" charset="-122"/>
                <a:ea typeface="SimHei" panose="02010609060101010101" pitchFamily="49" charset="-122"/>
              </a:rPr>
              <a:t>主  </a:t>
            </a:r>
            <a:r>
              <a:rPr lang="zh-CN" altLang="zh-CN" sz="2400" dirty="0">
                <a:latin typeface="SimHei" panose="02010609060101010101" pitchFamily="49" charset="-122"/>
                <a:ea typeface="SimHei" panose="02010609060101010101" pitchFamily="49" charset="-122"/>
              </a:rPr>
              <a:t>编</a:t>
            </a:r>
            <a:r>
              <a:rPr lang="zh-CN" altLang="en-US" sz="2400" dirty="0">
                <a:latin typeface="SimHei" panose="02010609060101010101" pitchFamily="49" charset="-122"/>
                <a:ea typeface="SimHei" panose="02010609060101010101" pitchFamily="49" charset="-122"/>
              </a:rPr>
              <a:t>：黄 栋、黄 琼、裴颂文</a:t>
            </a:r>
            <a:endParaRPr lang="en-US" altLang="zh-CN" sz="2400" dirty="0">
              <a:latin typeface="SimHei" panose="02010609060101010101" pitchFamily="49" charset="-122"/>
              <a:ea typeface="SimHei" panose="02010609060101010101" pitchFamily="49" charset="-122"/>
            </a:endParaRPr>
          </a:p>
          <a:p>
            <a:pPr marL="0" indent="182563">
              <a:lnSpc>
                <a:spcPct val="150000"/>
              </a:lnSpc>
              <a:spcAft>
                <a:spcPts val="0"/>
              </a:spcAft>
              <a:buNone/>
            </a:pPr>
            <a:r>
              <a:rPr lang="en-US" altLang="zh-CN" sz="2400" dirty="0">
                <a:latin typeface="SimHei" panose="02010609060101010101" pitchFamily="49" charset="-122"/>
                <a:ea typeface="SimHei" panose="02010609060101010101" pitchFamily="49" charset="-122"/>
              </a:rPr>
              <a:t>ISBN</a:t>
            </a:r>
            <a:r>
              <a:rPr lang="zh-CN" altLang="en-US" sz="2400" dirty="0">
                <a:latin typeface="SimHei" panose="02010609060101010101" pitchFamily="49" charset="-122"/>
                <a:ea typeface="SimHei" panose="02010609060101010101" pitchFamily="49" charset="-122"/>
              </a:rPr>
              <a:t>：</a:t>
            </a:r>
            <a:r>
              <a:rPr lang="en-US" altLang="zh-CN" sz="2400">
                <a:latin typeface="SimHei" panose="02010609060101010101" pitchFamily="49" charset="-122"/>
                <a:ea typeface="SimHei" panose="02010609060101010101" pitchFamily="49" charset="-122"/>
              </a:rPr>
              <a:t>978-7-111-82285-1</a:t>
            </a:r>
            <a:endParaRPr lang="en-US" altLang="zh-CN" sz="2400" dirty="0">
              <a:latin typeface="SimHei" panose="02010609060101010101" pitchFamily="49" charset="-122"/>
              <a:ea typeface="SimHei" panose="02010609060101010101" pitchFamily="49" charset="-122"/>
            </a:endParaRPr>
          </a:p>
        </p:txBody>
      </p:sp>
      <p:pic>
        <p:nvPicPr>
          <p:cNvPr id="8" name="图片 7">
            <a:extLst>
              <a:ext uri="{FF2B5EF4-FFF2-40B4-BE49-F238E27FC236}">
                <a16:creationId xmlns:a16="http://schemas.microsoft.com/office/drawing/2014/main" id="{A73BA5BF-8032-411B-E8ED-961C90D06CB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24266" y="1037263"/>
            <a:ext cx="3454731" cy="4783474"/>
          </a:xfrm>
          <a:prstGeom prst="rect">
            <a:avLst/>
          </a:prstGeom>
          <a:effectLst>
            <a:outerShdw blurRad="63500" sx="102000" sy="102000" algn="ctr" rotWithShape="0">
              <a:prstClr val="black">
                <a:alpha val="40000"/>
              </a:prstClr>
            </a:outerShdw>
          </a:effectLst>
        </p:spPr>
      </p:pic>
      <p:sp>
        <p:nvSpPr>
          <p:cNvPr id="13" name="灯片编号占位符 4">
            <a:extLst>
              <a:ext uri="{FF2B5EF4-FFF2-40B4-BE49-F238E27FC236}">
                <a16:creationId xmlns:a16="http://schemas.microsoft.com/office/drawing/2014/main" id="{847BAA57-A82C-BCC6-FE28-204EB3C53F84}"/>
              </a:ext>
            </a:extLst>
          </p:cNvPr>
          <p:cNvSpPr>
            <a:spLocks noGrp="1"/>
          </p:cNvSpPr>
          <p:nvPr>
            <p:ph type="sldNum" sz="quarter" idx="12"/>
          </p:nvPr>
        </p:nvSpPr>
        <p:spPr>
          <a:xfrm>
            <a:off x="5808027" y="6391459"/>
            <a:ext cx="575945" cy="31686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400" b="1" i="0" u="none" strike="noStrike" kern="1200" cap="none" spc="0" normalizeH="0" baseline="0" noProof="0" smtClean="0">
                <a:ln>
                  <a:noFill/>
                </a:ln>
                <a:solidFill>
                  <a:prstClr val="black"/>
                </a:solidFill>
                <a:effectLst/>
                <a:uLnTx/>
                <a:uFillTx/>
                <a:latin typeface="宋体" panose="02010600030101010101" pitchFamily="2" charset="-122"/>
                <a:ea typeface="宋体"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zh-CN" altLang="en-US" sz="1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4" name="文本框 13">
            <a:extLst>
              <a:ext uri="{FF2B5EF4-FFF2-40B4-BE49-F238E27FC236}">
                <a16:creationId xmlns:a16="http://schemas.microsoft.com/office/drawing/2014/main" id="{17D7CA4F-F1CF-C404-DDF8-4C44A8CC7B8F}"/>
              </a:ext>
            </a:extLst>
          </p:cNvPr>
          <p:cNvSpPr txBox="1"/>
          <p:nvPr/>
        </p:nvSpPr>
        <p:spPr>
          <a:xfrm>
            <a:off x="6346413" y="6349837"/>
            <a:ext cx="582965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000" b="0" i="0" u="none" strike="noStrike" kern="1200" cap="none" spc="0" normalizeH="0" baseline="0" noProof="0" dirty="0">
                <a:ln>
                  <a:noFill/>
                </a:ln>
                <a:solidFill>
                  <a:srgbClr val="F0F0F0"/>
                </a:solidFill>
                <a:effectLst/>
                <a:uLnTx/>
                <a:uFillTx/>
                <a:latin typeface="Arial"/>
                <a:ea typeface="微软雅黑"/>
                <a:cs typeface="+mn-cs"/>
              </a:rPr>
              <a:t>人工智能通识教程（公共课版）主编：黄栋 等</a:t>
            </a:r>
          </a:p>
        </p:txBody>
      </p:sp>
    </p:spTree>
    <p:extLst>
      <p:ext uri="{BB962C8B-B14F-4D97-AF65-F5344CB8AC3E}">
        <p14:creationId xmlns:p14="http://schemas.microsoft.com/office/powerpoint/2010/main" val="83109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回顾上一次课</a:t>
            </a:r>
          </a:p>
        </p:txBody>
      </p:sp>
      <p:sp>
        <p:nvSpPr>
          <p:cNvPr id="7" name="TextBox 6">
            <a:extLst>
              <a:ext uri="{FF2B5EF4-FFF2-40B4-BE49-F238E27FC236}">
                <a16:creationId xmlns:a16="http://schemas.microsoft.com/office/drawing/2014/main" id="{B52648B1-1BD6-42CF-9EC0-D10A857DBA9D}"/>
              </a:ext>
            </a:extLst>
          </p:cNvPr>
          <p:cNvSpPr txBox="1"/>
          <p:nvPr/>
        </p:nvSpPr>
        <p:spPr>
          <a:xfrm>
            <a:off x="791570" y="1885166"/>
            <a:ext cx="5013395" cy="3562985"/>
          </a:xfrm>
          <a:prstGeom prst="rect">
            <a:avLst/>
          </a:prstGeom>
        </p:spPr>
        <p:txBody>
          <a:bodyPr wrap="square" lIns="0" tIns="0" rIns="0" bIns="0" rtlCol="0" anchor="t">
            <a:noAutofit/>
          </a:bodyPr>
          <a:lstStyle/>
          <a:p>
            <a:pPr marL="285750" indent="-285750" algn="just">
              <a:lnSpc>
                <a:spcPct val="15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数据集、样本、特征、标签、训练集、测试集、模型的定义及在应用案例中的具体理解。</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a:p>
            <a:pPr marL="285750" indent="-285750" algn="just">
              <a:lnSpc>
                <a:spcPct val="15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有监督学习（带标签）、无监督学习（无标签）、半监督学习（部分标签）的基本概念。</a:t>
            </a:r>
          </a:p>
        </p:txBody>
      </p:sp>
      <p:sp>
        <p:nvSpPr>
          <p:cNvPr id="8" name="TextBox 8">
            <a:extLst>
              <a:ext uri="{FF2B5EF4-FFF2-40B4-BE49-F238E27FC236}">
                <a16:creationId xmlns:a16="http://schemas.microsoft.com/office/drawing/2014/main" id="{E2F74057-7D3A-664F-06F6-1EA89ABE4246}"/>
              </a:ext>
            </a:extLst>
          </p:cNvPr>
          <p:cNvSpPr txBox="1"/>
          <p:nvPr/>
        </p:nvSpPr>
        <p:spPr>
          <a:xfrm>
            <a:off x="2121217" y="1341221"/>
            <a:ext cx="2331720" cy="484505"/>
          </a:xfrm>
          <a:prstGeom prst="rect">
            <a:avLst/>
          </a:prstGeom>
        </p:spPr>
        <p:txBody>
          <a:bodyPr wrap="square" lIns="0" tIns="0" rIns="0" bIns="0" rtlCol="0" anchor="t">
            <a:noAutofit/>
          </a:bodyPr>
          <a:lstStyle/>
          <a:p>
            <a:pPr algn="ctr">
              <a:lnSpc>
                <a:spcPct val="100000"/>
              </a:lnSpc>
            </a:pPr>
            <a:r>
              <a:rPr lang="zh-CN" alt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rPr>
              <a:t>教学重点</a:t>
            </a:r>
            <a:endParaRPr 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endParaRPr>
          </a:p>
        </p:txBody>
      </p:sp>
      <p:sp>
        <p:nvSpPr>
          <p:cNvPr id="9" name="TextBox 11">
            <a:extLst>
              <a:ext uri="{FF2B5EF4-FFF2-40B4-BE49-F238E27FC236}">
                <a16:creationId xmlns:a16="http://schemas.microsoft.com/office/drawing/2014/main" id="{80730E03-52D4-2641-F62C-65E1DE6B5B63}"/>
              </a:ext>
            </a:extLst>
          </p:cNvPr>
          <p:cNvSpPr txBox="1"/>
          <p:nvPr/>
        </p:nvSpPr>
        <p:spPr>
          <a:xfrm>
            <a:off x="6851176" y="1885166"/>
            <a:ext cx="4327795" cy="2967159"/>
          </a:xfrm>
          <a:prstGeom prst="rect">
            <a:avLst/>
          </a:prstGeom>
        </p:spPr>
        <p:txBody>
          <a:bodyPr wrap="square" lIns="0" tIns="0" rIns="0" bIns="0" rtlCol="0" anchor="t">
            <a:spAutoFit/>
          </a:bodyPr>
          <a:lstStyle/>
          <a:p>
            <a:pPr marL="285750" indent="-285750" algn="l">
              <a:lnSpc>
                <a:spcPct val="20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特征工程 </a:t>
            </a:r>
            <a:r>
              <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VS</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 特征学习</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a:p>
            <a:pPr marL="285750" indent="-285750" algn="l">
              <a:lnSpc>
                <a:spcPct val="20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理解机器学习的本质</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a:p>
            <a:pPr marL="285750" indent="-285750" algn="l">
              <a:lnSpc>
                <a:spcPct val="20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理解训练阶段与测试</a:t>
            </a:r>
            <a:r>
              <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推理</a:t>
            </a:r>
            <a:r>
              <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阶段，了解训练集、测试集</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a:p>
            <a:pPr marL="285750" indent="-285750" algn="l">
              <a:lnSpc>
                <a:spcPct val="200000"/>
              </a:lnSpc>
              <a:spcBef>
                <a:spcPts val="0"/>
              </a:spcBef>
              <a:spcAft>
                <a:spcPts val="0"/>
              </a:spcAft>
              <a:buFont typeface="Arial" panose="020B0604020202020204" pitchFamily="34" charset="0"/>
              <a:buChar char="•"/>
            </a:pP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p:txBody>
      </p:sp>
      <p:sp>
        <p:nvSpPr>
          <p:cNvPr id="10" name="TextBox 12">
            <a:extLst>
              <a:ext uri="{FF2B5EF4-FFF2-40B4-BE49-F238E27FC236}">
                <a16:creationId xmlns:a16="http://schemas.microsoft.com/office/drawing/2014/main" id="{160A07D9-E830-2F91-BF7F-D4803D8D0B48}"/>
              </a:ext>
            </a:extLst>
          </p:cNvPr>
          <p:cNvSpPr txBox="1"/>
          <p:nvPr/>
        </p:nvSpPr>
        <p:spPr>
          <a:xfrm>
            <a:off x="7483221" y="1399005"/>
            <a:ext cx="2901950" cy="368935"/>
          </a:xfrm>
          <a:prstGeom prst="rect">
            <a:avLst/>
          </a:prstGeom>
        </p:spPr>
        <p:txBody>
          <a:bodyPr wrap="square" lIns="0" tIns="0" rIns="0" bIns="0" rtlCol="0" anchor="t">
            <a:spAutoFit/>
          </a:bodyPr>
          <a:lstStyle/>
          <a:p>
            <a:pPr algn="ctr">
              <a:lnSpc>
                <a:spcPct val="100000"/>
              </a:lnSpc>
            </a:pPr>
            <a:r>
              <a:rPr lang="zh-CN" alt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rPr>
              <a:t>教学难点</a:t>
            </a:r>
            <a:endParaRPr 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endParaRPr>
          </a:p>
        </p:txBody>
      </p:sp>
      <p:sp>
        <p:nvSpPr>
          <p:cNvPr id="3" name="灯片编号占位符 4">
            <a:extLst>
              <a:ext uri="{FF2B5EF4-FFF2-40B4-BE49-F238E27FC236}">
                <a16:creationId xmlns:a16="http://schemas.microsoft.com/office/drawing/2014/main" id="{5437B66C-94E0-B65D-F5E8-C8E3B032D4BA}"/>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a:t>
            </a:fld>
            <a:endParaRPr lang="zh-CN" altLang="en-US" dirty="0"/>
          </a:p>
        </p:txBody>
      </p:sp>
      <p:sp>
        <p:nvSpPr>
          <p:cNvPr id="4" name="文本框 3">
            <a:extLst>
              <a:ext uri="{FF2B5EF4-FFF2-40B4-BE49-F238E27FC236}">
                <a16:creationId xmlns:a16="http://schemas.microsoft.com/office/drawing/2014/main" id="{C4C508B4-F7DC-074D-15D7-A26D5875A25F}"/>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255010" y="3262630"/>
            <a:ext cx="5817235" cy="1018540"/>
          </a:xfrm>
        </p:spPr>
        <p:txBody>
          <a:bodyPr>
            <a:noAutofit/>
          </a:bodyPr>
          <a:lstStyle/>
          <a:p>
            <a:r>
              <a:rPr lang="zh-CN" altLang="en-US" sz="4800" dirty="0">
                <a:solidFill>
                  <a:srgbClr val="C00000"/>
                </a:solidFill>
                <a:latin typeface="黑体" panose="02010609060101010101" charset="-122"/>
                <a:ea typeface="黑体" panose="02010609060101010101" charset="-122"/>
                <a:cs typeface="+mn-ea"/>
                <a:sym typeface="+mn-lt"/>
              </a:rPr>
              <a:t>机器学习基础（</a:t>
            </a:r>
            <a:r>
              <a:rPr lang="zh-CN" altLang="en-US" sz="4800" dirty="0">
                <a:solidFill>
                  <a:srgbClr val="C00000"/>
                </a:solidFill>
                <a:cs typeface="+mn-ea"/>
                <a:sym typeface="+mn-lt"/>
              </a:rPr>
              <a:t>中</a:t>
            </a:r>
            <a:r>
              <a:rPr lang="zh-CN" altLang="en-US" sz="4800" dirty="0">
                <a:solidFill>
                  <a:srgbClr val="C00000"/>
                </a:solidFill>
                <a:latin typeface="黑体" panose="02010609060101010101" charset="-122"/>
                <a:ea typeface="黑体" panose="02010609060101010101" charset="-122"/>
                <a:cs typeface="+mn-ea"/>
                <a:sym typeface="+mn-lt"/>
              </a:rPr>
              <a:t>）</a:t>
            </a:r>
          </a:p>
        </p:txBody>
      </p:sp>
      <p:sp>
        <p:nvSpPr>
          <p:cNvPr id="12" name="矩形 11"/>
          <p:cNvSpPr/>
          <p:nvPr/>
        </p:nvSpPr>
        <p:spPr>
          <a:xfrm>
            <a:off x="5214990" y="2286714"/>
            <a:ext cx="1762021" cy="707886"/>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ea"/>
                <a:sym typeface="+mn-lt"/>
              </a:rPr>
              <a:t>第二章</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58C5-8210-941A-BF52-028C08DDE9E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1CBB0D-2686-A628-454D-A6AC97C75B7D}"/>
              </a:ext>
            </a:extLst>
          </p:cNvPr>
          <p:cNvSpPr>
            <a:spLocks noGrp="1"/>
          </p:cNvSpPr>
          <p:nvPr>
            <p:ph type="title"/>
          </p:nvPr>
        </p:nvSpPr>
        <p:spPr/>
        <p:txBody>
          <a:bodyPr/>
          <a:lstStyle/>
          <a:p>
            <a:r>
              <a:rPr lang="zh-CN" altLang="en-US" dirty="0"/>
              <a:t>教学重点与难点</a:t>
            </a:r>
          </a:p>
        </p:txBody>
      </p:sp>
      <p:sp>
        <p:nvSpPr>
          <p:cNvPr id="7" name="TextBox 6">
            <a:extLst>
              <a:ext uri="{FF2B5EF4-FFF2-40B4-BE49-F238E27FC236}">
                <a16:creationId xmlns:a16="http://schemas.microsoft.com/office/drawing/2014/main" id="{9385A8E4-8452-973F-C3D0-062FFE11B430}"/>
              </a:ext>
            </a:extLst>
          </p:cNvPr>
          <p:cNvSpPr txBox="1"/>
          <p:nvPr/>
        </p:nvSpPr>
        <p:spPr>
          <a:xfrm>
            <a:off x="791570" y="1885166"/>
            <a:ext cx="5013395" cy="3562985"/>
          </a:xfrm>
          <a:prstGeom prst="rect">
            <a:avLst/>
          </a:prstGeom>
        </p:spPr>
        <p:txBody>
          <a:bodyPr wrap="square" lIns="0" tIns="0" rIns="0" bIns="0" rtlCol="0" anchor="t">
            <a:noAutofit/>
          </a:bodyPr>
          <a:lstStyle/>
          <a:p>
            <a:pPr marL="285750" indent="-285750" algn="just">
              <a:lnSpc>
                <a:spcPct val="15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有监督学习（带标签）、无监督学习（无标签）、半监督学习（部分标签）的核心差异与应用场景</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a:p>
            <a:pPr marL="285750" indent="-285750" algn="just">
              <a:lnSpc>
                <a:spcPct val="15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机器学习的三要素：模型、学习准则、优化算法</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a:p>
            <a:pPr marL="285750" indent="-285750" algn="just">
              <a:lnSpc>
                <a:spcPct val="15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了解随机梯度下降，理解独热编码、批量大小、学习率、</a:t>
            </a:r>
            <a:r>
              <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epoch</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等概念</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a:p>
            <a:pPr marL="285750" indent="-285750" algn="just">
              <a:lnSpc>
                <a:spcPct val="15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常见机器学习模型：分类、聚类、回归</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a:p>
            <a:pPr marL="285750" indent="-285750" algn="just">
              <a:lnSpc>
                <a:spcPct val="150000"/>
              </a:lnSpc>
              <a:spcBef>
                <a:spcPts val="0"/>
              </a:spcBef>
              <a:spcAft>
                <a:spcPts val="0"/>
              </a:spcAft>
              <a:buFont typeface="Arial" panose="020B0604020202020204" pitchFamily="34" charset="0"/>
              <a:buChar char="•"/>
            </a:pPr>
            <a:endPar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p:txBody>
      </p:sp>
      <p:sp>
        <p:nvSpPr>
          <p:cNvPr id="8" name="TextBox 8">
            <a:extLst>
              <a:ext uri="{FF2B5EF4-FFF2-40B4-BE49-F238E27FC236}">
                <a16:creationId xmlns:a16="http://schemas.microsoft.com/office/drawing/2014/main" id="{CBC6F1D9-CB9A-EA4B-BBB1-23FA2E726756}"/>
              </a:ext>
            </a:extLst>
          </p:cNvPr>
          <p:cNvSpPr txBox="1"/>
          <p:nvPr/>
        </p:nvSpPr>
        <p:spPr>
          <a:xfrm>
            <a:off x="2121217" y="1341221"/>
            <a:ext cx="2331720" cy="484505"/>
          </a:xfrm>
          <a:prstGeom prst="rect">
            <a:avLst/>
          </a:prstGeom>
        </p:spPr>
        <p:txBody>
          <a:bodyPr wrap="square" lIns="0" tIns="0" rIns="0" bIns="0" rtlCol="0" anchor="t">
            <a:noAutofit/>
          </a:bodyPr>
          <a:lstStyle/>
          <a:p>
            <a:pPr algn="ctr">
              <a:lnSpc>
                <a:spcPct val="100000"/>
              </a:lnSpc>
            </a:pPr>
            <a:r>
              <a:rPr lang="zh-CN" alt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rPr>
              <a:t>教学重点</a:t>
            </a:r>
            <a:endParaRPr 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endParaRPr>
          </a:p>
        </p:txBody>
      </p:sp>
      <p:sp>
        <p:nvSpPr>
          <p:cNvPr id="9" name="TextBox 11">
            <a:extLst>
              <a:ext uri="{FF2B5EF4-FFF2-40B4-BE49-F238E27FC236}">
                <a16:creationId xmlns:a16="http://schemas.microsoft.com/office/drawing/2014/main" id="{F7182B86-E406-C241-46A8-65E6F0C6DB92}"/>
              </a:ext>
            </a:extLst>
          </p:cNvPr>
          <p:cNvSpPr txBox="1"/>
          <p:nvPr/>
        </p:nvSpPr>
        <p:spPr>
          <a:xfrm>
            <a:off x="6851176" y="1885166"/>
            <a:ext cx="4327795" cy="2967159"/>
          </a:xfrm>
          <a:prstGeom prst="rect">
            <a:avLst/>
          </a:prstGeom>
        </p:spPr>
        <p:txBody>
          <a:bodyPr wrap="square" lIns="0" tIns="0" rIns="0" bIns="0" rtlCol="0" anchor="t">
            <a:spAutoFit/>
          </a:bodyPr>
          <a:lstStyle/>
          <a:p>
            <a:pPr marL="285750" indent="-285750" algn="l">
              <a:lnSpc>
                <a:spcPct val="20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理解损失函数</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a:p>
            <a:pPr marL="285750" indent="-285750" algn="l">
              <a:lnSpc>
                <a:spcPct val="20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rPr>
              <a:t>理解迭代次数、</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批量</a:t>
            </a:r>
            <a:r>
              <a:rPr lang="zh-CN" altLang="en-US" sz="200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大小、</a:t>
            </a:r>
            <a:r>
              <a:rPr lang="en-US" altLang="zh-CN" sz="200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epoch</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之间的关系</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endParaRPr>
          </a:p>
          <a:p>
            <a:pPr marL="285750" indent="-285750" algn="l">
              <a:lnSpc>
                <a:spcPct val="200000"/>
              </a:lnSpc>
              <a:spcBef>
                <a:spcPts val="0"/>
              </a:spcBef>
              <a:spcAft>
                <a:spcPts val="0"/>
              </a:spcAft>
              <a:buFont typeface="Arial" panose="020B0604020202020204" pitchFamily="34" charset="0"/>
              <a:buChar char="•"/>
            </a:pP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普通参数 </a:t>
            </a:r>
            <a:r>
              <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VS</a:t>
            </a:r>
            <a:r>
              <a:rPr lang="zh-CN" altLang="en-US"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panose="020B0500000000000000" charset="-122"/>
              </a:rPr>
              <a:t> 超参数</a:t>
            </a: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a:p>
            <a:pPr marL="285750" indent="-285750" algn="l">
              <a:lnSpc>
                <a:spcPct val="200000"/>
              </a:lnSpc>
              <a:spcBef>
                <a:spcPts val="0"/>
              </a:spcBef>
              <a:spcAft>
                <a:spcPts val="0"/>
              </a:spcAft>
              <a:buFont typeface="Arial" panose="020B0604020202020204" pitchFamily="34" charset="0"/>
              <a:buChar char="•"/>
            </a:pPr>
            <a:endParaRPr lang="en-US" altLang="zh-CN" sz="2000" dirty="0">
              <a:solidFill>
                <a:srgbClr val="000000"/>
              </a:solidFill>
              <a:latin typeface="SimHei" panose="02010609060101010101" pitchFamily="49" charset="-122"/>
              <a:ea typeface="SimHei" panose="02010609060101010101" pitchFamily="49" charset="-122"/>
              <a:cs typeface="Times New Roman" panose="02020603050405020304" charset="0"/>
              <a:sym typeface="思源黑体 Bold" panose="020B0800000000000000" charset="-122"/>
            </a:endParaRPr>
          </a:p>
        </p:txBody>
      </p:sp>
      <p:sp>
        <p:nvSpPr>
          <p:cNvPr id="10" name="TextBox 12">
            <a:extLst>
              <a:ext uri="{FF2B5EF4-FFF2-40B4-BE49-F238E27FC236}">
                <a16:creationId xmlns:a16="http://schemas.microsoft.com/office/drawing/2014/main" id="{58F609A4-2043-4540-2FDC-3B865F734FD9}"/>
              </a:ext>
            </a:extLst>
          </p:cNvPr>
          <p:cNvSpPr txBox="1"/>
          <p:nvPr/>
        </p:nvSpPr>
        <p:spPr>
          <a:xfrm>
            <a:off x="7483221" y="1399005"/>
            <a:ext cx="2901950" cy="368935"/>
          </a:xfrm>
          <a:prstGeom prst="rect">
            <a:avLst/>
          </a:prstGeom>
        </p:spPr>
        <p:txBody>
          <a:bodyPr wrap="square" lIns="0" tIns="0" rIns="0" bIns="0" rtlCol="0" anchor="t">
            <a:spAutoFit/>
          </a:bodyPr>
          <a:lstStyle/>
          <a:p>
            <a:pPr algn="ctr">
              <a:lnSpc>
                <a:spcPct val="100000"/>
              </a:lnSpc>
            </a:pPr>
            <a:r>
              <a:rPr lang="zh-CN" alt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rPr>
              <a:t>教学难点</a:t>
            </a:r>
            <a:endParaRPr lang="en-US" sz="2400" b="1" spc="441" dirty="0">
              <a:solidFill>
                <a:srgbClr val="FF0000"/>
              </a:solidFill>
              <a:latin typeface="黑体" panose="02010609060101010101" charset="-122"/>
              <a:ea typeface="黑体" panose="02010609060101010101" charset="-122"/>
              <a:cs typeface="可画风暴黑-简" panose="020B0500000000000000" charset="-122"/>
              <a:sym typeface="可画风暴黑-简" panose="020B0500000000000000" charset="-122"/>
            </a:endParaRPr>
          </a:p>
        </p:txBody>
      </p:sp>
      <p:sp>
        <p:nvSpPr>
          <p:cNvPr id="3" name="灯片编号占位符 4">
            <a:extLst>
              <a:ext uri="{FF2B5EF4-FFF2-40B4-BE49-F238E27FC236}">
                <a16:creationId xmlns:a16="http://schemas.microsoft.com/office/drawing/2014/main" id="{A8489E58-ECF9-9649-64B7-71BFBF54CCD2}"/>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5</a:t>
            </a:fld>
            <a:endParaRPr lang="zh-CN" altLang="en-US" dirty="0"/>
          </a:p>
        </p:txBody>
      </p:sp>
      <p:sp>
        <p:nvSpPr>
          <p:cNvPr id="4" name="文本框 3">
            <a:extLst>
              <a:ext uri="{FF2B5EF4-FFF2-40B4-BE49-F238E27FC236}">
                <a16:creationId xmlns:a16="http://schemas.microsoft.com/office/drawing/2014/main" id="{4C65F01A-F900-3241-AC8A-C352B21E2C85}"/>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3214908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312795" y="3053080"/>
            <a:ext cx="5817235" cy="1228090"/>
          </a:xfrm>
        </p:spPr>
        <p:txBody>
          <a:bodyPr/>
          <a:lstStyle/>
          <a:p>
            <a:r>
              <a:rPr lang="zh-CN" altLang="en-US" dirty="0">
                <a:latin typeface="黑体" panose="02010609060101010101" charset="-122"/>
                <a:ea typeface="黑体" panose="02010609060101010101" charset="-122"/>
                <a:cs typeface="+mn-ea"/>
                <a:sym typeface="+mn-lt"/>
              </a:rPr>
              <a:t>机器学习的任务分类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13BCD-7A5B-F9FD-2CB6-E798BFB05B04}"/>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82C0127A-DDBB-9156-B895-9A757E1A5B95}"/>
              </a:ext>
            </a:extLst>
          </p:cNvPr>
          <p:cNvSpPr>
            <a:spLocks noGrp="1"/>
          </p:cNvSpPr>
          <p:nvPr>
            <p:ph type="title"/>
          </p:nvPr>
        </p:nvSpPr>
        <p:spPr>
          <a:xfrm>
            <a:off x="0" y="228600"/>
            <a:ext cx="4695290" cy="706438"/>
          </a:xfrm>
        </p:spPr>
        <p:txBody>
          <a:bodyPr>
            <a:noAutofit/>
          </a:bodyPr>
          <a:lstStyle/>
          <a:p>
            <a:pPr algn="ctr"/>
            <a:r>
              <a:rPr lang="zh-CN" altLang="en-US" sz="2600" b="1" dirty="0">
                <a:sym typeface="可画风暴黑-简" panose="020B0500000000000000" charset="-122"/>
              </a:rPr>
              <a:t>回顾：什么是监督信息？</a:t>
            </a:r>
            <a:endParaRPr lang="zh-CN" altLang="en-US" sz="2600" dirty="0"/>
          </a:p>
        </p:txBody>
      </p:sp>
      <p:sp>
        <p:nvSpPr>
          <p:cNvPr id="4" name="流程图: 过程 59">
            <a:extLst>
              <a:ext uri="{FF2B5EF4-FFF2-40B4-BE49-F238E27FC236}">
                <a16:creationId xmlns:a16="http://schemas.microsoft.com/office/drawing/2014/main" id="{4C98807F-99A1-9267-FADF-829EFDE1C02F}"/>
              </a:ext>
            </a:extLst>
          </p:cNvPr>
          <p:cNvSpPr/>
          <p:nvPr/>
        </p:nvSpPr>
        <p:spPr>
          <a:xfrm>
            <a:off x="228081" y="1219246"/>
            <a:ext cx="4317948"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just" defTabSz="914400" rtl="0" eaLnBrk="1" fontAlgn="base" latinLnBrk="0" hangingPunct="1">
              <a:lnSpc>
                <a:spcPct val="13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FF"/>
                </a:solidFill>
                <a:effectLst/>
                <a:uLnTx/>
                <a:uFillTx/>
                <a:latin typeface="SimHei" panose="02010609060101010101" pitchFamily="49" charset="-122"/>
                <a:ea typeface="SimHei" panose="02010609060101010101" pitchFamily="49" charset="-122"/>
                <a:cs typeface="+mn-cs"/>
                <a:sym typeface="宋体" panose="02010600030101010101" pitchFamily="2" charset="-122"/>
              </a:rPr>
              <a:t>机器学习模型如何训练？</a:t>
            </a:r>
          </a:p>
        </p:txBody>
      </p:sp>
      <p:sp>
        <p:nvSpPr>
          <p:cNvPr id="17" name="矩形 16">
            <a:extLst>
              <a:ext uri="{FF2B5EF4-FFF2-40B4-BE49-F238E27FC236}">
                <a16:creationId xmlns:a16="http://schemas.microsoft.com/office/drawing/2014/main" id="{3791FE73-8E66-9234-5E41-D48760089FF7}"/>
              </a:ext>
            </a:extLst>
          </p:cNvPr>
          <p:cNvSpPr/>
          <p:nvPr/>
        </p:nvSpPr>
        <p:spPr>
          <a:xfrm>
            <a:off x="381860" y="2762543"/>
            <a:ext cx="2225397" cy="2122961"/>
          </a:xfrm>
          <a:prstGeom prst="rect">
            <a:avLst/>
          </a:prstGeom>
          <a:solidFill>
            <a:srgbClr val="FFFF00">
              <a:alpha val="20000"/>
            </a:srgbClr>
          </a:solidFill>
          <a:ln w="25400" cap="flat" cmpd="sng" algn="ctr">
            <a:noFill/>
            <a:prstDash val="solid"/>
          </a:ln>
          <a:effectLst/>
        </p:spPr>
        <p:txBody>
          <a:bodyPr tIns="0" bIns="432000" rtlCol="0" anchor="ctr" anchorCtr="0"/>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模型</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black"/>
                </a:solidFill>
                <a:effectLst/>
                <a:uLnTx/>
                <a:uFillTx/>
                <a:latin typeface="Microsoft YaHei" panose="020B0503020204020204" pitchFamily="34" charset="-122"/>
                <a:ea typeface="宋体" panose="02010600030101010101" pitchFamily="2" charset="-122"/>
                <a:cs typeface="+mn-cs"/>
              </a:rPr>
              <a:t>以神经网络为例，怎样进行模型训练？</a:t>
            </a:r>
          </a:p>
        </p:txBody>
      </p:sp>
      <p:pic>
        <p:nvPicPr>
          <p:cNvPr id="18" name="图片 17">
            <a:extLst>
              <a:ext uri="{FF2B5EF4-FFF2-40B4-BE49-F238E27FC236}">
                <a16:creationId xmlns:a16="http://schemas.microsoft.com/office/drawing/2014/main" id="{9BFD8BA8-FA25-17B9-3A56-E847AD85B1BE}"/>
              </a:ext>
            </a:extLst>
          </p:cNvPr>
          <p:cNvPicPr>
            <a:picLocks noChangeAspect="1"/>
          </p:cNvPicPr>
          <p:nvPr/>
        </p:nvPicPr>
        <p:blipFill>
          <a:blip r:embed="rId2"/>
          <a:stretch>
            <a:fillRect/>
          </a:stretch>
        </p:blipFill>
        <p:spPr>
          <a:xfrm>
            <a:off x="2930990" y="1302372"/>
            <a:ext cx="4523325" cy="3484475"/>
          </a:xfrm>
          <a:prstGeom prst="rect">
            <a:avLst/>
          </a:prstGeom>
        </p:spPr>
      </p:pic>
      <p:pic>
        <p:nvPicPr>
          <p:cNvPr id="19" name="图片 18">
            <a:extLst>
              <a:ext uri="{FF2B5EF4-FFF2-40B4-BE49-F238E27FC236}">
                <a16:creationId xmlns:a16="http://schemas.microsoft.com/office/drawing/2014/main" id="{47D7F3E2-C09F-23E5-16FD-26B62B027DD1}"/>
              </a:ext>
            </a:extLst>
          </p:cNvPr>
          <p:cNvPicPr>
            <a:picLocks noChangeAspect="1"/>
          </p:cNvPicPr>
          <p:nvPr/>
        </p:nvPicPr>
        <p:blipFill>
          <a:blip r:embed="rId3"/>
          <a:stretch>
            <a:fillRect/>
          </a:stretch>
        </p:blipFill>
        <p:spPr>
          <a:xfrm>
            <a:off x="7964975" y="2215199"/>
            <a:ext cx="455852" cy="2040481"/>
          </a:xfrm>
          <a:prstGeom prst="rect">
            <a:avLst/>
          </a:prstGeom>
        </p:spPr>
      </p:pic>
      <p:sp>
        <p:nvSpPr>
          <p:cNvPr id="20" name="流程图: 过程 59">
            <a:extLst>
              <a:ext uri="{FF2B5EF4-FFF2-40B4-BE49-F238E27FC236}">
                <a16:creationId xmlns:a16="http://schemas.microsoft.com/office/drawing/2014/main" id="{4B14BEDC-2249-7C3B-1DD6-17BD1E26BBBA}"/>
              </a:ext>
            </a:extLst>
          </p:cNvPr>
          <p:cNvSpPr/>
          <p:nvPr/>
        </p:nvSpPr>
        <p:spPr>
          <a:xfrm>
            <a:off x="6584048" y="4074502"/>
            <a:ext cx="1031446"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just" defTabSz="914400" rtl="0" eaLnBrk="1" fontAlgn="base" latinLnBrk="0" hangingPunct="1">
              <a:lnSpc>
                <a:spcPct val="13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rPr>
              <a:t>预测值</a:t>
            </a:r>
          </a:p>
        </p:txBody>
      </p:sp>
      <p:sp>
        <p:nvSpPr>
          <p:cNvPr id="21" name="流程图: 过程 59">
            <a:extLst>
              <a:ext uri="{FF2B5EF4-FFF2-40B4-BE49-F238E27FC236}">
                <a16:creationId xmlns:a16="http://schemas.microsoft.com/office/drawing/2014/main" id="{01D787E1-5113-9DF3-3CBD-A737D810793A}"/>
              </a:ext>
            </a:extLst>
          </p:cNvPr>
          <p:cNvSpPr/>
          <p:nvPr/>
        </p:nvSpPr>
        <p:spPr>
          <a:xfrm>
            <a:off x="7487847" y="4188910"/>
            <a:ext cx="1620536"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ctr" defTabSz="914400" rtl="0" eaLnBrk="1" fontAlgn="base" latinLnBrk="0" hangingPunct="1">
              <a:lnSpc>
                <a:spcPct val="13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rPr>
              <a:t>真实值</a:t>
            </a:r>
            <a:endPar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endParaRPr>
          </a:p>
          <a:p>
            <a:pPr marL="0" marR="0" lvl="0" indent="0" algn="ctr" defTabSz="914400" rtl="0" eaLnBrk="1" fontAlgn="base" latinLnBrk="0" hangingPunct="1">
              <a:lnSpc>
                <a:spcPct val="13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a:cs typeface="+mn-cs"/>
                <a:sym typeface="宋体" panose="02010600030101010101" pitchFamily="2" charset="-122"/>
              </a:rPr>
              <a:t>（亦称</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rPr>
              <a:t>监督信息</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a:cs typeface="+mn-cs"/>
                <a:sym typeface="宋体" panose="02010600030101010101" pitchFamily="2" charset="-122"/>
              </a:rPr>
              <a:t>）</a:t>
            </a:r>
          </a:p>
        </p:txBody>
      </p:sp>
      <p:sp>
        <p:nvSpPr>
          <p:cNvPr id="22" name="上下箭头 21">
            <a:extLst>
              <a:ext uri="{FF2B5EF4-FFF2-40B4-BE49-F238E27FC236}">
                <a16:creationId xmlns:a16="http://schemas.microsoft.com/office/drawing/2014/main" id="{4C88D5B4-1B73-6A2F-7A4E-B35A79AD7B0C}"/>
              </a:ext>
            </a:extLst>
          </p:cNvPr>
          <p:cNvSpPr/>
          <p:nvPr/>
        </p:nvSpPr>
        <p:spPr>
          <a:xfrm rot="16200000">
            <a:off x="7465760" y="3097555"/>
            <a:ext cx="300941" cy="632984"/>
          </a:xfrm>
          <a:prstGeom prst="upDown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3" name="矩形 22">
            <a:extLst>
              <a:ext uri="{FF2B5EF4-FFF2-40B4-BE49-F238E27FC236}">
                <a16:creationId xmlns:a16="http://schemas.microsoft.com/office/drawing/2014/main" id="{07A482F7-5B7D-F6B6-EA8E-12319C7CBD0C}"/>
              </a:ext>
            </a:extLst>
          </p:cNvPr>
          <p:cNvSpPr/>
          <p:nvPr/>
        </p:nvSpPr>
        <p:spPr>
          <a:xfrm>
            <a:off x="9180011" y="1723975"/>
            <a:ext cx="2752053" cy="3161529"/>
          </a:xfrm>
          <a:prstGeom prst="rect">
            <a:avLst/>
          </a:prstGeom>
          <a:solidFill>
            <a:srgbClr val="4F81BD">
              <a:alpha val="20000"/>
            </a:srgbClr>
          </a:solidFill>
          <a:ln w="25400" cap="flat" cmpd="sng" algn="ctr">
            <a:noFill/>
            <a:prstDash val="solid"/>
          </a:ln>
          <a:effectLst/>
        </p:spPr>
        <p:txBody>
          <a:bodyPr tIns="180000" rtlCol="0" anchor="t" anchorCtr="0"/>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black"/>
                </a:solidFill>
                <a:effectLst/>
                <a:uLnTx/>
                <a:uFillTx/>
                <a:latin typeface="Microsoft YaHei" panose="020B0503020204020204" pitchFamily="34" charset="-122"/>
                <a:ea typeface="宋体" panose="02010600030101010101" pitchFamily="2" charset="-122"/>
                <a:cs typeface="+mn-cs"/>
              </a:rPr>
              <a:t>模型训练的目标：</a:t>
            </a:r>
            <a:endParaRPr kumimoji="1" lang="en-US" altLang="zh-CN" sz="1800" b="1" i="0" u="none" strike="noStrike" kern="0" cap="none" spc="0" normalizeH="0" baseline="0" noProof="0" dirty="0">
              <a:ln>
                <a:noFill/>
              </a:ln>
              <a:solidFill>
                <a:prstClr val="black"/>
              </a:solidFill>
              <a:effectLst/>
              <a:uLnTx/>
              <a:uFillTx/>
              <a:latin typeface="Microsoft YaHei" panose="020B0503020204020204" pitchFamily="34" charset="-122"/>
              <a:ea typeface="宋体" panose="0201060003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Wingdings" pitchFamily="2" charset="2"/>
              <a:buChar char="ü"/>
              <a:tabLst/>
              <a:defRPr/>
            </a:pPr>
            <a:r>
              <a:rPr kumimoji="1" lang="zh-CN" altLang="en-US" sz="1800" b="1" i="0" u="none" strike="noStrike" kern="0" cap="none" spc="0" normalizeH="0" baseline="0" noProof="0" dirty="0">
                <a:ln>
                  <a:noFill/>
                </a:ln>
                <a:solidFill>
                  <a:srgbClr val="C00000"/>
                </a:solidFill>
                <a:effectLst/>
                <a:uLnTx/>
                <a:uFillTx/>
                <a:latin typeface="Microsoft YaHei" panose="020B0503020204020204" pitchFamily="34" charset="-122"/>
                <a:ea typeface="宋体" panose="02010600030101010101" pitchFamily="2" charset="-122"/>
                <a:cs typeface="+mn-cs"/>
              </a:rPr>
              <a:t>通过学习，不断让预测值趋近真实值</a:t>
            </a:r>
            <a:endParaRPr kumimoji="1" lang="en-US" altLang="zh-CN" sz="1800" b="1" i="0" u="none" strike="noStrike" kern="0" cap="none" spc="0" normalizeH="0" baseline="0" noProof="0" dirty="0">
              <a:ln>
                <a:noFill/>
              </a:ln>
              <a:solidFill>
                <a:srgbClr val="C00000"/>
              </a:solidFill>
              <a:effectLst/>
              <a:uLnTx/>
              <a:uFillTx/>
              <a:latin typeface="Microsoft YaHei" panose="020B0503020204020204" pitchFamily="34" charset="-122"/>
              <a:ea typeface="宋体" panose="02010600030101010101" pitchFamily="2"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1" lang="en-US" altLang="zh-CN" sz="18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How?</a:t>
            </a:r>
          </a:p>
          <a:p>
            <a:pPr marL="285750" marR="0" lvl="0" indent="-28575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1" lang="zh-CN" altLang="en-US" sz="18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定义一个损失函数，度量 </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与 </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差异</a:t>
            </a:r>
            <a:endPar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不断降低损失函数值</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右箭头 24">
            <a:extLst>
              <a:ext uri="{FF2B5EF4-FFF2-40B4-BE49-F238E27FC236}">
                <a16:creationId xmlns:a16="http://schemas.microsoft.com/office/drawing/2014/main" id="{BD78798C-B424-E315-FD3E-90416D911FCC}"/>
              </a:ext>
            </a:extLst>
          </p:cNvPr>
          <p:cNvSpPr/>
          <p:nvPr/>
        </p:nvSpPr>
        <p:spPr>
          <a:xfrm rot="10800000" flipH="1" flipV="1">
            <a:off x="3578455" y="1544685"/>
            <a:ext cx="3450299" cy="508004"/>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rPr>
              <a:t>前馈计算（计算预测值）</a:t>
            </a:r>
          </a:p>
        </p:txBody>
      </p:sp>
      <p:sp>
        <p:nvSpPr>
          <p:cNvPr id="26" name="右箭头 25">
            <a:extLst>
              <a:ext uri="{FF2B5EF4-FFF2-40B4-BE49-F238E27FC236}">
                <a16:creationId xmlns:a16="http://schemas.microsoft.com/office/drawing/2014/main" id="{CAE16043-BFF6-A711-E8E8-B1BD24690EE8}"/>
              </a:ext>
            </a:extLst>
          </p:cNvPr>
          <p:cNvSpPr/>
          <p:nvPr/>
        </p:nvSpPr>
        <p:spPr>
          <a:xfrm flipH="1">
            <a:off x="3578455" y="4703720"/>
            <a:ext cx="3450299" cy="493370"/>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rPr>
              <a:t>反向传播（优化模型参数）</a:t>
            </a:r>
          </a:p>
        </p:txBody>
      </p:sp>
      <p:pic>
        <p:nvPicPr>
          <p:cNvPr id="27" name="图片 26">
            <a:extLst>
              <a:ext uri="{FF2B5EF4-FFF2-40B4-BE49-F238E27FC236}">
                <a16:creationId xmlns:a16="http://schemas.microsoft.com/office/drawing/2014/main" id="{A8CF5196-638E-5C1A-D7CF-18B17BAA0BFD}"/>
              </a:ext>
            </a:extLst>
          </p:cNvPr>
          <p:cNvPicPr>
            <a:picLocks noChangeAspect="1"/>
          </p:cNvPicPr>
          <p:nvPr/>
        </p:nvPicPr>
        <p:blipFill>
          <a:blip r:embed="rId4"/>
          <a:stretch>
            <a:fillRect/>
          </a:stretch>
        </p:blipFill>
        <p:spPr>
          <a:xfrm>
            <a:off x="391548" y="2051418"/>
            <a:ext cx="2324059" cy="689955"/>
          </a:xfrm>
          <a:prstGeom prst="rect">
            <a:avLst/>
          </a:prstGeom>
        </p:spPr>
      </p:pic>
      <p:sp>
        <p:nvSpPr>
          <p:cNvPr id="2" name="云形 1">
            <a:extLst>
              <a:ext uri="{FF2B5EF4-FFF2-40B4-BE49-F238E27FC236}">
                <a16:creationId xmlns:a16="http://schemas.microsoft.com/office/drawing/2014/main" id="{906AD434-FDAE-1CB2-6E76-FABAF8F19897}"/>
              </a:ext>
            </a:extLst>
          </p:cNvPr>
          <p:cNvSpPr/>
          <p:nvPr/>
        </p:nvSpPr>
        <p:spPr>
          <a:xfrm>
            <a:off x="1324088" y="5296390"/>
            <a:ext cx="9543824" cy="1002726"/>
          </a:xfrm>
          <a:prstGeom prst="cloud">
            <a:avLst/>
          </a:prstGeom>
          <a:solidFill>
            <a:schemeClr val="bg1"/>
          </a:solidFill>
          <a:ln>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对于机器学习，监督信息（真实类标）是必须的吗？</a:t>
            </a:r>
          </a:p>
        </p:txBody>
      </p:sp>
      <p:sp>
        <p:nvSpPr>
          <p:cNvPr id="3" name="灯片编号占位符 4">
            <a:extLst>
              <a:ext uri="{FF2B5EF4-FFF2-40B4-BE49-F238E27FC236}">
                <a16:creationId xmlns:a16="http://schemas.microsoft.com/office/drawing/2014/main" id="{280F4D02-49AE-C703-73BA-99FD4C16A4AB}"/>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7</a:t>
            </a:fld>
            <a:endParaRPr lang="zh-CN" altLang="en-US" dirty="0"/>
          </a:p>
        </p:txBody>
      </p:sp>
      <p:sp>
        <p:nvSpPr>
          <p:cNvPr id="5" name="文本框 4">
            <a:extLst>
              <a:ext uri="{FF2B5EF4-FFF2-40B4-BE49-F238E27FC236}">
                <a16:creationId xmlns:a16="http://schemas.microsoft.com/office/drawing/2014/main" id="{7B436C07-948B-0549-C5BB-D5B52C668C07}"/>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78503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linds(horizontal)">
                                      <p:cBhvr>
                                        <p:cTn id="15" dur="500"/>
                                        <p:tgtEl>
                                          <p:spTgt spid="22"/>
                                        </p:tgtEl>
                                      </p:cBhvr>
                                    </p:animEffect>
                                  </p:childTnLst>
                                </p:cTn>
                              </p:par>
                              <p:par>
                                <p:cTn id="16" presetID="3"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linds(horizontal)">
                                      <p:cBhvr>
                                        <p:cTn id="18" dur="500"/>
                                        <p:tgtEl>
                                          <p:spTgt spid="1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linds(horizontal)">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linds(horizontal)">
                                      <p:cBhvr>
                                        <p:cTn id="26" dur="500"/>
                                        <p:tgtEl>
                                          <p:spTgt spid="23"/>
                                        </p:tgtEl>
                                      </p:cBhvr>
                                    </p:animEffect>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blinds(horizontal)">
                                      <p:cBhvr>
                                        <p:cTn id="30" dur="500"/>
                                        <p:tgtEl>
                                          <p:spTgt spid="25"/>
                                        </p:tgtEl>
                                      </p:cBhvr>
                                    </p:animEffect>
                                  </p:childTnLst>
                                </p:cTn>
                              </p:par>
                            </p:childTnLst>
                          </p:cTn>
                        </p:par>
                        <p:par>
                          <p:cTn id="31" fill="hold">
                            <p:stCondLst>
                              <p:cond delay="1000"/>
                            </p:stCondLst>
                            <p:childTnLst>
                              <p:par>
                                <p:cTn id="32" presetID="3" presetClass="entr" presetSubtype="10"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blinds(horizontal)">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linds(horizontal)">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animBg="1"/>
      <p:bldP spid="23" grpId="0" animBg="1"/>
      <p:bldP spid="25" grpId="0" animBg="1"/>
      <p:bldP spid="26" grpId="0" animBg="1"/>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257" y="429720"/>
            <a:ext cx="11119486" cy="3230880"/>
          </a:xfrm>
        </p:spPr>
        <p:txBody>
          <a:bodyPr>
            <a:normAutofit/>
          </a:bodyPr>
          <a:lstStyle/>
          <a:p>
            <a:pPr marL="571500" indent="-571500">
              <a:lnSpc>
                <a:spcPct val="150000"/>
              </a:lnSpc>
              <a:buFont typeface="Wingdings" pitchFamily="2" charset="2"/>
              <a:buChar char="Ø"/>
            </a:pPr>
            <a:r>
              <a:rPr lang="zh-CN" altLang="en-US" b="1" dirty="0">
                <a:sym typeface="可画风暴黑-简" panose="020B0500000000000000" charset="-122"/>
              </a:rPr>
              <a:t>根据训练数据是否包含标签（监督信息），机器学习主要分为以下几类：</a:t>
            </a:r>
            <a:endParaRPr lang="zh-CN" altLang="en-US" b="1" dirty="0"/>
          </a:p>
        </p:txBody>
      </p:sp>
      <p:sp>
        <p:nvSpPr>
          <p:cNvPr id="3" name="内容占位符 2"/>
          <p:cNvSpPr>
            <a:spLocks noGrp="1"/>
          </p:cNvSpPr>
          <p:nvPr>
            <p:ph idx="1"/>
          </p:nvPr>
        </p:nvSpPr>
        <p:spPr>
          <a:xfrm>
            <a:off x="2104494" y="3155599"/>
            <a:ext cx="10141481" cy="2993810"/>
          </a:xfrm>
        </p:spPr>
        <p:txBody>
          <a:bodyPr>
            <a:normAutofit/>
          </a:bodyPr>
          <a:lstStyle/>
          <a:p>
            <a:pPr marL="404813" indent="-404813"/>
            <a:r>
              <a:rPr lang="zh-CN" altLang="en-US" sz="3600" b="1" dirty="0">
                <a:solidFill>
                  <a:schemeClr val="tx1"/>
                </a:solidFill>
                <a:latin typeface="SimHei" panose="02010609060101010101" pitchFamily="49" charset="-122"/>
                <a:ea typeface="SimHei" panose="02010609060101010101" pitchFamily="49" charset="-122"/>
              </a:rPr>
              <a:t>有监督学习</a:t>
            </a:r>
          </a:p>
          <a:p>
            <a:pPr marL="404813" indent="-404813"/>
            <a:r>
              <a:rPr lang="zh-CN" altLang="en-US" sz="3600" b="1" dirty="0">
                <a:solidFill>
                  <a:schemeClr val="tx1"/>
                </a:solidFill>
                <a:latin typeface="SimHei" panose="02010609060101010101" pitchFamily="49" charset="-122"/>
                <a:ea typeface="SimHei" panose="02010609060101010101" pitchFamily="49" charset="-122"/>
              </a:rPr>
              <a:t>无监督学习</a:t>
            </a:r>
          </a:p>
          <a:p>
            <a:pPr marL="404813" indent="-404813"/>
            <a:r>
              <a:rPr lang="zh-CN" altLang="en-US" sz="3600" b="1" dirty="0">
                <a:solidFill>
                  <a:schemeClr val="tx1"/>
                </a:solidFill>
                <a:latin typeface="SimHei" panose="02010609060101010101" pitchFamily="49" charset="-122"/>
                <a:ea typeface="SimHei" panose="02010609060101010101" pitchFamily="49" charset="-122"/>
              </a:rPr>
              <a:t>半监督学习</a:t>
            </a:r>
          </a:p>
        </p:txBody>
      </p:sp>
      <p:sp>
        <p:nvSpPr>
          <p:cNvPr id="6" name="标题 1">
            <a:extLst>
              <a:ext uri="{FF2B5EF4-FFF2-40B4-BE49-F238E27FC236}">
                <a16:creationId xmlns:a16="http://schemas.microsoft.com/office/drawing/2014/main" id="{4FC713FD-B9B1-42BF-1E0E-2101E9FB29B6}"/>
              </a:ext>
            </a:extLst>
          </p:cNvPr>
          <p:cNvSpPr txBox="1">
            <a:spLocks/>
          </p:cNvSpPr>
          <p:nvPr/>
        </p:nvSpPr>
        <p:spPr>
          <a:xfrm>
            <a:off x="252730" y="229235"/>
            <a:ext cx="6224270" cy="705485"/>
          </a:xfrm>
          <a:prstGeom prst="rect">
            <a:avLst/>
          </a:prstGeom>
        </p:spPr>
        <p:txBody>
          <a:bodyPr vert="horz" lIns="90000" tIns="46800" rIns="90000" bIns="46800" rtlCol="0" anchor="ctr" anchorCtr="0">
            <a:normAutofit fontScale="97500"/>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黑体" panose="02010609060101010101" charset="-122"/>
                <a:ea typeface="黑体" panose="02010609060101010101"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300" normalizeH="0" baseline="0" noProof="0" dirty="0">
                <a:ln>
                  <a:noFill/>
                </a:ln>
                <a:solidFill>
                  <a:prstClr val="black">
                    <a:lumMod val="85000"/>
                    <a:lumOff val="15000"/>
                  </a:prstClr>
                </a:solidFill>
                <a:effectLst/>
                <a:uLnTx/>
                <a:uFillTx/>
                <a:latin typeface="黑体" panose="02010609060101010101" charset="-122"/>
                <a:ea typeface="黑体" panose="02010609060101010101" charset="-122"/>
                <a:cs typeface="+mj-cs"/>
              </a:rPr>
              <a:t>机器学习的任务分类</a:t>
            </a:r>
          </a:p>
        </p:txBody>
      </p:sp>
      <p:sp>
        <p:nvSpPr>
          <p:cNvPr id="4" name="灯片编号占位符 4">
            <a:extLst>
              <a:ext uri="{FF2B5EF4-FFF2-40B4-BE49-F238E27FC236}">
                <a16:creationId xmlns:a16="http://schemas.microsoft.com/office/drawing/2014/main" id="{3D643F87-37E9-DBC9-671B-68EFDB6ED063}"/>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8</a:t>
            </a:fld>
            <a:endParaRPr lang="zh-CN" altLang="en-US" dirty="0"/>
          </a:p>
        </p:txBody>
      </p:sp>
      <p:sp>
        <p:nvSpPr>
          <p:cNvPr id="7" name="文本框 6">
            <a:extLst>
              <a:ext uri="{FF2B5EF4-FFF2-40B4-BE49-F238E27FC236}">
                <a16:creationId xmlns:a16="http://schemas.microsoft.com/office/drawing/2014/main" id="{C6793DE6-957E-C081-BC93-743AEFE643F5}"/>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有监督学习</a:t>
            </a:r>
          </a:p>
        </p:txBody>
      </p:sp>
      <p:sp>
        <p:nvSpPr>
          <p:cNvPr id="3" name="内容占位符 2"/>
          <p:cNvSpPr>
            <a:spLocks noGrp="1"/>
          </p:cNvSpPr>
          <p:nvPr>
            <p:ph idx="1"/>
          </p:nvPr>
        </p:nvSpPr>
        <p:spPr>
          <a:xfrm>
            <a:off x="677898" y="1699698"/>
            <a:ext cx="6081816" cy="4545965"/>
          </a:xfrm>
        </p:spPr>
        <p:txBody>
          <a:bodyPr/>
          <a:lstStyle/>
          <a:p>
            <a:pPr marL="0" indent="0" algn="just">
              <a:buNone/>
            </a:pPr>
            <a:r>
              <a:rPr lang="zh-CN" altLang="en-US" sz="2800" dirty="0">
                <a:solidFill>
                  <a:schemeClr val="tx1"/>
                </a:solidFill>
              </a:rPr>
              <a:t>每个训练样本都有明确标签（是/否机主）。模型学习输入特征X与输出标签Y之间的映射关系：</a:t>
            </a:r>
          </a:p>
          <a:p>
            <a:pPr marL="0" indent="0" algn="ctr">
              <a:buNone/>
            </a:pPr>
            <a:r>
              <a:rPr lang="zh-CN" altLang="en-US" sz="2800" dirty="0">
                <a:solidFill>
                  <a:schemeClr val="tx1"/>
                </a:solidFill>
              </a:rPr>
              <a:t> </a:t>
            </a:r>
            <a:r>
              <a:rPr lang="zh-CN" altLang="en-US" sz="2800" b="1" dirty="0">
                <a:solidFill>
                  <a:schemeClr val="tx1"/>
                </a:solidFill>
                <a:latin typeface="黑体" panose="02010609060101010101" pitchFamily="49" charset="-122"/>
                <a:ea typeface="黑体" panose="02010609060101010101" pitchFamily="49" charset="-122"/>
              </a:rPr>
              <a:t>f: X → Y</a:t>
            </a:r>
          </a:p>
          <a:p>
            <a:pPr marL="0" indent="0" algn="just">
              <a:buNone/>
            </a:pPr>
            <a:r>
              <a:rPr lang="zh-CN" altLang="en-US" sz="2800" b="1" dirty="0">
                <a:solidFill>
                  <a:schemeClr val="tx1"/>
                </a:solidFill>
              </a:rPr>
              <a:t>场景：手机在用户首次设置人脸解锁时的训练过程。</a:t>
            </a:r>
          </a:p>
        </p:txBody>
      </p:sp>
      <p:sp>
        <p:nvSpPr>
          <p:cNvPr id="6" name="Freeform 3"/>
          <p:cNvSpPr/>
          <p:nvPr/>
        </p:nvSpPr>
        <p:spPr>
          <a:xfrm>
            <a:off x="6937225" y="1979259"/>
            <a:ext cx="4783015" cy="3295650"/>
          </a:xfrm>
          <a:custGeom>
            <a:avLst/>
            <a:gdLst/>
            <a:ahLst/>
            <a:cxnLst/>
            <a:rect l="l" t="t" r="r" b="b"/>
            <a:pathLst>
              <a:path w="7899618" h="6196583">
                <a:moveTo>
                  <a:pt x="0" y="0"/>
                </a:moveTo>
                <a:lnTo>
                  <a:pt x="7899618" y="0"/>
                </a:lnTo>
                <a:lnTo>
                  <a:pt x="7899618" y="6196584"/>
                </a:lnTo>
                <a:lnTo>
                  <a:pt x="0" y="6196584"/>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灯片编号占位符 4">
            <a:extLst>
              <a:ext uri="{FF2B5EF4-FFF2-40B4-BE49-F238E27FC236}">
                <a16:creationId xmlns:a16="http://schemas.microsoft.com/office/drawing/2014/main" id="{6C1F3EE3-9DC3-6804-C9B6-C17052B5E517}"/>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9</a:t>
            </a:fld>
            <a:endParaRPr lang="zh-CN" altLang="en-US" dirty="0"/>
          </a:p>
        </p:txBody>
      </p:sp>
      <p:sp>
        <p:nvSpPr>
          <p:cNvPr id="7" name="文本框 6">
            <a:extLst>
              <a:ext uri="{FF2B5EF4-FFF2-40B4-BE49-F238E27FC236}">
                <a16:creationId xmlns:a16="http://schemas.microsoft.com/office/drawing/2014/main" id="{4CB84F95-85E4-AE4A-1E13-CE79078423D4}"/>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无监督学习</a:t>
            </a:r>
          </a:p>
        </p:txBody>
      </p:sp>
      <p:sp>
        <p:nvSpPr>
          <p:cNvPr id="3" name="内容占位符 2"/>
          <p:cNvSpPr>
            <a:spLocks noGrp="1"/>
          </p:cNvSpPr>
          <p:nvPr>
            <p:ph idx="1"/>
          </p:nvPr>
        </p:nvSpPr>
        <p:spPr>
          <a:xfrm>
            <a:off x="586854" y="1945668"/>
            <a:ext cx="6701050" cy="3736975"/>
          </a:xfrm>
        </p:spPr>
        <p:txBody>
          <a:bodyPr/>
          <a:lstStyle/>
          <a:p>
            <a:pPr marL="0" indent="0" algn="just">
              <a:buNone/>
            </a:pPr>
            <a:r>
              <a:rPr lang="zh-CN" altLang="en-US" sz="2800" dirty="0">
                <a:solidFill>
                  <a:schemeClr val="tx1"/>
                </a:solidFill>
              </a:rPr>
              <a:t>训练样本没有标签（不知道照片是谁）。模型尝试从数据特征中发现隐藏结构或模式。</a:t>
            </a:r>
          </a:p>
          <a:p>
            <a:pPr marL="0" indent="0" algn="just">
              <a:buNone/>
            </a:pPr>
            <a:r>
              <a:rPr lang="zh-CN" altLang="en-US" sz="2800" b="1" dirty="0">
                <a:solidFill>
                  <a:schemeClr val="tx1"/>
                </a:solidFill>
              </a:rPr>
              <a:t>场景：手机相册的“人物”聚类功能。</a:t>
            </a:r>
          </a:p>
        </p:txBody>
      </p:sp>
      <p:sp>
        <p:nvSpPr>
          <p:cNvPr id="8" name="Freeform 3"/>
          <p:cNvSpPr/>
          <p:nvPr/>
        </p:nvSpPr>
        <p:spPr>
          <a:xfrm>
            <a:off x="7866526" y="666838"/>
            <a:ext cx="2801620" cy="5252720"/>
          </a:xfrm>
          <a:custGeom>
            <a:avLst/>
            <a:gdLst/>
            <a:ahLst/>
            <a:cxnLst/>
            <a:rect l="l" t="t" r="r" b="b"/>
            <a:pathLst>
              <a:path w="5006066" h="8856423">
                <a:moveTo>
                  <a:pt x="0" y="0"/>
                </a:moveTo>
                <a:lnTo>
                  <a:pt x="5006066" y="0"/>
                </a:lnTo>
                <a:lnTo>
                  <a:pt x="5006066" y="8856423"/>
                </a:lnTo>
                <a:lnTo>
                  <a:pt x="0" y="8856423"/>
                </a:lnTo>
                <a:lnTo>
                  <a:pt x="0" y="0"/>
                </a:lnTo>
                <a:close/>
              </a:path>
            </a:pathLst>
          </a:custGeom>
          <a:blipFill>
            <a:blip r:embed="rId2"/>
            <a:stretch>
              <a:fillRect l="-15323" t="-16511" r="-13887" b="-167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灯片编号占位符 4">
            <a:extLst>
              <a:ext uri="{FF2B5EF4-FFF2-40B4-BE49-F238E27FC236}">
                <a16:creationId xmlns:a16="http://schemas.microsoft.com/office/drawing/2014/main" id="{95E75878-2912-8C54-C48C-B413617832D8}"/>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10</a:t>
            </a:fld>
            <a:endParaRPr lang="zh-CN" altLang="en-US" dirty="0"/>
          </a:p>
        </p:txBody>
      </p:sp>
      <p:sp>
        <p:nvSpPr>
          <p:cNvPr id="6" name="文本框 5">
            <a:extLst>
              <a:ext uri="{FF2B5EF4-FFF2-40B4-BE49-F238E27FC236}">
                <a16:creationId xmlns:a16="http://schemas.microsoft.com/office/drawing/2014/main" id="{082D592E-B6E7-93BC-160E-EC3307B6B51D}"/>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半监督学习</a:t>
            </a:r>
          </a:p>
        </p:txBody>
      </p:sp>
      <p:sp>
        <p:nvSpPr>
          <p:cNvPr id="3" name="内容占位符 2"/>
          <p:cNvSpPr>
            <a:spLocks noGrp="1"/>
          </p:cNvSpPr>
          <p:nvPr>
            <p:ph idx="1"/>
          </p:nvPr>
        </p:nvSpPr>
        <p:spPr>
          <a:xfrm>
            <a:off x="292285" y="1566585"/>
            <a:ext cx="6803163" cy="4601268"/>
          </a:xfrm>
        </p:spPr>
        <p:txBody>
          <a:bodyPr>
            <a:normAutofit fontScale="85000" lnSpcReduction="10000"/>
          </a:bodyPr>
          <a:lstStyle/>
          <a:p>
            <a:pPr marL="0" indent="0" algn="just">
              <a:buNone/>
            </a:pPr>
            <a:r>
              <a:rPr lang="zh-CN" altLang="en-US" sz="2800" dirty="0">
                <a:solidFill>
                  <a:schemeClr val="tx1"/>
                </a:solidFill>
              </a:rPr>
              <a:t>部分样本有标签（机主少量标注），大部分无标签。利用无标签数据提升模型泛化能力。</a:t>
            </a:r>
          </a:p>
          <a:p>
            <a:pPr marL="0" indent="0" algn="just">
              <a:buNone/>
            </a:pPr>
            <a:r>
              <a:rPr lang="zh-CN" altLang="en-US" sz="2800" b="1" dirty="0">
                <a:solidFill>
                  <a:schemeClr val="tx1"/>
                </a:solidFill>
              </a:rPr>
              <a:t>举例：手机的“轻触解锁”或“抬起唤醒”功能有时会过于敏感，比如在口袋里或桌上移动时就被触发，导致误亮屏耗电。</a:t>
            </a:r>
            <a:endParaRPr lang="en-US" altLang="zh-CN" sz="2800" b="1" dirty="0">
              <a:solidFill>
                <a:schemeClr val="tx1"/>
              </a:solidFill>
            </a:endParaRPr>
          </a:p>
          <a:p>
            <a:pPr marL="0" indent="0" algn="just">
              <a:buNone/>
            </a:pPr>
            <a:r>
              <a:rPr lang="zh-CN" altLang="en-US" sz="2800" b="1" dirty="0">
                <a:solidFill>
                  <a:schemeClr val="tx1"/>
                </a:solidFill>
              </a:rPr>
              <a:t>应用：以测试员执行</a:t>
            </a:r>
            <a:r>
              <a:rPr lang="en-US" altLang="zh-CN" sz="2800" b="1" dirty="0">
                <a:solidFill>
                  <a:schemeClr val="tx1"/>
                </a:solidFill>
              </a:rPr>
              <a:t>N</a:t>
            </a:r>
            <a:r>
              <a:rPr lang="zh-CN" altLang="en-US" sz="2800" b="1" dirty="0">
                <a:solidFill>
                  <a:schemeClr val="tx1"/>
                </a:solidFill>
              </a:rPr>
              <a:t>次“故意拿起手机准备解锁”的动作，收集</a:t>
            </a:r>
            <a:r>
              <a:rPr lang="zh-CN" altLang="en-US" sz="2800" b="1" dirty="0">
                <a:solidFill>
                  <a:srgbClr val="0000FF"/>
                </a:solidFill>
              </a:rPr>
              <a:t>带标签样本</a:t>
            </a:r>
            <a:r>
              <a:rPr lang="zh-CN" altLang="en-US" sz="2800" b="1" dirty="0">
                <a:solidFill>
                  <a:schemeClr val="tx1"/>
                </a:solidFill>
              </a:rPr>
              <a:t>；以全球数百万用户每天的产生成千上万次传感器触发记录作为海量</a:t>
            </a:r>
            <a:r>
              <a:rPr lang="zh-CN" altLang="en-US" sz="2800" b="1" dirty="0">
                <a:solidFill>
                  <a:srgbClr val="0000FF"/>
                </a:solidFill>
              </a:rPr>
              <a:t>无标签样本</a:t>
            </a:r>
            <a:r>
              <a:rPr lang="zh-CN" altLang="en-US" sz="2800" b="1" dirty="0">
                <a:solidFill>
                  <a:schemeClr val="tx1"/>
                </a:solidFill>
              </a:rPr>
              <a:t>，共同用于模型训练。</a:t>
            </a:r>
          </a:p>
        </p:txBody>
      </p:sp>
      <p:sp>
        <p:nvSpPr>
          <p:cNvPr id="6" name="Freeform 3"/>
          <p:cNvSpPr/>
          <p:nvPr/>
        </p:nvSpPr>
        <p:spPr>
          <a:xfrm>
            <a:off x="7320242" y="1851015"/>
            <a:ext cx="4579473" cy="3497433"/>
          </a:xfrm>
          <a:custGeom>
            <a:avLst/>
            <a:gdLst/>
            <a:ahLst/>
            <a:cxnLst/>
            <a:rect l="l" t="t" r="r" b="b"/>
            <a:pathLst>
              <a:path w="7282912" h="6033261">
                <a:moveTo>
                  <a:pt x="0" y="0"/>
                </a:moveTo>
                <a:lnTo>
                  <a:pt x="7282912" y="0"/>
                </a:lnTo>
                <a:lnTo>
                  <a:pt x="7282912" y="6033261"/>
                </a:lnTo>
                <a:lnTo>
                  <a:pt x="0" y="6033261"/>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灯片编号占位符 4">
            <a:extLst>
              <a:ext uri="{FF2B5EF4-FFF2-40B4-BE49-F238E27FC236}">
                <a16:creationId xmlns:a16="http://schemas.microsoft.com/office/drawing/2014/main" id="{82C203F6-F4BB-E3D6-999E-DA8439F47513}"/>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11</a:t>
            </a:fld>
            <a:endParaRPr lang="zh-CN" altLang="en-US" dirty="0"/>
          </a:p>
        </p:txBody>
      </p:sp>
      <p:sp>
        <p:nvSpPr>
          <p:cNvPr id="7" name="文本框 6">
            <a:extLst>
              <a:ext uri="{FF2B5EF4-FFF2-40B4-BE49-F238E27FC236}">
                <a16:creationId xmlns:a16="http://schemas.microsoft.com/office/drawing/2014/main" id="{778A42B4-F7FD-9C62-C7C8-AE547B5508BD}"/>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551180"/>
            <a:ext cx="4277995" cy="383540"/>
          </a:xfrm>
        </p:spPr>
        <p:txBody>
          <a:bodyPr>
            <a:normAutofit fontScale="90000"/>
          </a:bodyPr>
          <a:lstStyle/>
          <a:p>
            <a:r>
              <a:rPr lang="zh-CN" altLang="en-US">
                <a:sym typeface="可画风暴黑-简" panose="020B0500000000000000" charset="-122"/>
              </a:rPr>
              <a:t>三种学习的核心差异</a:t>
            </a:r>
            <a:br>
              <a:rPr lang="en-US">
                <a:solidFill>
                  <a:srgbClr val="5E17EB"/>
                </a:solidFill>
                <a:latin typeface="可画风暴黑-简" panose="020B0500000000000000" charset="-122"/>
                <a:ea typeface="可画风暴黑-简" panose="020B0500000000000000" charset="-122"/>
                <a:cs typeface="可画风暴黑-简" panose="020B0500000000000000" charset="-122"/>
                <a:sym typeface="可画风暴黑-简" panose="020B0500000000000000" charset="-122"/>
              </a:rPr>
            </a:br>
            <a:endParaRPr lang="zh-CN" altLang="en-US"/>
          </a:p>
        </p:txBody>
      </p:sp>
      <p:graphicFrame>
        <p:nvGraphicFramePr>
          <p:cNvPr id="3" name="表格 2">
            <a:extLst>
              <a:ext uri="{FF2B5EF4-FFF2-40B4-BE49-F238E27FC236}">
                <a16:creationId xmlns:a16="http://schemas.microsoft.com/office/drawing/2014/main" id="{3048BA54-CF5C-CE9C-898E-2B3C990ACC61}"/>
              </a:ext>
            </a:extLst>
          </p:cNvPr>
          <p:cNvGraphicFramePr>
            <a:graphicFrameLocks noGrp="1"/>
          </p:cNvGraphicFramePr>
          <p:nvPr/>
        </p:nvGraphicFramePr>
        <p:xfrm>
          <a:off x="1623405" y="1485106"/>
          <a:ext cx="9230733" cy="4190864"/>
        </p:xfrm>
        <a:graphic>
          <a:graphicData uri="http://schemas.openxmlformats.org/drawingml/2006/table">
            <a:tbl>
              <a:tblPr firstRow="1" bandRow="1">
                <a:tableStyleId>{5C22544A-7EE6-4342-B048-85BDC9FD1C3A}</a:tableStyleId>
              </a:tblPr>
              <a:tblGrid>
                <a:gridCol w="3076911">
                  <a:extLst>
                    <a:ext uri="{9D8B030D-6E8A-4147-A177-3AD203B41FA5}">
                      <a16:colId xmlns:a16="http://schemas.microsoft.com/office/drawing/2014/main" val="589712975"/>
                    </a:ext>
                  </a:extLst>
                </a:gridCol>
                <a:gridCol w="3076911">
                  <a:extLst>
                    <a:ext uri="{9D8B030D-6E8A-4147-A177-3AD203B41FA5}">
                      <a16:colId xmlns:a16="http://schemas.microsoft.com/office/drawing/2014/main" val="961022852"/>
                    </a:ext>
                  </a:extLst>
                </a:gridCol>
                <a:gridCol w="3076911">
                  <a:extLst>
                    <a:ext uri="{9D8B030D-6E8A-4147-A177-3AD203B41FA5}">
                      <a16:colId xmlns:a16="http://schemas.microsoft.com/office/drawing/2014/main" val="1295517709"/>
                    </a:ext>
                  </a:extLst>
                </a:gridCol>
              </a:tblGrid>
              <a:tr h="808073">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学习类型</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数据特点</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类比场景</a:t>
                      </a:r>
                    </a:p>
                  </a:txBody>
                  <a:tcPr anchor="ctr"/>
                </a:tc>
                <a:extLst>
                  <a:ext uri="{0D108BD9-81ED-4DB2-BD59-A6C34878D82A}">
                    <a16:rowId xmlns:a16="http://schemas.microsoft.com/office/drawing/2014/main" val="2888602925"/>
                  </a:ext>
                </a:extLst>
              </a:tr>
              <a:tr h="808073">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有监督学习</a:t>
                      </a: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全带标签</a:t>
                      </a: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做有答案的习题</a:t>
                      </a:r>
                    </a:p>
                  </a:txBody>
                  <a:tcPr anchor="ctr"/>
                </a:tc>
                <a:extLst>
                  <a:ext uri="{0D108BD9-81ED-4DB2-BD59-A6C34878D82A}">
                    <a16:rowId xmlns:a16="http://schemas.microsoft.com/office/drawing/2014/main" val="3863458051"/>
                  </a:ext>
                </a:extLst>
              </a:tr>
              <a:tr h="1179973">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无监督学习</a:t>
                      </a: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全无标签</a:t>
                      </a: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自主整理杂乱的书架</a:t>
                      </a:r>
                    </a:p>
                  </a:txBody>
                  <a:tcPr anchor="ctr"/>
                </a:tc>
                <a:extLst>
                  <a:ext uri="{0D108BD9-81ED-4DB2-BD59-A6C34878D82A}">
                    <a16:rowId xmlns:a16="http://schemas.microsoft.com/office/drawing/2014/main" val="758905748"/>
                  </a:ext>
                </a:extLst>
              </a:tr>
              <a:tr h="1394745">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半监督学习</a:t>
                      </a: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部分带标签</a:t>
                      </a: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做少量有答案</a:t>
                      </a:r>
                      <a:r>
                        <a:rPr lang="en-US" altLang="zh-CN" sz="2000" dirty="0">
                          <a:latin typeface="SimHei" panose="02010609060101010101" pitchFamily="49" charset="-122"/>
                          <a:ea typeface="SimHei" panose="02010609060101010101" pitchFamily="49" charset="-122"/>
                        </a:rPr>
                        <a:t>+</a:t>
                      </a:r>
                      <a:r>
                        <a:rPr lang="zh-CN" altLang="en-US" sz="2000" dirty="0">
                          <a:latin typeface="SimHei" panose="02010609060101010101" pitchFamily="49" charset="-122"/>
                          <a:ea typeface="SimHei" panose="02010609060101010101" pitchFamily="49" charset="-122"/>
                        </a:rPr>
                        <a:t>大量无答案习题</a:t>
                      </a:r>
                    </a:p>
                  </a:txBody>
                  <a:tcPr anchor="ctr"/>
                </a:tc>
                <a:extLst>
                  <a:ext uri="{0D108BD9-81ED-4DB2-BD59-A6C34878D82A}">
                    <a16:rowId xmlns:a16="http://schemas.microsoft.com/office/drawing/2014/main" val="2331681709"/>
                  </a:ext>
                </a:extLst>
              </a:tr>
            </a:tbl>
          </a:graphicData>
        </a:graphic>
      </p:graphicFrame>
      <p:sp>
        <p:nvSpPr>
          <p:cNvPr id="4" name="灯片编号占位符 4">
            <a:extLst>
              <a:ext uri="{FF2B5EF4-FFF2-40B4-BE49-F238E27FC236}">
                <a16:creationId xmlns:a16="http://schemas.microsoft.com/office/drawing/2014/main" id="{F0C762E5-4ECD-9F4C-FFE4-28097A5FCB1E}"/>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12</a:t>
            </a:fld>
            <a:endParaRPr lang="zh-CN" altLang="en-US" dirty="0"/>
          </a:p>
        </p:txBody>
      </p:sp>
      <p:sp>
        <p:nvSpPr>
          <p:cNvPr id="6" name="文本框 5">
            <a:extLst>
              <a:ext uri="{FF2B5EF4-FFF2-40B4-BE49-F238E27FC236}">
                <a16:creationId xmlns:a16="http://schemas.microsoft.com/office/drawing/2014/main" id="{87466732-CC71-FE36-2910-79FF9D321C53}"/>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975212" y="2602704"/>
            <a:ext cx="6496335" cy="1228090"/>
          </a:xfrm>
        </p:spPr>
        <p:txBody>
          <a:bodyPr>
            <a:normAutofit fontScale="90000"/>
          </a:bodyPr>
          <a:lstStyle/>
          <a:p>
            <a:pPr>
              <a:lnSpc>
                <a:spcPct val="150000"/>
              </a:lnSpc>
            </a:pPr>
            <a:r>
              <a:rPr lang="en-US" altLang="zh-CN" dirty="0">
                <a:latin typeface="黑体" panose="02010609060101010101" charset="-122"/>
                <a:ea typeface="黑体" panose="02010609060101010101" charset="-122"/>
                <a:cs typeface="+mn-ea"/>
                <a:sym typeface="+mn-lt"/>
              </a:rPr>
              <a:t>2.2</a:t>
            </a:r>
            <a:r>
              <a:rPr lang="zh-CN" altLang="en-US" dirty="0">
                <a:latin typeface="黑体" panose="02010609060101010101" charset="-122"/>
                <a:ea typeface="黑体" panose="02010609060101010101" charset="-122"/>
                <a:cs typeface="+mn-ea"/>
                <a:sym typeface="+mn-lt"/>
              </a:rPr>
              <a:t> 机器学习三要素</a:t>
            </a:r>
            <a:br>
              <a:rPr lang="en-US" altLang="zh-CN" dirty="0">
                <a:latin typeface="黑体" panose="02010609060101010101" charset="-122"/>
                <a:ea typeface="黑体" panose="02010609060101010101" charset="-122"/>
                <a:cs typeface="+mn-ea"/>
                <a:sym typeface="+mn-lt"/>
              </a:rPr>
            </a:br>
            <a:r>
              <a:rPr lang="zh-CN" altLang="en-US" dirty="0">
                <a:latin typeface="黑体" panose="02010609060101010101" charset="-122"/>
                <a:ea typeface="黑体" panose="02010609060101010101" charset="-122"/>
                <a:cs typeface="+mn-ea"/>
                <a:sym typeface="+mn-lt"/>
              </a:rPr>
              <a:t>模型、学习准则、优化方法</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24FF58-169C-7254-AEFB-B0EB848C2FFD}"/>
              </a:ext>
            </a:extLst>
          </p:cNvPr>
          <p:cNvSpPr>
            <a:spLocks noGrp="1"/>
          </p:cNvSpPr>
          <p:nvPr>
            <p:ph type="title"/>
          </p:nvPr>
        </p:nvSpPr>
        <p:spPr/>
        <p:txBody>
          <a:bodyPr>
            <a:normAutofit/>
          </a:bodyPr>
          <a:lstStyle/>
          <a:p>
            <a:pPr algn="ctr"/>
            <a:r>
              <a:rPr kumimoji="1" lang="zh-CN" altLang="en-US" b="1" dirty="0"/>
              <a:t>机器学习三要素</a:t>
            </a:r>
          </a:p>
        </p:txBody>
      </p:sp>
      <p:sp>
        <p:nvSpPr>
          <p:cNvPr id="5" name="矩形: 圆顶角 63">
            <a:extLst>
              <a:ext uri="{FF2B5EF4-FFF2-40B4-BE49-F238E27FC236}">
                <a16:creationId xmlns:a16="http://schemas.microsoft.com/office/drawing/2014/main" id="{76A52673-706D-A4FD-2B12-B37223F206EA}"/>
              </a:ext>
            </a:extLst>
          </p:cNvPr>
          <p:cNvSpPr/>
          <p:nvPr/>
        </p:nvSpPr>
        <p:spPr>
          <a:xfrm>
            <a:off x="1085370" y="1415553"/>
            <a:ext cx="9730859" cy="854085"/>
          </a:xfrm>
          <a:prstGeom prst="round2SameRect">
            <a:avLst>
              <a:gd name="adj1" fmla="val 3650"/>
              <a:gd name="adj2" fmla="val 0"/>
            </a:avLst>
          </a:prstGeom>
          <a:gradFill flip="none" rotWithShape="1">
            <a:gsLst>
              <a:gs pos="0">
                <a:srgbClr val="4F81BD">
                  <a:lumMod val="5000"/>
                  <a:lumOff val="95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tileRect/>
          </a:gradFill>
          <a:ln w="9525" cap="flat" cmpd="sng" algn="ctr">
            <a:gradFill flip="none" rotWithShape="1">
              <a:gsLst>
                <a:gs pos="0">
                  <a:srgbClr val="0BD0D9">
                    <a:lumMod val="75000"/>
                  </a:srgbClr>
                </a:gs>
                <a:gs pos="50000">
                  <a:srgbClr val="10CF9B">
                    <a:lumMod val="75000"/>
                  </a:srgbClr>
                </a:gs>
                <a:gs pos="100000">
                  <a:srgbClr val="10CF9B">
                    <a:lumMod val="50000"/>
                  </a:srgbClr>
                </a:gs>
              </a:gsLst>
              <a:lin ang="10800000" scaled="1"/>
              <a:tileRect/>
            </a:gradFill>
            <a:prstDash val="solid"/>
            <a:miter lim="800000"/>
          </a:ln>
          <a:effectLst/>
        </p:spPr>
        <p:txBody>
          <a:bodyPr wrap="square" lIns="90000" tIns="0" bIns="0" rtlCol="0" anchor="ctr"/>
          <a:lstStyle/>
          <a:p>
            <a:pPr marL="0" marR="0" lvl="0" indent="0" algn="ctr" defTabSz="457200" eaLnBrk="1" fontAlgn="auto" latinLnBrk="0" hangingPunct="1">
              <a:lnSpc>
                <a:spcPct val="15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rPr>
              <a:t>机器学习的三要素</a:t>
            </a:r>
            <a:endParaRPr kumimoji="0" lang="en-US" altLang="zh-CN"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endParaRPr>
          </a:p>
        </p:txBody>
      </p:sp>
      <p:sp>
        <p:nvSpPr>
          <p:cNvPr id="6" name="矩形: 圆顶角 63">
            <a:extLst>
              <a:ext uri="{FF2B5EF4-FFF2-40B4-BE49-F238E27FC236}">
                <a16:creationId xmlns:a16="http://schemas.microsoft.com/office/drawing/2014/main" id="{A3F2B4DA-239F-AF5C-8A03-14D9FE0D6B6F}"/>
              </a:ext>
            </a:extLst>
          </p:cNvPr>
          <p:cNvSpPr/>
          <p:nvPr/>
        </p:nvSpPr>
        <p:spPr>
          <a:xfrm>
            <a:off x="1085370" y="2665639"/>
            <a:ext cx="3026927" cy="854086"/>
          </a:xfrm>
          <a:prstGeom prst="round2SameRect">
            <a:avLst>
              <a:gd name="adj1" fmla="val 3650"/>
              <a:gd name="adj2" fmla="val 0"/>
            </a:avLst>
          </a:prstGeom>
          <a:gradFill flip="none" rotWithShape="1">
            <a:gsLst>
              <a:gs pos="0">
                <a:srgbClr val="4F81BD">
                  <a:lumMod val="5000"/>
                  <a:lumOff val="95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tileRect/>
          </a:gradFill>
          <a:ln w="9525" cap="flat" cmpd="sng" algn="ctr">
            <a:gradFill flip="none" rotWithShape="1">
              <a:gsLst>
                <a:gs pos="0">
                  <a:srgbClr val="0BD0D9">
                    <a:lumMod val="75000"/>
                  </a:srgbClr>
                </a:gs>
                <a:gs pos="50000">
                  <a:srgbClr val="10CF9B">
                    <a:lumMod val="75000"/>
                  </a:srgbClr>
                </a:gs>
                <a:gs pos="100000">
                  <a:srgbClr val="10CF9B">
                    <a:lumMod val="50000"/>
                  </a:srgbClr>
                </a:gs>
              </a:gsLst>
              <a:lin ang="10800000" scaled="1"/>
              <a:tileRect/>
            </a:gradFill>
            <a:prstDash val="solid"/>
            <a:miter lim="800000"/>
          </a:ln>
          <a:effectLst/>
        </p:spPr>
        <p:txBody>
          <a:bodyPr wrap="square" lIns="90000" tIns="0" bIns="0" rtlCol="0" anchor="ctr"/>
          <a:lstStyle/>
          <a:p>
            <a:pPr marL="0" marR="0" lvl="0" indent="0" algn="ctr" defTabSz="457200" eaLnBrk="1" fontAlgn="auto" latinLnBrk="0" hangingPunct="1">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rPr>
              <a:t>模型</a:t>
            </a:r>
            <a:endParaRPr kumimoji="0" lang="en-US" altLang="zh-CN"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endParaRPr>
          </a:p>
        </p:txBody>
      </p:sp>
      <p:sp>
        <p:nvSpPr>
          <p:cNvPr id="7" name="矩形: 圆顶角 63">
            <a:extLst>
              <a:ext uri="{FF2B5EF4-FFF2-40B4-BE49-F238E27FC236}">
                <a16:creationId xmlns:a16="http://schemas.microsoft.com/office/drawing/2014/main" id="{38949962-5A85-5FA0-1299-BA30ADF3B98E}"/>
              </a:ext>
            </a:extLst>
          </p:cNvPr>
          <p:cNvSpPr/>
          <p:nvPr/>
        </p:nvSpPr>
        <p:spPr>
          <a:xfrm>
            <a:off x="4348851" y="2664375"/>
            <a:ext cx="3026926" cy="854087"/>
          </a:xfrm>
          <a:prstGeom prst="round2SameRect">
            <a:avLst>
              <a:gd name="adj1" fmla="val 3650"/>
              <a:gd name="adj2" fmla="val 0"/>
            </a:avLst>
          </a:prstGeom>
          <a:gradFill flip="none" rotWithShape="1">
            <a:gsLst>
              <a:gs pos="0">
                <a:srgbClr val="4F81BD">
                  <a:lumMod val="5000"/>
                  <a:lumOff val="95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tileRect/>
          </a:gradFill>
          <a:ln w="9525" cap="flat" cmpd="sng" algn="ctr">
            <a:gradFill flip="none" rotWithShape="1">
              <a:gsLst>
                <a:gs pos="0">
                  <a:srgbClr val="0BD0D9">
                    <a:lumMod val="75000"/>
                  </a:srgbClr>
                </a:gs>
                <a:gs pos="50000">
                  <a:srgbClr val="10CF9B">
                    <a:lumMod val="75000"/>
                  </a:srgbClr>
                </a:gs>
                <a:gs pos="100000">
                  <a:srgbClr val="10CF9B">
                    <a:lumMod val="50000"/>
                  </a:srgbClr>
                </a:gs>
              </a:gsLst>
              <a:lin ang="10800000" scaled="1"/>
              <a:tileRect/>
            </a:gradFill>
            <a:prstDash val="solid"/>
            <a:miter lim="800000"/>
          </a:ln>
          <a:effectLst/>
        </p:spPr>
        <p:txBody>
          <a:bodyPr wrap="square" lIns="90000" tIns="0" bIns="0" rtlCol="0" anchor="ctr"/>
          <a:lstStyle/>
          <a:p>
            <a:pPr marL="0" marR="0" lvl="0" indent="0" algn="ctr" defTabSz="457200" eaLnBrk="1" fontAlgn="auto" latinLnBrk="0" hangingPunct="1">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rPr>
              <a:t>学习准则</a:t>
            </a:r>
            <a:endParaRPr kumimoji="0" lang="en-US" altLang="zh-CN"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endParaRPr>
          </a:p>
        </p:txBody>
      </p:sp>
      <p:sp>
        <p:nvSpPr>
          <p:cNvPr id="8" name="矩形: 圆顶角 63">
            <a:extLst>
              <a:ext uri="{FF2B5EF4-FFF2-40B4-BE49-F238E27FC236}">
                <a16:creationId xmlns:a16="http://schemas.microsoft.com/office/drawing/2014/main" id="{18A711EA-1BEC-E4AE-2642-01B59E76EEDC}"/>
              </a:ext>
            </a:extLst>
          </p:cNvPr>
          <p:cNvSpPr/>
          <p:nvPr/>
        </p:nvSpPr>
        <p:spPr>
          <a:xfrm>
            <a:off x="7612332" y="2664375"/>
            <a:ext cx="3203897" cy="854088"/>
          </a:xfrm>
          <a:prstGeom prst="round2SameRect">
            <a:avLst>
              <a:gd name="adj1" fmla="val 3650"/>
              <a:gd name="adj2" fmla="val 0"/>
            </a:avLst>
          </a:prstGeom>
          <a:gradFill flip="none" rotWithShape="1">
            <a:gsLst>
              <a:gs pos="0">
                <a:srgbClr val="4F81BD">
                  <a:lumMod val="5000"/>
                  <a:lumOff val="95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tileRect/>
          </a:gradFill>
          <a:ln w="9525" cap="flat" cmpd="sng" algn="ctr">
            <a:gradFill flip="none" rotWithShape="1">
              <a:gsLst>
                <a:gs pos="0">
                  <a:srgbClr val="0BD0D9">
                    <a:lumMod val="75000"/>
                  </a:srgbClr>
                </a:gs>
                <a:gs pos="50000">
                  <a:srgbClr val="10CF9B">
                    <a:lumMod val="75000"/>
                  </a:srgbClr>
                </a:gs>
                <a:gs pos="100000">
                  <a:srgbClr val="10CF9B">
                    <a:lumMod val="50000"/>
                  </a:srgbClr>
                </a:gs>
              </a:gsLst>
              <a:lin ang="10800000" scaled="1"/>
              <a:tileRect/>
            </a:gradFill>
            <a:prstDash val="solid"/>
            <a:miter lim="800000"/>
          </a:ln>
          <a:effectLst/>
        </p:spPr>
        <p:txBody>
          <a:bodyPr wrap="square" lIns="90000" tIns="0" bIns="0" rtlCol="0" anchor="ctr"/>
          <a:lstStyle/>
          <a:p>
            <a:pPr marL="0" marR="0" lvl="0" indent="0" algn="ctr" defTabSz="457200" eaLnBrk="1" fontAlgn="auto" latinLnBrk="0" hangingPunct="1">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rPr>
              <a:t>优化方法</a:t>
            </a:r>
            <a:endParaRPr kumimoji="0" lang="en-US" altLang="zh-CN" sz="2400" b="1" i="0" u="none" strike="noStrike" kern="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endParaRPr>
          </a:p>
        </p:txBody>
      </p:sp>
      <p:sp>
        <p:nvSpPr>
          <p:cNvPr id="9" name="右箭头 8">
            <a:extLst>
              <a:ext uri="{FF2B5EF4-FFF2-40B4-BE49-F238E27FC236}">
                <a16:creationId xmlns:a16="http://schemas.microsoft.com/office/drawing/2014/main" id="{F9CF328D-1028-06FB-F3DB-AFCBEA97FA87}"/>
              </a:ext>
            </a:extLst>
          </p:cNvPr>
          <p:cNvSpPr/>
          <p:nvPr/>
        </p:nvSpPr>
        <p:spPr>
          <a:xfrm rot="16200000" flipH="1">
            <a:off x="2462098" y="2241814"/>
            <a:ext cx="262792" cy="450387"/>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SimHei" panose="02010609060101010101" pitchFamily="49" charset="-122"/>
              <a:ea typeface="SimHei" panose="02010609060101010101" pitchFamily="49" charset="-122"/>
            </a:endParaRPr>
          </a:p>
        </p:txBody>
      </p:sp>
      <p:sp>
        <p:nvSpPr>
          <p:cNvPr id="10" name="右箭头 9">
            <a:extLst>
              <a:ext uri="{FF2B5EF4-FFF2-40B4-BE49-F238E27FC236}">
                <a16:creationId xmlns:a16="http://schemas.microsoft.com/office/drawing/2014/main" id="{A4830DEB-3EE7-2128-4337-62E4F72E3329}"/>
              </a:ext>
            </a:extLst>
          </p:cNvPr>
          <p:cNvSpPr/>
          <p:nvPr/>
        </p:nvSpPr>
        <p:spPr>
          <a:xfrm rot="16200000" flipH="1">
            <a:off x="5730918" y="2241815"/>
            <a:ext cx="262792" cy="450387"/>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SimHei" panose="02010609060101010101" pitchFamily="49" charset="-122"/>
              <a:ea typeface="SimHei" panose="02010609060101010101" pitchFamily="49" charset="-122"/>
            </a:endParaRPr>
          </a:p>
        </p:txBody>
      </p:sp>
      <p:sp>
        <p:nvSpPr>
          <p:cNvPr id="11" name="右箭头 10">
            <a:extLst>
              <a:ext uri="{FF2B5EF4-FFF2-40B4-BE49-F238E27FC236}">
                <a16:creationId xmlns:a16="http://schemas.microsoft.com/office/drawing/2014/main" id="{CBFEF3E3-F30B-EC52-1931-5CA8780EA06C}"/>
              </a:ext>
            </a:extLst>
          </p:cNvPr>
          <p:cNvSpPr/>
          <p:nvPr/>
        </p:nvSpPr>
        <p:spPr>
          <a:xfrm rot="16200000" flipH="1">
            <a:off x="9082884" y="2241814"/>
            <a:ext cx="262792" cy="450387"/>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SimHei" panose="02010609060101010101" pitchFamily="49" charset="-122"/>
              <a:ea typeface="SimHei" panose="02010609060101010101" pitchFamily="49" charset="-122"/>
            </a:endParaRPr>
          </a:p>
        </p:txBody>
      </p:sp>
      <p:sp>
        <p:nvSpPr>
          <p:cNvPr id="12" name="云形 11">
            <a:extLst>
              <a:ext uri="{FF2B5EF4-FFF2-40B4-BE49-F238E27FC236}">
                <a16:creationId xmlns:a16="http://schemas.microsoft.com/office/drawing/2014/main" id="{091CA6D2-0452-CF98-5A6A-6029E9612324}"/>
              </a:ext>
            </a:extLst>
          </p:cNvPr>
          <p:cNvSpPr/>
          <p:nvPr/>
        </p:nvSpPr>
        <p:spPr>
          <a:xfrm>
            <a:off x="1085370" y="3894062"/>
            <a:ext cx="9730859" cy="1956020"/>
          </a:xfrm>
          <a:prstGeom prst="cloud">
            <a:avLst/>
          </a:prstGeom>
          <a:noFill/>
          <a:ln w="254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关键之处：模型的本质是一个映射函数</a:t>
            </a:r>
          </a:p>
        </p:txBody>
      </p:sp>
      <p:sp>
        <p:nvSpPr>
          <p:cNvPr id="3" name="灯片编号占位符 4">
            <a:extLst>
              <a:ext uri="{FF2B5EF4-FFF2-40B4-BE49-F238E27FC236}">
                <a16:creationId xmlns:a16="http://schemas.microsoft.com/office/drawing/2014/main" id="{73A74D9E-8028-BF73-6877-E15EB6B4CDA1}"/>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14</a:t>
            </a:fld>
            <a:endParaRPr lang="zh-CN" altLang="en-US" dirty="0"/>
          </a:p>
        </p:txBody>
      </p:sp>
      <p:sp>
        <p:nvSpPr>
          <p:cNvPr id="13" name="文本框 12">
            <a:extLst>
              <a:ext uri="{FF2B5EF4-FFF2-40B4-BE49-F238E27FC236}">
                <a16:creationId xmlns:a16="http://schemas.microsoft.com/office/drawing/2014/main" id="{5813A295-AE39-6109-3719-2DDA9BFAC8C0}"/>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3113379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机器学习三要素之：</a:t>
            </a:r>
          </a:p>
        </p:txBody>
      </p:sp>
      <p:sp>
        <p:nvSpPr>
          <p:cNvPr id="3" name="内容占位符 2"/>
          <p:cNvSpPr>
            <a:spLocks noGrp="1"/>
          </p:cNvSpPr>
          <p:nvPr>
            <p:ph idx="1"/>
          </p:nvPr>
        </p:nvSpPr>
        <p:spPr/>
        <p:txBody>
          <a:bodyPr/>
          <a:lstStyle/>
          <a:p>
            <a:pPr marL="0" indent="0" algn="ctr">
              <a:buNone/>
            </a:pPr>
            <a:endParaRPr lang="zh-CN" altLang="en-US" sz="6000" b="1" dirty="0">
              <a:solidFill>
                <a:schemeClr val="tx1"/>
              </a:solidFill>
            </a:endParaRPr>
          </a:p>
          <a:p>
            <a:pPr marL="0" indent="0" algn="ctr">
              <a:buNone/>
            </a:pPr>
            <a:r>
              <a:rPr lang="zh-CN" altLang="en-US" sz="6000" b="1" dirty="0">
                <a:solidFill>
                  <a:schemeClr val="tx1"/>
                </a:solidFill>
                <a:latin typeface="黑体" panose="02010609060101010101" pitchFamily="49" charset="-122"/>
                <a:ea typeface="黑体" panose="02010609060101010101" pitchFamily="49" charset="-122"/>
              </a:rPr>
              <a:t>模</a:t>
            </a:r>
            <a:r>
              <a:rPr lang="en-US" altLang="zh-CN" sz="6000" b="1" dirty="0">
                <a:solidFill>
                  <a:schemeClr val="tx1"/>
                </a:solidFill>
                <a:latin typeface="黑体" panose="02010609060101010101" pitchFamily="49" charset="-122"/>
                <a:ea typeface="黑体" panose="02010609060101010101" pitchFamily="49" charset="-122"/>
              </a:rPr>
              <a:t>  </a:t>
            </a:r>
            <a:r>
              <a:rPr lang="zh-CN" altLang="en-US" sz="6000" b="1" dirty="0">
                <a:solidFill>
                  <a:schemeClr val="tx1"/>
                </a:solidFill>
                <a:latin typeface="黑体" panose="02010609060101010101" pitchFamily="49" charset="-122"/>
                <a:ea typeface="黑体" panose="02010609060101010101" pitchFamily="49" charset="-122"/>
              </a:rPr>
              <a:t>型</a:t>
            </a:r>
          </a:p>
        </p:txBody>
      </p:sp>
      <p:sp>
        <p:nvSpPr>
          <p:cNvPr id="4" name="灯片编号占位符 4">
            <a:extLst>
              <a:ext uri="{FF2B5EF4-FFF2-40B4-BE49-F238E27FC236}">
                <a16:creationId xmlns:a16="http://schemas.microsoft.com/office/drawing/2014/main" id="{F2030206-08E2-A92A-0FFB-D27F3B350034}"/>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15</a:t>
            </a:fld>
            <a:endParaRPr lang="zh-CN" altLang="en-US" dirty="0"/>
          </a:p>
        </p:txBody>
      </p:sp>
      <p:sp>
        <p:nvSpPr>
          <p:cNvPr id="6" name="文本框 5">
            <a:extLst>
              <a:ext uri="{FF2B5EF4-FFF2-40B4-BE49-F238E27FC236}">
                <a16:creationId xmlns:a16="http://schemas.microsoft.com/office/drawing/2014/main" id="{10F62DB3-E005-0657-3329-91F002182A17}"/>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145530" cy="705485"/>
          </a:xfrm>
        </p:spPr>
        <p:txBody>
          <a:bodyPr>
            <a:normAutofit/>
          </a:bodyPr>
          <a:lstStyle/>
          <a:p>
            <a:r>
              <a:rPr lang="zh-CN" altLang="en-US"/>
              <a:t>回顾模型本质​​</a:t>
            </a:r>
          </a:p>
        </p:txBody>
      </p:sp>
      <p:sp>
        <p:nvSpPr>
          <p:cNvPr id="8" name="文本框 7"/>
          <p:cNvSpPr txBox="1"/>
          <p:nvPr/>
        </p:nvSpPr>
        <p:spPr>
          <a:xfrm>
            <a:off x="1617515" y="1236058"/>
            <a:ext cx="9859478" cy="521970"/>
          </a:xfrm>
          <a:prstGeom prst="rect">
            <a:avLst/>
          </a:prstGeom>
          <a:noFill/>
        </p:spPr>
        <p:txBody>
          <a:bodyPr wrap="square" rtlCol="0" anchor="t">
            <a:spAutoFit/>
          </a:bodyPr>
          <a:lstStyle/>
          <a:p>
            <a:pPr marL="0" indent="0">
              <a:buNone/>
            </a:pPr>
            <a:r>
              <a:rPr kumimoji="0" lang="zh-CN" altLang="en-US" sz="2800" b="1" i="0" u="none" strike="noStrike" kern="1200" cap="none" spc="0" normalizeH="0" baseline="0" noProof="0" dirty="0">
                <a:ln>
                  <a:noFill/>
                </a:ln>
                <a:solidFill>
                  <a:srgbClr val="0000FF"/>
                </a:solidFill>
                <a:effectLst/>
                <a:uLnTx/>
                <a:uFillTx/>
                <a:latin typeface="SimHei" panose="02010609060101010101" pitchFamily="49" charset="-122"/>
                <a:ea typeface="SimHei" panose="02010609060101010101" pitchFamily="49" charset="-122"/>
                <a:cs typeface="+mn-cs"/>
                <a:sym typeface="宋体" panose="02010600030101010101" pitchFamily="2" charset="-122"/>
              </a:rPr>
              <a:t>机器学习</a:t>
            </a:r>
            <a:r>
              <a:rPr kumimoji="0" lang="zh-CN" altLang="en-US" sz="24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的本质是寻找（学习）一个映射函数</a:t>
            </a:r>
            <a:endParaRPr lang="en-US" altLang="en-US" sz="2400" b="1" dirty="0">
              <a:solidFill>
                <a:srgbClr val="C00000"/>
              </a:solidFill>
              <a:latin typeface="SimHei" panose="02010609060101010101" pitchFamily="49" charset="-122"/>
              <a:ea typeface="SimHei" panose="02010609060101010101" pitchFamily="49" charset="-122"/>
              <a:sym typeface="可画风暴黑-简" panose="020B0500000000000000" charset="-122"/>
            </a:endParaRPr>
          </a:p>
        </p:txBody>
      </p:sp>
      <p:sp>
        <p:nvSpPr>
          <p:cNvPr id="10" name="文本框 9"/>
          <p:cNvSpPr txBox="1"/>
          <p:nvPr/>
        </p:nvSpPr>
        <p:spPr>
          <a:xfrm>
            <a:off x="1617515" y="1780525"/>
            <a:ext cx="9033167" cy="1268095"/>
          </a:xfrm>
          <a:prstGeom prst="rect">
            <a:avLst/>
          </a:prstGeom>
          <a:noFill/>
        </p:spPr>
        <p:txBody>
          <a:bodyPr wrap="square" rtlCol="0" anchor="t">
            <a:noAutofit/>
          </a:bodyPr>
          <a:lstStyle/>
          <a:p>
            <a:pPr algn="just">
              <a:lnSpc>
                <a:spcPct val="150000"/>
              </a:lnSpc>
            </a:pPr>
            <a:r>
              <a:rPr lang="zh-CN" altLang="en-US" sz="2400" b="1" dirty="0">
                <a:latin typeface="宋体" panose="02010600030101010101" pitchFamily="2" charset="-122"/>
                <a:ea typeface="宋体" panose="02010600030101010101" pitchFamily="2" charset="-122"/>
              </a:rPr>
              <a:t>例如在人脸解锁系统中：</a:t>
            </a:r>
            <a:endParaRPr lang="en-US" altLang="zh-CN" sz="2400" b="1" dirty="0">
              <a:latin typeface="宋体" panose="02010600030101010101" pitchFamily="2" charset="-122"/>
              <a:ea typeface="宋体" panose="02010600030101010101" pitchFamily="2" charset="-122"/>
            </a:endParaRPr>
          </a:p>
          <a:p>
            <a:pPr algn="just">
              <a:lnSpc>
                <a:spcPct val="150000"/>
              </a:lnSpc>
            </a:pP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b="1" dirty="0">
                <a:latin typeface="宋体" panose="02010600030101010101" pitchFamily="2" charset="-122"/>
                <a:ea typeface="宋体" panose="02010600030101010101" pitchFamily="2" charset="-122"/>
              </a:rPr>
              <a:t> = 人脸识别模型</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算法（输入：面部特征 → 输出：是否机主）</a:t>
            </a:r>
          </a:p>
        </p:txBody>
      </p:sp>
      <p:pic>
        <p:nvPicPr>
          <p:cNvPr id="11" name="图片 10"/>
          <p:cNvPicPr>
            <a:picLocks noChangeAspect="1"/>
          </p:cNvPicPr>
          <p:nvPr>
            <p:custDataLst>
              <p:tags r:id="rId1"/>
            </p:custDataLst>
          </p:nvPr>
        </p:nvPicPr>
        <p:blipFill>
          <a:blip r:embed="rId3"/>
          <a:stretch>
            <a:fillRect/>
          </a:stretch>
        </p:blipFill>
        <p:spPr>
          <a:xfrm>
            <a:off x="3079432" y="3257337"/>
            <a:ext cx="6033135" cy="2655570"/>
          </a:xfrm>
          <a:prstGeom prst="rect">
            <a:avLst/>
          </a:prstGeom>
        </p:spPr>
      </p:pic>
      <p:pic>
        <p:nvPicPr>
          <p:cNvPr id="3" name="图片 2">
            <a:extLst>
              <a:ext uri="{FF2B5EF4-FFF2-40B4-BE49-F238E27FC236}">
                <a16:creationId xmlns:a16="http://schemas.microsoft.com/office/drawing/2014/main" id="{59828C65-77F7-CBD6-D0B9-10A1A07CDF13}"/>
              </a:ext>
            </a:extLst>
          </p:cNvPr>
          <p:cNvPicPr>
            <a:picLocks noChangeAspect="1"/>
          </p:cNvPicPr>
          <p:nvPr/>
        </p:nvPicPr>
        <p:blipFill>
          <a:blip r:embed="rId4"/>
          <a:stretch>
            <a:fillRect/>
          </a:stretch>
        </p:blipFill>
        <p:spPr>
          <a:xfrm>
            <a:off x="8156288" y="1258555"/>
            <a:ext cx="1933286" cy="691434"/>
          </a:xfrm>
          <a:prstGeom prst="rect">
            <a:avLst/>
          </a:prstGeom>
        </p:spPr>
      </p:pic>
      <p:sp>
        <p:nvSpPr>
          <p:cNvPr id="4" name="灯片编号占位符 4">
            <a:extLst>
              <a:ext uri="{FF2B5EF4-FFF2-40B4-BE49-F238E27FC236}">
                <a16:creationId xmlns:a16="http://schemas.microsoft.com/office/drawing/2014/main" id="{CC2B0771-92E6-71A9-73CB-21EBE9CE0102}"/>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16</a:t>
            </a:fld>
            <a:endParaRPr lang="zh-CN" altLang="en-US" dirty="0"/>
          </a:p>
        </p:txBody>
      </p:sp>
      <p:sp>
        <p:nvSpPr>
          <p:cNvPr id="6" name="文本框 5">
            <a:extLst>
              <a:ext uri="{FF2B5EF4-FFF2-40B4-BE49-F238E27FC236}">
                <a16:creationId xmlns:a16="http://schemas.microsoft.com/office/drawing/2014/main" id="{0F67E981-7DA1-173E-4B9E-C41AA6B4801E}"/>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模型分类</a:t>
            </a:r>
          </a:p>
        </p:txBody>
      </p:sp>
      <p:pic>
        <p:nvPicPr>
          <p:cNvPr id="8" name="图片 7"/>
          <p:cNvPicPr>
            <a:picLocks noChangeAspect="1"/>
          </p:cNvPicPr>
          <p:nvPr/>
        </p:nvPicPr>
        <p:blipFill>
          <a:blip r:embed="rId2"/>
          <a:stretch>
            <a:fillRect/>
          </a:stretch>
        </p:blipFill>
        <p:spPr>
          <a:xfrm>
            <a:off x="2598377" y="1244253"/>
            <a:ext cx="6995246" cy="3555081"/>
          </a:xfrm>
          <a:prstGeom prst="rect">
            <a:avLst/>
          </a:prstGeom>
        </p:spPr>
      </p:pic>
      <p:sp>
        <p:nvSpPr>
          <p:cNvPr id="3" name="矩形 2">
            <a:extLst>
              <a:ext uri="{FF2B5EF4-FFF2-40B4-BE49-F238E27FC236}">
                <a16:creationId xmlns:a16="http://schemas.microsoft.com/office/drawing/2014/main" id="{66AC7568-6CDE-CC14-45FF-E052F886AE4A}"/>
              </a:ext>
            </a:extLst>
          </p:cNvPr>
          <p:cNvSpPr/>
          <p:nvPr/>
        </p:nvSpPr>
        <p:spPr>
          <a:xfrm>
            <a:off x="7096526" y="3962400"/>
            <a:ext cx="2497097" cy="2301822"/>
          </a:xfrm>
          <a:prstGeom prst="rect">
            <a:avLst/>
          </a:prstGeom>
          <a:solidFill>
            <a:srgbClr val="4F81BD">
              <a:alpha val="20000"/>
            </a:srgbClr>
          </a:solidFill>
          <a:ln w="25400" cap="flat" cmpd="sng" algn="ctr">
            <a:noFill/>
            <a:prstDash val="solid"/>
          </a:ln>
          <a:effectLst/>
        </p:spPr>
        <p:txBody>
          <a:bodyPr tIns="180000" bIns="251999" rtlCol="0" anchor="b" anchorCtr="0"/>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无标签可用于训练，怎样分组？</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p:txBody>
      </p:sp>
      <p:sp>
        <p:nvSpPr>
          <p:cNvPr id="4" name="矩形 3">
            <a:extLst>
              <a:ext uri="{FF2B5EF4-FFF2-40B4-BE49-F238E27FC236}">
                <a16:creationId xmlns:a16="http://schemas.microsoft.com/office/drawing/2014/main" id="{C4F28BDA-036A-154B-8D58-83AC35741F16}"/>
              </a:ext>
            </a:extLst>
          </p:cNvPr>
          <p:cNvSpPr/>
          <p:nvPr/>
        </p:nvSpPr>
        <p:spPr>
          <a:xfrm>
            <a:off x="4883427" y="3962400"/>
            <a:ext cx="2213099" cy="2301822"/>
          </a:xfrm>
          <a:prstGeom prst="rect">
            <a:avLst/>
          </a:prstGeom>
          <a:solidFill>
            <a:srgbClr val="FFFF00">
              <a:alpha val="20000"/>
            </a:srgbClr>
          </a:solidFill>
          <a:ln w="25400" cap="flat" cmpd="sng" algn="ctr">
            <a:noFill/>
            <a:prstDash val="solid"/>
          </a:ln>
          <a:effectLst/>
        </p:spPr>
        <p:txBody>
          <a:bodyPr tIns="180000" bIns="251999" rtlCol="0" anchor="b" anchorCtr="1"/>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映射至</a:t>
            </a:r>
            <a:r>
              <a:rPr kumimoji="1" lang="zh-CN" altLang="en-US" sz="2400" b="1" kern="0" dirty="0">
                <a:solidFill>
                  <a:srgbClr val="0000FF"/>
                </a:solidFill>
                <a:latin typeface="Microsoft YaHei" panose="020B0503020204020204" pitchFamily="34" charset="-122"/>
                <a:ea typeface="宋体" panose="02010600030101010101" pitchFamily="2" charset="-122"/>
              </a:rPr>
              <a:t>连续值（预测值）</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p:txBody>
      </p:sp>
      <p:sp>
        <p:nvSpPr>
          <p:cNvPr id="6" name="矩形 5">
            <a:extLst>
              <a:ext uri="{FF2B5EF4-FFF2-40B4-BE49-F238E27FC236}">
                <a16:creationId xmlns:a16="http://schemas.microsoft.com/office/drawing/2014/main" id="{38217E10-6531-7D17-8740-845331CB652C}"/>
              </a:ext>
            </a:extLst>
          </p:cNvPr>
          <p:cNvSpPr/>
          <p:nvPr/>
        </p:nvSpPr>
        <p:spPr>
          <a:xfrm>
            <a:off x="2598377" y="3962400"/>
            <a:ext cx="2285050" cy="2301822"/>
          </a:xfrm>
          <a:prstGeom prst="rect">
            <a:avLst/>
          </a:prstGeom>
          <a:solidFill>
            <a:srgbClr val="00B050">
              <a:alpha val="20000"/>
            </a:srgbClr>
          </a:solidFill>
          <a:ln w="25400" cap="flat" cmpd="sng" algn="ctr">
            <a:noFill/>
            <a:prstDash val="solid"/>
          </a:ln>
          <a:effectLst/>
        </p:spPr>
        <p:txBody>
          <a:bodyPr tIns="180000" bIns="251999" rtlCol="0" anchor="b" anchorCtr="0"/>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映射至</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kern="0" dirty="0">
                <a:solidFill>
                  <a:srgbClr val="0000FF"/>
                </a:solidFill>
                <a:latin typeface="Microsoft YaHei" panose="020B0503020204020204" pitchFamily="34" charset="-122"/>
                <a:ea typeface="宋体" panose="02010600030101010101" pitchFamily="2" charset="-122"/>
              </a:rPr>
              <a:t>离散标签</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p:txBody>
      </p:sp>
      <p:sp>
        <p:nvSpPr>
          <p:cNvPr id="7" name="灯片编号占位符 4">
            <a:extLst>
              <a:ext uri="{FF2B5EF4-FFF2-40B4-BE49-F238E27FC236}">
                <a16:creationId xmlns:a16="http://schemas.microsoft.com/office/drawing/2014/main" id="{E62B1BF6-0502-B802-0739-398944381FC1}"/>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17</a:t>
            </a:fld>
            <a:endParaRPr lang="zh-CN" altLang="en-US" dirty="0"/>
          </a:p>
        </p:txBody>
      </p:sp>
      <p:sp>
        <p:nvSpPr>
          <p:cNvPr id="9" name="文本框 8">
            <a:extLst>
              <a:ext uri="{FF2B5EF4-FFF2-40B4-BE49-F238E27FC236}">
                <a16:creationId xmlns:a16="http://schemas.microsoft.com/office/drawing/2014/main" id="{A751E518-0AB0-5285-41DE-202E065F9B6D}"/>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模型分类</a:t>
            </a:r>
          </a:p>
        </p:txBody>
      </p:sp>
      <p:sp>
        <p:nvSpPr>
          <p:cNvPr id="3" name="文本框 2"/>
          <p:cNvSpPr txBox="1"/>
          <p:nvPr/>
        </p:nvSpPr>
        <p:spPr>
          <a:xfrm>
            <a:off x="856448" y="1337310"/>
            <a:ext cx="5105920" cy="1273875"/>
          </a:xfrm>
          <a:prstGeom prst="rect">
            <a:avLst/>
          </a:prstGeom>
          <a:noFill/>
        </p:spPr>
        <p:txBody>
          <a:bodyPr wrap="square" rtlCol="0" anchor="t">
            <a:spAutoFit/>
          </a:bodyPr>
          <a:lstStyle/>
          <a:p>
            <a:pPr algn="just">
              <a:lnSpc>
                <a:spcPct val="150000"/>
              </a:lnSpc>
            </a:pPr>
            <a:r>
              <a:rPr lang="zh-CN" altLang="en-US" b="1" dirty="0">
                <a:latin typeface="黑体" panose="02010609060101010101" pitchFamily="49" charset="-122"/>
                <a:ea typeface="黑体" panose="02010609060101010101" pitchFamily="49" charset="-122"/>
                <a:cs typeface="宋体" panose="02010600030101010101" pitchFamily="2" charset="-122"/>
              </a:rPr>
              <a:t>分类模型：</a:t>
            </a:r>
            <a:r>
              <a:rPr lang="zh-CN" altLang="en-US" dirty="0">
                <a:latin typeface="宋体" panose="02010600030101010101" pitchFamily="2" charset="-122"/>
                <a:ea typeface="宋体" panose="02010600030101010101" pitchFamily="2" charset="-122"/>
                <a:cs typeface="宋体" panose="02010600030101010101" pitchFamily="2" charset="-122"/>
              </a:rPr>
              <a:t>→ 输入特征 → </a:t>
            </a:r>
            <a:r>
              <a:rPr lang="zh-CN" altLang="en-US" b="1" dirty="0">
                <a:latin typeface="宋体" panose="02010600030101010101" pitchFamily="2" charset="-122"/>
                <a:ea typeface="宋体" panose="02010600030101010101" pitchFamily="2" charset="-122"/>
                <a:cs typeface="宋体" panose="02010600030101010101" pitchFamily="2" charset="-122"/>
              </a:rPr>
              <a:t>输出​​离散类别标签​​</a:t>
            </a:r>
            <a:r>
              <a:rPr lang="zh-CN" altLang="en-US" dirty="0">
                <a:latin typeface="宋体" panose="02010600030101010101" pitchFamily="2" charset="-122"/>
                <a:ea typeface="宋体" panose="02010600030101010101" pitchFamily="2" charset="-122"/>
                <a:cs typeface="宋体" panose="02010600030101010101" pitchFamily="2" charset="-122"/>
              </a:rPr>
              <a:t>（如“是/否”、“猫/狗/鸟”）；像​​考试选择题​​：根据题目（输入）选唯一正确答案（输出标签）</a:t>
            </a:r>
          </a:p>
        </p:txBody>
      </p:sp>
      <p:sp>
        <p:nvSpPr>
          <p:cNvPr id="7" name="文本框 6"/>
          <p:cNvSpPr txBox="1"/>
          <p:nvPr/>
        </p:nvSpPr>
        <p:spPr>
          <a:xfrm>
            <a:off x="6594308" y="1252220"/>
            <a:ext cx="2232025" cy="1186180"/>
          </a:xfrm>
          <a:prstGeom prst="rect">
            <a:avLst/>
          </a:prstGeom>
          <a:noFill/>
        </p:spPr>
        <p:txBody>
          <a:bodyPr wrap="square" rtlCol="0" anchor="t">
            <a:noAutofit/>
          </a:bodyPr>
          <a:lstStyle/>
          <a:p>
            <a:r>
              <a:rPr lang="zh-CN" altLang="en-US" sz="6600" dirty="0">
                <a:latin typeface="Arial" panose="020B0604020202020204" pitchFamily="34" charset="0"/>
                <a:cs typeface="Arial" panose="020B0604020202020204" pitchFamily="34" charset="0"/>
              </a:rPr>
              <a:t>→</a:t>
            </a:r>
          </a:p>
        </p:txBody>
      </p:sp>
      <p:pic>
        <p:nvPicPr>
          <p:cNvPr id="9" name="图片 8"/>
          <p:cNvPicPr>
            <a:picLocks noChangeAspect="1"/>
          </p:cNvPicPr>
          <p:nvPr/>
        </p:nvPicPr>
        <p:blipFill>
          <a:blip r:embed="rId2"/>
          <a:stretch>
            <a:fillRect/>
          </a:stretch>
        </p:blipFill>
        <p:spPr>
          <a:xfrm>
            <a:off x="8441311" y="934720"/>
            <a:ext cx="2346325" cy="1587500"/>
          </a:xfrm>
          <a:prstGeom prst="rect">
            <a:avLst/>
          </a:prstGeom>
        </p:spPr>
      </p:pic>
      <p:sp>
        <p:nvSpPr>
          <p:cNvPr id="10" name="文本框 9"/>
          <p:cNvSpPr txBox="1"/>
          <p:nvPr/>
        </p:nvSpPr>
        <p:spPr>
          <a:xfrm>
            <a:off x="856448" y="3013775"/>
            <a:ext cx="5105920" cy="1273875"/>
          </a:xfrm>
          <a:prstGeom prst="rect">
            <a:avLst/>
          </a:prstGeom>
          <a:noFill/>
        </p:spPr>
        <p:txBody>
          <a:bodyPr wrap="square" rtlCol="0" anchor="t">
            <a:spAutoFit/>
          </a:bodyPr>
          <a:lstStyle/>
          <a:p>
            <a:pPr algn="just">
              <a:lnSpc>
                <a:spcPct val="150000"/>
              </a:lnSpc>
            </a:pPr>
            <a:r>
              <a:rPr lang="zh-CN" altLang="en-US" b="1" dirty="0">
                <a:latin typeface="黑体" panose="02010609060101010101" pitchFamily="49" charset="-122"/>
                <a:ea typeface="黑体" panose="02010609060101010101" pitchFamily="49" charset="-122"/>
              </a:rPr>
              <a:t>回归模型：</a:t>
            </a:r>
            <a:r>
              <a:rPr lang="zh-CN" altLang="en-US" dirty="0">
                <a:latin typeface="宋体" panose="02010600030101010101" pitchFamily="2" charset="-122"/>
                <a:ea typeface="宋体" panose="02010600030101010101" pitchFamily="2" charset="-122"/>
                <a:cs typeface="宋体" panose="02010600030101010101" pitchFamily="2" charset="-122"/>
              </a:rPr>
              <a:t>→ 输入特征 → </a:t>
            </a:r>
            <a:r>
              <a:rPr lang="zh-CN" altLang="en-US" b="1" dirty="0">
                <a:latin typeface="宋体" panose="02010600030101010101" pitchFamily="2" charset="-122"/>
                <a:ea typeface="宋体" panose="02010600030101010101" pitchFamily="2" charset="-122"/>
                <a:cs typeface="宋体" panose="02010600030101010101" pitchFamily="2" charset="-122"/>
              </a:rPr>
              <a:t>输出​​连续数值​​</a:t>
            </a:r>
            <a:r>
              <a:rPr lang="zh-CN" altLang="en-US" dirty="0">
                <a:latin typeface="宋体" panose="02010600030101010101" pitchFamily="2" charset="-122"/>
                <a:ea typeface="宋体" panose="02010600030101010101" pitchFamily="2" charset="-122"/>
                <a:cs typeface="宋体" panose="02010600030101010101" pitchFamily="2" charset="-122"/>
              </a:rPr>
              <a:t>（如时间、价格、百分比）；像手机的价格走势图连续不间断的变化</a:t>
            </a:r>
          </a:p>
        </p:txBody>
      </p:sp>
      <p:sp>
        <p:nvSpPr>
          <p:cNvPr id="11" name="文本框 10"/>
          <p:cNvSpPr txBox="1"/>
          <p:nvPr/>
        </p:nvSpPr>
        <p:spPr>
          <a:xfrm>
            <a:off x="6594308" y="4649470"/>
            <a:ext cx="2232025" cy="1186180"/>
          </a:xfrm>
          <a:prstGeom prst="rect">
            <a:avLst/>
          </a:prstGeom>
          <a:noFill/>
        </p:spPr>
        <p:txBody>
          <a:bodyPr wrap="square" rtlCol="0" anchor="t">
            <a:noAutofit/>
          </a:bodyPr>
          <a:lstStyle/>
          <a:p>
            <a:r>
              <a:rPr lang="zh-CN" altLang="en-US" sz="6600">
                <a:latin typeface="Arial" panose="020B0604020202020204" pitchFamily="34" charset="0"/>
                <a:cs typeface="Arial" panose="020B0604020202020204" pitchFamily="34" charset="0"/>
              </a:rPr>
              <a:t>→</a:t>
            </a:r>
            <a:endParaRPr lang="zh-CN" altLang="en-US" sz="6600" b="1">
              <a:latin typeface="Arial" panose="020B0604020202020204" pitchFamily="34" charset="0"/>
              <a:cs typeface="Arial" panose="020B0604020202020204" pitchFamily="34" charset="0"/>
            </a:endParaRPr>
          </a:p>
        </p:txBody>
      </p:sp>
      <p:pic>
        <p:nvPicPr>
          <p:cNvPr id="12" name="图片 11"/>
          <p:cNvPicPr>
            <a:picLocks noChangeAspect="1"/>
          </p:cNvPicPr>
          <p:nvPr/>
        </p:nvPicPr>
        <p:blipFill>
          <a:blip r:embed="rId3"/>
          <a:stretch>
            <a:fillRect/>
          </a:stretch>
        </p:blipFill>
        <p:spPr>
          <a:xfrm>
            <a:off x="8382256" y="2687320"/>
            <a:ext cx="2465070" cy="1483995"/>
          </a:xfrm>
          <a:prstGeom prst="rect">
            <a:avLst/>
          </a:prstGeom>
        </p:spPr>
      </p:pic>
      <p:sp>
        <p:nvSpPr>
          <p:cNvPr id="13" name="文本框 12"/>
          <p:cNvSpPr txBox="1"/>
          <p:nvPr/>
        </p:nvSpPr>
        <p:spPr>
          <a:xfrm>
            <a:off x="897217" y="4813371"/>
            <a:ext cx="5065151" cy="858377"/>
          </a:xfrm>
          <a:prstGeom prst="rect">
            <a:avLst/>
          </a:prstGeom>
          <a:noFill/>
        </p:spPr>
        <p:txBody>
          <a:bodyPr wrap="square" rtlCol="0" anchor="t">
            <a:spAutoFit/>
          </a:bodyPr>
          <a:lstStyle/>
          <a:p>
            <a:pPr algn="just">
              <a:lnSpc>
                <a:spcPct val="150000"/>
              </a:lnSpc>
            </a:pPr>
            <a:r>
              <a:rPr lang="zh-CN" altLang="en-US" b="1" dirty="0">
                <a:latin typeface="黑体" panose="02010609060101010101" pitchFamily="49" charset="-122"/>
                <a:ea typeface="黑体" panose="02010609060101010101" pitchFamily="49" charset="-122"/>
              </a:rPr>
              <a:t>聚类模型：</a:t>
            </a:r>
            <a:r>
              <a:rPr lang="zh-CN" altLang="en-US" dirty="0">
                <a:latin typeface="宋体" panose="02010600030101010101" pitchFamily="2" charset="-122"/>
                <a:ea typeface="宋体" panose="02010600030101010101" pitchFamily="2" charset="-122"/>
                <a:cs typeface="宋体" panose="02010600030101010101" pitchFamily="2" charset="-122"/>
              </a:rPr>
              <a:t>→ </a:t>
            </a:r>
            <a:r>
              <a:rPr lang="zh-CN" altLang="en-US" b="1" dirty="0">
                <a:latin typeface="宋体" panose="02010600030101010101" pitchFamily="2" charset="-122"/>
                <a:ea typeface="宋体" panose="02010600030101010101" pitchFamily="2" charset="-122"/>
                <a:cs typeface="宋体" panose="02010600030101010101" pitchFamily="2" charset="-122"/>
              </a:rPr>
              <a:t>输入​​无标签数据​​ → 自动发现​​隐藏分组规律</a:t>
            </a:r>
            <a:r>
              <a:rPr lang="zh-CN" altLang="en-US" dirty="0">
                <a:latin typeface="宋体" panose="02010600030101010101" pitchFamily="2" charset="-122"/>
                <a:ea typeface="宋体" panose="02010600030101010101" pitchFamily="2" charset="-122"/>
                <a:cs typeface="宋体" panose="02010600030101010101" pitchFamily="2" charset="-122"/>
              </a:rPr>
              <a:t>；例如手机相册的“人物”聚类功能</a:t>
            </a:r>
          </a:p>
        </p:txBody>
      </p:sp>
      <p:sp>
        <p:nvSpPr>
          <p:cNvPr id="15" name="文本框 14"/>
          <p:cNvSpPr txBox="1"/>
          <p:nvPr/>
        </p:nvSpPr>
        <p:spPr>
          <a:xfrm>
            <a:off x="6594308" y="2967990"/>
            <a:ext cx="2232025" cy="1186180"/>
          </a:xfrm>
          <a:prstGeom prst="rect">
            <a:avLst/>
          </a:prstGeom>
          <a:noFill/>
        </p:spPr>
        <p:txBody>
          <a:bodyPr wrap="square" rtlCol="0" anchor="t">
            <a:noAutofit/>
          </a:bodyPr>
          <a:lstStyle/>
          <a:p>
            <a:r>
              <a:rPr lang="zh-CN" altLang="en-US" sz="6600">
                <a:latin typeface="Arial" panose="020B0604020202020204" pitchFamily="34" charset="0"/>
                <a:cs typeface="Arial" panose="020B0604020202020204" pitchFamily="34" charset="0"/>
              </a:rPr>
              <a:t>→</a:t>
            </a:r>
            <a:endParaRPr lang="zh-CN" altLang="en-US" sz="6600" b="1">
              <a:latin typeface="Arial" panose="020B0604020202020204" pitchFamily="34" charset="0"/>
              <a:cs typeface="Arial" panose="020B0604020202020204" pitchFamily="34" charset="0"/>
            </a:endParaRPr>
          </a:p>
        </p:txBody>
      </p:sp>
      <p:pic>
        <p:nvPicPr>
          <p:cNvPr id="8" name="图片 7">
            <a:extLst>
              <a:ext uri="{FF2B5EF4-FFF2-40B4-BE49-F238E27FC236}">
                <a16:creationId xmlns:a16="http://schemas.microsoft.com/office/drawing/2014/main" id="{E6D5C24A-FB31-6E8E-F50F-252F3D5E19AE}"/>
              </a:ext>
            </a:extLst>
          </p:cNvPr>
          <p:cNvPicPr>
            <a:picLocks noChangeAspect="1"/>
          </p:cNvPicPr>
          <p:nvPr/>
        </p:nvPicPr>
        <p:blipFill>
          <a:blip r:embed="rId4"/>
          <a:srcRect l="1310" t="875" r="1702" b="64075"/>
          <a:stretch/>
        </p:blipFill>
        <p:spPr>
          <a:xfrm>
            <a:off x="8382256" y="4451985"/>
            <a:ext cx="2465070" cy="1667435"/>
          </a:xfrm>
          <a:prstGeom prst="rect">
            <a:avLst/>
          </a:prstGeom>
        </p:spPr>
      </p:pic>
      <p:sp>
        <p:nvSpPr>
          <p:cNvPr id="4" name="灯片编号占位符 4">
            <a:extLst>
              <a:ext uri="{FF2B5EF4-FFF2-40B4-BE49-F238E27FC236}">
                <a16:creationId xmlns:a16="http://schemas.microsoft.com/office/drawing/2014/main" id="{C81110B5-974E-BFF1-730D-5C214DB46E16}"/>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18</a:t>
            </a:fld>
            <a:endParaRPr lang="zh-CN" altLang="en-US" dirty="0"/>
          </a:p>
        </p:txBody>
      </p:sp>
      <p:sp>
        <p:nvSpPr>
          <p:cNvPr id="6" name="文本框 5">
            <a:extLst>
              <a:ext uri="{FF2B5EF4-FFF2-40B4-BE49-F238E27FC236}">
                <a16:creationId xmlns:a16="http://schemas.microsoft.com/office/drawing/2014/main" id="{4BD16011-9374-031B-5B0F-562A69C0C94E}"/>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gn="ctr">
              <a:buNone/>
            </a:pPr>
            <a:endParaRPr lang="zh-CN" altLang="en-US" sz="6000" b="1" dirty="0">
              <a:solidFill>
                <a:schemeClr val="tx1"/>
              </a:solidFill>
            </a:endParaRPr>
          </a:p>
          <a:p>
            <a:pPr marL="0" indent="0" algn="ctr">
              <a:buNone/>
            </a:pPr>
            <a:r>
              <a:rPr lang="zh-CN" altLang="en-US" sz="6000" b="1" dirty="0">
                <a:solidFill>
                  <a:schemeClr val="tx1"/>
                </a:solidFill>
                <a:latin typeface="黑体" panose="02010609060101010101" pitchFamily="49" charset="-122"/>
                <a:ea typeface="黑体" panose="02010609060101010101" pitchFamily="49" charset="-122"/>
              </a:rPr>
              <a:t>学习准则</a:t>
            </a:r>
          </a:p>
        </p:txBody>
      </p:sp>
      <p:sp>
        <p:nvSpPr>
          <p:cNvPr id="7" name="标题 1">
            <a:extLst>
              <a:ext uri="{FF2B5EF4-FFF2-40B4-BE49-F238E27FC236}">
                <a16:creationId xmlns:a16="http://schemas.microsoft.com/office/drawing/2014/main" id="{4259FFE5-428C-F2B4-D29B-8F3D8E62F56E}"/>
              </a:ext>
            </a:extLst>
          </p:cNvPr>
          <p:cNvSpPr>
            <a:spLocks noGrp="1"/>
          </p:cNvSpPr>
          <p:nvPr>
            <p:ph type="title"/>
          </p:nvPr>
        </p:nvSpPr>
        <p:spPr>
          <a:xfrm>
            <a:off x="252730" y="229235"/>
            <a:ext cx="4277995" cy="705485"/>
          </a:xfrm>
        </p:spPr>
        <p:txBody>
          <a:bodyPr/>
          <a:lstStyle/>
          <a:p>
            <a:r>
              <a:rPr lang="zh-CN" altLang="en-US" dirty="0"/>
              <a:t>机器学习三要素之：</a:t>
            </a:r>
          </a:p>
        </p:txBody>
      </p:sp>
      <p:sp>
        <p:nvSpPr>
          <p:cNvPr id="2" name="灯片编号占位符 4">
            <a:extLst>
              <a:ext uri="{FF2B5EF4-FFF2-40B4-BE49-F238E27FC236}">
                <a16:creationId xmlns:a16="http://schemas.microsoft.com/office/drawing/2014/main" id="{B662969D-A625-DB23-CA7D-0C1D1FC910F9}"/>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19</a:t>
            </a:fld>
            <a:endParaRPr lang="zh-CN" altLang="en-US" dirty="0"/>
          </a:p>
        </p:txBody>
      </p:sp>
      <p:sp>
        <p:nvSpPr>
          <p:cNvPr id="4" name="文本框 3">
            <a:extLst>
              <a:ext uri="{FF2B5EF4-FFF2-40B4-BE49-F238E27FC236}">
                <a16:creationId xmlns:a16="http://schemas.microsoft.com/office/drawing/2014/main" id="{6CF5683E-EAD4-2992-9803-DB11A42C0C13}"/>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9275" y="2251719"/>
            <a:ext cx="5546725" cy="3587750"/>
          </a:xfrm>
        </p:spPr>
        <p:txBody>
          <a:bodyPr/>
          <a:lstStyle/>
          <a:p>
            <a:pPr marL="0" indent="0">
              <a:buNone/>
            </a:pPr>
            <a:r>
              <a:rPr lang="zh-CN" altLang="en-US" sz="2400" b="1" dirty="0">
                <a:solidFill>
                  <a:schemeClr val="tx1"/>
                </a:solidFill>
              </a:rPr>
              <a:t>人脸识别举例：</a:t>
            </a:r>
          </a:p>
          <a:p>
            <a:r>
              <a:rPr lang="zh-CN" altLang="en-US" sz="2400" dirty="0">
                <a:solidFill>
                  <a:schemeClr val="tx1"/>
                </a:solidFill>
              </a:rPr>
              <a:t>预测为 1（是本人）时：</a:t>
            </a:r>
          </a:p>
          <a:p>
            <a:pPr marL="0" indent="0">
              <a:buNone/>
            </a:pPr>
            <a:r>
              <a:rPr lang="zh-CN" altLang="en-US" sz="2400" dirty="0">
                <a:solidFill>
                  <a:schemeClr val="tx1"/>
                </a:solidFill>
              </a:rPr>
              <a:t>真实标签也为 1→差距小（预测得准）</a:t>
            </a:r>
          </a:p>
          <a:p>
            <a:r>
              <a:rPr lang="zh-CN" altLang="en-US" sz="2400" dirty="0">
                <a:solidFill>
                  <a:schemeClr val="tx1"/>
                </a:solidFill>
              </a:rPr>
              <a:t>预测为 0（非本人）时：</a:t>
            </a:r>
          </a:p>
          <a:p>
            <a:pPr marL="0" indent="0">
              <a:buNone/>
            </a:pPr>
            <a:r>
              <a:rPr lang="zh-CN" altLang="en-US" sz="2400" dirty="0">
                <a:solidFill>
                  <a:schemeClr val="tx1"/>
                </a:solidFill>
              </a:rPr>
              <a:t>真实标签为 1→差距大（预测不准）</a:t>
            </a:r>
          </a:p>
        </p:txBody>
      </p:sp>
      <p:sp>
        <p:nvSpPr>
          <p:cNvPr id="6" name="文本框 5"/>
          <p:cNvSpPr txBox="1"/>
          <p:nvPr/>
        </p:nvSpPr>
        <p:spPr>
          <a:xfrm>
            <a:off x="549275" y="1256953"/>
            <a:ext cx="11093450" cy="461665"/>
          </a:xfrm>
          <a:prstGeom prst="rect">
            <a:avLst/>
          </a:prstGeom>
          <a:noFill/>
        </p:spPr>
        <p:txBody>
          <a:bodyPr wrap="square" rtlCol="0">
            <a:spAutoFit/>
          </a:bodyPr>
          <a:lstStyle/>
          <a:p>
            <a:r>
              <a:rPr lang="en-US" sz="2400" b="1" dirty="0" err="1">
                <a:solidFill>
                  <a:schemeClr val="tx1"/>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定义：判断模型预测是否准确的规则，核心是</a:t>
            </a:r>
            <a:r>
              <a:rPr lang="zh-CN" altLang="en-US" sz="2400" b="1" dirty="0">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lang="en-US" sz="2400" b="1" dirty="0" err="1">
                <a:solidFill>
                  <a:schemeClr val="tx1"/>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让预测与真实标签的差距最小</a:t>
            </a:r>
            <a:r>
              <a:rPr lang="zh-CN" altLang="en-US" sz="2400" b="1" dirty="0">
                <a:solidFill>
                  <a:schemeClr val="tx1"/>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endParaRPr lang="en-US" altLang="en-US" sz="2400" b="1" dirty="0">
              <a:solidFill>
                <a:schemeClr val="tx1"/>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endParaRPr>
          </a:p>
        </p:txBody>
      </p:sp>
      <p:sp>
        <p:nvSpPr>
          <p:cNvPr id="7" name="Freeform 3"/>
          <p:cNvSpPr/>
          <p:nvPr/>
        </p:nvSpPr>
        <p:spPr>
          <a:xfrm>
            <a:off x="6612878" y="1934697"/>
            <a:ext cx="4334510" cy="1770380"/>
          </a:xfrm>
          <a:custGeom>
            <a:avLst/>
            <a:gdLst/>
            <a:ahLst/>
            <a:cxnLst/>
            <a:rect l="l" t="t" r="r" b="b"/>
            <a:pathLst>
              <a:path w="6461917" h="3458402">
                <a:moveTo>
                  <a:pt x="0" y="0"/>
                </a:moveTo>
                <a:lnTo>
                  <a:pt x="6461917" y="0"/>
                </a:lnTo>
                <a:lnTo>
                  <a:pt x="6461917" y="3458402"/>
                </a:lnTo>
                <a:lnTo>
                  <a:pt x="0" y="3458402"/>
                </a:lnTo>
                <a:lnTo>
                  <a:pt x="0" y="0"/>
                </a:lnTo>
                <a:close/>
              </a:path>
            </a:pathLst>
          </a:custGeom>
          <a:blipFill>
            <a:blip r:embed="rId2"/>
            <a:stretch>
              <a:fillRect t="-16628" b="-11085"/>
            </a:stretch>
          </a:blipFill>
        </p:spPr>
        <p:txBody>
          <a:bodyPr/>
          <a:lstStyle/>
          <a:p>
            <a:endParaRPr lang="zh-CN" altLang="en-US"/>
          </a:p>
        </p:txBody>
      </p:sp>
      <p:sp>
        <p:nvSpPr>
          <p:cNvPr id="8" name="Freeform 4"/>
          <p:cNvSpPr/>
          <p:nvPr/>
        </p:nvSpPr>
        <p:spPr>
          <a:xfrm>
            <a:off x="6622077" y="3757106"/>
            <a:ext cx="4333875" cy="2188210"/>
          </a:xfrm>
          <a:custGeom>
            <a:avLst/>
            <a:gdLst/>
            <a:ahLst/>
            <a:cxnLst/>
            <a:rect l="l" t="t" r="r" b="b"/>
            <a:pathLst>
              <a:path w="6461917" h="3418943">
                <a:moveTo>
                  <a:pt x="0" y="0"/>
                </a:moveTo>
                <a:lnTo>
                  <a:pt x="6461917" y="0"/>
                </a:lnTo>
                <a:lnTo>
                  <a:pt x="6461917" y="3418942"/>
                </a:lnTo>
                <a:lnTo>
                  <a:pt x="0" y="3418942"/>
                </a:lnTo>
                <a:lnTo>
                  <a:pt x="0" y="0"/>
                </a:lnTo>
                <a:close/>
              </a:path>
            </a:pathLst>
          </a:custGeom>
          <a:blipFill>
            <a:blip r:embed="rId3"/>
            <a:stretch>
              <a:fillRect t="-8757" b="-12744"/>
            </a:stretch>
          </a:blipFill>
        </p:spPr>
        <p:txBody>
          <a:bodyPr/>
          <a:lstStyle/>
          <a:p>
            <a:endParaRPr lang="zh-CN" altLang="en-US"/>
          </a:p>
        </p:txBody>
      </p:sp>
      <p:sp>
        <p:nvSpPr>
          <p:cNvPr id="2" name="标题 1">
            <a:extLst>
              <a:ext uri="{FF2B5EF4-FFF2-40B4-BE49-F238E27FC236}">
                <a16:creationId xmlns:a16="http://schemas.microsoft.com/office/drawing/2014/main" id="{09F401AE-7059-13E8-DD66-D8E0FAB87A08}"/>
              </a:ext>
            </a:extLst>
          </p:cNvPr>
          <p:cNvSpPr>
            <a:spLocks noGrp="1"/>
          </p:cNvSpPr>
          <p:nvPr>
            <p:ph type="title"/>
          </p:nvPr>
        </p:nvSpPr>
        <p:spPr>
          <a:xfrm>
            <a:off x="252730" y="229235"/>
            <a:ext cx="7113905" cy="705485"/>
          </a:xfrm>
        </p:spPr>
        <p:txBody>
          <a:bodyPr>
            <a:normAutofit/>
          </a:bodyPr>
          <a:lstStyle/>
          <a:p>
            <a:r>
              <a:rPr lang="zh-CN" altLang="en-US" dirty="0"/>
              <a:t>学习准则</a:t>
            </a:r>
          </a:p>
        </p:txBody>
      </p:sp>
      <p:sp>
        <p:nvSpPr>
          <p:cNvPr id="4" name="灯片编号占位符 4">
            <a:extLst>
              <a:ext uri="{FF2B5EF4-FFF2-40B4-BE49-F238E27FC236}">
                <a16:creationId xmlns:a16="http://schemas.microsoft.com/office/drawing/2014/main" id="{E0979B4D-61A1-9431-ACA0-137DD39583CF}"/>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20</a:t>
            </a:fld>
            <a:endParaRPr lang="zh-CN" altLang="en-US" dirty="0"/>
          </a:p>
        </p:txBody>
      </p:sp>
      <p:sp>
        <p:nvSpPr>
          <p:cNvPr id="9" name="文本框 8">
            <a:extLst>
              <a:ext uri="{FF2B5EF4-FFF2-40B4-BE49-F238E27FC236}">
                <a16:creationId xmlns:a16="http://schemas.microsoft.com/office/drawing/2014/main" id="{4F23FF32-712E-C138-E0EA-4842BE3E01BA}"/>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7113905" cy="705485"/>
          </a:xfrm>
        </p:spPr>
        <p:txBody>
          <a:bodyPr>
            <a:normAutofit/>
          </a:bodyPr>
          <a:lstStyle/>
          <a:p>
            <a:r>
              <a:rPr lang="zh-CN" altLang="en-US" dirty="0"/>
              <a:t>损失函数：差距的‘量化工具’</a:t>
            </a:r>
          </a:p>
        </p:txBody>
      </p:sp>
      <p:sp>
        <p:nvSpPr>
          <p:cNvPr id="3" name="内容占位符 2"/>
          <p:cNvSpPr>
            <a:spLocks noGrp="1"/>
          </p:cNvSpPr>
          <p:nvPr>
            <p:ph idx="1"/>
          </p:nvPr>
        </p:nvSpPr>
        <p:spPr>
          <a:xfrm>
            <a:off x="658163" y="1302652"/>
            <a:ext cx="5868582" cy="3288665"/>
          </a:xfrm>
        </p:spPr>
        <p:txBody>
          <a:bodyPr>
            <a:normAutofit/>
          </a:bodyPr>
          <a:lstStyle/>
          <a:p>
            <a:pPr marL="0" indent="0" algn="just">
              <a:buNone/>
            </a:pPr>
            <a:r>
              <a:rPr lang="zh-CN" altLang="en-US" sz="2400" b="1" dirty="0">
                <a:solidFill>
                  <a:srgbClr val="FF0000"/>
                </a:solidFill>
                <a:latin typeface="黑体" panose="02010609060101010101" pitchFamily="49" charset="-122"/>
                <a:ea typeface="黑体" panose="02010609060101010101" pitchFamily="49" charset="-122"/>
              </a:rPr>
              <a:t>损失函数（</a:t>
            </a:r>
            <a:r>
              <a:rPr lang="en-US" altLang="zh-CN" sz="2400" b="1" dirty="0">
                <a:solidFill>
                  <a:srgbClr val="FF0000"/>
                </a:solidFill>
                <a:latin typeface="黑体" panose="02010609060101010101" pitchFamily="49" charset="-122"/>
                <a:ea typeface="黑体" panose="02010609060101010101" pitchFamily="49" charset="-122"/>
              </a:rPr>
              <a:t>Loss</a:t>
            </a:r>
            <a:r>
              <a:rPr lang="zh-CN" altLang="en-US" sz="2400" b="1" dirty="0">
                <a:solidFill>
                  <a:srgbClr val="FF0000"/>
                </a:solidFill>
                <a:latin typeface="黑体" panose="02010609060101010101" pitchFamily="49" charset="-122"/>
                <a:ea typeface="黑体" panose="02010609060101010101" pitchFamily="49" charset="-122"/>
              </a:rPr>
              <a:t> </a:t>
            </a:r>
            <a:r>
              <a:rPr lang="en-US" altLang="zh-CN" sz="2400" b="1" dirty="0">
                <a:solidFill>
                  <a:srgbClr val="FF0000"/>
                </a:solidFill>
                <a:latin typeface="黑体" panose="02010609060101010101" pitchFamily="49" charset="-122"/>
                <a:ea typeface="黑体" panose="02010609060101010101" pitchFamily="49" charset="-122"/>
              </a:rPr>
              <a:t>Function</a:t>
            </a:r>
            <a:r>
              <a:rPr lang="zh-CN" altLang="en-US" sz="2400" b="1" dirty="0">
                <a:solidFill>
                  <a:srgbClr val="FF0000"/>
                </a:solidFill>
                <a:latin typeface="黑体" panose="02010609060101010101" pitchFamily="49" charset="-122"/>
                <a:ea typeface="黑体" panose="02010609060101010101" pitchFamily="49" charset="-122"/>
              </a:rPr>
              <a:t>）：</a:t>
            </a:r>
            <a:endParaRPr lang="en-US" altLang="zh-CN" sz="2400" b="1" dirty="0">
              <a:solidFill>
                <a:srgbClr val="FF0000"/>
              </a:solidFill>
              <a:latin typeface="黑体" panose="02010609060101010101" pitchFamily="49" charset="-122"/>
              <a:ea typeface="黑体" panose="02010609060101010101" pitchFamily="49" charset="-122"/>
            </a:endParaRPr>
          </a:p>
          <a:p>
            <a:pPr marL="0" indent="0" algn="just">
              <a:buNone/>
            </a:pPr>
            <a:r>
              <a:rPr lang="zh-CN" altLang="en-US" sz="2400" dirty="0">
                <a:solidFill>
                  <a:schemeClr val="tx1"/>
                </a:solidFill>
              </a:rPr>
              <a:t>量化预测与真实标签差距的函数，记为 L (</a:t>
            </a:r>
            <a:r>
              <a:rPr lang="en-US" altLang="zh-CN" sz="2400" dirty="0">
                <a:solidFill>
                  <a:schemeClr val="tx1"/>
                </a:solidFill>
              </a:rPr>
              <a:t>Y</a:t>
            </a:r>
            <a:r>
              <a:rPr lang="zh-CN" altLang="en-US" sz="2400" dirty="0">
                <a:solidFill>
                  <a:schemeClr val="tx1"/>
                </a:solidFill>
              </a:rPr>
              <a:t>_pred, </a:t>
            </a:r>
            <a:r>
              <a:rPr lang="en-US" altLang="zh-CN" sz="2400" dirty="0">
                <a:solidFill>
                  <a:schemeClr val="tx1"/>
                </a:solidFill>
              </a:rPr>
              <a:t>Y</a:t>
            </a:r>
            <a:r>
              <a:rPr lang="zh-CN" altLang="en-US" sz="2400" dirty="0">
                <a:solidFill>
                  <a:schemeClr val="tx1"/>
                </a:solidFill>
              </a:rPr>
              <a:t>_true)。</a:t>
            </a:r>
          </a:p>
          <a:p>
            <a:pPr marL="0" indent="0" algn="just">
              <a:buNone/>
            </a:pPr>
            <a:r>
              <a:rPr lang="zh-CN" altLang="en-US" sz="2400" b="1" dirty="0">
                <a:solidFill>
                  <a:schemeClr val="tx1"/>
                </a:solidFill>
              </a:rPr>
              <a:t>损失越小，模型越好（目标：最小化损失函数）。</a:t>
            </a:r>
          </a:p>
        </p:txBody>
      </p:sp>
      <p:sp>
        <p:nvSpPr>
          <p:cNvPr id="6" name="Freeform 3"/>
          <p:cNvSpPr/>
          <p:nvPr/>
        </p:nvSpPr>
        <p:spPr>
          <a:xfrm>
            <a:off x="7366635" y="1497330"/>
            <a:ext cx="4204970" cy="4254542"/>
          </a:xfrm>
          <a:custGeom>
            <a:avLst/>
            <a:gdLst/>
            <a:ahLst/>
            <a:cxnLst/>
            <a:rect l="l" t="t" r="r" b="b"/>
            <a:pathLst>
              <a:path w="5612807" h="5979075">
                <a:moveTo>
                  <a:pt x="0" y="0"/>
                </a:moveTo>
                <a:lnTo>
                  <a:pt x="5612807" y="0"/>
                </a:lnTo>
                <a:lnTo>
                  <a:pt x="5612807" y="5979075"/>
                </a:lnTo>
                <a:lnTo>
                  <a:pt x="0" y="5979075"/>
                </a:lnTo>
                <a:lnTo>
                  <a:pt x="0" y="0"/>
                </a:lnTo>
                <a:close/>
              </a:path>
            </a:pathLst>
          </a:custGeom>
          <a:blipFill>
            <a:blip r:embed="rId2"/>
            <a:stretch>
              <a:fillRect/>
            </a:stretch>
          </a:blipFill>
        </p:spPr>
        <p:txBody>
          <a:bodyPr/>
          <a:lstStyle/>
          <a:p>
            <a:endParaRPr lang="zh-CN" altLang="en-US"/>
          </a:p>
        </p:txBody>
      </p:sp>
      <p:sp>
        <p:nvSpPr>
          <p:cNvPr id="4" name="矩形 3">
            <a:extLst>
              <a:ext uri="{FF2B5EF4-FFF2-40B4-BE49-F238E27FC236}">
                <a16:creationId xmlns:a16="http://schemas.microsoft.com/office/drawing/2014/main" id="{00CD58FB-392D-4187-C1D3-476EC4E537AC}"/>
              </a:ext>
            </a:extLst>
          </p:cNvPr>
          <p:cNvSpPr/>
          <p:nvPr/>
        </p:nvSpPr>
        <p:spPr>
          <a:xfrm>
            <a:off x="658163" y="4176750"/>
            <a:ext cx="5868582" cy="1378598"/>
          </a:xfrm>
          <a:prstGeom prst="rect">
            <a:avLst/>
          </a:prstGeom>
          <a:solidFill>
            <a:srgbClr val="FFFF00">
              <a:alpha val="20000"/>
            </a:srgbClr>
          </a:solidFill>
          <a:ln w="25400" cap="flat" cmpd="sng" algn="ctr">
            <a:noFill/>
            <a:prstDash val="solid"/>
          </a:ln>
          <a:effectLst/>
        </p:spPr>
        <p:txBody>
          <a:bodyPr lIns="180000" tIns="36000" rIns="180000" bIns="72000" rtlCol="0" anchor="ctr" anchorCtr="0"/>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kern="0" dirty="0">
                <a:solidFill>
                  <a:srgbClr val="0000FF"/>
                </a:solidFill>
                <a:latin typeface="Microsoft YaHei" panose="020B0503020204020204" pitchFamily="34" charset="-122"/>
                <a:ea typeface="宋体" panose="02010600030101010101" pitchFamily="2" charset="-122"/>
              </a:rPr>
              <a:t>定义</a:t>
            </a:r>
            <a:r>
              <a:rPr kumimoji="1" lang="zh-CN" altLang="en-US" sz="2400" b="1" kern="0" noProof="0" dirty="0">
                <a:solidFill>
                  <a:srgbClr val="0000FF"/>
                </a:solidFill>
                <a:latin typeface="Microsoft YaHei" panose="020B0503020204020204" pitchFamily="34" charset="-122"/>
                <a:ea typeface="宋体" panose="02010600030101010101" pitchFamily="2" charset="-122"/>
              </a:rPr>
              <a:t>了怎样量化差距，才能试图缩小差距，即</a:t>
            </a:r>
            <a:r>
              <a:rPr kumimoji="1" lang="en-US" altLang="zh-CN" sz="2400" b="1" kern="0" noProof="0" dirty="0">
                <a:solidFill>
                  <a:srgbClr val="0000FF"/>
                </a:solidFill>
                <a:latin typeface="Microsoft YaHei" panose="020B0503020204020204" pitchFamily="34" charset="-122"/>
                <a:ea typeface="宋体" panose="02010600030101010101" pitchFamily="2" charset="-122"/>
              </a:rPr>
              <a:t>minimize</a:t>
            </a:r>
            <a:r>
              <a:rPr kumimoji="1" lang="zh-CN" altLang="en-US" sz="2400" b="1" kern="0" noProof="0" dirty="0">
                <a:solidFill>
                  <a:srgbClr val="0000FF"/>
                </a:solidFill>
                <a:latin typeface="Microsoft YaHei" panose="020B0503020204020204" pitchFamily="34" charset="-122"/>
                <a:ea typeface="宋体" panose="02010600030101010101" pitchFamily="2" charset="-122"/>
              </a:rPr>
              <a:t> </a:t>
            </a:r>
            <a:r>
              <a:rPr kumimoji="1" lang="en-US" altLang="zh-CN" sz="2400" b="1" kern="0" noProof="0" dirty="0">
                <a:solidFill>
                  <a:srgbClr val="0000FF"/>
                </a:solidFill>
                <a:latin typeface="Microsoft YaHei" panose="020B0503020204020204" pitchFamily="34" charset="-122"/>
                <a:ea typeface="宋体" panose="02010600030101010101" pitchFamily="2" charset="-122"/>
              </a:rPr>
              <a:t>the</a:t>
            </a:r>
            <a:r>
              <a:rPr kumimoji="1" lang="zh-CN" altLang="en-US" sz="2400" b="1" kern="0" noProof="0" dirty="0">
                <a:solidFill>
                  <a:srgbClr val="0000FF"/>
                </a:solidFill>
                <a:latin typeface="Microsoft YaHei" panose="020B0503020204020204" pitchFamily="34" charset="-122"/>
                <a:ea typeface="宋体" panose="02010600030101010101" pitchFamily="2" charset="-122"/>
              </a:rPr>
              <a:t> </a:t>
            </a:r>
            <a:r>
              <a:rPr kumimoji="1" lang="en-US" altLang="zh-CN" sz="2400" b="1" kern="0" noProof="0" dirty="0">
                <a:solidFill>
                  <a:srgbClr val="0000FF"/>
                </a:solidFill>
                <a:latin typeface="Microsoft YaHei" panose="020B0503020204020204" pitchFamily="34" charset="-122"/>
                <a:ea typeface="宋体" panose="02010600030101010101" pitchFamily="2" charset="-122"/>
              </a:rPr>
              <a:t>loss</a:t>
            </a:r>
            <a:r>
              <a:rPr kumimoji="1" lang="zh-CN" altLang="en-US" sz="2400" b="1" kern="0" noProof="0" dirty="0">
                <a:solidFill>
                  <a:srgbClr val="0000FF"/>
                </a:solidFill>
                <a:latin typeface="Microsoft YaHei" panose="020B0503020204020204" pitchFamily="34" charset="-122"/>
                <a:ea typeface="宋体" panose="02010600030101010101" pitchFamily="2" charset="-122"/>
              </a:rPr>
              <a:t> </a:t>
            </a:r>
            <a:r>
              <a:rPr kumimoji="1" lang="en-US" altLang="zh-CN" sz="2400" b="1" kern="0" noProof="0" dirty="0">
                <a:solidFill>
                  <a:srgbClr val="0000FF"/>
                </a:solidFill>
                <a:latin typeface="Microsoft YaHei" panose="020B0503020204020204" pitchFamily="34" charset="-122"/>
                <a:ea typeface="宋体" panose="02010600030101010101" pitchFamily="2" charset="-122"/>
              </a:rPr>
              <a:t>function</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p:txBody>
      </p:sp>
      <p:sp>
        <p:nvSpPr>
          <p:cNvPr id="7" name="矩形 6">
            <a:extLst>
              <a:ext uri="{FF2B5EF4-FFF2-40B4-BE49-F238E27FC236}">
                <a16:creationId xmlns:a16="http://schemas.microsoft.com/office/drawing/2014/main" id="{C19AD732-E912-E743-C0D9-AF8A90DBE78E}"/>
              </a:ext>
            </a:extLst>
          </p:cNvPr>
          <p:cNvSpPr/>
          <p:nvPr/>
        </p:nvSpPr>
        <p:spPr>
          <a:xfrm>
            <a:off x="658163" y="5646643"/>
            <a:ext cx="5868582" cy="584775"/>
          </a:xfrm>
          <a:prstGeom prst="rect">
            <a:avLst/>
          </a:prstGeom>
          <a:noFill/>
        </p:spPr>
        <p:txBody>
          <a:bodyPr wrap="square" lIns="91440" tIns="45720" rIns="91440" bIns="45720">
            <a:spAutoFit/>
          </a:bodyPr>
          <a:lstStyle/>
          <a:p>
            <a:pPr algn="ctr" fontAlgn="base">
              <a:spcBef>
                <a:spcPct val="20000"/>
              </a:spcBef>
              <a:spcAft>
                <a:spcPct val="0"/>
              </a:spcAft>
            </a:pPr>
            <a:r>
              <a:rPr lang="zh-CN" altLang="en-US" sz="3200" b="1" cap="all" dirty="0">
                <a:ln w="9000" cmpd="sng">
                  <a:solidFill>
                    <a:srgbClr val="846648">
                      <a:shade val="50000"/>
                      <a:satMod val="120000"/>
                    </a:srgbClr>
                  </a:solidFill>
                  <a:prstDash val="solid"/>
                </a:ln>
                <a:gradFill>
                  <a:gsLst>
                    <a:gs pos="0">
                      <a:srgbClr val="846648">
                        <a:shade val="20000"/>
                        <a:satMod val="245000"/>
                      </a:srgbClr>
                    </a:gs>
                    <a:gs pos="43000">
                      <a:srgbClr val="846648">
                        <a:satMod val="255000"/>
                      </a:srgbClr>
                    </a:gs>
                    <a:gs pos="48000">
                      <a:srgbClr val="846648">
                        <a:shade val="85000"/>
                        <a:satMod val="255000"/>
                      </a:srgbClr>
                    </a:gs>
                    <a:gs pos="100000">
                      <a:srgbClr val="846648">
                        <a:shade val="20000"/>
                        <a:satMod val="245000"/>
                      </a:srgbClr>
                    </a:gs>
                  </a:gsLst>
                  <a:lin ang="5400000"/>
                </a:gradFill>
                <a:effectLst>
                  <a:reflection blurRad="12700" stA="28000" endPos="45000" dist="1000" dir="5400000" sy="-100000" algn="bl" rotWithShape="0"/>
                </a:effectLst>
                <a:latin typeface="宋体" panose="02010600030101010101" pitchFamily="2" charset="-122"/>
                <a:ea typeface="宋体" panose="02010600030101010101" pitchFamily="2" charset="-122"/>
              </a:rPr>
              <a:t>但如何定义？</a:t>
            </a:r>
          </a:p>
        </p:txBody>
      </p:sp>
      <p:sp>
        <p:nvSpPr>
          <p:cNvPr id="8" name="灯片编号占位符 4">
            <a:extLst>
              <a:ext uri="{FF2B5EF4-FFF2-40B4-BE49-F238E27FC236}">
                <a16:creationId xmlns:a16="http://schemas.microsoft.com/office/drawing/2014/main" id="{79B50304-C174-670A-F53A-2E37B30D0427}"/>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21</a:t>
            </a:fld>
            <a:endParaRPr lang="zh-CN" altLang="en-US" dirty="0"/>
          </a:p>
        </p:txBody>
      </p:sp>
      <p:sp>
        <p:nvSpPr>
          <p:cNvPr id="9" name="文本框 8">
            <a:extLst>
              <a:ext uri="{FF2B5EF4-FFF2-40B4-BE49-F238E27FC236}">
                <a16:creationId xmlns:a16="http://schemas.microsoft.com/office/drawing/2014/main" id="{B16F6622-9545-F957-39DF-B82A116F01B4}"/>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a:sym typeface="可画风暴黑-简" panose="020B0500000000000000" charset="-122"/>
              </a:rPr>
              <a:t>分类损失函数</a:t>
            </a:r>
            <a:endParaRPr lang="zh-CN" altLang="en-US" dirty="0"/>
          </a:p>
        </p:txBody>
      </p:sp>
      <p:sp>
        <p:nvSpPr>
          <p:cNvPr id="7" name="文本框 6"/>
          <p:cNvSpPr txBox="1"/>
          <p:nvPr/>
        </p:nvSpPr>
        <p:spPr>
          <a:xfrm>
            <a:off x="926465" y="1245052"/>
            <a:ext cx="3780790" cy="654025"/>
          </a:xfrm>
          <a:prstGeom prst="rect">
            <a:avLst/>
          </a:prstGeom>
          <a:noFill/>
        </p:spPr>
        <p:txBody>
          <a:bodyPr wrap="square" rtlCol="0" anchor="t">
            <a:spAutoFit/>
          </a:bodyPr>
          <a:lstStyle/>
          <a:p>
            <a:pPr algn="ctr">
              <a:lnSpc>
                <a:spcPts val="5325"/>
              </a:lnSpc>
            </a:pPr>
            <a:r>
              <a:rPr lang="en-US" sz="2400" b="1" spc="315" dirty="0" err="1">
                <a:solidFill>
                  <a:schemeClr val="tx1"/>
                </a:solidFill>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rPr>
              <a:t>真实标签</a:t>
            </a:r>
            <a:endParaRPr lang="en-US" altLang="en-US" sz="2400" b="1" spc="315" dirty="0">
              <a:solidFill>
                <a:schemeClr val="tx1"/>
              </a:solidFill>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endParaRPr>
          </a:p>
        </p:txBody>
      </p:sp>
      <p:sp>
        <p:nvSpPr>
          <p:cNvPr id="8" name="文本框 7"/>
          <p:cNvSpPr txBox="1"/>
          <p:nvPr/>
        </p:nvSpPr>
        <p:spPr>
          <a:xfrm>
            <a:off x="850527" y="1839711"/>
            <a:ext cx="4753860" cy="943528"/>
          </a:xfrm>
          <a:prstGeom prst="rect">
            <a:avLst/>
          </a:prstGeom>
          <a:noFill/>
        </p:spPr>
        <p:txBody>
          <a:bodyPr wrap="square" rtlCol="0" anchor="t">
            <a:spAutoFit/>
          </a:bodyPr>
          <a:lstStyle/>
          <a:p>
            <a:pPr algn="l" fontAlgn="auto">
              <a:lnSpc>
                <a:spcPct val="150000"/>
              </a:lnSpc>
            </a:pPr>
            <a:r>
              <a:rPr lang="en-US" sz="2000" b="1" spc="315" dirty="0" err="1">
                <a:solidFill>
                  <a:srgbClr val="0000FF"/>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真实值</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：该</a:t>
            </a:r>
            <a:r>
              <a:rPr lang="en-US" sz="2000" spc="315" dirty="0" err="1">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样本实际所属的离散类别或标签</a:t>
            </a:r>
            <a:r>
              <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p>
        </p:txBody>
      </p:sp>
      <p:sp>
        <p:nvSpPr>
          <p:cNvPr id="10" name="文本框 9"/>
          <p:cNvSpPr txBox="1"/>
          <p:nvPr/>
        </p:nvSpPr>
        <p:spPr>
          <a:xfrm>
            <a:off x="926465" y="2741947"/>
            <a:ext cx="3780790" cy="654025"/>
          </a:xfrm>
          <a:prstGeom prst="rect">
            <a:avLst/>
          </a:prstGeom>
          <a:noFill/>
        </p:spPr>
        <p:txBody>
          <a:bodyPr wrap="square" rtlCol="0" anchor="t">
            <a:spAutoFit/>
          </a:bodyPr>
          <a:lstStyle/>
          <a:p>
            <a:pPr algn="ctr">
              <a:lnSpc>
                <a:spcPts val="5325"/>
              </a:lnSpc>
            </a:pPr>
            <a:r>
              <a:rPr lang="zh-CN" altLang="en-US" sz="2400" b="1" spc="315" dirty="0">
                <a:solidFill>
                  <a:schemeClr val="tx1"/>
                </a:solidFill>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rPr>
              <a:t>预测输出</a:t>
            </a:r>
          </a:p>
        </p:txBody>
      </p:sp>
      <p:sp>
        <p:nvSpPr>
          <p:cNvPr id="11" name="文本框 10"/>
          <p:cNvSpPr txBox="1"/>
          <p:nvPr/>
        </p:nvSpPr>
        <p:spPr>
          <a:xfrm>
            <a:off x="850526" y="3395186"/>
            <a:ext cx="4753861" cy="706755"/>
          </a:xfrm>
          <a:prstGeom prst="rect">
            <a:avLst/>
          </a:prstGeom>
          <a:noFill/>
        </p:spPr>
        <p:txBody>
          <a:bodyPr wrap="square" rtlCol="0" anchor="t">
            <a:spAutoFit/>
          </a:bodyPr>
          <a:lstStyle/>
          <a:p>
            <a:r>
              <a:rPr lang="en-US" sz="2000" b="1" spc="315" dirty="0" err="1">
                <a:solidFill>
                  <a:srgbClr val="0000FF"/>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预测值</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en-US" sz="2000" spc="315" dirty="0" err="1">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图像分类</a:t>
            </a:r>
            <a:r>
              <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(猫/狗/车)、</a:t>
            </a:r>
            <a:r>
              <a:rPr lang="en-US" sz="2000" spc="315" dirty="0" err="1">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垃圾邮件检测</a:t>
            </a:r>
            <a:r>
              <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en-US" sz="2000" spc="315" dirty="0" err="1">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垃圾</a:t>
            </a:r>
            <a:r>
              <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en-US" sz="2000" spc="315" dirty="0" err="1">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非垃圾</a:t>
            </a:r>
            <a:r>
              <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p:txBody>
      </p:sp>
      <p:sp>
        <p:nvSpPr>
          <p:cNvPr id="12" name="文本框 11"/>
          <p:cNvSpPr txBox="1"/>
          <p:nvPr/>
        </p:nvSpPr>
        <p:spPr>
          <a:xfrm>
            <a:off x="926465" y="4159976"/>
            <a:ext cx="3780790" cy="654025"/>
          </a:xfrm>
          <a:prstGeom prst="rect">
            <a:avLst/>
          </a:prstGeom>
          <a:noFill/>
        </p:spPr>
        <p:txBody>
          <a:bodyPr wrap="square" rtlCol="0" anchor="t">
            <a:spAutoFit/>
          </a:bodyPr>
          <a:lstStyle/>
          <a:p>
            <a:pPr algn="ctr">
              <a:lnSpc>
                <a:spcPts val="5325"/>
              </a:lnSpc>
            </a:pPr>
            <a:r>
              <a:rPr lang="zh-CN" altLang="en-US" sz="2400" b="1" spc="315" dirty="0">
                <a:latin typeface="黑体" panose="02010609060101010101" pitchFamily="49" charset="-122"/>
                <a:ea typeface="黑体" panose="02010609060101010101" pitchFamily="49" charset="-122"/>
                <a:sym typeface="可画风暴黑-简" panose="020B0500000000000000" charset="-122"/>
              </a:rPr>
              <a:t>核心目标</a:t>
            </a:r>
          </a:p>
        </p:txBody>
      </p:sp>
      <p:sp>
        <p:nvSpPr>
          <p:cNvPr id="13" name="文本框 12"/>
          <p:cNvSpPr txBox="1"/>
          <p:nvPr/>
        </p:nvSpPr>
        <p:spPr>
          <a:xfrm>
            <a:off x="850526" y="4760915"/>
            <a:ext cx="4753861" cy="1405193"/>
          </a:xfrm>
          <a:prstGeom prst="rect">
            <a:avLst/>
          </a:prstGeom>
          <a:noFill/>
        </p:spPr>
        <p:txBody>
          <a:bodyPr wrap="square" rtlCol="0" anchor="t">
            <a:spAutoFit/>
          </a:bodyPr>
          <a:lstStyle/>
          <a:p>
            <a:pPr algn="l" fontAlgn="auto">
              <a:lnSpc>
                <a:spcPct val="150000"/>
              </a:lnSpc>
            </a:pPr>
            <a:r>
              <a:rPr lang="en-US" sz="2000" b="1" spc="315" dirty="0" err="1">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衡量预测值与真实值</a:t>
            </a:r>
            <a:r>
              <a:rPr lang="en-US" sz="2000" b="1" spc="315" dirty="0">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en-US" sz="2000" b="1" spc="315" dirty="0" err="1">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标签</a:t>
            </a:r>
            <a:r>
              <a:rPr lang="en-US" sz="2000" b="1" spc="315" dirty="0">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en-US" sz="2000" b="1" spc="315" dirty="0" err="1">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的差异</a:t>
            </a:r>
            <a:r>
              <a:rPr lang="zh-CN" altLang="en-US" sz="2000" b="1" spc="315" dirty="0">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，并缩小其差异。</a:t>
            </a:r>
            <a:endParaRPr lang="en-US" sz="2000" b="1" spc="315" dirty="0">
              <a:solidFill>
                <a:srgbClr val="C00000"/>
              </a:solidFill>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a:p>
            <a:pPr algn="ctr" fontAlgn="auto">
              <a:lnSpc>
                <a:spcPct val="150000"/>
              </a:lnSpc>
            </a:pP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p:txBody>
      </p:sp>
      <p:sp>
        <p:nvSpPr>
          <p:cNvPr id="14" name="Freeform 7"/>
          <p:cNvSpPr/>
          <p:nvPr/>
        </p:nvSpPr>
        <p:spPr>
          <a:xfrm>
            <a:off x="6142529" y="1487073"/>
            <a:ext cx="5003800" cy="4264660"/>
          </a:xfrm>
          <a:custGeom>
            <a:avLst/>
            <a:gdLst/>
            <a:ahLst/>
            <a:cxnLst/>
            <a:rect l="l" t="t" r="r" b="b"/>
            <a:pathLst>
              <a:path w="5780551" h="5298838">
                <a:moveTo>
                  <a:pt x="0" y="0"/>
                </a:moveTo>
                <a:lnTo>
                  <a:pt x="5780550" y="0"/>
                </a:lnTo>
                <a:lnTo>
                  <a:pt x="5780550" y="5298838"/>
                </a:lnTo>
                <a:lnTo>
                  <a:pt x="0" y="5298838"/>
                </a:lnTo>
                <a:lnTo>
                  <a:pt x="0" y="0"/>
                </a:lnTo>
                <a:close/>
              </a:path>
            </a:pathLst>
          </a:custGeom>
          <a:blipFill>
            <a:blip r:embed="rId2"/>
            <a:stretch>
              <a:fillRect/>
            </a:stretch>
          </a:blipFill>
        </p:spPr>
        <p:txBody>
          <a:bodyPr/>
          <a:lstStyle/>
          <a:p>
            <a:endParaRPr lang="zh-CN" altLang="en-US"/>
          </a:p>
        </p:txBody>
      </p:sp>
      <p:sp>
        <p:nvSpPr>
          <p:cNvPr id="3" name="灯片编号占位符 4">
            <a:extLst>
              <a:ext uri="{FF2B5EF4-FFF2-40B4-BE49-F238E27FC236}">
                <a16:creationId xmlns:a16="http://schemas.microsoft.com/office/drawing/2014/main" id="{530B848A-2529-70FA-A631-FFEC790EA793}"/>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22</a:t>
            </a:fld>
            <a:endParaRPr lang="zh-CN" altLang="en-US" dirty="0"/>
          </a:p>
        </p:txBody>
      </p:sp>
      <p:sp>
        <p:nvSpPr>
          <p:cNvPr id="4" name="文本框 3">
            <a:extLst>
              <a:ext uri="{FF2B5EF4-FFF2-40B4-BE49-F238E27FC236}">
                <a16:creationId xmlns:a16="http://schemas.microsoft.com/office/drawing/2014/main" id="{2725F752-F4A3-75CB-58EA-225BBCDC00BE}"/>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34E9786-494E-2B13-6BFB-D21C9FEBD3D5}"/>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
        <p:nvSpPr>
          <p:cNvPr id="2" name="标题 1"/>
          <p:cNvSpPr>
            <a:spLocks noGrp="1"/>
          </p:cNvSpPr>
          <p:nvPr>
            <p:ph type="title"/>
          </p:nvPr>
        </p:nvSpPr>
        <p:spPr/>
        <p:txBody>
          <a:bodyPr/>
          <a:lstStyle/>
          <a:p>
            <a:pPr algn="ctr"/>
            <a:r>
              <a:rPr lang="zh-CN" altLang="en-US" dirty="0"/>
              <a:t>回归损失函数</a:t>
            </a:r>
          </a:p>
        </p:txBody>
      </p:sp>
      <p:sp>
        <p:nvSpPr>
          <p:cNvPr id="7" name="Freeform 7"/>
          <p:cNvSpPr/>
          <p:nvPr/>
        </p:nvSpPr>
        <p:spPr>
          <a:xfrm>
            <a:off x="252730" y="1497287"/>
            <a:ext cx="3863340" cy="2814320"/>
          </a:xfrm>
          <a:custGeom>
            <a:avLst/>
            <a:gdLst/>
            <a:ahLst/>
            <a:cxnLst/>
            <a:rect l="l" t="t" r="r" b="b"/>
            <a:pathLst>
              <a:path w="5290233" h="3832023">
                <a:moveTo>
                  <a:pt x="0" y="0"/>
                </a:moveTo>
                <a:lnTo>
                  <a:pt x="5290233" y="0"/>
                </a:lnTo>
                <a:lnTo>
                  <a:pt x="5290233" y="3832024"/>
                </a:lnTo>
                <a:lnTo>
                  <a:pt x="0" y="3832024"/>
                </a:lnTo>
                <a:lnTo>
                  <a:pt x="0" y="0"/>
                </a:lnTo>
                <a:close/>
              </a:path>
            </a:pathLst>
          </a:custGeom>
          <a:blipFill>
            <a:blip r:embed="rId2"/>
            <a:stretch>
              <a:fillRect l="-4668" r="-71"/>
            </a:stretch>
          </a:blipFill>
        </p:spPr>
        <p:txBody>
          <a:bodyPr/>
          <a:lstStyle/>
          <a:p>
            <a:endParaRPr lang="zh-CN" altLang="en-US"/>
          </a:p>
        </p:txBody>
      </p:sp>
      <p:sp>
        <p:nvSpPr>
          <p:cNvPr id="8" name="文本框 7"/>
          <p:cNvSpPr txBox="1"/>
          <p:nvPr/>
        </p:nvSpPr>
        <p:spPr>
          <a:xfrm>
            <a:off x="223901" y="4462781"/>
            <a:ext cx="4182366" cy="1384995"/>
          </a:xfrm>
          <a:prstGeom prst="rect">
            <a:avLst/>
          </a:prstGeom>
          <a:noFill/>
        </p:spPr>
        <p:txBody>
          <a:bodyPr wrap="square" rtlCol="0">
            <a:spAutoFit/>
          </a:bodyPr>
          <a:lstStyle/>
          <a:p>
            <a:pPr algn="ctr">
              <a:lnSpc>
                <a:spcPct val="150000"/>
              </a:lnSpc>
            </a:pPr>
            <a:r>
              <a:rPr lang="en-US" sz="2000" b="1" spc="315" dirty="0" err="1">
                <a:solidFill>
                  <a:schemeClr val="tx1"/>
                </a:solidFill>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rPr>
              <a:t>任务目标</a:t>
            </a:r>
            <a:endParaRPr lang="en-US" sz="2000" b="1" spc="315" dirty="0">
              <a:solidFill>
                <a:schemeClr val="tx1"/>
              </a:solidFill>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endParaRPr>
          </a:p>
          <a:p>
            <a:pPr algn="just"/>
            <a:r>
              <a:rPr lang="en-US" b="1" spc="292" dirty="0" err="1">
                <a:solidFill>
                  <a:srgbClr val="C00000"/>
                </a:solidFill>
                <a:latin typeface="宋体" panose="02010600030101010101" pitchFamily="2" charset="-122"/>
                <a:ea typeface="宋体" panose="02010600030101010101" pitchFamily="2" charset="-122"/>
                <a:cs typeface="宋体" panose="02010600030101010101" pitchFamily="2" charset="-122"/>
                <a:sym typeface="思源黑体" panose="020B0500000000000000" charset="-122"/>
              </a:rPr>
              <a:t>预测一个连续的数值</a:t>
            </a:r>
            <a:r>
              <a:rPr lang="zh-CN" altLang="en-US" spc="292" dirty="0">
                <a:solidFill>
                  <a:srgbClr val="000000"/>
                </a:solidFill>
                <a:latin typeface="宋体" panose="02010600030101010101" pitchFamily="2" charset="-122"/>
                <a:ea typeface="宋体" panose="02010600030101010101" pitchFamily="2" charset="-122"/>
                <a:cs typeface="宋体" panose="02010600030101010101" pitchFamily="2" charset="-122"/>
                <a:sym typeface="思源黑体" panose="020B0500000000000000" charset="-122"/>
              </a:rPr>
              <a:t>，</a:t>
            </a:r>
            <a:r>
              <a:rPr lang="en-US" spc="292" dirty="0" err="1">
                <a:solidFill>
                  <a:srgbClr val="000000"/>
                </a:solidFill>
                <a:latin typeface="宋体" panose="02010600030101010101" pitchFamily="2" charset="-122"/>
                <a:ea typeface="宋体" panose="02010600030101010101" pitchFamily="2" charset="-122"/>
                <a:cs typeface="宋体" panose="02010600030101010101" pitchFamily="2" charset="-122"/>
                <a:sym typeface="思源黑体" panose="020B0500000000000000" charset="-122"/>
              </a:rPr>
              <a:t>例如:预测房价、预测温度、预测销售额等</a:t>
            </a:r>
            <a:r>
              <a:rPr lang="zh-CN" altLang="en-US" spc="292" dirty="0">
                <a:solidFill>
                  <a:srgbClr val="000000"/>
                </a:solidFill>
                <a:latin typeface="宋体" panose="02010600030101010101" pitchFamily="2" charset="-122"/>
                <a:ea typeface="宋体" panose="02010600030101010101" pitchFamily="2" charset="-122"/>
                <a:cs typeface="宋体" panose="02010600030101010101" pitchFamily="2" charset="-122"/>
                <a:sym typeface="思源黑体" panose="020B0500000000000000" charset="-122"/>
              </a:rPr>
              <a:t>。</a:t>
            </a:r>
            <a:endParaRPr lang="en-US" spc="315" dirty="0">
              <a:solidFill>
                <a:schemeClr val="tx1"/>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endParaRPr>
          </a:p>
          <a:p>
            <a:endParaRPr lang="en-US" altLang="en-US" spc="315" dirty="0">
              <a:solidFill>
                <a:schemeClr val="tx1"/>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endParaRPr>
          </a:p>
        </p:txBody>
      </p:sp>
      <p:sp>
        <p:nvSpPr>
          <p:cNvPr id="9" name="文本框 8"/>
          <p:cNvSpPr txBox="1"/>
          <p:nvPr/>
        </p:nvSpPr>
        <p:spPr>
          <a:xfrm>
            <a:off x="4406267" y="1567176"/>
            <a:ext cx="3850210" cy="830997"/>
          </a:xfrm>
          <a:prstGeom prst="rect">
            <a:avLst/>
          </a:prstGeom>
          <a:noFill/>
        </p:spPr>
        <p:txBody>
          <a:bodyPr wrap="square" rtlCol="0" anchor="t">
            <a:spAutoFit/>
          </a:bodyPr>
          <a:lstStyle/>
          <a:p>
            <a:pPr algn="ctr">
              <a:lnSpc>
                <a:spcPct val="150000"/>
              </a:lnSpc>
              <a:buClrTx/>
              <a:buSzTx/>
              <a:buFontTx/>
            </a:pPr>
            <a:r>
              <a:rPr lang="en-US" sz="2000" b="1" spc="315" dirty="0" err="1">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rPr>
              <a:t>预测输出</a:t>
            </a:r>
            <a:endParaRPr lang="en-US" sz="2000" b="1" spc="315" dirty="0">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endParaRPr>
          </a:p>
          <a:p>
            <a:pPr>
              <a:buClrTx/>
              <a:buSzTx/>
              <a:buFontTx/>
            </a:pPr>
            <a:r>
              <a:rPr lang="en-US" spc="292" dirty="0" err="1">
                <a:solidFill>
                  <a:srgbClr val="000000"/>
                </a:solidFill>
                <a:latin typeface="宋体" panose="02010600030101010101" pitchFamily="2" charset="-122"/>
                <a:ea typeface="宋体" panose="02010600030101010101" pitchFamily="2" charset="-122"/>
                <a:cs typeface="宋体" panose="02010600030101010101" pitchFamily="2" charset="-122"/>
                <a:sym typeface="思源黑体" panose="020B0500000000000000" charset="-122"/>
              </a:rPr>
              <a:t>一个实数值,范围没有固定限制</a:t>
            </a:r>
            <a:endParaRPr lang="en-US" sz="1800" spc="292" dirty="0">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endParaRPr>
          </a:p>
        </p:txBody>
      </p:sp>
      <p:sp>
        <p:nvSpPr>
          <p:cNvPr id="10" name="Freeform 9"/>
          <p:cNvSpPr/>
          <p:nvPr/>
        </p:nvSpPr>
        <p:spPr>
          <a:xfrm>
            <a:off x="4326890" y="2864541"/>
            <a:ext cx="4012565" cy="2585085"/>
          </a:xfrm>
          <a:custGeom>
            <a:avLst/>
            <a:gdLst/>
            <a:ahLst/>
            <a:cxnLst/>
            <a:rect l="l" t="t" r="r" b="b"/>
            <a:pathLst>
              <a:path w="6694137" h="4222514">
                <a:moveTo>
                  <a:pt x="0" y="0"/>
                </a:moveTo>
                <a:lnTo>
                  <a:pt x="6694137" y="0"/>
                </a:lnTo>
                <a:lnTo>
                  <a:pt x="6694137" y="4222514"/>
                </a:lnTo>
                <a:lnTo>
                  <a:pt x="0" y="4222514"/>
                </a:lnTo>
                <a:lnTo>
                  <a:pt x="0" y="0"/>
                </a:lnTo>
                <a:close/>
              </a:path>
            </a:pathLst>
          </a:custGeom>
          <a:blipFill>
            <a:blip r:embed="rId3"/>
            <a:stretch>
              <a:fillRect l="-543" r="-543" b="-1298"/>
            </a:stretch>
          </a:blipFill>
        </p:spPr>
        <p:txBody>
          <a:bodyPr/>
          <a:lstStyle/>
          <a:p>
            <a:endParaRPr lang="zh-CN" altLang="en-US"/>
          </a:p>
        </p:txBody>
      </p:sp>
      <p:sp>
        <p:nvSpPr>
          <p:cNvPr id="11" name="Freeform 8"/>
          <p:cNvSpPr/>
          <p:nvPr/>
        </p:nvSpPr>
        <p:spPr>
          <a:xfrm>
            <a:off x="12610195" y="1826491"/>
            <a:ext cx="4562293" cy="4060183"/>
          </a:xfrm>
          <a:custGeom>
            <a:avLst/>
            <a:gdLst/>
            <a:ahLst/>
            <a:cxnLst/>
            <a:rect l="l" t="t" r="r" b="b"/>
            <a:pathLst>
              <a:path w="4562293" h="4060183">
                <a:moveTo>
                  <a:pt x="0" y="0"/>
                </a:moveTo>
                <a:lnTo>
                  <a:pt x="4562293" y="0"/>
                </a:lnTo>
                <a:lnTo>
                  <a:pt x="4562293" y="4060183"/>
                </a:lnTo>
                <a:lnTo>
                  <a:pt x="0" y="4060183"/>
                </a:lnTo>
                <a:lnTo>
                  <a:pt x="0" y="0"/>
                </a:lnTo>
                <a:close/>
              </a:path>
            </a:pathLst>
          </a:custGeom>
          <a:blipFill>
            <a:blip r:embed="rId4"/>
            <a:stretch>
              <a:fillRect t="-10758"/>
            </a:stretch>
          </a:blipFill>
        </p:spPr>
        <p:txBody>
          <a:bodyPr/>
          <a:lstStyle/>
          <a:p>
            <a:endParaRPr lang="zh-CN" altLang="en-US"/>
          </a:p>
        </p:txBody>
      </p:sp>
      <p:sp>
        <p:nvSpPr>
          <p:cNvPr id="12" name="Freeform 8"/>
          <p:cNvSpPr/>
          <p:nvPr/>
        </p:nvSpPr>
        <p:spPr>
          <a:xfrm>
            <a:off x="12737195" y="1953491"/>
            <a:ext cx="4562293" cy="4060183"/>
          </a:xfrm>
          <a:custGeom>
            <a:avLst/>
            <a:gdLst/>
            <a:ahLst/>
            <a:cxnLst/>
            <a:rect l="l" t="t" r="r" b="b"/>
            <a:pathLst>
              <a:path w="4562293" h="4060183">
                <a:moveTo>
                  <a:pt x="0" y="0"/>
                </a:moveTo>
                <a:lnTo>
                  <a:pt x="4562293" y="0"/>
                </a:lnTo>
                <a:lnTo>
                  <a:pt x="4562293" y="4060183"/>
                </a:lnTo>
                <a:lnTo>
                  <a:pt x="0" y="4060183"/>
                </a:lnTo>
                <a:lnTo>
                  <a:pt x="0" y="0"/>
                </a:lnTo>
                <a:close/>
              </a:path>
            </a:pathLst>
          </a:custGeom>
          <a:blipFill>
            <a:blip r:embed="rId4"/>
            <a:stretch>
              <a:fillRect t="-10758"/>
            </a:stretch>
          </a:blipFill>
        </p:spPr>
        <p:txBody>
          <a:bodyPr/>
          <a:lstStyle/>
          <a:p>
            <a:endParaRPr lang="zh-CN" altLang="en-US"/>
          </a:p>
        </p:txBody>
      </p:sp>
      <p:pic>
        <p:nvPicPr>
          <p:cNvPr id="13" name="图片 12" descr="图片3"/>
          <p:cNvPicPr>
            <a:picLocks noChangeAspect="1"/>
          </p:cNvPicPr>
          <p:nvPr/>
        </p:nvPicPr>
        <p:blipFill>
          <a:blip r:embed="rId5"/>
          <a:stretch>
            <a:fillRect/>
          </a:stretch>
        </p:blipFill>
        <p:spPr>
          <a:xfrm>
            <a:off x="8256477" y="1191830"/>
            <a:ext cx="3463925" cy="3084830"/>
          </a:xfrm>
          <a:prstGeom prst="rect">
            <a:avLst/>
          </a:prstGeom>
        </p:spPr>
      </p:pic>
      <p:sp>
        <p:nvSpPr>
          <p:cNvPr id="14" name="文本框 13"/>
          <p:cNvSpPr txBox="1"/>
          <p:nvPr/>
        </p:nvSpPr>
        <p:spPr>
          <a:xfrm>
            <a:off x="8612077" y="4492157"/>
            <a:ext cx="3108325" cy="1080135"/>
          </a:xfrm>
          <a:prstGeom prst="rect">
            <a:avLst/>
          </a:prstGeom>
          <a:noFill/>
        </p:spPr>
        <p:txBody>
          <a:bodyPr wrap="square" rtlCol="0" anchor="t">
            <a:noAutofit/>
          </a:bodyPr>
          <a:lstStyle/>
          <a:p>
            <a:pPr algn="ctr">
              <a:lnSpc>
                <a:spcPct val="150000"/>
              </a:lnSpc>
              <a:buClrTx/>
              <a:buSzTx/>
              <a:buFontTx/>
            </a:pPr>
            <a:r>
              <a:rPr lang="zh-CN" altLang="en-US" sz="2000" b="1" spc="315" dirty="0">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rPr>
              <a:t>核心思想</a:t>
            </a:r>
            <a:endParaRPr lang="en-US" sz="2000" b="1" spc="315" dirty="0">
              <a:latin typeface="黑体" panose="02010609060101010101" pitchFamily="49" charset="-122"/>
              <a:ea typeface="黑体" panose="02010609060101010101" pitchFamily="49" charset="-122"/>
              <a:cs typeface="可画风暴黑-简" panose="020B0500000000000000" charset="-122"/>
              <a:sym typeface="可画风暴黑-简" panose="020B0500000000000000" charset="-122"/>
            </a:endParaRPr>
          </a:p>
          <a:p>
            <a:pPr algn="just">
              <a:lnSpc>
                <a:spcPct val="100000"/>
              </a:lnSpc>
              <a:buClrTx/>
              <a:buSzTx/>
              <a:buFontTx/>
            </a:pPr>
            <a:r>
              <a:rPr lang="en-US" sz="1800" spc="315" dirty="0" err="1">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衡量预测值与真实值之间的数值差异</a:t>
            </a:r>
            <a:endParaRPr lang="en-US" sz="1800" spc="315" dirty="0">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p:txBody>
      </p:sp>
      <p:sp>
        <p:nvSpPr>
          <p:cNvPr id="3" name="矩形 2">
            <a:extLst>
              <a:ext uri="{FF2B5EF4-FFF2-40B4-BE49-F238E27FC236}">
                <a16:creationId xmlns:a16="http://schemas.microsoft.com/office/drawing/2014/main" id="{A98A4673-7145-0A79-CC66-782E082D31B0}"/>
              </a:ext>
            </a:extLst>
          </p:cNvPr>
          <p:cNvSpPr/>
          <p:nvPr/>
        </p:nvSpPr>
        <p:spPr>
          <a:xfrm>
            <a:off x="252730" y="5950019"/>
            <a:ext cx="9097747" cy="615869"/>
          </a:xfrm>
          <a:prstGeom prst="rect">
            <a:avLst/>
          </a:prstGeom>
          <a:solidFill>
            <a:srgbClr val="FFFF00">
              <a:alpha val="20000"/>
            </a:srgbClr>
          </a:solidFill>
          <a:ln w="25400" cap="flat" cmpd="sng" algn="ctr">
            <a:noFill/>
            <a:prstDash val="solid"/>
          </a:ln>
          <a:effectLst/>
        </p:spPr>
        <p:txBody>
          <a:bodyPr lIns="180000" tIns="36000" rIns="180000" bIns="72000" rtlCol="0" anchor="ctr" anchorCtr="0"/>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kern="0" dirty="0">
                <a:solidFill>
                  <a:srgbClr val="0000FF"/>
                </a:solidFill>
                <a:latin typeface="Microsoft YaHei" panose="020B0503020204020204" pitchFamily="34" charset="-122"/>
                <a:ea typeface="宋体" panose="02010600030101010101" pitchFamily="2" charset="-122"/>
              </a:rPr>
              <a:t>回归与分类任务的差别：预测连续值 </a:t>
            </a:r>
            <a:r>
              <a:rPr kumimoji="1" lang="en-US" altLang="zh-CN" sz="2400" b="1" kern="0" dirty="0">
                <a:solidFill>
                  <a:srgbClr val="0000FF"/>
                </a:solidFill>
                <a:latin typeface="Microsoft YaHei" panose="020B0503020204020204" pitchFamily="34" charset="-122"/>
                <a:ea typeface="宋体" panose="02010600030101010101" pitchFamily="2" charset="-122"/>
              </a:rPr>
              <a:t>VS</a:t>
            </a:r>
            <a:r>
              <a:rPr kumimoji="1" lang="zh-CN" altLang="en-US" sz="2400" b="1" kern="0" dirty="0">
                <a:solidFill>
                  <a:srgbClr val="0000FF"/>
                </a:solidFill>
                <a:latin typeface="Microsoft YaHei" panose="020B0503020204020204" pitchFamily="34" charset="-122"/>
                <a:ea typeface="宋体" panose="02010600030101010101" pitchFamily="2" charset="-122"/>
              </a:rPr>
              <a:t> 预测离散值（标签）</a:t>
            </a:r>
            <a:endParaRPr kumimoji="1" lang="en-US" altLang="zh-CN" sz="2400" b="1" kern="0" dirty="0">
              <a:solidFill>
                <a:srgbClr val="0000FF"/>
              </a:solidFill>
              <a:latin typeface="Microsoft YaHei" panose="020B0503020204020204" pitchFamily="34"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4926965" cy="705485"/>
          </a:xfrm>
        </p:spPr>
        <p:txBody>
          <a:bodyPr>
            <a:normAutofit fontScale="90000"/>
          </a:bodyPr>
          <a:lstStyle/>
          <a:p>
            <a:r>
              <a:rPr lang="zh-CN" altLang="en-US"/>
              <a:t>0-1 损失函数（二分类）</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71EF3D-6E24-30FD-8A2B-C8160DCC0446}"/>
                  </a:ext>
                </a:extLst>
              </p:cNvPr>
              <p:cNvSpPr txBox="1"/>
              <p:nvPr/>
            </p:nvSpPr>
            <p:spPr>
              <a:xfrm>
                <a:off x="1481331" y="1703742"/>
                <a:ext cx="4792939" cy="10534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𝐿</m:t>
                      </m:r>
                      <m:d>
                        <m:dPr>
                          <m:sepChr m:val=","/>
                          <m:ctrlPr>
                            <a:rPr lang="zh-CN" altLang="en-US" sz="2800" i="1">
                              <a:latin typeface="Cambria Math" panose="02040503050406030204" pitchFamily="18" charset="0"/>
                            </a:rPr>
                          </m:ctrlPr>
                        </m:dPr>
                        <m:e>
                          <m:r>
                            <a:rPr lang="zh-CN" altLang="en-US" sz="2800" i="1">
                              <a:latin typeface="Cambria Math" panose="02040503050406030204" pitchFamily="18" charset="0"/>
                            </a:rPr>
                            <m:t>𝑦</m:t>
                          </m:r>
                        </m:e>
                        <m:e>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𝑦</m:t>
                              </m:r>
                            </m:e>
                          </m:acc>
                        </m:e>
                      </m:d>
                      <m:r>
                        <a:rPr lang="zh-CN" altLang="en-US" sz="2800" i="0">
                          <a:latin typeface="Cambria Math" panose="02040503050406030204" pitchFamily="18" charset="0"/>
                        </a:rPr>
                        <m:t>=</m:t>
                      </m:r>
                      <m:d>
                        <m:dPr>
                          <m:begChr m:val="{"/>
                          <m:endChr m:val=""/>
                          <m:ctrlPr>
                            <a:rPr lang="zh-CN" altLang="en-US" sz="2800" i="1">
                              <a:solidFill>
                                <a:srgbClr val="836967"/>
                              </a:solidFill>
                              <a:latin typeface="Cambria Math" panose="02040503050406030204" pitchFamily="18" charset="0"/>
                            </a:rPr>
                          </m:ctrlPr>
                        </m:dPr>
                        <m:e>
                          <m:eqArr>
                            <m:eqArrPr>
                              <m:ctrlPr>
                                <a:rPr lang="zh-CN" altLang="en-US" sz="2800" i="1">
                                  <a:solidFill>
                                    <a:srgbClr val="836967"/>
                                  </a:solidFill>
                                  <a:latin typeface="Cambria Math" panose="02040503050406030204" pitchFamily="18" charset="0"/>
                                </a:rPr>
                              </m:ctrlPr>
                            </m:eqArrPr>
                            <m:e>
                              <m:r>
                                <a:rPr lang="zh-CN" altLang="en-US" sz="2800" i="0">
                                  <a:latin typeface="Cambria Math" panose="02040503050406030204" pitchFamily="18" charset="0"/>
                                </a:rPr>
                                <m:t>0,  &amp;</m:t>
                              </m:r>
                              <m:r>
                                <a:rPr lang="zh-CN" altLang="en-US" sz="2800" i="1" smtClean="0">
                                  <a:latin typeface="Cambria Math" panose="02040503050406030204" pitchFamily="18" charset="0"/>
                                </a:rPr>
                                <m:t>𝑖𝑓</m:t>
                              </m:r>
                              <m:r>
                                <a:rPr lang="zh-CN" altLang="en-US" sz="2800" i="0">
                                  <a:latin typeface="Cambria Math" panose="02040503050406030204" pitchFamily="18" charset="0"/>
                                </a:rPr>
                                <m:t>   </m:t>
                              </m:r>
                              <m:r>
                                <a:rPr lang="zh-CN" altLang="en-US" sz="2800" i="1">
                                  <a:latin typeface="Cambria Math" panose="02040503050406030204" pitchFamily="18" charset="0"/>
                                </a:rPr>
                                <m:t>𝑦</m:t>
                              </m:r>
                              <m:r>
                                <a:rPr lang="zh-CN" altLang="en-US" sz="2800" i="0">
                                  <a:latin typeface="Cambria Math" panose="02040503050406030204" pitchFamily="18" charset="0"/>
                                </a:rPr>
                                <m:t>=</m:t>
                              </m:r>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𝑦</m:t>
                                  </m:r>
                                </m:e>
                              </m:acc>
                            </m:e>
                            <m:e>
                              <m:r>
                                <a:rPr lang="zh-CN" altLang="en-US" sz="2800" i="0">
                                  <a:latin typeface="Cambria Math" panose="02040503050406030204" pitchFamily="18" charset="0"/>
                                </a:rPr>
                                <m:t>1,  &amp;</m:t>
                              </m:r>
                              <m:r>
                                <a:rPr lang="zh-CN" altLang="en-US" sz="2800" i="1">
                                  <a:latin typeface="Cambria Math" panose="02040503050406030204" pitchFamily="18" charset="0"/>
                                </a:rPr>
                                <m:t>𝑖𝑓</m:t>
                              </m:r>
                              <m:r>
                                <a:rPr lang="zh-CN" altLang="en-US" sz="2800" i="0">
                                  <a:latin typeface="Cambria Math" panose="02040503050406030204" pitchFamily="18" charset="0"/>
                                </a:rPr>
                                <m:t>   </m:t>
                              </m:r>
                              <m:r>
                                <a:rPr lang="zh-CN" altLang="en-US" sz="2800" i="1">
                                  <a:latin typeface="Cambria Math" panose="02040503050406030204" pitchFamily="18" charset="0"/>
                                </a:rPr>
                                <m:t>𝑦</m:t>
                              </m:r>
                              <m:r>
                                <a:rPr lang="zh-CN" altLang="en-US" sz="2800" i="0">
                                  <a:latin typeface="Cambria Math" panose="02040503050406030204" pitchFamily="18" charset="0"/>
                                </a:rPr>
                                <m:t>≠</m:t>
                              </m:r>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𝑦</m:t>
                                  </m:r>
                                </m:e>
                              </m:acc>
                            </m:e>
                          </m:eqArr>
                        </m:e>
                      </m:d>
                    </m:oMath>
                  </m:oMathPara>
                </a14:m>
                <a:endParaRPr lang="zh-CN" altLang="en-US" sz="2800" dirty="0"/>
              </a:p>
            </p:txBody>
          </p:sp>
        </mc:Choice>
        <mc:Fallback xmlns="">
          <p:sp>
            <p:nvSpPr>
              <p:cNvPr id="4" name="文本框 3">
                <a:extLst>
                  <a:ext uri="{FF2B5EF4-FFF2-40B4-BE49-F238E27FC236}">
                    <a16:creationId xmlns:a16="http://schemas.microsoft.com/office/drawing/2014/main" id="{3371EF3D-6E24-30FD-8A2B-C8160DCC0446}"/>
                  </a:ext>
                </a:extLst>
              </p:cNvPr>
              <p:cNvSpPr txBox="1">
                <a:spLocks noRot="1" noChangeAspect="1" noMove="1" noResize="1" noEditPoints="1" noAdjustHandles="1" noChangeArrowheads="1" noChangeShapeType="1" noTextEdit="1"/>
              </p:cNvSpPr>
              <p:nvPr/>
            </p:nvSpPr>
            <p:spPr>
              <a:xfrm>
                <a:off x="1481331" y="1703742"/>
                <a:ext cx="4792939" cy="1053494"/>
              </a:xfrm>
              <a:prstGeom prst="rect">
                <a:avLst/>
              </a:prstGeom>
              <a:blipFill>
                <a:blip r:embed="rId2"/>
                <a:stretch>
                  <a:fillRect t="-200000" b="-294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AutoShape 15">
                <a:extLst>
                  <a:ext uri="{FF2B5EF4-FFF2-40B4-BE49-F238E27FC236}">
                    <a16:creationId xmlns:a16="http://schemas.microsoft.com/office/drawing/2014/main" id="{6E1534A0-A299-A514-5345-AFAEBFAE5AB4}"/>
                  </a:ext>
                </a:extLst>
              </p:cNvPr>
              <p:cNvSpPr>
                <a:spLocks noChangeArrowheads="1"/>
              </p:cNvSpPr>
              <p:nvPr/>
            </p:nvSpPr>
            <p:spPr bwMode="auto">
              <a:xfrm>
                <a:off x="6779343" y="1576603"/>
                <a:ext cx="3436558" cy="1180633"/>
              </a:xfrm>
              <a:prstGeom prst="wedgeRoundRectCallout">
                <a:avLst>
                  <a:gd name="adj1" fmla="val -19667"/>
                  <a:gd name="adj2" fmla="val 49632"/>
                  <a:gd name="adj3" fmla="val 16667"/>
                </a:avLst>
              </a:prstGeom>
              <a:solidFill>
                <a:sysClr val="window" lastClr="FFFFFF"/>
              </a:solidFill>
              <a:ln w="12700">
                <a:solidFill>
                  <a:srgbClr val="CC0000"/>
                </a:solidFill>
                <a:bevel/>
                <a:headEnd/>
                <a:tailEnd/>
              </a:ln>
              <a:effectLst/>
              <a:extLst>
                <a:ext uri="{AF507438-7753-43E0-B8FC-AC1667EBCBE1}">
                  <a14:hiddenEffects>
                    <a:effectLst>
                      <a:outerShdw dist="35921" dir="2700000" algn="ctr" rotWithShape="0">
                        <a:schemeClr val="bg2"/>
                      </a:outerShdw>
                    </a:effectLst>
                  </a14:hiddenEffects>
                </a:ext>
              </a:extLst>
            </p:spPr>
            <p:txBody>
              <a:bodyPr wrap="square" lIns="90170" tIns="46990" rIns="90170" bIns="46990" anchor="ctr"/>
              <a:lstStyle/>
              <a:p>
                <a:pPr lvl="0" algn="ctr" fontAlgn="base">
                  <a:spcBef>
                    <a:spcPct val="20000"/>
                  </a:spcBef>
                  <a:spcAft>
                    <a:spcPct val="0"/>
                  </a:spcAft>
                  <a:defRPr/>
                </a:pPr>
                <a14:m>
                  <m:oMath xmlns:m="http://schemas.openxmlformats.org/officeDocument/2006/math">
                    <m:r>
                      <a:rPr lang="zh-CN" altLang="en-US" sz="2800" i="1">
                        <a:latin typeface="Cambria Math" panose="02040503050406030204" pitchFamily="18" charset="0"/>
                      </a:rPr>
                      <m:t>𝑦</m:t>
                    </m:r>
                  </m:oMath>
                </a14:m>
                <a:r>
                  <a:rPr kumimoji="0" lang="zh-CN" altLang="en-US" sz="2000"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icrosoft YaHei" charset="-122"/>
                  </a:rPr>
                  <a:t>：预测值</a:t>
                </a:r>
                <a:endParaRPr kumimoji="0" lang="en-US" altLang="zh-CN" sz="2000"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icrosoft YaHei" charset="-122"/>
                </a:endParaRPr>
              </a:p>
              <a:p>
                <a:pPr lvl="0" algn="ctr" fontAlgn="base">
                  <a:spcBef>
                    <a:spcPct val="20000"/>
                  </a:spcBef>
                  <a:spcAft>
                    <a:spcPct val="0"/>
                  </a:spcAft>
                  <a:defRPr/>
                </a:pPr>
                <a14:m>
                  <m:oMath xmlns:m="http://schemas.openxmlformats.org/officeDocument/2006/math">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𝑦</m:t>
                        </m:r>
                      </m:e>
                    </m:acc>
                  </m:oMath>
                </a14:m>
                <a:r>
                  <a:rPr kumimoji="0" lang="zh-CN" altLang="en-US" sz="2000"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icrosoft YaHei" charset="-122"/>
                  </a:rPr>
                  <a:t>：真实值</a:t>
                </a:r>
              </a:p>
            </p:txBody>
          </p:sp>
        </mc:Choice>
        <mc:Fallback xmlns="">
          <p:sp>
            <p:nvSpPr>
              <p:cNvPr id="8" name="AutoShape 15">
                <a:extLst>
                  <a:ext uri="{FF2B5EF4-FFF2-40B4-BE49-F238E27FC236}">
                    <a16:creationId xmlns:a16="http://schemas.microsoft.com/office/drawing/2014/main" id="{6E1534A0-A299-A514-5345-AFAEBFAE5AB4}"/>
                  </a:ext>
                </a:extLst>
              </p:cNvPr>
              <p:cNvSpPr>
                <a:spLocks noRot="1" noChangeAspect="1" noMove="1" noResize="1" noEditPoints="1" noAdjustHandles="1" noChangeArrowheads="1" noChangeShapeType="1" noTextEdit="1"/>
              </p:cNvSpPr>
              <p:nvPr/>
            </p:nvSpPr>
            <p:spPr bwMode="auto">
              <a:xfrm>
                <a:off x="6779343" y="1576603"/>
                <a:ext cx="3436558" cy="1180633"/>
              </a:xfrm>
              <a:prstGeom prst="wedgeRoundRectCallout">
                <a:avLst>
                  <a:gd name="adj1" fmla="val -19667"/>
                  <a:gd name="adj2" fmla="val 49632"/>
                  <a:gd name="adj3" fmla="val 16667"/>
                </a:avLst>
              </a:prstGeom>
              <a:blipFill>
                <a:blip r:embed="rId3"/>
                <a:stretch>
                  <a:fillRect/>
                </a:stretch>
              </a:blipFill>
              <a:ln w="12700">
                <a:solidFill>
                  <a:srgbClr val="CC0000"/>
                </a:solidFill>
                <a:bevel/>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6B14FECA-1783-1047-DAEB-1C4D677E03C5}"/>
              </a:ext>
            </a:extLst>
          </p:cNvPr>
          <p:cNvSpPr/>
          <p:nvPr/>
        </p:nvSpPr>
        <p:spPr>
          <a:xfrm>
            <a:off x="1303061" y="3229897"/>
            <a:ext cx="9389520" cy="2684206"/>
          </a:xfrm>
          <a:prstGeom prst="rect">
            <a:avLst/>
          </a:prstGeom>
          <a:solidFill>
            <a:srgbClr val="FFFF00">
              <a:alpha val="20000"/>
            </a:srgbClr>
          </a:solidFill>
          <a:ln w="25400" cap="flat" cmpd="sng" algn="ctr">
            <a:noFill/>
            <a:prstDash val="solid"/>
          </a:ln>
          <a:effectLst/>
        </p:spPr>
        <p:txBody>
          <a:bodyPr lIns="180000" tIns="36000" rIns="180000" bIns="72000" rtlCol="0" anchor="ctr" anchorCtr="0"/>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kern="0" dirty="0">
                <a:solidFill>
                  <a:srgbClr val="0000FF"/>
                </a:solidFill>
                <a:latin typeface="Microsoft YaHei" panose="020B0503020204020204" pitchFamily="34" charset="-122"/>
                <a:ea typeface="宋体" panose="02010600030101010101" pitchFamily="2" charset="-122"/>
              </a:rPr>
              <a:t>预测对了，损失值最小（为</a:t>
            </a:r>
            <a:r>
              <a:rPr kumimoji="1" lang="en-US" altLang="zh-CN" sz="2400" b="1" kern="0" dirty="0">
                <a:solidFill>
                  <a:srgbClr val="0000FF"/>
                </a:solidFill>
                <a:latin typeface="Microsoft YaHei" panose="020B0503020204020204" pitchFamily="34" charset="-122"/>
                <a:ea typeface="宋体" panose="02010600030101010101" pitchFamily="2" charset="-122"/>
              </a:rPr>
              <a:t>0</a:t>
            </a:r>
            <a:r>
              <a:rPr kumimoji="1" lang="zh-CN" altLang="en-US" sz="2400" b="1" kern="0" dirty="0">
                <a:solidFill>
                  <a:srgbClr val="0000FF"/>
                </a:solidFill>
                <a:latin typeface="Microsoft YaHei" panose="020B0503020204020204" pitchFamily="34" charset="-122"/>
                <a:ea typeface="宋体" panose="02010600030101010101" pitchFamily="2" charset="-122"/>
              </a:rPr>
              <a:t>）；</a:t>
            </a:r>
            <a:endParaRPr kumimoji="1" lang="en-US" altLang="zh-CN" sz="2400" b="1" kern="0" dirty="0">
              <a:solidFill>
                <a:srgbClr val="0000FF"/>
              </a:solidFill>
              <a:latin typeface="Microsoft YaHei" panose="020B0503020204020204" pitchFamily="34" charset="-122"/>
              <a:ea typeface="宋体" panose="02010600030101010101" pitchFamily="2" charset="-122"/>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预测错了，损失值最大（为</a:t>
            </a:r>
            <a:r>
              <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1</a:t>
            </a: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1" lang="zh-CN" altLang="en-US" sz="2400" b="1" kern="0" dirty="0">
                <a:solidFill>
                  <a:srgbClr val="C00000"/>
                </a:solidFill>
                <a:latin typeface="Microsoft YaHei" panose="020B0503020204020204" pitchFamily="34" charset="-122"/>
                <a:ea typeface="宋体" panose="02010600030101010101" pitchFamily="2" charset="-122"/>
              </a:rPr>
              <a:t>目标：在模型训练过程中，损失值从大到小的过程，也就是模型从“不准”到“准”的过程</a:t>
            </a:r>
            <a:endParaRPr kumimoji="1" lang="en-US" altLang="zh-CN" sz="2400" b="1" i="0" u="none" strike="noStrike" kern="0" cap="none" spc="0" normalizeH="0" baseline="0" noProof="0" dirty="0">
              <a:ln>
                <a:noFill/>
              </a:ln>
              <a:solidFill>
                <a:srgbClr val="C00000"/>
              </a:solidFill>
              <a:effectLst/>
              <a:uLnTx/>
              <a:uFillTx/>
              <a:latin typeface="Microsoft YaHei" panose="020B0503020204020204" pitchFamily="34" charset="-122"/>
              <a:ea typeface="宋体" panose="02010600030101010101" pitchFamily="2" charset="-122"/>
            </a:endParaRPr>
          </a:p>
        </p:txBody>
      </p:sp>
      <p:sp>
        <p:nvSpPr>
          <p:cNvPr id="3" name="灯片编号占位符 4">
            <a:extLst>
              <a:ext uri="{FF2B5EF4-FFF2-40B4-BE49-F238E27FC236}">
                <a16:creationId xmlns:a16="http://schemas.microsoft.com/office/drawing/2014/main" id="{AB922214-CF78-4330-7183-2CBE8A1FC7DE}"/>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24</a:t>
            </a:fld>
            <a:endParaRPr lang="zh-CN" altLang="en-US" dirty="0"/>
          </a:p>
        </p:txBody>
      </p:sp>
      <p:sp>
        <p:nvSpPr>
          <p:cNvPr id="6" name="文本框 5">
            <a:extLst>
              <a:ext uri="{FF2B5EF4-FFF2-40B4-BE49-F238E27FC236}">
                <a16:creationId xmlns:a16="http://schemas.microsoft.com/office/drawing/2014/main" id="{879E5C47-D34E-C941-227D-862706673838}"/>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a:sym typeface="可画风暴黑-简" panose="020B0500000000000000" charset="-122"/>
              </a:rPr>
              <a:t>平方损失函数</a:t>
            </a:r>
            <a:endParaRPr lang="zh-CN" altLang="en-US" dirty="0"/>
          </a:p>
        </p:txBody>
      </p:sp>
      <p:sp>
        <p:nvSpPr>
          <p:cNvPr id="3" name="内容占位符 2"/>
          <p:cNvSpPr>
            <a:spLocks noGrp="1"/>
          </p:cNvSpPr>
          <p:nvPr>
            <p:ph idx="1"/>
          </p:nvPr>
        </p:nvSpPr>
        <p:spPr>
          <a:xfrm>
            <a:off x="611505" y="3340657"/>
            <a:ext cx="10968990" cy="3009265"/>
          </a:xfrm>
          <a:ln w="15875">
            <a:solidFill>
              <a:srgbClr val="C00000"/>
            </a:solidFill>
          </a:ln>
        </p:spPr>
        <p:txBody>
          <a:bodyPr/>
          <a:lstStyle/>
          <a:p>
            <a:pPr marL="0" indent="0">
              <a:buNone/>
            </a:pPr>
            <a:r>
              <a:rPr lang="zh-CN" altLang="en-US" sz="2000" b="1" dirty="0">
                <a:solidFill>
                  <a:schemeClr val="tx1"/>
                </a:solidFill>
                <a:latin typeface="黑体" panose="02010609060101010101" pitchFamily="49" charset="-122"/>
                <a:ea typeface="黑体" panose="02010609060101010101" pitchFamily="49" charset="-122"/>
              </a:rPr>
              <a:t>为什么要用平方？</a:t>
            </a:r>
          </a:p>
          <a:p>
            <a:pPr marL="0" indent="0">
              <a:buNone/>
            </a:pPr>
            <a:r>
              <a:rPr lang="zh-CN" altLang="en-US" dirty="0">
                <a:solidFill>
                  <a:schemeClr val="tx1"/>
                </a:solidFill>
              </a:rPr>
              <a:t>1.消除正负号：​​ 通过平方 (y - ŷ)²，我们让损失永远是一个​​非负值​​（大于等于0）。预测高和预测低都会被惩罚。损失值越小越好，0表示完美预测。</a:t>
            </a:r>
          </a:p>
          <a:p>
            <a:pPr marL="0" indent="0">
              <a:buNone/>
            </a:pPr>
            <a:r>
              <a:rPr lang="zh-CN" altLang="en-US" dirty="0">
                <a:solidFill>
                  <a:schemeClr val="tx1"/>
                </a:solidFill>
              </a:rPr>
              <a:t>2.​放大较大误差：​​ 平方操作使得​​较大的误差会比小的误差受到更严重的惩罚​​。这点非常重要：假设模型预测A手机价格误差是100元： (100)² = 10,000  预测B手机价格误差是200元： (200)² = 40,000  虽然误差只大了2倍（200 vs 100），但损失大了4倍（40,000 vs 10,000）！模型会​​优先努力减少较大的预测错误​​。</a:t>
            </a:r>
          </a:p>
        </p:txBody>
      </p:sp>
      <p:sp>
        <p:nvSpPr>
          <p:cNvPr id="6" name="文本框 5"/>
          <p:cNvSpPr txBox="1"/>
          <p:nvPr/>
        </p:nvSpPr>
        <p:spPr>
          <a:xfrm>
            <a:off x="-804061" y="1405268"/>
            <a:ext cx="9076055" cy="803275"/>
          </a:xfrm>
          <a:prstGeom prst="rect">
            <a:avLst/>
          </a:prstGeom>
          <a:noFill/>
        </p:spPr>
        <p:txBody>
          <a:bodyPr wrap="square" rtlCol="0">
            <a:noAutofit/>
          </a:bodyPr>
          <a:lstStyle/>
          <a:p>
            <a:pPr algn="ctr"/>
            <a:r>
              <a:rPr lang="en-US" sz="3200" b="1" dirty="0" err="1">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预测误差</a:t>
            </a:r>
            <a:r>
              <a:rPr lang="en-US" sz="3200" b="1" dirty="0">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 (</a:t>
            </a:r>
            <a:r>
              <a:rPr lang="en-US" sz="3200" b="1" dirty="0" err="1">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实际值</a:t>
            </a:r>
            <a:r>
              <a:rPr lang="en-US" sz="3200" b="1" dirty="0">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 </a:t>
            </a:r>
            <a:r>
              <a:rPr lang="en-US" sz="3200" b="1" dirty="0" err="1">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预测值</a:t>
            </a:r>
            <a:r>
              <a:rPr lang="en-US" sz="3200" b="1" dirty="0">
                <a:solidFill>
                  <a:srgbClr val="000000"/>
                </a:solidFill>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)²</a:t>
            </a:r>
            <a:endParaRPr lang="zh-CN" altLang="en-US" sz="3200" b="1" dirty="0">
              <a:latin typeface="宋体" panose="02010600030101010101" pitchFamily="2" charset="-122"/>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AAEEA2D-8542-087E-93BA-A601585870DD}"/>
                  </a:ext>
                </a:extLst>
              </p:cNvPr>
              <p:cNvSpPr txBox="1"/>
              <p:nvPr/>
            </p:nvSpPr>
            <p:spPr>
              <a:xfrm>
                <a:off x="683854" y="2285333"/>
                <a:ext cx="6098458" cy="584775"/>
              </a:xfrm>
              <a:prstGeom prst="rect">
                <a:avLst/>
              </a:prstGeom>
              <a:noFill/>
            </p:spPr>
            <p:txBody>
              <a:bodyPr wrap="square">
                <a:spAutoFit/>
              </a:bodyPr>
              <a:lstStyle/>
              <a:p>
                <a14:m>
                  <m:oMath xmlns:m="http://schemas.openxmlformats.org/officeDocument/2006/math">
                    <m:r>
                      <a:rPr lang="en-US" altLang="zh-CN" sz="3200" i="1" smtClean="0">
                        <a:effectLst/>
                        <a:latin typeface="Cambria Math" panose="02040503050406030204" pitchFamily="18" charset="0"/>
                        <a:ea typeface="仿宋" panose="02010609060101010101" pitchFamily="49" charset="-122"/>
                        <a:cs typeface="仿宋" panose="02010609060101010101" pitchFamily="49" charset="-122"/>
                      </a:rPr>
                      <m:t>𝐿</m:t>
                    </m:r>
                    <m:r>
                      <a:rPr lang="en-US" altLang="zh-CN" sz="3200" i="1" smtClean="0">
                        <a:effectLst/>
                        <a:latin typeface="Cambria Math" panose="02040503050406030204" pitchFamily="18" charset="0"/>
                        <a:ea typeface="仿宋" panose="02010609060101010101" pitchFamily="49" charset="-122"/>
                        <a:cs typeface="仿宋" panose="02010609060101010101" pitchFamily="49" charset="-122"/>
                      </a:rPr>
                      <m:t>(</m:t>
                    </m:r>
                    <m:r>
                      <a:rPr lang="en-US" altLang="zh-CN" sz="3200" i="1" smtClean="0">
                        <a:effectLst/>
                        <a:latin typeface="Cambria Math" panose="02040503050406030204" pitchFamily="18" charset="0"/>
                        <a:ea typeface="仿宋" panose="02010609060101010101" pitchFamily="49" charset="-122"/>
                        <a:cs typeface="仿宋" panose="02010609060101010101" pitchFamily="49" charset="-122"/>
                      </a:rPr>
                      <m:t>𝑦</m:t>
                    </m:r>
                    <m:r>
                      <a:rPr lang="en-US" altLang="zh-CN" sz="3200" i="1" smtClean="0">
                        <a:effectLst/>
                        <a:latin typeface="Cambria Math" panose="02040503050406030204" pitchFamily="18" charset="0"/>
                        <a:ea typeface="仿宋" panose="02010609060101010101" pitchFamily="49" charset="-122"/>
                        <a:cs typeface="仿宋" panose="02010609060101010101" pitchFamily="49" charset="-122"/>
                      </a:rPr>
                      <m:t>,</m:t>
                    </m:r>
                    <m:acc>
                      <m:accPr>
                        <m:chr m:val="̂"/>
                        <m:ctrlPr>
                          <a:rPr lang="zh-CN" altLang="zh-CN" sz="3200" i="1">
                            <a:effectLst/>
                            <a:latin typeface="Cambria Math" panose="02040503050406030204" pitchFamily="18" charset="0"/>
                            <a:ea typeface="Cambria Math" panose="02040503050406030204" pitchFamily="18" charset="0"/>
                            <a:cs typeface="仿宋" panose="02010609060101010101" pitchFamily="49" charset="-122"/>
                          </a:rPr>
                        </m:ctrlPr>
                      </m:accPr>
                      <m:e>
                        <m:r>
                          <a:rPr lang="en-US" altLang="zh-CN" sz="3200" i="1">
                            <a:effectLst/>
                            <a:latin typeface="Cambria Math" panose="02040503050406030204" pitchFamily="18" charset="0"/>
                            <a:ea typeface="仿宋" panose="02010609060101010101" pitchFamily="49" charset="-122"/>
                            <a:cs typeface="仿宋" panose="02010609060101010101" pitchFamily="49" charset="-122"/>
                          </a:rPr>
                          <m:t>𝑦</m:t>
                        </m:r>
                      </m:e>
                    </m:acc>
                    <m:r>
                      <a:rPr lang="en-US" altLang="zh-CN" sz="3200" i="1">
                        <a:effectLst/>
                        <a:latin typeface="Cambria Math" panose="02040503050406030204" pitchFamily="18" charset="0"/>
                        <a:ea typeface="仿宋" panose="02010609060101010101" pitchFamily="49" charset="-122"/>
                        <a:cs typeface="仿宋" panose="02010609060101010101" pitchFamily="49" charset="-122"/>
                      </a:rPr>
                      <m:t>)=</m:t>
                    </m:r>
                    <m:sSup>
                      <m:sSupPr>
                        <m:ctrlPr>
                          <a:rPr lang="zh-CN" altLang="zh-CN" sz="3200" i="1">
                            <a:effectLst/>
                            <a:latin typeface="Cambria Math" panose="02040503050406030204" pitchFamily="18" charset="0"/>
                            <a:ea typeface="Cambria Math" panose="02040503050406030204" pitchFamily="18" charset="0"/>
                            <a:cs typeface="仿宋" panose="02010609060101010101" pitchFamily="49" charset="-122"/>
                          </a:rPr>
                        </m:ctrlPr>
                      </m:sSupPr>
                      <m:e>
                        <m:r>
                          <a:rPr lang="en-US" altLang="zh-CN" sz="3200" i="1">
                            <a:effectLst/>
                            <a:latin typeface="Cambria Math" panose="02040503050406030204" pitchFamily="18" charset="0"/>
                            <a:ea typeface="仿宋" panose="02010609060101010101" pitchFamily="49" charset="-122"/>
                            <a:cs typeface="仿宋" panose="02010609060101010101" pitchFamily="49" charset="-122"/>
                          </a:rPr>
                          <m:t>(</m:t>
                        </m:r>
                        <m:r>
                          <a:rPr lang="en-US" altLang="zh-CN" sz="3200" i="1">
                            <a:effectLst/>
                            <a:latin typeface="Cambria Math" panose="02040503050406030204" pitchFamily="18" charset="0"/>
                            <a:ea typeface="仿宋" panose="02010609060101010101" pitchFamily="49" charset="-122"/>
                            <a:cs typeface="仿宋" panose="02010609060101010101" pitchFamily="49" charset="-122"/>
                          </a:rPr>
                          <m:t>𝑦</m:t>
                        </m:r>
                        <m:r>
                          <a:rPr lang="en-US" altLang="zh-CN" sz="3200" i="1">
                            <a:effectLst/>
                            <a:latin typeface="Cambria Math" panose="02040503050406030204" pitchFamily="18" charset="0"/>
                            <a:ea typeface="仿宋" panose="02010609060101010101" pitchFamily="49" charset="-122"/>
                            <a:cs typeface="Cambria Math" panose="02040503050406030204" pitchFamily="18" charset="0"/>
                          </a:rPr>
                          <m:t>−</m:t>
                        </m:r>
                        <m:acc>
                          <m:accPr>
                            <m:chr m:val="̂"/>
                            <m:ctrlPr>
                              <a:rPr lang="zh-CN" altLang="zh-CN" sz="3200" i="1">
                                <a:latin typeface="Cambria Math" panose="02040503050406030204" pitchFamily="18" charset="0"/>
                                <a:ea typeface="Cambria Math" panose="02040503050406030204" pitchFamily="18" charset="0"/>
                                <a:cs typeface="仿宋" panose="02010609060101010101" pitchFamily="49" charset="-122"/>
                              </a:rPr>
                            </m:ctrlPr>
                          </m:accPr>
                          <m:e>
                            <m:r>
                              <a:rPr lang="en-US" altLang="zh-CN" sz="3200" i="1">
                                <a:latin typeface="Cambria Math" panose="02040503050406030204" pitchFamily="18" charset="0"/>
                                <a:ea typeface="仿宋" panose="02010609060101010101" pitchFamily="49" charset="-122"/>
                                <a:cs typeface="仿宋" panose="02010609060101010101" pitchFamily="49" charset="-122"/>
                              </a:rPr>
                              <m:t>𝑦</m:t>
                            </m:r>
                          </m:e>
                        </m:acc>
                        <m:r>
                          <a:rPr lang="en-US" altLang="zh-CN" sz="3200" i="1">
                            <a:effectLst/>
                            <a:latin typeface="Cambria Math" panose="02040503050406030204" pitchFamily="18" charset="0"/>
                            <a:ea typeface="仿宋" panose="02010609060101010101" pitchFamily="49" charset="-122"/>
                            <a:cs typeface="仿宋" panose="02010609060101010101" pitchFamily="49" charset="-122"/>
                          </a:rPr>
                          <m:t>)</m:t>
                        </m:r>
                      </m:e>
                      <m:sup>
                        <m:r>
                          <a:rPr lang="en-US" altLang="zh-CN" sz="3200" i="1">
                            <a:effectLst/>
                            <a:latin typeface="Cambria Math" panose="02040503050406030204" pitchFamily="18" charset="0"/>
                            <a:ea typeface="仿宋" panose="02010609060101010101" pitchFamily="49" charset="-122"/>
                            <a:cs typeface="仿宋" panose="02010609060101010101" pitchFamily="49" charset="-122"/>
                          </a:rPr>
                          <m:t>2</m:t>
                        </m:r>
                      </m:sup>
                    </m:sSup>
                  </m:oMath>
                </a14:m>
                <a:r>
                  <a:rPr lang="en-US" altLang="zh-CN" sz="3200" dirty="0">
                    <a:effectLst/>
                    <a:latin typeface="仿宋" panose="02010609060101010101" pitchFamily="49" charset="-122"/>
                    <a:cs typeface="仿宋" panose="02010609060101010101" pitchFamily="49" charset="-122"/>
                  </a:rPr>
                  <a:t> </a:t>
                </a:r>
                <a:endParaRPr lang="zh-CN" altLang="en-US" sz="3200" dirty="0"/>
              </a:p>
            </p:txBody>
          </p:sp>
        </mc:Choice>
        <mc:Fallback xmlns="">
          <p:sp>
            <p:nvSpPr>
              <p:cNvPr id="8" name="文本框 7">
                <a:extLst>
                  <a:ext uri="{FF2B5EF4-FFF2-40B4-BE49-F238E27FC236}">
                    <a16:creationId xmlns:a16="http://schemas.microsoft.com/office/drawing/2014/main" id="{4AAEEA2D-8542-087E-93BA-A601585870DD}"/>
                  </a:ext>
                </a:extLst>
              </p:cNvPr>
              <p:cNvSpPr txBox="1">
                <a:spLocks noRot="1" noChangeAspect="1" noMove="1" noResize="1" noEditPoints="1" noAdjustHandles="1" noChangeArrowheads="1" noChangeShapeType="1" noTextEdit="1"/>
              </p:cNvSpPr>
              <p:nvPr/>
            </p:nvSpPr>
            <p:spPr>
              <a:xfrm>
                <a:off x="683854" y="2285333"/>
                <a:ext cx="6098458" cy="584775"/>
              </a:xfrm>
              <a:prstGeom prst="rect">
                <a:avLst/>
              </a:prstGeom>
              <a:blipFill>
                <a:blip r:embed="rId2"/>
                <a:stretch>
                  <a:fillRect l="-622" t="-8511" b="-21277"/>
                </a:stretch>
              </a:blipFill>
            </p:spPr>
            <p:txBody>
              <a:bodyPr/>
              <a:lstStyle/>
              <a:p>
                <a:r>
                  <a:rPr lang="zh-CN" altLang="en-US">
                    <a:noFill/>
                  </a:rPr>
                  <a:t> </a:t>
                </a:r>
              </a:p>
            </p:txBody>
          </p:sp>
        </mc:Fallback>
      </mc:AlternateContent>
      <p:sp>
        <p:nvSpPr>
          <p:cNvPr id="9" name="云形 8">
            <a:extLst>
              <a:ext uri="{FF2B5EF4-FFF2-40B4-BE49-F238E27FC236}">
                <a16:creationId xmlns:a16="http://schemas.microsoft.com/office/drawing/2014/main" id="{BC7E4DF5-ECD5-5E14-90DC-519750111662}"/>
              </a:ext>
            </a:extLst>
          </p:cNvPr>
          <p:cNvSpPr/>
          <p:nvPr/>
        </p:nvSpPr>
        <p:spPr>
          <a:xfrm>
            <a:off x="6890508" y="1683815"/>
            <a:ext cx="4689987" cy="1203035"/>
          </a:xfrm>
          <a:prstGeom prst="cloud">
            <a:avLst/>
          </a:prstGeom>
          <a:solidFill>
            <a:schemeClr val="bg1"/>
          </a:solidFill>
          <a:ln w="254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solid"/>
          </a:ln>
          <a:effectLst/>
        </p:spPr>
        <p:txBody>
          <a:bodyPr wrap="square" lIns="0" rIns="0" rtlCol="0" anchor="ctr"/>
          <a:lstStyle/>
          <a:p>
            <a:pPr marL="12700" lvl="0" algn="ctr">
              <a:lnSpc>
                <a:spcPct val="150000"/>
              </a:lnSpc>
              <a:defRPr/>
            </a:pPr>
            <a:r>
              <a:rPr kumimoji="1" lang="zh-CN" altLang="en-US" sz="2000" b="1" kern="0" dirty="0">
                <a:solidFill>
                  <a:srgbClr val="C00000"/>
                </a:solidFill>
                <a:latin typeface="Times New Roman" panose="02020603050405020304" pitchFamily="18" charset="0"/>
                <a:ea typeface="SimHei" panose="02010609060101010101" pitchFamily="49" charset="-122"/>
                <a:cs typeface="Times New Roman" panose="02020603050405020304" pitchFamily="18" charset="0"/>
              </a:rPr>
              <a:t>一般不适用于分类问题，多用于回归问题</a:t>
            </a:r>
            <a:endPar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0" name="同侧圆角矩形 29">
            <a:extLst>
              <a:ext uri="{FF2B5EF4-FFF2-40B4-BE49-F238E27FC236}">
                <a16:creationId xmlns:a16="http://schemas.microsoft.com/office/drawing/2014/main" id="{09943126-FA41-65DE-2758-4FB458E2D50B}"/>
              </a:ext>
            </a:extLst>
          </p:cNvPr>
          <p:cNvSpPr/>
          <p:nvPr/>
        </p:nvSpPr>
        <p:spPr>
          <a:xfrm>
            <a:off x="9014480" y="3357399"/>
            <a:ext cx="2566015" cy="386794"/>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拓展了解，不要求掌握</a:t>
            </a:r>
            <a:endParaRPr kumimoji="0" lang="zh-CN" altLang="en-US"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4">
            <a:extLst>
              <a:ext uri="{FF2B5EF4-FFF2-40B4-BE49-F238E27FC236}">
                <a16:creationId xmlns:a16="http://schemas.microsoft.com/office/drawing/2014/main" id="{C973BEAC-5AD4-C9AF-F747-24471D93EC94}"/>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25</a:t>
            </a:fld>
            <a:endParaRPr lang="zh-CN" altLang="en-US" dirty="0"/>
          </a:p>
        </p:txBody>
      </p:sp>
      <p:sp>
        <p:nvSpPr>
          <p:cNvPr id="7" name="文本框 6">
            <a:extLst>
              <a:ext uri="{FF2B5EF4-FFF2-40B4-BE49-F238E27FC236}">
                <a16:creationId xmlns:a16="http://schemas.microsoft.com/office/drawing/2014/main" id="{BE942E1D-D027-CE6B-7727-0FD3F760BD11}"/>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a:sym typeface="可画风暴黑-简" panose="020B0500000000000000" charset="-122"/>
              </a:rPr>
              <a:t>交叉熵损失</a:t>
            </a:r>
            <a:endParaRPr lang="zh-CN" altLang="en-US" dirty="0"/>
          </a:p>
        </p:txBody>
      </p:sp>
      <p:sp>
        <p:nvSpPr>
          <p:cNvPr id="3" name="内容占位符 2"/>
          <p:cNvSpPr>
            <a:spLocks noGrp="1"/>
          </p:cNvSpPr>
          <p:nvPr>
            <p:ph idx="1"/>
          </p:nvPr>
        </p:nvSpPr>
        <p:spPr>
          <a:xfrm>
            <a:off x="720295" y="3647676"/>
            <a:ext cx="10751410" cy="2566719"/>
          </a:xfrm>
        </p:spPr>
        <p:txBody>
          <a:bodyPr>
            <a:noAutofit/>
          </a:bodyPr>
          <a:lstStyle/>
          <a:p>
            <a:pPr marL="0" indent="0" algn="just">
              <a:buNone/>
            </a:pPr>
            <a:r>
              <a:rPr lang="zh-CN" altLang="zh-CN" sz="2400"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例如，对于一个三分类问题（猫、狗、鸟），真实标签可以表示为一个</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独热（</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one-hot</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）向量（比如猫：</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1</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，狗：</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0</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，鸟：</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0</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），模型预测值可以表示为一个概率分布（比如猫：</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0.8</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，狗：</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0.1</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，鸟：</a:t>
            </a:r>
            <a:r>
              <a:rPr lang="en-US"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0.1</a:t>
            </a:r>
            <a:r>
              <a:rPr lang="zh-CN" altLang="zh-CN" sz="2400" b="1"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a:t>
            </a:r>
            <a:r>
              <a:rPr lang="zh-CN" altLang="zh-CN" sz="2400"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a:t>
            </a:r>
            <a:r>
              <a:rPr lang="zh-CN" altLang="zh-CN" sz="2400" b="1" dirty="0">
                <a:solidFill>
                  <a:srgbClr val="0000FF"/>
                </a:solidFill>
                <a:effectLst/>
                <a:latin typeface="SimSun" panose="02010600030101010101" pitchFamily="2" charset="-122"/>
                <a:ea typeface="SimSun" panose="02010600030101010101" pitchFamily="2" charset="-122"/>
                <a:cs typeface="仿宋" panose="02010609060101010101" pitchFamily="49" charset="-122"/>
              </a:rPr>
              <a:t>交叉熵损失函数的作用在于衡量这个预测分布和真实分布之间的差距</a:t>
            </a:r>
            <a:r>
              <a:rPr lang="zh-CN" altLang="zh-CN" sz="2400" dirty="0">
                <a:solidFill>
                  <a:schemeClr val="tx1"/>
                </a:solidFill>
                <a:effectLst/>
                <a:latin typeface="SimSun" panose="02010600030101010101" pitchFamily="2" charset="-122"/>
                <a:ea typeface="SimSun" panose="02010600030101010101" pitchFamily="2" charset="-122"/>
                <a:cs typeface="仿宋" panose="02010609060101010101" pitchFamily="49" charset="-122"/>
              </a:rPr>
              <a:t>，用来评价模型预测得“准不准”。</a:t>
            </a:r>
            <a:r>
              <a:rPr lang="zh-CN" altLang="zh-CN" sz="2400" dirty="0">
                <a:solidFill>
                  <a:schemeClr val="tx1"/>
                </a:solidFill>
                <a:effectLst/>
                <a:latin typeface="SimSun" panose="02010600030101010101" pitchFamily="2" charset="-122"/>
                <a:ea typeface="SimSun" panose="02010600030101010101" pitchFamily="2" charset="-122"/>
              </a:rPr>
              <a:t> </a:t>
            </a:r>
            <a:endParaRPr lang="zh-CN" altLang="en-US" sz="2400" dirty="0">
              <a:solidFill>
                <a:schemeClr val="tx1"/>
              </a:solidFill>
              <a:latin typeface="SimSun" panose="02010600030101010101" pitchFamily="2" charset="-122"/>
              <a:ea typeface="SimSun" panose="02010600030101010101" pitchFamily="2"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2B75ACB-27E3-7445-CAE4-1D7396E9CBA8}"/>
                  </a:ext>
                </a:extLst>
              </p:cNvPr>
              <p:cNvSpPr txBox="1"/>
              <p:nvPr/>
            </p:nvSpPr>
            <p:spPr>
              <a:xfrm>
                <a:off x="252730" y="2213513"/>
                <a:ext cx="6098458" cy="1436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600" i="1" smtClean="0">
                          <a:latin typeface="Cambria Math" panose="02040503050406030204" pitchFamily="18" charset="0"/>
                        </a:rPr>
                        <m:t>𝐿</m:t>
                      </m:r>
                      <m:d>
                        <m:dPr>
                          <m:sepChr m:val=","/>
                          <m:ctrlPr>
                            <a:rPr lang="zh-CN" altLang="en-US" sz="3600" i="1">
                              <a:latin typeface="Cambria Math" panose="02040503050406030204" pitchFamily="18" charset="0"/>
                            </a:rPr>
                          </m:ctrlPr>
                        </m:dPr>
                        <m:e>
                          <m:r>
                            <a:rPr lang="zh-CN" altLang="en-US" sz="3600" i="1">
                              <a:latin typeface="Cambria Math" panose="02040503050406030204" pitchFamily="18" charset="0"/>
                            </a:rPr>
                            <m:t>𝑦</m:t>
                          </m:r>
                        </m:e>
                        <m:e>
                          <m:acc>
                            <m:accPr>
                              <m:chr m:val="̂"/>
                              <m:ctrlPr>
                                <a:rPr lang="zh-CN" altLang="en-US" sz="3600" i="1">
                                  <a:solidFill>
                                    <a:srgbClr val="836967"/>
                                  </a:solidFill>
                                  <a:latin typeface="Cambria Math" panose="02040503050406030204" pitchFamily="18" charset="0"/>
                                </a:rPr>
                              </m:ctrlPr>
                            </m:accPr>
                            <m:e>
                              <m:r>
                                <a:rPr lang="zh-CN" altLang="en-US" sz="3600" i="1">
                                  <a:latin typeface="Cambria Math" panose="02040503050406030204" pitchFamily="18" charset="0"/>
                                </a:rPr>
                                <m:t>𝑦</m:t>
                              </m:r>
                            </m:e>
                          </m:acc>
                        </m:e>
                      </m:d>
                      <m:r>
                        <a:rPr lang="zh-CN" altLang="en-US" sz="3600" i="0">
                          <a:latin typeface="Cambria Math" panose="02040503050406030204" pitchFamily="18" charset="0"/>
                        </a:rPr>
                        <m:t>=−</m:t>
                      </m:r>
                      <m:nary>
                        <m:naryPr>
                          <m:chr m:val="∑"/>
                          <m:limLoc m:val="undOvr"/>
                          <m:supHide m:val="on"/>
                          <m:ctrlPr>
                            <a:rPr lang="zh-CN" altLang="en-US" sz="3600" i="1">
                              <a:latin typeface="Cambria Math" panose="02040503050406030204" pitchFamily="18" charset="0"/>
                            </a:rPr>
                          </m:ctrlPr>
                        </m:naryPr>
                        <m:sub>
                          <m:r>
                            <a:rPr lang="zh-CN" altLang="en-US" sz="3600" i="1">
                              <a:latin typeface="Cambria Math" panose="02040503050406030204" pitchFamily="18" charset="0"/>
                            </a:rPr>
                            <m:t>𝑖</m:t>
                          </m:r>
                        </m:sub>
                        <m:sup/>
                        <m:e>
                          <m:sSub>
                            <m:sSubPr>
                              <m:ctrlPr>
                                <a:rPr lang="zh-CN" altLang="en-US" sz="3600" i="1">
                                  <a:solidFill>
                                    <a:srgbClr val="836967"/>
                                  </a:solidFill>
                                  <a:latin typeface="Cambria Math" panose="02040503050406030204" pitchFamily="18" charset="0"/>
                                </a:rPr>
                              </m:ctrlPr>
                            </m:sSubPr>
                            <m:e>
                              <m:r>
                                <a:rPr lang="zh-CN" altLang="en-US" sz="3600" i="1">
                                  <a:latin typeface="Cambria Math" panose="02040503050406030204" pitchFamily="18" charset="0"/>
                                </a:rPr>
                                <m:t>𝑦</m:t>
                              </m:r>
                            </m:e>
                            <m:sub>
                              <m:r>
                                <a:rPr lang="zh-CN" altLang="en-US" sz="3600" i="1">
                                  <a:latin typeface="Cambria Math" panose="02040503050406030204" pitchFamily="18" charset="0"/>
                                </a:rPr>
                                <m:t>𝑖</m:t>
                              </m:r>
                            </m:sub>
                          </m:sSub>
                          <m:func>
                            <m:funcPr>
                              <m:ctrlPr>
                                <a:rPr lang="zh-CN" altLang="en-US" sz="3600" i="1">
                                  <a:latin typeface="Cambria Math" panose="02040503050406030204" pitchFamily="18" charset="0"/>
                                </a:rPr>
                              </m:ctrlPr>
                            </m:funcPr>
                            <m:fName>
                              <m:r>
                                <a:rPr lang="zh-CN" altLang="en-US" sz="3600" i="1">
                                  <a:latin typeface="Cambria Math" panose="02040503050406030204" pitchFamily="18" charset="0"/>
                                </a:rPr>
                                <m:t>𝑙𝑜𝑔</m:t>
                              </m:r>
                            </m:fName>
                            <m:e>
                              <m:acc>
                                <m:accPr>
                                  <m:chr m:val="̂"/>
                                  <m:ctrlPr>
                                    <a:rPr lang="zh-CN" altLang="en-US" sz="3600" i="1">
                                      <a:solidFill>
                                        <a:srgbClr val="836967"/>
                                      </a:solidFill>
                                      <a:latin typeface="Cambria Math" panose="02040503050406030204" pitchFamily="18" charset="0"/>
                                    </a:rPr>
                                  </m:ctrlPr>
                                </m:accPr>
                                <m:e>
                                  <m:sSub>
                                    <m:sSubPr>
                                      <m:ctrlPr>
                                        <a:rPr lang="zh-CN" altLang="en-US" sz="3600" i="1">
                                          <a:solidFill>
                                            <a:srgbClr val="836967"/>
                                          </a:solidFill>
                                          <a:latin typeface="Cambria Math" panose="02040503050406030204" pitchFamily="18" charset="0"/>
                                        </a:rPr>
                                      </m:ctrlPr>
                                    </m:sSubPr>
                                    <m:e>
                                      <m:r>
                                        <a:rPr lang="zh-CN" altLang="en-US" sz="3600" i="1">
                                          <a:latin typeface="Cambria Math" panose="02040503050406030204" pitchFamily="18" charset="0"/>
                                        </a:rPr>
                                        <m:t>𝑦</m:t>
                                      </m:r>
                                    </m:e>
                                    <m:sub>
                                      <m:r>
                                        <a:rPr lang="zh-CN" altLang="en-US" sz="3600" i="1">
                                          <a:latin typeface="Cambria Math" panose="02040503050406030204" pitchFamily="18" charset="0"/>
                                        </a:rPr>
                                        <m:t>𝑖</m:t>
                                      </m:r>
                                    </m:sub>
                                  </m:sSub>
                                </m:e>
                              </m:acc>
                            </m:e>
                          </m:func>
                        </m:e>
                      </m:nary>
                    </m:oMath>
                  </m:oMathPara>
                </a14:m>
                <a:endParaRPr lang="zh-CN" altLang="en-US" sz="3600" dirty="0"/>
              </a:p>
            </p:txBody>
          </p:sp>
        </mc:Choice>
        <mc:Fallback xmlns="">
          <p:sp>
            <p:nvSpPr>
              <p:cNvPr id="8" name="文本框 7">
                <a:extLst>
                  <a:ext uri="{FF2B5EF4-FFF2-40B4-BE49-F238E27FC236}">
                    <a16:creationId xmlns:a16="http://schemas.microsoft.com/office/drawing/2014/main" id="{C2B75ACB-27E3-7445-CAE4-1D7396E9CBA8}"/>
                  </a:ext>
                </a:extLst>
              </p:cNvPr>
              <p:cNvSpPr txBox="1">
                <a:spLocks noRot="1" noChangeAspect="1" noMove="1" noResize="1" noEditPoints="1" noAdjustHandles="1" noChangeArrowheads="1" noChangeShapeType="1" noTextEdit="1"/>
              </p:cNvSpPr>
              <p:nvPr/>
            </p:nvSpPr>
            <p:spPr>
              <a:xfrm>
                <a:off x="252730" y="2213513"/>
                <a:ext cx="6098458" cy="1436612"/>
              </a:xfrm>
              <a:prstGeom prst="rect">
                <a:avLst/>
              </a:prstGeom>
              <a:blipFill>
                <a:blip r:embed="rId2"/>
                <a:stretch>
                  <a:fillRect t="-135965" b="-189474"/>
                </a:stretch>
              </a:blipFill>
            </p:spPr>
            <p:txBody>
              <a:bodyPr/>
              <a:lstStyle/>
              <a:p>
                <a:r>
                  <a:rPr lang="zh-CN" altLang="en-US">
                    <a:noFill/>
                  </a:rPr>
                  <a:t> </a:t>
                </a:r>
              </a:p>
            </p:txBody>
          </p:sp>
        </mc:Fallback>
      </mc:AlternateContent>
      <p:sp>
        <p:nvSpPr>
          <p:cNvPr id="9" name="云形 8">
            <a:extLst>
              <a:ext uri="{FF2B5EF4-FFF2-40B4-BE49-F238E27FC236}">
                <a16:creationId xmlns:a16="http://schemas.microsoft.com/office/drawing/2014/main" id="{73FF9D77-20D1-744F-34EE-C7BABB3C7458}"/>
              </a:ext>
            </a:extLst>
          </p:cNvPr>
          <p:cNvSpPr/>
          <p:nvPr/>
        </p:nvSpPr>
        <p:spPr>
          <a:xfrm>
            <a:off x="6654534" y="2213513"/>
            <a:ext cx="4689987" cy="1203035"/>
          </a:xfrm>
          <a:prstGeom prst="cloud">
            <a:avLst/>
          </a:prstGeom>
          <a:solidFill>
            <a:schemeClr val="bg1"/>
          </a:solidFill>
          <a:ln w="25400" cap="flat" cmpd="sng" algn="ctr">
            <a:gradFill flip="none" rotWithShape="1">
              <a:gsLst>
                <a:gs pos="0">
                  <a:srgbClr val="4F81BD">
                    <a:lumMod val="40000"/>
                    <a:lumOff val="60000"/>
                  </a:srgbClr>
                </a:gs>
                <a:gs pos="46000">
                  <a:srgbClr val="4F81BD">
                    <a:lumMod val="95000"/>
                    <a:lumOff val="5000"/>
                  </a:srgbClr>
                </a:gs>
                <a:gs pos="100000">
                  <a:srgbClr val="4F81BD">
                    <a:lumMod val="60000"/>
                  </a:srgbClr>
                </a:gs>
              </a:gsLst>
              <a:path path="circle">
                <a:fillToRect l="50000" t="130000" r="50000" b="-30000"/>
              </a:path>
              <a:tileRect/>
            </a:gradFill>
            <a:prstDash val="solid"/>
          </a:ln>
          <a:effectLst/>
        </p:spPr>
        <p:txBody>
          <a:bodyPr wrap="square" lIns="0" rIns="0" rtlCol="0" anchor="ctr"/>
          <a:lstStyle/>
          <a:p>
            <a:pPr marL="12700" lvl="0" algn="ctr">
              <a:lnSpc>
                <a:spcPct val="150000"/>
              </a:lnSpc>
              <a:defRPr/>
            </a:pPr>
            <a:r>
              <a:rPr kumimoji="1" lang="zh-CN" altLang="en-US" sz="2000" b="1" kern="0" dirty="0">
                <a:solidFill>
                  <a:srgbClr val="C00000"/>
                </a:solidFill>
                <a:latin typeface="Times New Roman" panose="02020603050405020304" pitchFamily="18" charset="0"/>
                <a:ea typeface="SimHei" panose="02010609060101010101" pitchFamily="49" charset="-122"/>
                <a:cs typeface="Times New Roman" panose="02020603050405020304" pitchFamily="18" charset="0"/>
              </a:rPr>
              <a:t>在分类问题中经常使用</a:t>
            </a:r>
            <a:endPar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0" name="同侧圆角矩形 29">
            <a:extLst>
              <a:ext uri="{FF2B5EF4-FFF2-40B4-BE49-F238E27FC236}">
                <a16:creationId xmlns:a16="http://schemas.microsoft.com/office/drawing/2014/main" id="{3D4A2BA3-9F87-E752-1C02-CEAC09EDC973}"/>
              </a:ext>
            </a:extLst>
          </p:cNvPr>
          <p:cNvSpPr/>
          <p:nvPr/>
        </p:nvSpPr>
        <p:spPr>
          <a:xfrm>
            <a:off x="4085303" y="1312605"/>
            <a:ext cx="7698658" cy="619432"/>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lvl="0" algn="ctr">
              <a:spcBef>
                <a:spcPct val="0"/>
              </a:spcBef>
              <a:spcAft>
                <a:spcPct val="0"/>
              </a:spcAft>
              <a:defRPr/>
            </a:pPr>
            <a:r>
              <a:rPr lang="zh-CN" altLang="en-US"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掌握</a:t>
            </a:r>
            <a:r>
              <a:rPr lang="zh-CN" altLang="en-US" b="1" kern="0" noProof="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独热编码</a:t>
            </a:r>
            <a:r>
              <a:rPr lang="zh-CN" altLang="en-US"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、了解</a:t>
            </a:r>
            <a:r>
              <a:rPr lang="zh-CN" altLang="en-US" b="1" kern="0" noProof="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交叉熵损失的作用</a:t>
            </a:r>
            <a:r>
              <a:rPr lang="zh-CN" altLang="en-US"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即可，不要求掌握其公式与计算</a:t>
            </a:r>
            <a:endParaRPr kumimoji="0" lang="zh-CN" altLang="en-US"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内容占位符 2">
            <a:extLst>
              <a:ext uri="{FF2B5EF4-FFF2-40B4-BE49-F238E27FC236}">
                <a16:creationId xmlns:a16="http://schemas.microsoft.com/office/drawing/2014/main" id="{5963A0FA-AADD-79F0-1CD0-89B8A58BD610}"/>
              </a:ext>
            </a:extLst>
          </p:cNvPr>
          <p:cNvSpPr txBox="1">
            <a:spLocks/>
          </p:cNvSpPr>
          <p:nvPr/>
        </p:nvSpPr>
        <p:spPr>
          <a:xfrm>
            <a:off x="502715" y="1312606"/>
            <a:ext cx="11281246" cy="5064018"/>
          </a:xfrm>
          <a:prstGeom prst="rect">
            <a:avLst/>
          </a:prstGeom>
          <a:ln w="15875">
            <a:solidFill>
              <a:srgbClr val="C00000"/>
            </a:solidFill>
          </a:ln>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宋体" panose="02010600030101010101" pitchFamily="2" charset="-122"/>
                <a:ea typeface="宋体" panose="02010600030101010101" pitchFamily="2"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宋体" panose="02010600030101010101" pitchFamily="2" charset="-122"/>
                <a:ea typeface="宋体" panose="02010600030101010101" pitchFamily="2"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宋体" panose="02010600030101010101" pitchFamily="2" charset="-122"/>
                <a:ea typeface="宋体" panose="02010600030101010101" pitchFamily="2"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宋体" panose="02010600030101010101" pitchFamily="2" charset="-122"/>
                <a:ea typeface="宋体" panose="02010600030101010101" pitchFamily="2"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dirty="0">
              <a:solidFill>
                <a:schemeClr val="tx1"/>
              </a:solidFill>
            </a:endParaRPr>
          </a:p>
        </p:txBody>
      </p:sp>
      <p:sp>
        <p:nvSpPr>
          <p:cNvPr id="4" name="灯片编号占位符 4">
            <a:extLst>
              <a:ext uri="{FF2B5EF4-FFF2-40B4-BE49-F238E27FC236}">
                <a16:creationId xmlns:a16="http://schemas.microsoft.com/office/drawing/2014/main" id="{071E26A0-9753-790D-75CF-0BABC9C12AB8}"/>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26</a:t>
            </a:fld>
            <a:endParaRPr lang="zh-CN" altLang="en-US" dirty="0"/>
          </a:p>
        </p:txBody>
      </p:sp>
      <p:sp>
        <p:nvSpPr>
          <p:cNvPr id="6" name="文本框 5">
            <a:extLst>
              <a:ext uri="{FF2B5EF4-FFF2-40B4-BE49-F238E27FC236}">
                <a16:creationId xmlns:a16="http://schemas.microsoft.com/office/drawing/2014/main" id="{D3B71750-74CA-7F43-984C-89A4958B076B}"/>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860F4-3F71-8D88-0E91-C382300197EE}"/>
              </a:ext>
            </a:extLst>
          </p:cNvPr>
          <p:cNvSpPr>
            <a:spLocks noGrp="1"/>
          </p:cNvSpPr>
          <p:nvPr>
            <p:ph type="title"/>
          </p:nvPr>
        </p:nvSpPr>
        <p:spPr>
          <a:xfrm>
            <a:off x="208486" y="169200"/>
            <a:ext cx="6274015" cy="705485"/>
          </a:xfrm>
        </p:spPr>
        <p:txBody>
          <a:bodyPr>
            <a:normAutofit fontScale="90000"/>
          </a:bodyPr>
          <a:lstStyle/>
          <a:p>
            <a:pPr algn="ctr"/>
            <a:r>
              <a:rPr kumimoji="1" lang="zh-CN" altLang="en-US" dirty="0">
                <a:latin typeface="Times New Roman" panose="02020603050405020304" pitchFamily="18" charset="0"/>
                <a:cs typeface="Times New Roman" panose="02020603050405020304" pitchFamily="18" charset="0"/>
              </a:rPr>
              <a:t>独热编码（</a:t>
            </a:r>
            <a:r>
              <a:rPr kumimoji="1" lang="en-US" altLang="zh-CN" dirty="0">
                <a:latin typeface="Times New Roman" panose="02020603050405020304" pitchFamily="18" charset="0"/>
                <a:cs typeface="Times New Roman" panose="02020603050405020304" pitchFamily="18" charset="0"/>
              </a:rPr>
              <a:t>One-Hot Encoding</a:t>
            </a:r>
            <a:r>
              <a:rPr kumimoji="1" lang="zh-CN" altLang="en-US" dirty="0">
                <a:latin typeface="Times New Roman" panose="02020603050405020304" pitchFamily="18" charset="0"/>
                <a:cs typeface="Times New Roman" panose="02020603050405020304" pitchFamily="18" charset="0"/>
              </a:rPr>
              <a:t>）</a:t>
            </a:r>
          </a:p>
        </p:txBody>
      </p:sp>
      <p:sp>
        <p:nvSpPr>
          <p:cNvPr id="5" name="文本框 4">
            <a:extLst>
              <a:ext uri="{FF2B5EF4-FFF2-40B4-BE49-F238E27FC236}">
                <a16:creationId xmlns:a16="http://schemas.microsoft.com/office/drawing/2014/main" id="{A21F2867-65A0-F94D-7481-04EF298AAE7C}"/>
              </a:ext>
            </a:extLst>
          </p:cNvPr>
          <p:cNvSpPr txBox="1"/>
          <p:nvPr/>
        </p:nvSpPr>
        <p:spPr>
          <a:xfrm>
            <a:off x="640831" y="1176033"/>
            <a:ext cx="11195881" cy="1405193"/>
          </a:xfrm>
          <a:prstGeom prst="rect">
            <a:avLst/>
          </a:prstGeom>
          <a:noFill/>
        </p:spPr>
        <p:txBody>
          <a:bodyPr wrap="square" rtlCol="0" anchor="t">
            <a:spAutoFit/>
          </a:bodyPr>
          <a:lstStyle/>
          <a:p>
            <a:pPr algn="just" fontAlgn="auto">
              <a:lnSpc>
                <a:spcPct val="150000"/>
              </a:lnSpc>
            </a:pPr>
            <a:r>
              <a:rPr lang="zh-CN" altLang="en-US" sz="2000" b="1" spc="315" dirty="0">
                <a:solidFill>
                  <a:srgbClr val="0000FF"/>
                </a:solidFill>
                <a:latin typeface="SimHei" panose="02010609060101010101" pitchFamily="49" charset="-122"/>
                <a:ea typeface="SimHei" panose="02010609060101010101" pitchFamily="49" charset="-122"/>
                <a:cs typeface="可画风暴黑-简" panose="020B0500000000000000" charset="-122"/>
                <a:sym typeface="思源黑体" panose="020B0500000000000000" charset="-122"/>
              </a:rPr>
              <a:t>定义</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：一种将</a:t>
            </a:r>
            <a:r>
              <a:rPr lang="zh-CN" altLang="en-US" sz="2000" b="1"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类别型数据转换为</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机器学习模型更容易理解的</a:t>
            </a:r>
            <a:r>
              <a:rPr lang="zh-CN" altLang="en-US" sz="2000" b="1"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数值型数据</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的方法</a:t>
            </a:r>
            <a:r>
              <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p>
          <a:p>
            <a:pPr algn="just" fontAlgn="auto">
              <a:lnSpc>
                <a:spcPct val="150000"/>
              </a:lnSpc>
            </a:pPr>
            <a:r>
              <a:rPr lang="en-US" sz="2000" b="1" spc="315" dirty="0" err="1">
                <a:solidFill>
                  <a:srgbClr val="0000FF"/>
                </a:solidFill>
                <a:latin typeface="SimHei" panose="02010609060101010101" pitchFamily="49" charset="-122"/>
                <a:ea typeface="SimHei" panose="02010609060101010101" pitchFamily="49" charset="-122"/>
                <a:sym typeface="思源黑体" panose="020B0500000000000000" charset="-122"/>
              </a:rPr>
              <a:t>方式</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：用一组仅有一位是“</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1”</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（热），其余均为“</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0”</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（冷）的二进制码（向量），来表示每个类别。这个向量称为</a:t>
            </a:r>
            <a:r>
              <a:rPr lang="zh-CN" altLang="en-US" sz="2000" b="1" spc="315" dirty="0">
                <a:solidFill>
                  <a:srgbClr val="0000FF"/>
                </a:solidFill>
                <a:latin typeface="SimHei" panose="02010609060101010101" pitchFamily="49" charset="-122"/>
                <a:ea typeface="SimHei" panose="02010609060101010101" pitchFamily="49" charset="-122"/>
                <a:sym typeface="思源黑体" panose="020B0500000000000000" charset="-122"/>
              </a:rPr>
              <a:t>独热向量（</a:t>
            </a:r>
            <a:r>
              <a:rPr lang="en-US" altLang="zh-CN" sz="2000" b="1" spc="315" dirty="0">
                <a:solidFill>
                  <a:srgbClr val="0000FF"/>
                </a:solidFill>
                <a:latin typeface="SimHei" panose="02010609060101010101" pitchFamily="49" charset="-122"/>
                <a:ea typeface="SimHei" panose="02010609060101010101" pitchFamily="49" charset="-122"/>
                <a:sym typeface="思源黑体" panose="020B0500000000000000" charset="-122"/>
              </a:rPr>
              <a:t>One-Hot</a:t>
            </a:r>
            <a:r>
              <a:rPr lang="zh-CN" altLang="en-US" sz="2000" b="1" spc="315" dirty="0">
                <a:solidFill>
                  <a:srgbClr val="0000FF"/>
                </a:solidFill>
                <a:latin typeface="SimHei" panose="02010609060101010101" pitchFamily="49" charset="-122"/>
                <a:ea typeface="SimHei" panose="02010609060101010101" pitchFamily="49" charset="-122"/>
                <a:sym typeface="思源黑体" panose="020B0500000000000000" charset="-122"/>
              </a:rPr>
              <a:t> </a:t>
            </a:r>
            <a:r>
              <a:rPr lang="en-US" altLang="zh-CN" sz="2000" b="1" spc="315" dirty="0">
                <a:solidFill>
                  <a:srgbClr val="0000FF"/>
                </a:solidFill>
                <a:latin typeface="SimHei" panose="02010609060101010101" pitchFamily="49" charset="-122"/>
                <a:ea typeface="SimHei" panose="02010609060101010101" pitchFamily="49" charset="-122"/>
                <a:sym typeface="思源黑体" panose="020B0500000000000000" charset="-122"/>
              </a:rPr>
              <a:t>Vector</a:t>
            </a:r>
            <a:r>
              <a:rPr lang="zh-CN" altLang="en-US" sz="2000" b="1" spc="315" dirty="0">
                <a:solidFill>
                  <a:srgbClr val="0000FF"/>
                </a:solidFill>
                <a:latin typeface="SimHei" panose="02010609060101010101" pitchFamily="49" charset="-122"/>
                <a:ea typeface="SimHei" panose="02010609060101010101" pitchFamily="49" charset="-122"/>
                <a:sym typeface="思源黑体" panose="020B0500000000000000" charset="-122"/>
              </a:rPr>
              <a:t>）</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p:txBody>
      </p:sp>
      <p:sp>
        <p:nvSpPr>
          <p:cNvPr id="6" name="文本框 5">
            <a:extLst>
              <a:ext uri="{FF2B5EF4-FFF2-40B4-BE49-F238E27FC236}">
                <a16:creationId xmlns:a16="http://schemas.microsoft.com/office/drawing/2014/main" id="{1877C1A9-AA90-869C-187B-CBA2FC77344A}"/>
              </a:ext>
            </a:extLst>
          </p:cNvPr>
          <p:cNvSpPr txBox="1"/>
          <p:nvPr/>
        </p:nvSpPr>
        <p:spPr>
          <a:xfrm>
            <a:off x="640831" y="2641642"/>
            <a:ext cx="11195881" cy="481863"/>
          </a:xfrm>
          <a:prstGeom prst="rect">
            <a:avLst/>
          </a:prstGeom>
          <a:noFill/>
        </p:spPr>
        <p:txBody>
          <a:bodyPr wrap="square" rtlCol="0" anchor="t">
            <a:spAutoFit/>
          </a:bodyPr>
          <a:lstStyle/>
          <a:p>
            <a:pPr algn="just" fontAlgn="auto">
              <a:lnSpc>
                <a:spcPct val="150000"/>
              </a:lnSpc>
            </a:pPr>
            <a:r>
              <a:rPr lang="zh-CN" altLang="en-US" sz="2000" b="1" spc="315" dirty="0">
                <a:solidFill>
                  <a:srgbClr val="C00000"/>
                </a:solidFill>
                <a:latin typeface="SimHei" panose="02010609060101010101" pitchFamily="49" charset="-122"/>
                <a:ea typeface="SimHei" panose="02010609060101010101" pitchFamily="49" charset="-122"/>
                <a:cs typeface="可画风暴黑-简" panose="020B0500000000000000" charset="-122"/>
                <a:sym typeface="思源黑体" panose="020B0500000000000000" charset="-122"/>
              </a:rPr>
              <a:t>独热向量示例</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：假设我们有三个类别</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猫 </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(Cat)</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、狗 </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(Dog)</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、鸟 </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(Bird</a:t>
            </a: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EE71F849-CBCF-A48F-A342-535B3B1E6D6E}"/>
                  </a:ext>
                </a:extLst>
              </p:cNvPr>
              <p:cNvGraphicFramePr>
                <a:graphicFrameLocks noGrp="1"/>
              </p:cNvGraphicFramePr>
              <p:nvPr>
                <p:extLst>
                  <p:ext uri="{D42A27DB-BD31-4B8C-83A1-F6EECF244321}">
                    <p14:modId xmlns:p14="http://schemas.microsoft.com/office/powerpoint/2010/main" val="2991890722"/>
                  </p:ext>
                </p:extLst>
              </p:nvPr>
            </p:nvGraphicFramePr>
            <p:xfrm>
              <a:off x="640831" y="3374167"/>
              <a:ext cx="10685931" cy="2998403"/>
            </p:xfrm>
            <a:graphic>
              <a:graphicData uri="http://schemas.openxmlformats.org/drawingml/2006/table">
                <a:tbl>
                  <a:tblPr firstRow="1" bandRow="1">
                    <a:tableStyleId>{5C22544A-7EE6-4342-B048-85BDC9FD1C3A}</a:tableStyleId>
                  </a:tblPr>
                  <a:tblGrid>
                    <a:gridCol w="2028627">
                      <a:extLst>
                        <a:ext uri="{9D8B030D-6E8A-4147-A177-3AD203B41FA5}">
                          <a16:colId xmlns:a16="http://schemas.microsoft.com/office/drawing/2014/main" val="589712975"/>
                        </a:ext>
                      </a:extLst>
                    </a:gridCol>
                    <a:gridCol w="3008671">
                      <a:extLst>
                        <a:ext uri="{9D8B030D-6E8A-4147-A177-3AD203B41FA5}">
                          <a16:colId xmlns:a16="http://schemas.microsoft.com/office/drawing/2014/main" val="961022852"/>
                        </a:ext>
                      </a:extLst>
                    </a:gridCol>
                    <a:gridCol w="5648633">
                      <a:extLst>
                        <a:ext uri="{9D8B030D-6E8A-4147-A177-3AD203B41FA5}">
                          <a16:colId xmlns:a16="http://schemas.microsoft.com/office/drawing/2014/main" val="1295517709"/>
                        </a:ext>
                      </a:extLst>
                    </a:gridCol>
                  </a:tblGrid>
                  <a:tr h="578145">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类别</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独热向量</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类比场景</a:t>
                          </a:r>
                        </a:p>
                      </a:txBody>
                      <a:tcPr anchor="ctr"/>
                    </a:tc>
                    <a:extLst>
                      <a:ext uri="{0D108BD9-81ED-4DB2-BD59-A6C34878D82A}">
                        <a16:rowId xmlns:a16="http://schemas.microsoft.com/office/drawing/2014/main" val="2888602925"/>
                      </a:ext>
                    </a:extLst>
                  </a:tr>
                  <a:tr h="578145">
                    <a:tc>
                      <a:txBody>
                        <a:bodyPr/>
                        <a:lstStyle/>
                        <a:p>
                          <a:pPr algn="ctr">
                            <a:lnSpc>
                              <a:spcPct val="150000"/>
                            </a:lnSpc>
                          </a:pPr>
                          <a:r>
                            <a:rPr lang="zh-CN" altLang="en-US" sz="1800" b="0" i="0" kern="1200" dirty="0">
                              <a:solidFill>
                                <a:schemeClr val="dk1"/>
                              </a:solidFill>
                              <a:effectLst/>
                              <a:latin typeface="+mn-lt"/>
                              <a:ea typeface="+mn-ea"/>
                              <a:cs typeface="+mn-cs"/>
                            </a:rPr>
                            <a:t>🐱 </a:t>
                          </a:r>
                          <a:r>
                            <a:rPr lang="zh-CN" altLang="en-US" sz="1800" b="1" i="0" kern="1200" dirty="0">
                              <a:solidFill>
                                <a:schemeClr val="dk1"/>
                              </a:solidFill>
                              <a:effectLst/>
                              <a:latin typeface="+mn-lt"/>
                              <a:ea typeface="+mn-ea"/>
                              <a:cs typeface="+mn-cs"/>
                            </a:rPr>
                            <a:t>猫</a:t>
                          </a:r>
                          <a:endParaRPr lang="zh-CN" altLang="en-US" sz="2000" b="1" dirty="0">
                            <a:latin typeface="SimHei" panose="02010609060101010101" pitchFamily="49" charset="-122"/>
                            <a:ea typeface="SimHei" panose="02010609060101010101" pitchFamily="49" charset="-122"/>
                          </a:endParaRP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ea typeface="SimHei" panose="02010609060101010101" pitchFamily="49" charset="-122"/>
                                      </a:rPr>
                                    </m:ctrlPr>
                                  </m:sSupPr>
                                  <m:e>
                                    <m:d>
                                      <m:dPr>
                                        <m:begChr m:val="["/>
                                        <m:endChr m:val="]"/>
                                        <m:ctrlPr>
                                          <a:rPr lang="en-US" altLang="zh-CN" sz="2000" i="1" smtClean="0">
                                            <a:latin typeface="Cambria Math" panose="02040503050406030204" pitchFamily="18" charset="0"/>
                                            <a:ea typeface="SimHei" panose="02010609060101010101" pitchFamily="49" charset="-122"/>
                                          </a:rPr>
                                        </m:ctrlPr>
                                      </m:dPr>
                                      <m:e>
                                        <m:m>
                                          <m:mPr>
                                            <m:mcs>
                                              <m:mc>
                                                <m:mcPr>
                                                  <m:count m:val="3"/>
                                                  <m:mcJc m:val="center"/>
                                                </m:mcPr>
                                              </m:mc>
                                            </m:mcs>
                                            <m:ctrlPr>
                                              <a:rPr lang="en-US" altLang="zh-CN" sz="2000" i="1" smtClean="0">
                                                <a:latin typeface="Cambria Math" panose="02040503050406030204" pitchFamily="18" charset="0"/>
                                                <a:ea typeface="SimHei" panose="02010609060101010101" pitchFamily="49" charset="-122"/>
                                              </a:rPr>
                                            </m:ctrlPr>
                                          </m:mPr>
                                          <m:mr>
                                            <m:e>
                                              <m:r>
                                                <m:rPr>
                                                  <m:brk m:alnAt="7"/>
                                                </m:rPr>
                                                <a:rPr lang="en-US" altLang="zh-CN" sz="2000" b="0" i="1" smtClean="0">
                                                  <a:latin typeface="Cambria Math" panose="02040503050406030204" pitchFamily="18" charset="0"/>
                                                  <a:ea typeface="SimHei" panose="02010609060101010101" pitchFamily="49" charset="-122"/>
                                                </a:rPr>
                                                <m:t>1</m:t>
                                              </m:r>
                                            </m:e>
                                            <m:e>
                                              <m:r>
                                                <a:rPr lang="en-US" altLang="zh-CN" sz="2000" b="0" i="1" smtClean="0">
                                                  <a:latin typeface="Cambria Math" panose="02040503050406030204" pitchFamily="18" charset="0"/>
                                                  <a:ea typeface="SimHei" panose="02010609060101010101" pitchFamily="49" charset="-122"/>
                                                </a:rPr>
                                                <m:t>0</m:t>
                                              </m:r>
                                            </m:e>
                                            <m:e>
                                              <m:r>
                                                <a:rPr lang="en-US" altLang="zh-CN" sz="2000" b="0" i="1" smtClean="0">
                                                  <a:latin typeface="Cambria Math" panose="02040503050406030204" pitchFamily="18" charset="0"/>
                                                  <a:ea typeface="SimHei" panose="02010609060101010101" pitchFamily="49" charset="-122"/>
                                                </a:rPr>
                                                <m:t>0</m:t>
                                              </m:r>
                                            </m:e>
                                          </m:mr>
                                        </m:m>
                                      </m:e>
                                    </m:d>
                                  </m:e>
                                  <m:sup>
                                    <m:r>
                                      <m:rPr>
                                        <m:sty m:val="p"/>
                                      </m:rPr>
                                      <a:rPr lang="en-US" altLang="zh-CN" sz="2000" i="1" smtClean="0">
                                        <a:latin typeface="Cambria Math" panose="02040503050406030204" pitchFamily="18" charset="0"/>
                                        <a:ea typeface="SimHei" panose="02010609060101010101" pitchFamily="49" charset="-122"/>
                                      </a:rPr>
                                      <m:t>T</m:t>
                                    </m:r>
                                  </m:sup>
                                </m:sSup>
                              </m:oMath>
                            </m:oMathPara>
                          </a14:m>
                          <a:endParaRPr lang="zh-CN" altLang="en-US" sz="2000" dirty="0">
                            <a:latin typeface="SimHei" panose="02010609060101010101" pitchFamily="49" charset="-122"/>
                            <a:ea typeface="SimHei" panose="02010609060101010101" pitchFamily="49" charset="-122"/>
                          </a:endParaRP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第一个位置为“热”，代表“猫”</a:t>
                          </a:r>
                        </a:p>
                      </a:txBody>
                      <a:tcPr anchor="ctr"/>
                    </a:tc>
                    <a:extLst>
                      <a:ext uri="{0D108BD9-81ED-4DB2-BD59-A6C34878D82A}">
                        <a16:rowId xmlns:a16="http://schemas.microsoft.com/office/drawing/2014/main" val="3863458051"/>
                      </a:ext>
                    </a:extLst>
                  </a:tr>
                  <a:tr h="844226">
                    <a:tc>
                      <a:txBody>
                        <a:bodyPr/>
                        <a:lstStyle/>
                        <a:p>
                          <a:pPr algn="ctr">
                            <a:lnSpc>
                              <a:spcPct val="150000"/>
                            </a:lnSpc>
                          </a:pPr>
                          <a:r>
                            <a:rPr lang="zh-CN" altLang="en-US" sz="1800" b="0" i="0" kern="1200" dirty="0">
                              <a:solidFill>
                                <a:schemeClr val="dk1"/>
                              </a:solidFill>
                              <a:effectLst/>
                              <a:latin typeface="+mn-lt"/>
                              <a:ea typeface="+mn-ea"/>
                              <a:cs typeface="+mn-cs"/>
                            </a:rPr>
                            <a:t>🐶 </a:t>
                          </a:r>
                          <a:r>
                            <a:rPr lang="zh-CN" altLang="en-US" sz="1800" b="1" i="0" kern="1200" dirty="0">
                              <a:solidFill>
                                <a:schemeClr val="dk1"/>
                              </a:solidFill>
                              <a:effectLst/>
                              <a:latin typeface="+mn-lt"/>
                              <a:ea typeface="+mn-ea"/>
                              <a:cs typeface="+mn-cs"/>
                            </a:rPr>
                            <a:t>狗</a:t>
                          </a:r>
                          <a:endParaRPr lang="zh-CN" altLang="en-US" sz="2000" b="1" dirty="0">
                            <a:latin typeface="SimHei" panose="02010609060101010101" pitchFamily="49" charset="-122"/>
                            <a:ea typeface="SimHei" panose="02010609060101010101" pitchFamily="49" charset="-122"/>
                          </a:endParaRP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ea typeface="SimHei" panose="02010609060101010101" pitchFamily="49" charset="-122"/>
                                      </a:rPr>
                                    </m:ctrlPr>
                                  </m:sSupPr>
                                  <m:e>
                                    <m:d>
                                      <m:dPr>
                                        <m:begChr m:val="["/>
                                        <m:endChr m:val="]"/>
                                        <m:ctrlPr>
                                          <a:rPr lang="en-US" altLang="zh-CN" sz="2000" i="1" smtClean="0">
                                            <a:latin typeface="Cambria Math" panose="02040503050406030204" pitchFamily="18" charset="0"/>
                                            <a:ea typeface="SimHei" panose="02010609060101010101" pitchFamily="49" charset="-122"/>
                                          </a:rPr>
                                        </m:ctrlPr>
                                      </m:dPr>
                                      <m:e>
                                        <m:m>
                                          <m:mPr>
                                            <m:mcs>
                                              <m:mc>
                                                <m:mcPr>
                                                  <m:count m:val="3"/>
                                                  <m:mcJc m:val="center"/>
                                                </m:mcPr>
                                              </m:mc>
                                            </m:mcs>
                                            <m:ctrlPr>
                                              <a:rPr lang="en-US" altLang="zh-CN" sz="2000" i="1" smtClean="0">
                                                <a:latin typeface="Cambria Math" panose="02040503050406030204" pitchFamily="18" charset="0"/>
                                                <a:ea typeface="SimHei" panose="02010609060101010101" pitchFamily="49" charset="-122"/>
                                              </a:rPr>
                                            </m:ctrlPr>
                                          </m:mPr>
                                          <m:mr>
                                            <m:e>
                                              <m:r>
                                                <m:rPr>
                                                  <m:brk m:alnAt="7"/>
                                                </m:rPr>
                                                <a:rPr lang="en-US" altLang="zh-CN" sz="2000" b="0" i="1" smtClean="0">
                                                  <a:latin typeface="Cambria Math" panose="02040503050406030204" pitchFamily="18" charset="0"/>
                                                  <a:ea typeface="SimHei" panose="02010609060101010101" pitchFamily="49" charset="-122"/>
                                                </a:rPr>
                                                <m:t>0</m:t>
                                              </m:r>
                                            </m:e>
                                            <m:e>
                                              <m:r>
                                                <a:rPr lang="en-US" altLang="zh-CN" sz="2000" b="0" i="1" smtClean="0">
                                                  <a:latin typeface="Cambria Math" panose="02040503050406030204" pitchFamily="18" charset="0"/>
                                                  <a:ea typeface="SimHei" panose="02010609060101010101" pitchFamily="49" charset="-122"/>
                                                </a:rPr>
                                                <m:t>1</m:t>
                                              </m:r>
                                            </m:e>
                                            <m:e>
                                              <m:r>
                                                <a:rPr lang="en-US" altLang="zh-CN" sz="2000" b="0" i="1" smtClean="0">
                                                  <a:latin typeface="Cambria Math" panose="02040503050406030204" pitchFamily="18" charset="0"/>
                                                  <a:ea typeface="SimHei" panose="02010609060101010101" pitchFamily="49" charset="-122"/>
                                                </a:rPr>
                                                <m:t>0</m:t>
                                              </m:r>
                                            </m:e>
                                          </m:mr>
                                        </m:m>
                                      </m:e>
                                    </m:d>
                                  </m:e>
                                  <m:sup>
                                    <m:r>
                                      <m:rPr>
                                        <m:sty m:val="p"/>
                                      </m:rPr>
                                      <a:rPr lang="en-US" altLang="zh-CN" sz="2000" i="1" smtClean="0">
                                        <a:latin typeface="Cambria Math" panose="02040503050406030204" pitchFamily="18" charset="0"/>
                                        <a:ea typeface="SimHei" panose="02010609060101010101" pitchFamily="49" charset="-122"/>
                                      </a:rPr>
                                      <m:t>T</m:t>
                                    </m:r>
                                  </m:sup>
                                </m:sSup>
                              </m:oMath>
                            </m:oMathPara>
                          </a14:m>
                          <a:endParaRPr lang="zh-CN" altLang="en-US" sz="2000" dirty="0">
                            <a:latin typeface="SimHei" panose="02010609060101010101" pitchFamily="49" charset="-122"/>
                            <a:ea typeface="SimHei" panose="02010609060101010101" pitchFamily="49" charset="-122"/>
                          </a:endParaRP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第二个位置为“热”，代表“狗”</a:t>
                          </a:r>
                        </a:p>
                      </a:txBody>
                      <a:tcPr anchor="ctr"/>
                    </a:tc>
                    <a:extLst>
                      <a:ext uri="{0D108BD9-81ED-4DB2-BD59-A6C34878D82A}">
                        <a16:rowId xmlns:a16="http://schemas.microsoft.com/office/drawing/2014/main" val="758905748"/>
                      </a:ext>
                    </a:extLst>
                  </a:tr>
                  <a:tr h="997887">
                    <a:tc>
                      <a:txBody>
                        <a:bodyPr/>
                        <a:lstStyle/>
                        <a:p>
                          <a:pPr algn="ctr">
                            <a:lnSpc>
                              <a:spcPct val="150000"/>
                            </a:lnSpc>
                          </a:pPr>
                          <a:r>
                            <a:rPr lang="zh-CN" altLang="en-US" sz="1800" b="0" i="0" kern="1200" dirty="0">
                              <a:solidFill>
                                <a:schemeClr val="dk1"/>
                              </a:solidFill>
                              <a:effectLst/>
                              <a:latin typeface="+mn-lt"/>
                              <a:ea typeface="+mn-ea"/>
                              <a:cs typeface="+mn-cs"/>
                            </a:rPr>
                            <a:t>🐦 </a:t>
                          </a:r>
                          <a:r>
                            <a:rPr lang="zh-CN" altLang="en-US" sz="1800" b="1" i="0" kern="1200" dirty="0">
                              <a:solidFill>
                                <a:schemeClr val="dk1"/>
                              </a:solidFill>
                              <a:effectLst/>
                              <a:latin typeface="+mn-lt"/>
                              <a:ea typeface="+mn-ea"/>
                              <a:cs typeface="+mn-cs"/>
                            </a:rPr>
                            <a:t>鸟</a:t>
                          </a:r>
                          <a:endParaRPr lang="zh-CN" altLang="en-US" sz="2000" b="1" dirty="0">
                            <a:latin typeface="SimHei" panose="02010609060101010101" pitchFamily="49" charset="-122"/>
                            <a:ea typeface="SimHei" panose="02010609060101010101" pitchFamily="49" charset="-122"/>
                          </a:endParaRP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ea typeface="SimHei" panose="02010609060101010101" pitchFamily="49" charset="-122"/>
                                      </a:rPr>
                                    </m:ctrlPr>
                                  </m:sSupPr>
                                  <m:e>
                                    <m:d>
                                      <m:dPr>
                                        <m:begChr m:val="["/>
                                        <m:endChr m:val="]"/>
                                        <m:ctrlPr>
                                          <a:rPr lang="en-US" altLang="zh-CN" sz="2000" i="1" smtClean="0">
                                            <a:latin typeface="Cambria Math" panose="02040503050406030204" pitchFamily="18" charset="0"/>
                                            <a:ea typeface="SimHei" panose="02010609060101010101" pitchFamily="49" charset="-122"/>
                                          </a:rPr>
                                        </m:ctrlPr>
                                      </m:dPr>
                                      <m:e>
                                        <m:m>
                                          <m:mPr>
                                            <m:mcs>
                                              <m:mc>
                                                <m:mcPr>
                                                  <m:count m:val="3"/>
                                                  <m:mcJc m:val="center"/>
                                                </m:mcPr>
                                              </m:mc>
                                            </m:mcs>
                                            <m:ctrlPr>
                                              <a:rPr lang="en-US" altLang="zh-CN" sz="2000" i="1" smtClean="0">
                                                <a:latin typeface="Cambria Math" panose="02040503050406030204" pitchFamily="18" charset="0"/>
                                                <a:ea typeface="SimHei" panose="02010609060101010101" pitchFamily="49" charset="-122"/>
                                              </a:rPr>
                                            </m:ctrlPr>
                                          </m:mPr>
                                          <m:mr>
                                            <m:e>
                                              <m:r>
                                                <m:rPr>
                                                  <m:brk m:alnAt="7"/>
                                                </m:rPr>
                                                <a:rPr lang="en-US" altLang="zh-CN" sz="2000" b="0" i="1" smtClean="0">
                                                  <a:latin typeface="Cambria Math" panose="02040503050406030204" pitchFamily="18" charset="0"/>
                                                  <a:ea typeface="SimHei" panose="02010609060101010101" pitchFamily="49" charset="-122"/>
                                                </a:rPr>
                                                <m:t>0</m:t>
                                              </m:r>
                                            </m:e>
                                            <m:e>
                                              <m:r>
                                                <a:rPr lang="en-US" altLang="zh-CN" sz="2000" b="0" i="1" smtClean="0">
                                                  <a:latin typeface="Cambria Math" panose="02040503050406030204" pitchFamily="18" charset="0"/>
                                                  <a:ea typeface="SimHei" panose="02010609060101010101" pitchFamily="49" charset="-122"/>
                                                </a:rPr>
                                                <m:t>0</m:t>
                                              </m:r>
                                            </m:e>
                                            <m:e>
                                              <m:r>
                                                <a:rPr lang="en-US" altLang="zh-CN" sz="2000" b="0" i="1" smtClean="0">
                                                  <a:latin typeface="Cambria Math" panose="02040503050406030204" pitchFamily="18" charset="0"/>
                                                  <a:ea typeface="SimHei" panose="02010609060101010101" pitchFamily="49" charset="-122"/>
                                                </a:rPr>
                                                <m:t>1</m:t>
                                              </m:r>
                                            </m:e>
                                          </m:mr>
                                        </m:m>
                                      </m:e>
                                    </m:d>
                                  </m:e>
                                  <m:sup>
                                    <m:r>
                                      <m:rPr>
                                        <m:sty m:val="p"/>
                                      </m:rPr>
                                      <a:rPr lang="en-US" altLang="zh-CN" sz="2000" i="1" smtClean="0">
                                        <a:latin typeface="Cambria Math" panose="02040503050406030204" pitchFamily="18" charset="0"/>
                                        <a:ea typeface="SimHei" panose="02010609060101010101" pitchFamily="49" charset="-122"/>
                                      </a:rPr>
                                      <m:t>T</m:t>
                                    </m:r>
                                  </m:sup>
                                </m:sSup>
                              </m:oMath>
                            </m:oMathPara>
                          </a14:m>
                          <a:endParaRPr lang="zh-CN" altLang="en-US" sz="2000" dirty="0">
                            <a:latin typeface="SimHei" panose="02010609060101010101" pitchFamily="49" charset="-122"/>
                            <a:ea typeface="SimHei" panose="02010609060101010101" pitchFamily="49" charset="-122"/>
                          </a:endParaRPr>
                        </a:p>
                      </a:txBody>
                      <a:tcPr anchor="ctr"/>
                    </a:tc>
                    <a:tc>
                      <a:txBody>
                        <a:bodyPr/>
                        <a:lstStyle/>
                        <a:p>
                          <a:pPr algn="ctr">
                            <a:lnSpc>
                              <a:spcPct val="150000"/>
                            </a:lnSpc>
                          </a:pPr>
                          <a:r>
                            <a:rPr lang="zh-CN" altLang="en-US" sz="2000" kern="1200" dirty="0">
                              <a:solidFill>
                                <a:schemeClr val="dk1"/>
                              </a:solidFill>
                              <a:latin typeface="SimHei" panose="02010609060101010101" pitchFamily="49" charset="-122"/>
                              <a:ea typeface="SimHei" panose="02010609060101010101" pitchFamily="49" charset="-122"/>
                              <a:cs typeface="+mn-cs"/>
                            </a:rPr>
                            <a:t>第三个位置为“热”，代表“鸟”</a:t>
                          </a:r>
                        </a:p>
                      </a:txBody>
                      <a:tcPr anchor="ctr"/>
                    </a:tc>
                    <a:extLst>
                      <a:ext uri="{0D108BD9-81ED-4DB2-BD59-A6C34878D82A}">
                        <a16:rowId xmlns:a16="http://schemas.microsoft.com/office/drawing/2014/main" val="2331681709"/>
                      </a:ext>
                    </a:extLst>
                  </a:tr>
                </a:tbl>
              </a:graphicData>
            </a:graphic>
          </p:graphicFrame>
        </mc:Choice>
        <mc:Fallback xmlns="">
          <p:graphicFrame>
            <p:nvGraphicFramePr>
              <p:cNvPr id="7" name="表格 6">
                <a:extLst>
                  <a:ext uri="{FF2B5EF4-FFF2-40B4-BE49-F238E27FC236}">
                    <a16:creationId xmlns:a16="http://schemas.microsoft.com/office/drawing/2014/main" id="{EE71F849-CBCF-A48F-A342-535B3B1E6D6E}"/>
                  </a:ext>
                </a:extLst>
              </p:cNvPr>
              <p:cNvGraphicFramePr>
                <a:graphicFrameLocks noGrp="1"/>
              </p:cNvGraphicFramePr>
              <p:nvPr>
                <p:extLst>
                  <p:ext uri="{D42A27DB-BD31-4B8C-83A1-F6EECF244321}">
                    <p14:modId xmlns:p14="http://schemas.microsoft.com/office/powerpoint/2010/main" val="2991890722"/>
                  </p:ext>
                </p:extLst>
              </p:nvPr>
            </p:nvGraphicFramePr>
            <p:xfrm>
              <a:off x="640831" y="3374167"/>
              <a:ext cx="10685931" cy="2998403"/>
            </p:xfrm>
            <a:graphic>
              <a:graphicData uri="http://schemas.openxmlformats.org/drawingml/2006/table">
                <a:tbl>
                  <a:tblPr firstRow="1" bandRow="1">
                    <a:tableStyleId>{5C22544A-7EE6-4342-B048-85BDC9FD1C3A}</a:tableStyleId>
                  </a:tblPr>
                  <a:tblGrid>
                    <a:gridCol w="2028627">
                      <a:extLst>
                        <a:ext uri="{9D8B030D-6E8A-4147-A177-3AD203B41FA5}">
                          <a16:colId xmlns:a16="http://schemas.microsoft.com/office/drawing/2014/main" val="589712975"/>
                        </a:ext>
                      </a:extLst>
                    </a:gridCol>
                    <a:gridCol w="3008671">
                      <a:extLst>
                        <a:ext uri="{9D8B030D-6E8A-4147-A177-3AD203B41FA5}">
                          <a16:colId xmlns:a16="http://schemas.microsoft.com/office/drawing/2014/main" val="961022852"/>
                        </a:ext>
                      </a:extLst>
                    </a:gridCol>
                    <a:gridCol w="5648633">
                      <a:extLst>
                        <a:ext uri="{9D8B030D-6E8A-4147-A177-3AD203B41FA5}">
                          <a16:colId xmlns:a16="http://schemas.microsoft.com/office/drawing/2014/main" val="1295517709"/>
                        </a:ext>
                      </a:extLst>
                    </a:gridCol>
                  </a:tblGrid>
                  <a:tr h="578145">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类别</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独热向量</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类比场景</a:t>
                          </a:r>
                        </a:p>
                      </a:txBody>
                      <a:tcPr anchor="ctr"/>
                    </a:tc>
                    <a:extLst>
                      <a:ext uri="{0D108BD9-81ED-4DB2-BD59-A6C34878D82A}">
                        <a16:rowId xmlns:a16="http://schemas.microsoft.com/office/drawing/2014/main" val="2888602925"/>
                      </a:ext>
                    </a:extLst>
                  </a:tr>
                  <a:tr h="578145">
                    <a:tc>
                      <a:txBody>
                        <a:bodyPr/>
                        <a:lstStyle/>
                        <a:p>
                          <a:pPr algn="ctr">
                            <a:lnSpc>
                              <a:spcPct val="150000"/>
                            </a:lnSpc>
                          </a:pPr>
                          <a:r>
                            <a:rPr lang="zh-CN" altLang="en-US" sz="1800" b="0" i="0" kern="1200" dirty="0">
                              <a:solidFill>
                                <a:schemeClr val="dk1"/>
                              </a:solidFill>
                              <a:effectLst/>
                              <a:latin typeface="+mn-lt"/>
                              <a:ea typeface="+mn-ea"/>
                              <a:cs typeface="+mn-cs"/>
                            </a:rPr>
                            <a:t>🐱 </a:t>
                          </a:r>
                          <a:r>
                            <a:rPr lang="zh-CN" altLang="en-US" sz="1800" b="1" i="0" kern="1200" dirty="0">
                              <a:solidFill>
                                <a:schemeClr val="dk1"/>
                              </a:solidFill>
                              <a:effectLst/>
                              <a:latin typeface="+mn-lt"/>
                              <a:ea typeface="+mn-ea"/>
                              <a:cs typeface="+mn-cs"/>
                            </a:rPr>
                            <a:t>猫</a:t>
                          </a:r>
                          <a:endParaRPr lang="zh-CN" altLang="en-US" sz="2000" b="1" dirty="0">
                            <a:latin typeface="SimHei" panose="02010609060101010101" pitchFamily="49" charset="-122"/>
                            <a:ea typeface="SimHei" panose="02010609060101010101" pitchFamily="49" charset="-122"/>
                          </a:endParaRPr>
                        </a:p>
                      </a:txBody>
                      <a:tcPr anchor="ctr"/>
                    </a:tc>
                    <a:tc>
                      <a:txBody>
                        <a:bodyPr/>
                        <a:lstStyle/>
                        <a:p>
                          <a:endParaRPr lang="zh-CN"/>
                        </a:p>
                      </a:txBody>
                      <a:tcPr anchor="ctr">
                        <a:blipFill>
                          <a:blip r:embed="rId2"/>
                          <a:stretch>
                            <a:fillRect l="-67932" t="-104444" r="-189030" b="-328889"/>
                          </a:stretch>
                        </a:blipFill>
                      </a:tcP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第一个位置为“热”，代表“猫”</a:t>
                          </a:r>
                        </a:p>
                      </a:txBody>
                      <a:tcPr anchor="ctr"/>
                    </a:tc>
                    <a:extLst>
                      <a:ext uri="{0D108BD9-81ED-4DB2-BD59-A6C34878D82A}">
                        <a16:rowId xmlns:a16="http://schemas.microsoft.com/office/drawing/2014/main" val="3863458051"/>
                      </a:ext>
                    </a:extLst>
                  </a:tr>
                  <a:tr h="844226">
                    <a:tc>
                      <a:txBody>
                        <a:bodyPr/>
                        <a:lstStyle/>
                        <a:p>
                          <a:pPr algn="ctr">
                            <a:lnSpc>
                              <a:spcPct val="150000"/>
                            </a:lnSpc>
                          </a:pPr>
                          <a:r>
                            <a:rPr lang="zh-CN" altLang="en-US" sz="1800" b="0" i="0" kern="1200" dirty="0">
                              <a:solidFill>
                                <a:schemeClr val="dk1"/>
                              </a:solidFill>
                              <a:effectLst/>
                              <a:latin typeface="+mn-lt"/>
                              <a:ea typeface="+mn-ea"/>
                              <a:cs typeface="+mn-cs"/>
                            </a:rPr>
                            <a:t>🐶 </a:t>
                          </a:r>
                          <a:r>
                            <a:rPr lang="zh-CN" altLang="en-US" sz="1800" b="1" i="0" kern="1200" dirty="0">
                              <a:solidFill>
                                <a:schemeClr val="dk1"/>
                              </a:solidFill>
                              <a:effectLst/>
                              <a:latin typeface="+mn-lt"/>
                              <a:ea typeface="+mn-ea"/>
                              <a:cs typeface="+mn-cs"/>
                            </a:rPr>
                            <a:t>狗</a:t>
                          </a:r>
                          <a:endParaRPr lang="zh-CN" altLang="en-US" sz="2000" b="1" dirty="0">
                            <a:latin typeface="SimHei" panose="02010609060101010101" pitchFamily="49" charset="-122"/>
                            <a:ea typeface="SimHei" panose="02010609060101010101" pitchFamily="49" charset="-122"/>
                          </a:endParaRPr>
                        </a:p>
                      </a:txBody>
                      <a:tcPr anchor="ctr"/>
                    </a:tc>
                    <a:tc>
                      <a:txBody>
                        <a:bodyPr/>
                        <a:lstStyle/>
                        <a:p>
                          <a:endParaRPr lang="zh-CN"/>
                        </a:p>
                      </a:txBody>
                      <a:tcPr anchor="ctr">
                        <a:blipFill>
                          <a:blip r:embed="rId2"/>
                          <a:stretch>
                            <a:fillRect l="-67932" t="-137313" r="-189030" b="-120896"/>
                          </a:stretch>
                        </a:blipFill>
                      </a:tcP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第二个位置为“热”，代表“狗”</a:t>
                          </a:r>
                        </a:p>
                      </a:txBody>
                      <a:tcPr anchor="ctr"/>
                    </a:tc>
                    <a:extLst>
                      <a:ext uri="{0D108BD9-81ED-4DB2-BD59-A6C34878D82A}">
                        <a16:rowId xmlns:a16="http://schemas.microsoft.com/office/drawing/2014/main" val="758905748"/>
                      </a:ext>
                    </a:extLst>
                  </a:tr>
                  <a:tr h="997887">
                    <a:tc>
                      <a:txBody>
                        <a:bodyPr/>
                        <a:lstStyle/>
                        <a:p>
                          <a:pPr algn="ctr">
                            <a:lnSpc>
                              <a:spcPct val="150000"/>
                            </a:lnSpc>
                          </a:pPr>
                          <a:r>
                            <a:rPr lang="zh-CN" altLang="en-US" sz="1800" b="0" i="0" kern="1200" dirty="0">
                              <a:solidFill>
                                <a:schemeClr val="dk1"/>
                              </a:solidFill>
                              <a:effectLst/>
                              <a:latin typeface="+mn-lt"/>
                              <a:ea typeface="+mn-ea"/>
                              <a:cs typeface="+mn-cs"/>
                            </a:rPr>
                            <a:t>🐦 </a:t>
                          </a:r>
                          <a:r>
                            <a:rPr lang="zh-CN" altLang="en-US" sz="1800" b="1" i="0" kern="1200" dirty="0">
                              <a:solidFill>
                                <a:schemeClr val="dk1"/>
                              </a:solidFill>
                              <a:effectLst/>
                              <a:latin typeface="+mn-lt"/>
                              <a:ea typeface="+mn-ea"/>
                              <a:cs typeface="+mn-cs"/>
                            </a:rPr>
                            <a:t>鸟</a:t>
                          </a:r>
                          <a:endParaRPr lang="zh-CN" altLang="en-US" sz="2000" b="1" dirty="0">
                            <a:latin typeface="SimHei" panose="02010609060101010101" pitchFamily="49" charset="-122"/>
                            <a:ea typeface="SimHei" panose="02010609060101010101" pitchFamily="49" charset="-122"/>
                          </a:endParaRPr>
                        </a:p>
                      </a:txBody>
                      <a:tcPr anchor="ctr"/>
                    </a:tc>
                    <a:tc>
                      <a:txBody>
                        <a:bodyPr/>
                        <a:lstStyle/>
                        <a:p>
                          <a:endParaRPr lang="zh-CN"/>
                        </a:p>
                      </a:txBody>
                      <a:tcPr anchor="ctr">
                        <a:blipFill>
                          <a:blip r:embed="rId2"/>
                          <a:stretch>
                            <a:fillRect l="-67932" t="-201266" r="-189030" b="-2532"/>
                          </a:stretch>
                        </a:blipFill>
                      </a:tcPr>
                    </a:tc>
                    <a:tc>
                      <a:txBody>
                        <a:bodyPr/>
                        <a:lstStyle/>
                        <a:p>
                          <a:pPr algn="ctr">
                            <a:lnSpc>
                              <a:spcPct val="150000"/>
                            </a:lnSpc>
                          </a:pPr>
                          <a:r>
                            <a:rPr lang="zh-CN" altLang="en-US" sz="2000" kern="1200" dirty="0">
                              <a:solidFill>
                                <a:schemeClr val="dk1"/>
                              </a:solidFill>
                              <a:latin typeface="SimHei" panose="02010609060101010101" pitchFamily="49" charset="-122"/>
                              <a:ea typeface="SimHei" panose="02010609060101010101" pitchFamily="49" charset="-122"/>
                              <a:cs typeface="+mn-cs"/>
                            </a:rPr>
                            <a:t>第三个位置为“热”，代表“鸟”</a:t>
                          </a:r>
                        </a:p>
                      </a:txBody>
                      <a:tcPr anchor="ctr"/>
                    </a:tc>
                    <a:extLst>
                      <a:ext uri="{0D108BD9-81ED-4DB2-BD59-A6C34878D82A}">
                        <a16:rowId xmlns:a16="http://schemas.microsoft.com/office/drawing/2014/main" val="2331681709"/>
                      </a:ext>
                    </a:extLst>
                  </a:tr>
                </a:tbl>
              </a:graphicData>
            </a:graphic>
          </p:graphicFrame>
        </mc:Fallback>
      </mc:AlternateContent>
      <p:sp>
        <p:nvSpPr>
          <p:cNvPr id="3" name="灯片编号占位符 4">
            <a:extLst>
              <a:ext uri="{FF2B5EF4-FFF2-40B4-BE49-F238E27FC236}">
                <a16:creationId xmlns:a16="http://schemas.microsoft.com/office/drawing/2014/main" id="{54B0C79B-9FF6-D016-5A67-661BD24AF710}"/>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27</a:t>
            </a:fld>
            <a:endParaRPr lang="zh-CN" altLang="en-US" dirty="0"/>
          </a:p>
        </p:txBody>
      </p:sp>
      <p:sp>
        <p:nvSpPr>
          <p:cNvPr id="8" name="文本框 7">
            <a:extLst>
              <a:ext uri="{FF2B5EF4-FFF2-40B4-BE49-F238E27FC236}">
                <a16:creationId xmlns:a16="http://schemas.microsoft.com/office/drawing/2014/main" id="{BEB0614C-F16D-1C3D-9F85-7815D20809EC}"/>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2255136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可画风暴黑-简" panose="020B0500000000000000" charset="-122"/>
              </a:rPr>
              <a:t>交叉熵损失的计算</a:t>
            </a:r>
            <a:endParaRPr lang="zh-CN" altLang="en-US" dirty="0"/>
          </a:p>
        </p:txBody>
      </p:sp>
      <p:sp>
        <p:nvSpPr>
          <p:cNvPr id="3" name="内容占位符 2"/>
          <p:cNvSpPr>
            <a:spLocks noGrp="1"/>
          </p:cNvSpPr>
          <p:nvPr>
            <p:ph idx="1"/>
          </p:nvPr>
        </p:nvSpPr>
        <p:spPr>
          <a:xfrm>
            <a:off x="840658" y="3333136"/>
            <a:ext cx="6025300" cy="2917436"/>
          </a:xfrm>
        </p:spPr>
        <p:txBody>
          <a:bodyPr>
            <a:noAutofit/>
          </a:bodyPr>
          <a:lstStyle/>
          <a:p>
            <a:pPr marL="0" indent="0">
              <a:buNone/>
            </a:pPr>
            <a:r>
              <a:rPr lang="zh-CN" altLang="en-US" sz="2000" dirty="0">
                <a:solidFill>
                  <a:schemeClr val="tx1"/>
                </a:solidFill>
              </a:rPr>
              <a:t>模型看到张三的脸，经过计算，它预测：</a:t>
            </a:r>
          </a:p>
          <a:p>
            <a:pPr marL="0" indent="0">
              <a:buNone/>
            </a:pPr>
            <a:r>
              <a:rPr lang="zh-CN" altLang="en-US" sz="2000" dirty="0">
                <a:solidFill>
                  <a:schemeClr val="tx1"/>
                </a:solidFill>
              </a:rPr>
              <a:t>认为用户是张三 (i=1)​​ 的概率 ŷ₁= 0.85</a:t>
            </a:r>
          </a:p>
          <a:p>
            <a:pPr marL="0" indent="0">
              <a:buNone/>
            </a:pPr>
            <a:r>
              <a:rPr lang="zh-CN" altLang="en-US" sz="2000" dirty="0">
                <a:solidFill>
                  <a:schemeClr val="tx1"/>
                </a:solidFill>
              </a:rPr>
              <a:t>认为用户是李四 (i=2)​​ 的概率 ŷ₂= 0.1</a:t>
            </a:r>
          </a:p>
          <a:p>
            <a:pPr marL="0" indent="0">
              <a:buNone/>
            </a:pPr>
            <a:r>
              <a:rPr lang="zh-CN" altLang="en-US" sz="2000" dirty="0">
                <a:solidFill>
                  <a:schemeClr val="tx1"/>
                </a:solidFill>
              </a:rPr>
              <a:t>认为用户是王五 (i=3)​​ 的概率 ŷ₃= 0.05</a:t>
            </a:r>
          </a:p>
          <a:p>
            <a:pPr marL="0" indent="0">
              <a:buNone/>
            </a:pPr>
            <a:r>
              <a:rPr lang="zh-CN" altLang="en-US" sz="2000" dirty="0">
                <a:solidFill>
                  <a:schemeClr val="tx1"/>
                </a:solidFill>
              </a:rPr>
              <a:t>所以预测分布 ŷ = [0.85, 0.10, 0.05]。</a:t>
            </a:r>
          </a:p>
        </p:txBody>
      </p:sp>
      <p:sp>
        <p:nvSpPr>
          <p:cNvPr id="7" name="文本框 6"/>
          <p:cNvSpPr txBox="1"/>
          <p:nvPr/>
        </p:nvSpPr>
        <p:spPr>
          <a:xfrm>
            <a:off x="840658" y="2639522"/>
            <a:ext cx="5110142" cy="588645"/>
          </a:xfrm>
          <a:prstGeom prst="rect">
            <a:avLst/>
          </a:prstGeom>
          <a:noFill/>
        </p:spPr>
        <p:txBody>
          <a:bodyPr wrap="square" rtlCol="0" anchor="t">
            <a:noAutofit/>
          </a:bodyPr>
          <a:lstStyle/>
          <a:p>
            <a:r>
              <a:rPr lang="en-US" sz="2800" dirty="0" err="1">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以手机人脸识别来举例</a:t>
            </a:r>
            <a:r>
              <a:rPr lang="en-US" sz="2800"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a:t>
            </a:r>
            <a:endParaRPr lang="en-US" altLang="en-US" sz="2800"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p:txBody>
      </p:sp>
      <p:sp>
        <p:nvSpPr>
          <p:cNvPr id="8" name="Freeform 4"/>
          <p:cNvSpPr>
            <a:spLocks noChangeAspect="1"/>
          </p:cNvSpPr>
          <p:nvPr/>
        </p:nvSpPr>
        <p:spPr>
          <a:xfrm>
            <a:off x="6865958" y="2565803"/>
            <a:ext cx="4182586" cy="3716020"/>
          </a:xfrm>
          <a:custGeom>
            <a:avLst/>
            <a:gdLst/>
            <a:ahLst/>
            <a:cxnLst/>
            <a:rect l="l" t="t" r="r" b="b"/>
            <a:pathLst>
              <a:path w="6286672" h="6162535">
                <a:moveTo>
                  <a:pt x="0" y="0"/>
                </a:moveTo>
                <a:lnTo>
                  <a:pt x="6286672" y="0"/>
                </a:lnTo>
                <a:lnTo>
                  <a:pt x="6286672" y="6162535"/>
                </a:lnTo>
                <a:lnTo>
                  <a:pt x="0" y="6162535"/>
                </a:lnTo>
                <a:lnTo>
                  <a:pt x="0" y="0"/>
                </a:lnTo>
                <a:close/>
              </a:path>
            </a:pathLst>
          </a:custGeom>
          <a:blipFill>
            <a:blip r:embed="rId2"/>
            <a:stretch>
              <a:fillRect/>
            </a:stretch>
          </a:blipFill>
        </p:spPr>
        <p:txBody>
          <a:bodyPr/>
          <a:lstStyle/>
          <a:p>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D2E9710-9CD0-8C21-76FE-F25F0A4E21C2}"/>
                  </a:ext>
                </a:extLst>
              </p:cNvPr>
              <p:cNvSpPr txBox="1"/>
              <p:nvPr/>
            </p:nvSpPr>
            <p:spPr>
              <a:xfrm>
                <a:off x="2901571" y="1228797"/>
                <a:ext cx="6098458" cy="12873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𝐿</m:t>
                      </m:r>
                      <m:d>
                        <m:dPr>
                          <m:sepChr m:val=","/>
                          <m:ctrlPr>
                            <a:rPr lang="zh-CN" altLang="en-US" sz="3200" i="1">
                              <a:latin typeface="Cambria Math" panose="02040503050406030204" pitchFamily="18" charset="0"/>
                            </a:rPr>
                          </m:ctrlPr>
                        </m:dPr>
                        <m:e>
                          <m:r>
                            <a:rPr lang="zh-CN" altLang="en-US" sz="3200" i="1">
                              <a:latin typeface="Cambria Math" panose="02040503050406030204" pitchFamily="18" charset="0"/>
                            </a:rPr>
                            <m:t>𝑦</m:t>
                          </m:r>
                        </m:e>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𝑦</m:t>
                              </m:r>
                            </m:e>
                          </m:acc>
                        </m:e>
                      </m:d>
                      <m:r>
                        <a:rPr lang="zh-CN" altLang="en-US" sz="3200" i="0">
                          <a:latin typeface="Cambria Math" panose="02040503050406030204" pitchFamily="18" charset="0"/>
                        </a:rPr>
                        <m:t>=−</m:t>
                      </m:r>
                      <m:nary>
                        <m:naryPr>
                          <m:chr m:val="∑"/>
                          <m:limLoc m:val="undOvr"/>
                          <m:supHide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sub>
                        <m:sup/>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𝑖</m:t>
                              </m:r>
                            </m:sub>
                          </m:sSub>
                          <m:func>
                            <m:funcPr>
                              <m:ctrlPr>
                                <a:rPr lang="zh-CN" altLang="en-US" sz="3200" i="1">
                                  <a:latin typeface="Cambria Math" panose="02040503050406030204" pitchFamily="18" charset="0"/>
                                </a:rPr>
                              </m:ctrlPr>
                            </m:funcPr>
                            <m:fName>
                              <m:r>
                                <a:rPr lang="zh-CN" altLang="en-US" sz="3200" i="1">
                                  <a:latin typeface="Cambria Math" panose="02040503050406030204" pitchFamily="18" charset="0"/>
                                </a:rPr>
                                <m:t>𝑙𝑜𝑔</m:t>
                              </m:r>
                            </m:fName>
                            <m:e>
                              <m:acc>
                                <m:accPr>
                                  <m:chr m:val="̂"/>
                                  <m:ctrlPr>
                                    <a:rPr lang="zh-CN" altLang="en-US" sz="3200" i="1">
                                      <a:solidFill>
                                        <a:srgbClr val="836967"/>
                                      </a:solidFill>
                                      <a:latin typeface="Cambria Math" panose="02040503050406030204" pitchFamily="18" charset="0"/>
                                    </a:rPr>
                                  </m:ctrlPr>
                                </m:acc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𝑖</m:t>
                                      </m:r>
                                    </m:sub>
                                  </m:sSub>
                                </m:e>
                              </m:acc>
                            </m:e>
                          </m:func>
                        </m:e>
                      </m:nary>
                    </m:oMath>
                  </m:oMathPara>
                </a14:m>
                <a:endParaRPr lang="zh-CN" altLang="en-US" sz="3200" dirty="0"/>
              </a:p>
            </p:txBody>
          </p:sp>
        </mc:Choice>
        <mc:Fallback xmlns="">
          <p:sp>
            <p:nvSpPr>
              <p:cNvPr id="4" name="文本框 3">
                <a:extLst>
                  <a:ext uri="{FF2B5EF4-FFF2-40B4-BE49-F238E27FC236}">
                    <a16:creationId xmlns:a16="http://schemas.microsoft.com/office/drawing/2014/main" id="{4D2E9710-9CD0-8C21-76FE-F25F0A4E21C2}"/>
                  </a:ext>
                </a:extLst>
              </p:cNvPr>
              <p:cNvSpPr txBox="1">
                <a:spLocks noRot="1" noChangeAspect="1" noMove="1" noResize="1" noEditPoints="1" noAdjustHandles="1" noChangeArrowheads="1" noChangeShapeType="1" noTextEdit="1"/>
              </p:cNvSpPr>
              <p:nvPr/>
            </p:nvSpPr>
            <p:spPr>
              <a:xfrm>
                <a:off x="2901571" y="1228797"/>
                <a:ext cx="6098458" cy="1287340"/>
              </a:xfrm>
              <a:prstGeom prst="rect">
                <a:avLst/>
              </a:prstGeom>
              <a:blipFill>
                <a:blip r:embed="rId3"/>
                <a:stretch>
                  <a:fillRect t="-132039" b="-183495"/>
                </a:stretch>
              </a:blipFill>
            </p:spPr>
            <p:txBody>
              <a:bodyPr/>
              <a:lstStyle/>
              <a:p>
                <a:r>
                  <a:rPr lang="zh-CN" altLang="en-US">
                    <a:noFill/>
                  </a:rPr>
                  <a:t> </a:t>
                </a:r>
              </a:p>
            </p:txBody>
          </p:sp>
        </mc:Fallback>
      </mc:AlternateContent>
      <p:sp>
        <p:nvSpPr>
          <p:cNvPr id="10" name="同侧圆角矩形 29">
            <a:extLst>
              <a:ext uri="{FF2B5EF4-FFF2-40B4-BE49-F238E27FC236}">
                <a16:creationId xmlns:a16="http://schemas.microsoft.com/office/drawing/2014/main" id="{22A7A40A-B9EB-2359-174E-3600AFB6DD2A}"/>
              </a:ext>
            </a:extLst>
          </p:cNvPr>
          <p:cNvSpPr/>
          <p:nvPr/>
        </p:nvSpPr>
        <p:spPr>
          <a:xfrm>
            <a:off x="4530724" y="-1"/>
            <a:ext cx="7661275" cy="1020543"/>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不要求掌握</a:t>
            </a:r>
            <a:endParaRPr kumimoji="0" lang="zh-CN" altLang="en-US" sz="2400"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灯片编号占位符 4">
            <a:extLst>
              <a:ext uri="{FF2B5EF4-FFF2-40B4-BE49-F238E27FC236}">
                <a16:creationId xmlns:a16="http://schemas.microsoft.com/office/drawing/2014/main" id="{C8482217-D0B9-44FA-EA8E-92EC4AC6D9F6}"/>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28</a:t>
            </a:fld>
            <a:endParaRPr lang="zh-CN" altLang="en-US" dirty="0"/>
          </a:p>
        </p:txBody>
      </p:sp>
      <p:sp>
        <p:nvSpPr>
          <p:cNvPr id="9" name="文本框 8">
            <a:extLst>
              <a:ext uri="{FF2B5EF4-FFF2-40B4-BE49-F238E27FC236}">
                <a16:creationId xmlns:a16="http://schemas.microsoft.com/office/drawing/2014/main" id="{74A37687-FBD1-56C4-6BA0-74DC24DBC09C}"/>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可画风暴黑-简" panose="020B0500000000000000" charset="-122"/>
              </a:rPr>
              <a:t>交叉熵损失的计算</a:t>
            </a:r>
            <a:endParaRPr lang="zh-CN" altLang="en-US" dirty="0"/>
          </a:p>
        </p:txBody>
      </p:sp>
      <p:sp>
        <p:nvSpPr>
          <p:cNvPr id="3" name="内容占位符 2"/>
          <p:cNvSpPr>
            <a:spLocks noGrp="1"/>
          </p:cNvSpPr>
          <p:nvPr>
            <p:ph idx="1"/>
          </p:nvPr>
        </p:nvSpPr>
        <p:spPr>
          <a:xfrm>
            <a:off x="724535" y="2524804"/>
            <a:ext cx="11467465" cy="3144155"/>
          </a:xfrm>
        </p:spPr>
        <p:txBody>
          <a:bodyPr>
            <a:noAutofit/>
          </a:bodyPr>
          <a:lstStyle/>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真实标签 (y)：[y₁=1, y₂=0, y₃=0] (真实用户是张三，独热向量)</a:t>
            </a:r>
          </a:p>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模型预测 (ŷ):​​ [ŷ₁=0.85, ŷ₂=0.10, ŷ₃=0.05] (模型很有信心是张三)</a:t>
            </a:r>
          </a:p>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计算损失 (L):​​</a:t>
            </a:r>
          </a:p>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L = - [ (y₁ * log(ŷ₁)) + (y₂ * log(ŷ₂)) + (y₃ * log(ŷ₃)) ]</a:t>
            </a:r>
          </a:p>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  = - [ (1 * log(0.85))  + (0 * log(0.10))  + (0 * log(0.05))  ]</a:t>
            </a:r>
          </a:p>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  = - [ log(0.85) + 0 + 0 ]</a:t>
            </a:r>
          </a:p>
          <a:p>
            <a:pPr marL="0" indent="0" algn="l">
              <a:lnSpc>
                <a:spcPct val="150000"/>
              </a:lnSpc>
              <a:spcBef>
                <a:spcPct val="0"/>
              </a:spcBef>
              <a:spcAft>
                <a:spcPts val="0"/>
              </a:spcAft>
              <a:buNone/>
            </a:pPr>
            <a:r>
              <a:rPr lang="zh-CN" altLang="en-US" sz="2000" dirty="0">
                <a:solidFill>
                  <a:schemeClr val="tx1"/>
                </a:solidFill>
                <a:sym typeface="字由文艺黑" panose="00020600040101010101" charset="-122"/>
              </a:rPr>
              <a:t>  = - log(0.85)</a:t>
            </a:r>
            <a:endParaRPr lang="zh-CN" altLang="en-US" sz="2000" dirty="0">
              <a:solidFill>
                <a:schemeClr val="tx1"/>
              </a:solidFill>
            </a:endParaRPr>
          </a:p>
        </p:txBody>
      </p:sp>
      <p:sp>
        <p:nvSpPr>
          <p:cNvPr id="9" name="文本框 8"/>
          <p:cNvSpPr txBox="1"/>
          <p:nvPr/>
        </p:nvSpPr>
        <p:spPr>
          <a:xfrm>
            <a:off x="724535" y="5773295"/>
            <a:ext cx="8078470" cy="707886"/>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cs typeface="宋体" panose="02010600030101010101" pitchFamily="2" charset="-122"/>
              </a:rPr>
              <a:t>计算 log(0.85) ≈ -0.1625​​ (注意：log(小于1的数) 结果是负数)</a:t>
            </a:r>
          </a:p>
          <a:p>
            <a:r>
              <a:rPr lang="zh-CN" altLang="en-US" sz="2000" dirty="0">
                <a:latin typeface="宋体" panose="02010600030101010101" pitchFamily="2" charset="-122"/>
                <a:ea typeface="宋体" panose="02010600030101010101" pitchFamily="2" charset="-122"/>
                <a:cs typeface="宋体" panose="02010600030101010101" pitchFamily="2" charset="-122"/>
              </a:rPr>
              <a:t>​​所以 L ≈ - (-0.1625) = 0.1625</a:t>
            </a:r>
          </a:p>
        </p:txBody>
      </p:sp>
      <p:sp>
        <p:nvSpPr>
          <p:cNvPr id="4" name="同侧圆角矩形 29">
            <a:extLst>
              <a:ext uri="{FF2B5EF4-FFF2-40B4-BE49-F238E27FC236}">
                <a16:creationId xmlns:a16="http://schemas.microsoft.com/office/drawing/2014/main" id="{B40BB7B8-A68D-515A-FBAB-031FB0E51463}"/>
              </a:ext>
            </a:extLst>
          </p:cNvPr>
          <p:cNvSpPr/>
          <p:nvPr/>
        </p:nvSpPr>
        <p:spPr>
          <a:xfrm>
            <a:off x="4530724" y="-1"/>
            <a:ext cx="7661275" cy="1020543"/>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不要求掌握</a:t>
            </a:r>
            <a:endParaRPr kumimoji="0" lang="zh-CN" altLang="en-US" sz="2400"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C2C3AC7-5E94-2BFA-3E33-DAD52D187714}"/>
                  </a:ext>
                </a:extLst>
              </p:cNvPr>
              <p:cNvSpPr txBox="1"/>
              <p:nvPr/>
            </p:nvSpPr>
            <p:spPr>
              <a:xfrm>
                <a:off x="2901571" y="1228797"/>
                <a:ext cx="6098458" cy="12873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𝐿</m:t>
                      </m:r>
                      <m:d>
                        <m:dPr>
                          <m:sepChr m:val=","/>
                          <m:ctrlPr>
                            <a:rPr lang="zh-CN" altLang="en-US" sz="3200" i="1">
                              <a:latin typeface="Cambria Math" panose="02040503050406030204" pitchFamily="18" charset="0"/>
                            </a:rPr>
                          </m:ctrlPr>
                        </m:dPr>
                        <m:e>
                          <m:r>
                            <a:rPr lang="zh-CN" altLang="en-US" sz="3200" i="1">
                              <a:latin typeface="Cambria Math" panose="02040503050406030204" pitchFamily="18" charset="0"/>
                            </a:rPr>
                            <m:t>𝑦</m:t>
                          </m:r>
                        </m:e>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𝑦</m:t>
                              </m:r>
                            </m:e>
                          </m:acc>
                        </m:e>
                      </m:d>
                      <m:r>
                        <a:rPr lang="zh-CN" altLang="en-US" sz="3200" i="0">
                          <a:latin typeface="Cambria Math" panose="02040503050406030204" pitchFamily="18" charset="0"/>
                        </a:rPr>
                        <m:t>=−</m:t>
                      </m:r>
                      <m:nary>
                        <m:naryPr>
                          <m:chr m:val="∑"/>
                          <m:limLoc m:val="undOvr"/>
                          <m:supHide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sub>
                        <m:sup/>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𝑖</m:t>
                              </m:r>
                            </m:sub>
                          </m:sSub>
                          <m:func>
                            <m:funcPr>
                              <m:ctrlPr>
                                <a:rPr lang="zh-CN" altLang="en-US" sz="3200" i="1">
                                  <a:latin typeface="Cambria Math" panose="02040503050406030204" pitchFamily="18" charset="0"/>
                                </a:rPr>
                              </m:ctrlPr>
                            </m:funcPr>
                            <m:fName>
                              <m:r>
                                <a:rPr lang="zh-CN" altLang="en-US" sz="3200" i="1">
                                  <a:latin typeface="Cambria Math" panose="02040503050406030204" pitchFamily="18" charset="0"/>
                                </a:rPr>
                                <m:t>𝑙𝑜𝑔</m:t>
                              </m:r>
                            </m:fName>
                            <m:e>
                              <m:acc>
                                <m:accPr>
                                  <m:chr m:val="̂"/>
                                  <m:ctrlPr>
                                    <a:rPr lang="zh-CN" altLang="en-US" sz="3200" i="1">
                                      <a:solidFill>
                                        <a:srgbClr val="836967"/>
                                      </a:solidFill>
                                      <a:latin typeface="Cambria Math" panose="02040503050406030204" pitchFamily="18" charset="0"/>
                                    </a:rPr>
                                  </m:ctrlPr>
                                </m:acc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𝑖</m:t>
                                      </m:r>
                                    </m:sub>
                                  </m:sSub>
                                </m:e>
                              </m:acc>
                            </m:e>
                          </m:func>
                        </m:e>
                      </m:nary>
                    </m:oMath>
                  </m:oMathPara>
                </a14:m>
                <a:endParaRPr lang="zh-CN" altLang="en-US" sz="3200" dirty="0"/>
              </a:p>
            </p:txBody>
          </p:sp>
        </mc:Choice>
        <mc:Fallback xmlns="">
          <p:sp>
            <p:nvSpPr>
              <p:cNvPr id="8" name="文本框 7">
                <a:extLst>
                  <a:ext uri="{FF2B5EF4-FFF2-40B4-BE49-F238E27FC236}">
                    <a16:creationId xmlns:a16="http://schemas.microsoft.com/office/drawing/2014/main" id="{8C2C3AC7-5E94-2BFA-3E33-DAD52D187714}"/>
                  </a:ext>
                </a:extLst>
              </p:cNvPr>
              <p:cNvSpPr txBox="1">
                <a:spLocks noRot="1" noChangeAspect="1" noMove="1" noResize="1" noEditPoints="1" noAdjustHandles="1" noChangeArrowheads="1" noChangeShapeType="1" noTextEdit="1"/>
              </p:cNvSpPr>
              <p:nvPr/>
            </p:nvSpPr>
            <p:spPr>
              <a:xfrm>
                <a:off x="2901571" y="1228797"/>
                <a:ext cx="6098458" cy="1287340"/>
              </a:xfrm>
              <a:prstGeom prst="rect">
                <a:avLst/>
              </a:prstGeom>
              <a:blipFill>
                <a:blip r:embed="rId2"/>
                <a:stretch>
                  <a:fillRect t="-132039" b="-183495"/>
                </a:stretch>
              </a:blipFill>
            </p:spPr>
            <p:txBody>
              <a:bodyPr/>
              <a:lstStyle/>
              <a:p>
                <a:r>
                  <a:rPr lang="zh-CN" altLang="en-US">
                    <a:noFill/>
                  </a:rPr>
                  <a:t> </a:t>
                </a:r>
              </a:p>
            </p:txBody>
          </p:sp>
        </mc:Fallback>
      </mc:AlternateContent>
      <p:sp>
        <p:nvSpPr>
          <p:cNvPr id="6" name="灯片编号占位符 4">
            <a:extLst>
              <a:ext uri="{FF2B5EF4-FFF2-40B4-BE49-F238E27FC236}">
                <a16:creationId xmlns:a16="http://schemas.microsoft.com/office/drawing/2014/main" id="{EB9DC34D-6188-6F37-61A9-CC44141775E9}"/>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29</a:t>
            </a:fld>
            <a:endParaRPr lang="zh-CN" altLang="en-US" dirty="0"/>
          </a:p>
        </p:txBody>
      </p:sp>
      <p:sp>
        <p:nvSpPr>
          <p:cNvPr id="7" name="文本框 6">
            <a:extLst>
              <a:ext uri="{FF2B5EF4-FFF2-40B4-BE49-F238E27FC236}">
                <a16:creationId xmlns:a16="http://schemas.microsoft.com/office/drawing/2014/main" id="{BC49FB56-84A7-AC0D-FADC-C447BFA50B21}"/>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gn="ctr">
              <a:buNone/>
            </a:pPr>
            <a:endParaRPr lang="zh-CN" altLang="en-US" sz="6000" b="1" dirty="0">
              <a:solidFill>
                <a:schemeClr val="tx1"/>
              </a:solidFill>
            </a:endParaRPr>
          </a:p>
          <a:p>
            <a:pPr marL="0" indent="0" algn="ctr">
              <a:buNone/>
            </a:pPr>
            <a:r>
              <a:rPr lang="zh-CN" altLang="en-US" sz="6000" b="1" dirty="0">
                <a:solidFill>
                  <a:schemeClr val="tx1"/>
                </a:solidFill>
                <a:latin typeface="黑体" panose="02010609060101010101" pitchFamily="49" charset="-122"/>
                <a:ea typeface="黑体" panose="02010609060101010101" pitchFamily="49" charset="-122"/>
              </a:rPr>
              <a:t>优化算法</a:t>
            </a:r>
          </a:p>
        </p:txBody>
      </p:sp>
      <p:sp>
        <p:nvSpPr>
          <p:cNvPr id="7" name="标题 1">
            <a:extLst>
              <a:ext uri="{FF2B5EF4-FFF2-40B4-BE49-F238E27FC236}">
                <a16:creationId xmlns:a16="http://schemas.microsoft.com/office/drawing/2014/main" id="{7B29AAB0-D894-225B-A937-6D6201204A55}"/>
              </a:ext>
            </a:extLst>
          </p:cNvPr>
          <p:cNvSpPr>
            <a:spLocks noGrp="1"/>
          </p:cNvSpPr>
          <p:nvPr>
            <p:ph type="title"/>
          </p:nvPr>
        </p:nvSpPr>
        <p:spPr>
          <a:xfrm>
            <a:off x="252730" y="229235"/>
            <a:ext cx="4277995" cy="705485"/>
          </a:xfrm>
        </p:spPr>
        <p:txBody>
          <a:bodyPr/>
          <a:lstStyle/>
          <a:p>
            <a:r>
              <a:rPr lang="zh-CN" altLang="en-US" dirty="0"/>
              <a:t>机器学习三要素之：</a:t>
            </a:r>
          </a:p>
        </p:txBody>
      </p:sp>
      <p:sp>
        <p:nvSpPr>
          <p:cNvPr id="2" name="灯片编号占位符 4">
            <a:extLst>
              <a:ext uri="{FF2B5EF4-FFF2-40B4-BE49-F238E27FC236}">
                <a16:creationId xmlns:a16="http://schemas.microsoft.com/office/drawing/2014/main" id="{DF5E5663-D357-468C-D906-20D7E8E02A1B}"/>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30</a:t>
            </a:fld>
            <a:endParaRPr lang="zh-CN" altLang="en-US" dirty="0"/>
          </a:p>
        </p:txBody>
      </p:sp>
      <p:sp>
        <p:nvSpPr>
          <p:cNvPr id="4" name="文本框 3">
            <a:extLst>
              <a:ext uri="{FF2B5EF4-FFF2-40B4-BE49-F238E27FC236}">
                <a16:creationId xmlns:a16="http://schemas.microsoft.com/office/drawing/2014/main" id="{9A503C44-C24E-E6B4-F512-83D37F0154B4}"/>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59EB-6E26-8A15-5A70-69A96610706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539EB75-C06E-E785-EAAD-68D4B63F3926}"/>
              </a:ext>
            </a:extLst>
          </p:cNvPr>
          <p:cNvSpPr txBox="1"/>
          <p:nvPr/>
        </p:nvSpPr>
        <p:spPr>
          <a:xfrm>
            <a:off x="6346413" y="644127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
        <p:nvSpPr>
          <p:cNvPr id="6" name="标题 1">
            <a:extLst>
              <a:ext uri="{FF2B5EF4-FFF2-40B4-BE49-F238E27FC236}">
                <a16:creationId xmlns:a16="http://schemas.microsoft.com/office/drawing/2014/main" id="{D954D1C3-86CB-F566-6959-810EA935B315}"/>
              </a:ext>
            </a:extLst>
          </p:cNvPr>
          <p:cNvSpPr>
            <a:spLocks noGrp="1"/>
          </p:cNvSpPr>
          <p:nvPr>
            <p:ph type="title"/>
          </p:nvPr>
        </p:nvSpPr>
        <p:spPr>
          <a:xfrm>
            <a:off x="0" y="228600"/>
            <a:ext cx="4695290" cy="706438"/>
          </a:xfrm>
        </p:spPr>
        <p:txBody>
          <a:bodyPr>
            <a:noAutofit/>
          </a:bodyPr>
          <a:lstStyle/>
          <a:p>
            <a:pPr algn="ctr"/>
            <a:r>
              <a:rPr lang="zh-CN" altLang="en-US" sz="2600" b="1" dirty="0">
                <a:sym typeface="可画风暴黑-简" panose="020B0500000000000000" charset="-122"/>
              </a:rPr>
              <a:t>模型训练：以神经网络为例</a:t>
            </a:r>
            <a:endParaRPr lang="zh-CN" altLang="en-US" sz="2600" dirty="0"/>
          </a:p>
        </p:txBody>
      </p:sp>
      <p:sp>
        <p:nvSpPr>
          <p:cNvPr id="4" name="流程图: 过程 59">
            <a:extLst>
              <a:ext uri="{FF2B5EF4-FFF2-40B4-BE49-F238E27FC236}">
                <a16:creationId xmlns:a16="http://schemas.microsoft.com/office/drawing/2014/main" id="{A6034CBD-6539-554A-F216-EE7C79C5452D}"/>
              </a:ext>
            </a:extLst>
          </p:cNvPr>
          <p:cNvSpPr/>
          <p:nvPr/>
        </p:nvSpPr>
        <p:spPr>
          <a:xfrm>
            <a:off x="228081" y="993332"/>
            <a:ext cx="4317948"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just" defTabSz="914400" rtl="0" eaLnBrk="1" fontAlgn="base" latinLnBrk="0" hangingPunct="1">
              <a:lnSpc>
                <a:spcPct val="13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FF"/>
                </a:solidFill>
                <a:effectLst/>
                <a:uLnTx/>
                <a:uFillTx/>
                <a:latin typeface="SimHei" panose="02010609060101010101" pitchFamily="49" charset="-122"/>
                <a:ea typeface="SimHei" panose="02010609060101010101" pitchFamily="49" charset="-122"/>
                <a:cs typeface="+mn-cs"/>
                <a:sym typeface="宋体" panose="02010600030101010101" pitchFamily="2" charset="-122"/>
              </a:rPr>
              <a:t>机器学习模型如何训练？</a:t>
            </a:r>
          </a:p>
        </p:txBody>
      </p:sp>
      <p:sp>
        <p:nvSpPr>
          <p:cNvPr id="17" name="矩形 16">
            <a:extLst>
              <a:ext uri="{FF2B5EF4-FFF2-40B4-BE49-F238E27FC236}">
                <a16:creationId xmlns:a16="http://schemas.microsoft.com/office/drawing/2014/main" id="{F02721F2-201E-2703-4ECC-5E8B2F50DB50}"/>
              </a:ext>
            </a:extLst>
          </p:cNvPr>
          <p:cNvSpPr/>
          <p:nvPr/>
        </p:nvSpPr>
        <p:spPr>
          <a:xfrm>
            <a:off x="381860" y="2536629"/>
            <a:ext cx="2225397" cy="2122961"/>
          </a:xfrm>
          <a:prstGeom prst="rect">
            <a:avLst/>
          </a:prstGeom>
          <a:solidFill>
            <a:srgbClr val="FFFF00">
              <a:alpha val="20000"/>
            </a:srgbClr>
          </a:solidFill>
          <a:ln w="25400" cap="flat" cmpd="sng" algn="ctr">
            <a:noFill/>
            <a:prstDash val="solid"/>
          </a:ln>
          <a:effectLst/>
        </p:spPr>
        <p:txBody>
          <a:bodyPr tIns="0" bIns="432000" rtlCol="0" anchor="ctr" anchorCtr="0"/>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模型</a:t>
            </a:r>
            <a:endParaRPr kumimoji="1" lang="en-US" altLang="zh-CN" sz="24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black"/>
                </a:solidFill>
                <a:effectLst/>
                <a:uLnTx/>
                <a:uFillTx/>
                <a:latin typeface="Microsoft YaHei" panose="020B0503020204020204" pitchFamily="34" charset="-122"/>
                <a:ea typeface="宋体" panose="02010600030101010101" pitchFamily="2" charset="-122"/>
                <a:cs typeface="+mn-cs"/>
              </a:rPr>
              <a:t>以神经网络为例，怎样进行模型训练？</a:t>
            </a:r>
          </a:p>
        </p:txBody>
      </p:sp>
      <p:pic>
        <p:nvPicPr>
          <p:cNvPr id="18" name="图片 17">
            <a:extLst>
              <a:ext uri="{FF2B5EF4-FFF2-40B4-BE49-F238E27FC236}">
                <a16:creationId xmlns:a16="http://schemas.microsoft.com/office/drawing/2014/main" id="{CB4A5B12-D7BE-6649-3093-154ADB18E1E4}"/>
              </a:ext>
            </a:extLst>
          </p:cNvPr>
          <p:cNvPicPr>
            <a:picLocks noChangeAspect="1"/>
          </p:cNvPicPr>
          <p:nvPr/>
        </p:nvPicPr>
        <p:blipFill>
          <a:blip r:embed="rId2"/>
          <a:stretch>
            <a:fillRect/>
          </a:stretch>
        </p:blipFill>
        <p:spPr>
          <a:xfrm>
            <a:off x="2930990" y="1076458"/>
            <a:ext cx="4523325" cy="3484475"/>
          </a:xfrm>
          <a:prstGeom prst="rect">
            <a:avLst/>
          </a:prstGeom>
        </p:spPr>
      </p:pic>
      <p:pic>
        <p:nvPicPr>
          <p:cNvPr id="19" name="图片 18">
            <a:extLst>
              <a:ext uri="{FF2B5EF4-FFF2-40B4-BE49-F238E27FC236}">
                <a16:creationId xmlns:a16="http://schemas.microsoft.com/office/drawing/2014/main" id="{F3CFA673-4724-D1F1-3243-B5A294D47493}"/>
              </a:ext>
            </a:extLst>
          </p:cNvPr>
          <p:cNvPicPr>
            <a:picLocks noChangeAspect="1"/>
          </p:cNvPicPr>
          <p:nvPr/>
        </p:nvPicPr>
        <p:blipFill>
          <a:blip r:embed="rId3"/>
          <a:stretch>
            <a:fillRect/>
          </a:stretch>
        </p:blipFill>
        <p:spPr>
          <a:xfrm>
            <a:off x="7964975" y="1989285"/>
            <a:ext cx="455852" cy="2040481"/>
          </a:xfrm>
          <a:prstGeom prst="rect">
            <a:avLst/>
          </a:prstGeom>
        </p:spPr>
      </p:pic>
      <p:sp>
        <p:nvSpPr>
          <p:cNvPr id="20" name="流程图: 过程 59">
            <a:extLst>
              <a:ext uri="{FF2B5EF4-FFF2-40B4-BE49-F238E27FC236}">
                <a16:creationId xmlns:a16="http://schemas.microsoft.com/office/drawing/2014/main" id="{0522783E-C8C5-7E96-A138-47E200704C70}"/>
              </a:ext>
            </a:extLst>
          </p:cNvPr>
          <p:cNvSpPr/>
          <p:nvPr/>
        </p:nvSpPr>
        <p:spPr>
          <a:xfrm>
            <a:off x="6584048" y="3848588"/>
            <a:ext cx="1031446"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just" defTabSz="914400" rtl="0" eaLnBrk="1" fontAlgn="base" latinLnBrk="0" hangingPunct="1">
              <a:lnSpc>
                <a:spcPct val="13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rPr>
              <a:t>预测值</a:t>
            </a:r>
          </a:p>
        </p:txBody>
      </p:sp>
      <p:sp>
        <p:nvSpPr>
          <p:cNvPr id="21" name="流程图: 过程 59">
            <a:extLst>
              <a:ext uri="{FF2B5EF4-FFF2-40B4-BE49-F238E27FC236}">
                <a16:creationId xmlns:a16="http://schemas.microsoft.com/office/drawing/2014/main" id="{A2616AC0-88C5-8DCD-BAA5-253482D48B8E}"/>
              </a:ext>
            </a:extLst>
          </p:cNvPr>
          <p:cNvSpPr/>
          <p:nvPr/>
        </p:nvSpPr>
        <p:spPr>
          <a:xfrm>
            <a:off x="7487847" y="3962996"/>
            <a:ext cx="1620536"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ctr" defTabSz="914400" rtl="0" eaLnBrk="1" fontAlgn="base" latinLnBrk="0" hangingPunct="1">
              <a:lnSpc>
                <a:spcPct val="13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rPr>
              <a:t>真实值</a:t>
            </a:r>
            <a:endPar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endParaRPr>
          </a:p>
          <a:p>
            <a:pPr marL="0" marR="0" lvl="0" indent="0" algn="ctr" defTabSz="914400" rtl="0" eaLnBrk="1" fontAlgn="base" latinLnBrk="0" hangingPunct="1">
              <a:lnSpc>
                <a:spcPct val="13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a:cs typeface="+mn-cs"/>
                <a:sym typeface="宋体" panose="02010600030101010101" pitchFamily="2" charset="-122"/>
              </a:rPr>
              <a:t>（亦称</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a:cs typeface="+mn-cs"/>
                <a:sym typeface="宋体" panose="02010600030101010101" pitchFamily="2" charset="-122"/>
              </a:rPr>
              <a:t>监督信息</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a:cs typeface="+mn-cs"/>
                <a:sym typeface="宋体" panose="02010600030101010101" pitchFamily="2" charset="-122"/>
              </a:rPr>
              <a:t>）</a:t>
            </a:r>
          </a:p>
        </p:txBody>
      </p:sp>
      <p:sp>
        <p:nvSpPr>
          <p:cNvPr id="22" name="上下箭头 21">
            <a:extLst>
              <a:ext uri="{FF2B5EF4-FFF2-40B4-BE49-F238E27FC236}">
                <a16:creationId xmlns:a16="http://schemas.microsoft.com/office/drawing/2014/main" id="{055FCA98-B57A-1B97-FDAD-5EF8D436B869}"/>
              </a:ext>
            </a:extLst>
          </p:cNvPr>
          <p:cNvSpPr/>
          <p:nvPr/>
        </p:nvSpPr>
        <p:spPr>
          <a:xfrm rot="16200000">
            <a:off x="7465760" y="2871641"/>
            <a:ext cx="300941" cy="632984"/>
          </a:xfrm>
          <a:prstGeom prst="upDown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3" name="矩形 22">
            <a:extLst>
              <a:ext uri="{FF2B5EF4-FFF2-40B4-BE49-F238E27FC236}">
                <a16:creationId xmlns:a16="http://schemas.microsoft.com/office/drawing/2014/main" id="{10E8A74B-EA6B-7B78-D440-029A6A07C13D}"/>
              </a:ext>
            </a:extLst>
          </p:cNvPr>
          <p:cNvSpPr/>
          <p:nvPr/>
        </p:nvSpPr>
        <p:spPr>
          <a:xfrm>
            <a:off x="9180011" y="1498061"/>
            <a:ext cx="2752053" cy="3161529"/>
          </a:xfrm>
          <a:prstGeom prst="rect">
            <a:avLst/>
          </a:prstGeom>
          <a:solidFill>
            <a:srgbClr val="4F81BD">
              <a:alpha val="20000"/>
            </a:srgbClr>
          </a:solidFill>
          <a:ln w="25400" cap="flat" cmpd="sng" algn="ctr">
            <a:noFill/>
            <a:prstDash val="solid"/>
          </a:ln>
          <a:effectLst/>
        </p:spPr>
        <p:txBody>
          <a:bodyPr tIns="180000" rtlCol="0" anchor="t" anchorCtr="0"/>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black"/>
                </a:solidFill>
                <a:effectLst/>
                <a:uLnTx/>
                <a:uFillTx/>
                <a:latin typeface="Microsoft YaHei" panose="020B0503020204020204" pitchFamily="34" charset="-122"/>
                <a:ea typeface="宋体" panose="02010600030101010101" pitchFamily="2" charset="-122"/>
                <a:cs typeface="+mn-cs"/>
              </a:rPr>
              <a:t>模型训练的目标：</a:t>
            </a:r>
            <a:endParaRPr kumimoji="1" lang="en-US" altLang="zh-CN" sz="1800" b="1" i="0" u="none" strike="noStrike" kern="0" cap="none" spc="0" normalizeH="0" baseline="0" noProof="0" dirty="0">
              <a:ln>
                <a:noFill/>
              </a:ln>
              <a:solidFill>
                <a:prstClr val="black"/>
              </a:solidFill>
              <a:effectLst/>
              <a:uLnTx/>
              <a:uFillTx/>
              <a:latin typeface="Microsoft YaHei" panose="020B0503020204020204" pitchFamily="34" charset="-122"/>
              <a:ea typeface="宋体" panose="0201060003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Wingdings" pitchFamily="2" charset="2"/>
              <a:buChar char="ü"/>
              <a:tabLst/>
              <a:defRPr/>
            </a:pPr>
            <a:r>
              <a:rPr kumimoji="1" lang="zh-CN" altLang="en-US" sz="1800" b="1" i="0" u="none" strike="noStrike" kern="0" cap="none" spc="0" normalizeH="0" baseline="0" noProof="0" dirty="0">
                <a:ln>
                  <a:noFill/>
                </a:ln>
                <a:solidFill>
                  <a:srgbClr val="C00000"/>
                </a:solidFill>
                <a:effectLst/>
                <a:uLnTx/>
                <a:uFillTx/>
                <a:latin typeface="Microsoft YaHei" panose="020B0503020204020204" pitchFamily="34" charset="-122"/>
                <a:ea typeface="宋体" panose="02010600030101010101" pitchFamily="2" charset="-122"/>
                <a:cs typeface="+mn-cs"/>
              </a:rPr>
              <a:t>通过学习，不断让预测值趋近真实值</a:t>
            </a:r>
            <a:endParaRPr kumimoji="1" lang="en-US" altLang="zh-CN" sz="1800" b="1" i="0" u="none" strike="noStrike" kern="0" cap="none" spc="0" normalizeH="0" baseline="0" noProof="0" dirty="0">
              <a:ln>
                <a:noFill/>
              </a:ln>
              <a:solidFill>
                <a:srgbClr val="C00000"/>
              </a:solidFill>
              <a:effectLst/>
              <a:uLnTx/>
              <a:uFillTx/>
              <a:latin typeface="Microsoft YaHei" panose="020B0503020204020204" pitchFamily="34" charset="-122"/>
              <a:ea typeface="宋体" panose="02010600030101010101" pitchFamily="2"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1" lang="en-US" altLang="zh-CN" sz="18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How?</a:t>
            </a:r>
          </a:p>
          <a:p>
            <a:pPr marL="285750" marR="0" lvl="0" indent="-28575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1" lang="zh-CN" altLang="en-US" sz="1800" b="1" i="0" u="none" strike="noStrike" kern="0" cap="none" spc="0" normalizeH="0" baseline="0" noProof="0" dirty="0">
                <a:ln>
                  <a:noFill/>
                </a:ln>
                <a:solidFill>
                  <a:srgbClr val="0000FF"/>
                </a:solidFill>
                <a:effectLst/>
                <a:uLnTx/>
                <a:uFillTx/>
                <a:latin typeface="Microsoft YaHei" panose="020B0503020204020204" pitchFamily="34" charset="-122"/>
                <a:ea typeface="宋体" panose="02010600030101010101" pitchFamily="2" charset="-122"/>
                <a:cs typeface="+mn-cs"/>
              </a:rPr>
              <a:t>定义一个损失函数，度量 </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与 </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差异</a:t>
            </a:r>
            <a:endPar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50000"/>
              </a:lnSpc>
              <a:spcBef>
                <a:spcPts val="0"/>
              </a:spcBef>
              <a:spcAft>
                <a:spcPts val="0"/>
              </a:spcAft>
              <a:buClrTx/>
              <a:buSzTx/>
              <a:buFont typeface="Wingdings" pitchFamily="2" charset="2"/>
              <a:buChar char="Ø"/>
              <a:tabLst/>
              <a:defRPr/>
            </a:pP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不断降低损失函数值</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流程图: 过程 59">
                <a:extLst>
                  <a:ext uri="{FF2B5EF4-FFF2-40B4-BE49-F238E27FC236}">
                    <a16:creationId xmlns:a16="http://schemas.microsoft.com/office/drawing/2014/main" id="{6AF053E7-14B5-6B76-689D-FB79FCD4F413}"/>
                  </a:ext>
                </a:extLst>
              </p:cNvPr>
              <p:cNvSpPr/>
              <p:nvPr/>
            </p:nvSpPr>
            <p:spPr>
              <a:xfrm>
                <a:off x="449811" y="5115256"/>
                <a:ext cx="11482253" cy="1538919"/>
              </a:xfrm>
              <a:prstGeom prst="flowChartProcess">
                <a:avLst/>
              </a:prstGeom>
              <a:noFill/>
              <a:ln w="15875" cap="flat" cmpd="sng" algn="ctr">
                <a:solidFill>
                  <a:srgbClr val="C00000"/>
                </a:solid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457200" marR="0" lvl="0" indent="-457200" algn="just" defTabSz="914400" rtl="0" eaLnBrk="1" fontAlgn="base" latinLnBrk="0" hangingPunct="1">
                  <a:lnSpc>
                    <a:spcPct val="130000"/>
                  </a:lnSpc>
                  <a:spcBef>
                    <a:spcPct val="0"/>
                  </a:spcBef>
                  <a:spcAft>
                    <a:spcPct val="0"/>
                  </a:spcAft>
                  <a:buClrTx/>
                  <a:buSzTx/>
                  <a:buFont typeface="+mj-lt"/>
                  <a:buAutoNum type="arabicPeriod"/>
                  <a:tabLst/>
                  <a:defRPr/>
                </a:pPr>
                <a:r>
                  <a:rPr kumimoji="0" lang="zh-CN" altLang="en-US" sz="2000" b="1" i="0" u="none" strike="noStrike" kern="1200" cap="none" spc="0" normalizeH="0" baseline="0" noProof="0" dirty="0">
                    <a:ln>
                      <a:noFill/>
                    </a:ln>
                    <a:solidFill>
                      <a:srgbClr val="0000FF"/>
                    </a:solidFill>
                    <a:effectLst/>
                    <a:uLnTx/>
                    <a:uFillTx/>
                    <a:latin typeface="SimHei" panose="02010609060101010101" pitchFamily="49" charset="-122"/>
                    <a:ea typeface="SimHei" panose="02010609060101010101" pitchFamily="49" charset="-122"/>
                    <a:cs typeface="+mn-cs"/>
                    <a:sym typeface="宋体" panose="02010600030101010101" pitchFamily="2" charset="-122"/>
                  </a:rPr>
                  <a:t>前馈计算</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a:t>
                </a:r>
                <a:r>
                  <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Feed-forward</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 </a:t>
                </a:r>
                <a:r>
                  <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computation</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a:t>
                </a:r>
                <a:r>
                  <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计算预测值：</a:t>
                </a:r>
                <a14:m>
                  <m:oMath xmlns:m="http://schemas.openxmlformats.org/officeDocument/2006/math">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𝒚</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𝒇</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𝜽</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r>
                      <a:rPr kumimoji="1" lang="en-US" altLang="zh-CN"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𝒙</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m:t>
                    </m:r>
                  </m:oMath>
                </a14:m>
                <a:endPar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endParaRPr>
              </a:p>
              <a:p>
                <a:pPr marL="457200" marR="0" lvl="0" indent="-457200" algn="just" defTabSz="914400" rtl="0" eaLnBrk="1" fontAlgn="base" latinLnBrk="0" hangingPunct="1">
                  <a:lnSpc>
                    <a:spcPct val="130000"/>
                  </a:lnSpc>
                  <a:spcBef>
                    <a:spcPct val="0"/>
                  </a:spcBef>
                  <a:spcAft>
                    <a:spcPct val="0"/>
                  </a:spcAft>
                  <a:buClrTx/>
                  <a:buSzTx/>
                  <a:buFont typeface="+mj-lt"/>
                  <a:buAutoNum type="arabicPeriod"/>
                  <a:tabLst/>
                  <a:defRPr/>
                </a:pPr>
                <a:r>
                  <a:rPr kumimoji="0" lang="zh-CN" altLang="en-US" sz="2000" b="1" i="0" u="none" strike="noStrike" kern="1200" cap="none" spc="0" normalizeH="0" baseline="0" noProof="0" dirty="0">
                    <a:ln>
                      <a:noFill/>
                    </a:ln>
                    <a:solidFill>
                      <a:srgbClr val="0000FF"/>
                    </a:solidFill>
                    <a:effectLst/>
                    <a:uLnTx/>
                    <a:uFillTx/>
                    <a:latin typeface="SimHei" panose="02010609060101010101" pitchFamily="49" charset="-122"/>
                    <a:ea typeface="SimHei" panose="02010609060101010101" pitchFamily="49" charset="-122"/>
                    <a:cs typeface="+mn-cs"/>
                    <a:sym typeface="宋体" panose="02010600030101010101" pitchFamily="2" charset="-122"/>
                  </a:rPr>
                  <a:t>反向传播</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a:t>
                </a:r>
                <a:r>
                  <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Back-propagation</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a:t>
                </a:r>
                <a:r>
                  <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a:t>
                </a:r>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优化模型参数：</a:t>
                </a:r>
                <a:r>
                  <a:rPr kumimoji="1" lang="en-US" altLang="zh-CN" sz="2000" b="1" i="0" u="none" strike="noStrike" kern="1200" cap="none" spc="0" normalizeH="0" baseline="0" noProof="0" dirty="0">
                    <a:ln>
                      <a:noFill/>
                    </a:ln>
                    <a:solidFill>
                      <a:srgbClr val="C00000"/>
                    </a:solidFill>
                    <a:effectLst/>
                    <a:uLnTx/>
                    <a:uFillTx/>
                    <a:latin typeface="SimHei" panose="02010609060101010101" pitchFamily="49" charset="-122"/>
                    <a:ea typeface="SimHei" panose="02010609060101010101" pitchFamily="49" charset="-122"/>
                    <a:cs typeface="+mn-cs"/>
                    <a:sym typeface="宋体" panose="02010600030101010101" pitchFamily="2" charset="-122"/>
                  </a:rPr>
                  <a:t> </a:t>
                </a:r>
                <a14:m>
                  <m:oMath xmlns:m="http://schemas.openxmlformats.org/officeDocument/2006/math">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𝒎𝒊𝒏𝒊𝒎𝒊𝒛𝒆</m:t>
                    </m:r>
                    <m:r>
                      <a:rPr kumimoji="1" lang="zh-CN" altLang="en-US"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 </m:t>
                    </m:r>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𝑳</m:t>
                    </m:r>
                    <m:d>
                      <m:dPr>
                        <m:ctrlP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ctrlPr>
                      </m:dPr>
                      <m:e>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𝒚</m:t>
                        </m:r>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m:t>
                        </m:r>
                        <m:sSup>
                          <m:sSupPr>
                            <m:ctrlP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ctrlPr>
                          </m:sSupPr>
                          <m:e>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𝒚</m:t>
                            </m:r>
                          </m:e>
                          <m:sup>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m:t>
                            </m:r>
                          </m:sup>
                        </m:sSup>
                      </m:e>
                    </m:d>
                  </m:oMath>
                </a14:m>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，即调整</a:t>
                </a:r>
                <a14:m>
                  <m:oMath xmlns:m="http://schemas.openxmlformats.org/officeDocument/2006/math">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𝜽</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oMath>
                </a14:m>
                <a:r>
                  <a:rPr kumimoji="0" lang="zh-CN" altLang="en-US"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rPr>
                  <a:t>以减小其差异：</a:t>
                </a:r>
                <a:endPar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endParaRPr>
              </a:p>
              <a:p>
                <a:pPr marL="0" marR="0" lvl="0" indent="0" algn="just" defTabSz="914400" rtl="0" eaLnBrk="1" fontAlgn="base" latinLnBrk="0" hangingPunct="1">
                  <a:lnSpc>
                    <a:spcPct val="13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b="1" i="1" u="none" strike="noStrike" kern="1200" cap="none" spc="0" normalizeH="0" baseline="0" noProof="0" smtClean="0">
                              <a:ln>
                                <a:noFill/>
                              </a:ln>
                              <a:solidFill>
                                <a:srgbClr val="C00000"/>
                              </a:solidFill>
                              <a:effectLst/>
                              <a:uLnTx/>
                              <a:uFillTx/>
                              <a:latin typeface="Cambria Math" panose="02040503050406030204" pitchFamily="18" charset="0"/>
                              <a:cs typeface="+mn-cs"/>
                              <a:sym typeface="宋体" panose="02010600030101010101" pitchFamily="2" charset="-122"/>
                            </a:rPr>
                          </m:ctrlPr>
                        </m:funcPr>
                        <m:fName>
                          <m:limLow>
                            <m:limLowPr>
                              <m:ctrlPr>
                                <a:rPr kumimoji="0" lang="en-US" altLang="zh-CN" sz="2000" b="1" i="1" u="none" strike="noStrike" kern="1200" cap="none" spc="0" normalizeH="0" baseline="0" noProof="0" smtClean="0">
                                  <a:ln>
                                    <a:noFill/>
                                  </a:ln>
                                  <a:solidFill>
                                    <a:srgbClr val="C00000"/>
                                  </a:solidFill>
                                  <a:effectLst/>
                                  <a:uLnTx/>
                                  <a:uFillTx/>
                                  <a:latin typeface="Cambria Math" panose="02040503050406030204" pitchFamily="18" charset="0"/>
                                  <a:cs typeface="+mn-cs"/>
                                  <a:sym typeface="宋体" panose="02010600030101010101" pitchFamily="2" charset="-122"/>
                                </a:rPr>
                              </m:ctrlPr>
                            </m:limLowPr>
                            <m:e>
                              <m:r>
                                <a:rPr kumimoji="0" lang="en-US" altLang="zh-CN" sz="2000" b="1" i="0" u="none" strike="noStrike" kern="1200" cap="none" spc="0" normalizeH="0" baseline="0" noProof="0" smtClean="0">
                                  <a:ln>
                                    <a:noFill/>
                                  </a:ln>
                                  <a:solidFill>
                                    <a:srgbClr val="C00000"/>
                                  </a:solidFill>
                                  <a:effectLst/>
                                  <a:uLnTx/>
                                  <a:uFillTx/>
                                  <a:latin typeface="Cambria Math" panose="02040503050406030204" pitchFamily="18" charset="0"/>
                                  <a:cs typeface="+mn-cs"/>
                                  <a:sym typeface="宋体" panose="02010600030101010101" pitchFamily="2" charset="-122"/>
                                </a:rPr>
                                <m:t>𝐦𝐢𝐧</m:t>
                              </m:r>
                            </m:e>
                            <m:lim>
                              <m:r>
                                <a:rPr kumimoji="0" lang="en-US" altLang="zh-CN" sz="20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sym typeface="宋体" panose="02010600030101010101" pitchFamily="2" charset="-122"/>
                                </a:rPr>
                                <m:t>𝜽</m:t>
                              </m:r>
                            </m:lim>
                          </m:limLow>
                        </m:fName>
                        <m:e>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𝑳</m:t>
                          </m:r>
                          <m:d>
                            <m:dPr>
                              <m:ctrlP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ctrlPr>
                            </m:dPr>
                            <m:e>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𝒇</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𝜽</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𝒙</m:t>
                              </m:r>
                              <m:r>
                                <a:rPr kumimoji="1" lang="en-US" altLang="zh-CN" sz="2000" b="1" i="1" u="none" strike="noStrike" kern="1200" cap="none" spc="0" normalizeH="0" baseline="0" noProof="0">
                                  <a:ln>
                                    <a:noFill/>
                                  </a:ln>
                                  <a:solidFill>
                                    <a:srgbClr val="C00000"/>
                                  </a:solidFill>
                                  <a:effectLst/>
                                  <a:uLnTx/>
                                  <a:uFillTx/>
                                  <a:latin typeface="Cambria Math" panose="02040503050406030204" pitchFamily="18" charset="0"/>
                                  <a:cs typeface="+mn-cs"/>
                                </a:rPr>
                                <m:t>),</m:t>
                              </m:r>
                              <m:sSup>
                                <m:sSupPr>
                                  <m:ctrlP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ctrlPr>
                                </m:sSupPr>
                                <m:e>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𝒚</m:t>
                                  </m:r>
                                </m:e>
                                <m:sup>
                                  <m:r>
                                    <a:rPr kumimoji="1" lang="en-US" altLang="zh-CN" sz="2000" b="1" i="1" u="none" strike="noStrike" kern="1200" cap="none" spc="0" normalizeH="0" baseline="0" noProof="0" dirty="0">
                                      <a:ln>
                                        <a:noFill/>
                                      </a:ln>
                                      <a:solidFill>
                                        <a:srgbClr val="C00000"/>
                                      </a:solidFill>
                                      <a:effectLst/>
                                      <a:uLnTx/>
                                      <a:uFillTx/>
                                      <a:latin typeface="Cambria Math" panose="02040503050406030204" pitchFamily="18" charset="0"/>
                                      <a:cs typeface="+mn-cs"/>
                                      <a:sym typeface="宋体" panose="02010600030101010101" pitchFamily="2" charset="-122"/>
                                    </a:rPr>
                                    <m:t>′</m:t>
                                  </m:r>
                                </m:sup>
                              </m:sSup>
                            </m:e>
                          </m:d>
                        </m:e>
                      </m:func>
                    </m:oMath>
                  </m:oMathPara>
                </a14:m>
                <a:endParaRPr kumimoji="0" lang="en-US" altLang="zh-CN" sz="20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mn-cs"/>
                  <a:sym typeface="宋体" panose="02010600030101010101" pitchFamily="2" charset="-122"/>
                </a:endParaRPr>
              </a:p>
            </p:txBody>
          </p:sp>
        </mc:Choice>
        <mc:Fallback xmlns="">
          <p:sp>
            <p:nvSpPr>
              <p:cNvPr id="24" name="流程图: 过程 59">
                <a:extLst>
                  <a:ext uri="{FF2B5EF4-FFF2-40B4-BE49-F238E27FC236}">
                    <a16:creationId xmlns:a16="http://schemas.microsoft.com/office/drawing/2014/main" id="{6AF053E7-14B5-6B76-689D-FB79FCD4F413}"/>
                  </a:ext>
                </a:extLst>
              </p:cNvPr>
              <p:cNvSpPr>
                <a:spLocks noRot="1" noChangeAspect="1" noMove="1" noResize="1" noEditPoints="1" noAdjustHandles="1" noChangeArrowheads="1" noChangeShapeType="1" noTextEdit="1"/>
              </p:cNvSpPr>
              <p:nvPr/>
            </p:nvSpPr>
            <p:spPr>
              <a:xfrm>
                <a:off x="449811" y="5115256"/>
                <a:ext cx="11482253" cy="1538919"/>
              </a:xfrm>
              <a:prstGeom prst="flowChartProcess">
                <a:avLst/>
              </a:prstGeom>
              <a:blipFill>
                <a:blip r:embed="rId4"/>
                <a:stretch>
                  <a:fillRect r="-1987"/>
                </a:stretch>
              </a:blipFill>
              <a:ln w="15875" cap="flat" cmpd="sng" algn="ctr">
                <a:solidFill>
                  <a:srgbClr val="C00000"/>
                </a:solid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a:lstStyle/>
              <a:p>
                <a:r>
                  <a:rPr lang="zh-CN" altLang="en-US">
                    <a:noFill/>
                  </a:rPr>
                  <a:t> </a:t>
                </a:r>
              </a:p>
            </p:txBody>
          </p:sp>
        </mc:Fallback>
      </mc:AlternateContent>
      <p:sp>
        <p:nvSpPr>
          <p:cNvPr id="25" name="右箭头 24">
            <a:extLst>
              <a:ext uri="{FF2B5EF4-FFF2-40B4-BE49-F238E27FC236}">
                <a16:creationId xmlns:a16="http://schemas.microsoft.com/office/drawing/2014/main" id="{4CAA440D-DB65-2EBE-E560-7AE28299ABF7}"/>
              </a:ext>
            </a:extLst>
          </p:cNvPr>
          <p:cNvSpPr/>
          <p:nvPr/>
        </p:nvSpPr>
        <p:spPr>
          <a:xfrm rot="10800000" flipH="1" flipV="1">
            <a:off x="3578455" y="1318771"/>
            <a:ext cx="3450299" cy="508004"/>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rPr>
              <a:t>前馈计算（计算预测值）</a:t>
            </a:r>
          </a:p>
        </p:txBody>
      </p:sp>
      <p:sp>
        <p:nvSpPr>
          <p:cNvPr id="26" name="右箭头 25">
            <a:extLst>
              <a:ext uri="{FF2B5EF4-FFF2-40B4-BE49-F238E27FC236}">
                <a16:creationId xmlns:a16="http://schemas.microsoft.com/office/drawing/2014/main" id="{C60D1C10-3115-E50B-6C24-DF387C6EEF45}"/>
              </a:ext>
            </a:extLst>
          </p:cNvPr>
          <p:cNvSpPr/>
          <p:nvPr/>
        </p:nvSpPr>
        <p:spPr>
          <a:xfrm flipH="1">
            <a:off x="3578455" y="4477806"/>
            <a:ext cx="3450299" cy="493370"/>
          </a:xfrm>
          <a:prstGeom prst="rightArrow">
            <a:avLst/>
          </a:prstGeom>
          <a:gradFill flip="none" rotWithShape="1">
            <a:gsLst>
              <a:gs pos="0">
                <a:srgbClr val="F79646">
                  <a:lumMod val="89000"/>
                </a:srgbClr>
              </a:gs>
              <a:gs pos="23000">
                <a:srgbClr val="F79646">
                  <a:lumMod val="89000"/>
                </a:srgbClr>
              </a:gs>
              <a:gs pos="69000">
                <a:srgbClr val="F79646">
                  <a:lumMod val="75000"/>
                </a:srgbClr>
              </a:gs>
              <a:gs pos="97000">
                <a:srgbClr val="F79646">
                  <a:lumMod val="70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rPr>
              <a:t>反向传播（优化模型参数）</a:t>
            </a:r>
          </a:p>
        </p:txBody>
      </p:sp>
      <p:pic>
        <p:nvPicPr>
          <p:cNvPr id="27" name="图片 26">
            <a:extLst>
              <a:ext uri="{FF2B5EF4-FFF2-40B4-BE49-F238E27FC236}">
                <a16:creationId xmlns:a16="http://schemas.microsoft.com/office/drawing/2014/main" id="{44CF0C31-7DD3-D4A6-D5C9-BDDBC4E719B8}"/>
              </a:ext>
            </a:extLst>
          </p:cNvPr>
          <p:cNvPicPr>
            <a:picLocks noChangeAspect="1"/>
          </p:cNvPicPr>
          <p:nvPr/>
        </p:nvPicPr>
        <p:blipFill>
          <a:blip r:embed="rId5"/>
          <a:stretch>
            <a:fillRect/>
          </a:stretch>
        </p:blipFill>
        <p:spPr>
          <a:xfrm>
            <a:off x="391548" y="1825504"/>
            <a:ext cx="2324059" cy="689955"/>
          </a:xfrm>
          <a:prstGeom prst="rect">
            <a:avLst/>
          </a:prstGeom>
        </p:spPr>
      </p:pic>
      <p:sp>
        <p:nvSpPr>
          <p:cNvPr id="28" name="同侧圆角矩形 29">
            <a:extLst>
              <a:ext uri="{FF2B5EF4-FFF2-40B4-BE49-F238E27FC236}">
                <a16:creationId xmlns:a16="http://schemas.microsoft.com/office/drawing/2014/main" id="{2FE0AB5F-B5F6-D1A4-1B43-D8FC4A5024CA}"/>
              </a:ext>
            </a:extLst>
          </p:cNvPr>
          <p:cNvSpPr/>
          <p:nvPr/>
        </p:nvSpPr>
        <p:spPr>
          <a:xfrm>
            <a:off x="9366049" y="5113254"/>
            <a:ext cx="2566015" cy="386794"/>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拓展了解，不要求掌握</a:t>
            </a:r>
          </a:p>
        </p:txBody>
      </p:sp>
      <mc:AlternateContent xmlns:mc="http://schemas.openxmlformats.org/markup-compatibility/2006" xmlns:a14="http://schemas.microsoft.com/office/drawing/2010/main">
        <mc:Choice Requires="a14">
          <p:sp>
            <p:nvSpPr>
              <p:cNvPr id="2" name="云形 1">
                <a:extLst>
                  <a:ext uri="{FF2B5EF4-FFF2-40B4-BE49-F238E27FC236}">
                    <a16:creationId xmlns:a16="http://schemas.microsoft.com/office/drawing/2014/main" id="{D76DA75A-EDA5-3B96-4BCE-EEBA54B42845}"/>
                  </a:ext>
                </a:extLst>
              </p:cNvPr>
              <p:cNvSpPr/>
              <p:nvPr/>
            </p:nvSpPr>
            <p:spPr>
              <a:xfrm>
                <a:off x="8154021" y="6076455"/>
                <a:ext cx="3898734" cy="671254"/>
              </a:xfrm>
              <a:prstGeom prst="cloud">
                <a:avLst/>
              </a:prstGeom>
              <a:solidFill>
                <a:schemeClr val="bg1"/>
              </a:solidFill>
              <a:ln>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rgbClr val="C00000"/>
                    </a:solidFill>
                    <a:latin typeface="微软雅黑" panose="020B0503020204020204" charset="-122"/>
                    <a:ea typeface="微软雅黑" panose="020B0503020204020204" charset="-122"/>
                  </a:rPr>
                  <a:t>优化</a:t>
                </a:r>
                <a14:m>
                  <m:oMath xmlns:m="http://schemas.openxmlformats.org/officeDocument/2006/math">
                    <m:r>
                      <a:rPr kumimoji="1" lang="en-US" altLang="zh-CN" sz="2000" b="1" i="1">
                        <a:solidFill>
                          <a:srgbClr val="C00000"/>
                        </a:solidFill>
                        <a:latin typeface="Cambria Math" panose="02040503050406030204" pitchFamily="18" charset="0"/>
                        <a:ea typeface="Cambria Math" panose="02040503050406030204" pitchFamily="18" charset="0"/>
                      </a:rPr>
                      <m:t>𝜽</m:t>
                    </m:r>
                  </m:oMath>
                </a14:m>
                <a:r>
                  <a:rPr kumimoji="1" lang="zh-CN" altLang="en-US" sz="2000" b="1" dirty="0">
                    <a:solidFill>
                      <a:srgbClr val="C00000"/>
                    </a:solidFill>
                    <a:latin typeface="微软雅黑" panose="020B0503020204020204" charset="-122"/>
                    <a:ea typeface="微软雅黑" panose="020B0503020204020204" charset="-122"/>
                  </a:rPr>
                  <a:t>，还是</a:t>
                </a:r>
                <a14:m>
                  <m:oMath xmlns:m="http://schemas.openxmlformats.org/officeDocument/2006/math">
                    <m:r>
                      <a:rPr kumimoji="1" lang="en-US" altLang="zh-CN" sz="2000" b="1" i="1" smtClean="0">
                        <a:solidFill>
                          <a:srgbClr val="C00000"/>
                        </a:solidFill>
                        <a:latin typeface="Cambria Math" panose="02040503050406030204" pitchFamily="18" charset="0"/>
                        <a:ea typeface="微软雅黑" panose="020B0503020204020204" charset="-122"/>
                      </a:rPr>
                      <m:t>𝒙</m:t>
                    </m:r>
                  </m:oMath>
                </a14:m>
                <a:r>
                  <a:rPr kumimoji="1" lang="zh-CN" altLang="en-US" sz="2000" b="1" dirty="0">
                    <a:solidFill>
                      <a:srgbClr val="C00000"/>
                    </a:solidFill>
                    <a:latin typeface="微软雅黑" panose="020B0503020204020204" charset="-122"/>
                    <a:ea typeface="微软雅黑" panose="020B0503020204020204" charset="-122"/>
                  </a:rPr>
                  <a:t>？</a:t>
                </a:r>
              </a:p>
            </p:txBody>
          </p:sp>
        </mc:Choice>
        <mc:Fallback xmlns="">
          <p:sp>
            <p:nvSpPr>
              <p:cNvPr id="2" name="云形 1">
                <a:extLst>
                  <a:ext uri="{FF2B5EF4-FFF2-40B4-BE49-F238E27FC236}">
                    <a16:creationId xmlns:a16="http://schemas.microsoft.com/office/drawing/2014/main" id="{D76DA75A-EDA5-3B96-4BCE-EEBA54B42845}"/>
                  </a:ext>
                </a:extLst>
              </p:cNvPr>
              <p:cNvSpPr>
                <a:spLocks noRot="1" noChangeAspect="1" noMove="1" noResize="1" noEditPoints="1" noAdjustHandles="1" noChangeArrowheads="1" noChangeShapeType="1" noTextEdit="1"/>
              </p:cNvSpPr>
              <p:nvPr/>
            </p:nvSpPr>
            <p:spPr>
              <a:xfrm>
                <a:off x="8154021" y="6076455"/>
                <a:ext cx="3898734" cy="671254"/>
              </a:xfrm>
              <a:prstGeom prst="cloud">
                <a:avLst/>
              </a:prstGeom>
              <a:blipFill>
                <a:blip r:embed="rId6"/>
                <a:stretch>
                  <a:fillRect/>
                </a:stretch>
              </a:blipFill>
              <a:ln>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txBody>
              <a:bodyPr/>
              <a:lstStyle/>
              <a:p>
                <a:r>
                  <a:rPr lang="zh-CN" altLang="en-US">
                    <a:noFill/>
                  </a:rPr>
                  <a:t> </a:t>
                </a:r>
              </a:p>
            </p:txBody>
          </p:sp>
        </mc:Fallback>
      </mc:AlternateContent>
    </p:spTree>
    <p:extLst>
      <p:ext uri="{BB962C8B-B14F-4D97-AF65-F5344CB8AC3E}">
        <p14:creationId xmlns:p14="http://schemas.microsoft.com/office/powerpoint/2010/main" val="374926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linds(horizontal)">
                                      <p:cBhvr>
                                        <p:cTn id="15" dur="500"/>
                                        <p:tgtEl>
                                          <p:spTgt spid="22"/>
                                        </p:tgtEl>
                                      </p:cBhvr>
                                    </p:animEffect>
                                  </p:childTnLst>
                                </p:cTn>
                              </p:par>
                              <p:par>
                                <p:cTn id="16" presetID="3"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linds(horizontal)">
                                      <p:cBhvr>
                                        <p:cTn id="18" dur="500"/>
                                        <p:tgtEl>
                                          <p:spTgt spid="1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linds(horizontal)">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linds(horizontal)">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4">
                                            <p:txEl>
                                              <p:pRg st="0" end="0"/>
                                            </p:txEl>
                                          </p:spTgt>
                                        </p:tgtEl>
                                        <p:attrNameLst>
                                          <p:attrName>style.visibility</p:attrName>
                                        </p:attrNameLst>
                                      </p:cBhvr>
                                      <p:to>
                                        <p:strVal val="visible"/>
                                      </p:to>
                                    </p:set>
                                    <p:animEffect transition="in" filter="blinds(horizontal)">
                                      <p:cBhvr>
                                        <p:cTn id="31" dur="500"/>
                                        <p:tgtEl>
                                          <p:spTgt spid="24">
                                            <p:txEl>
                                              <p:pRg st="0" end="0"/>
                                            </p:txEl>
                                          </p:spTgt>
                                        </p:tgtEl>
                                      </p:cBhvr>
                                    </p:animEffect>
                                  </p:childTnLst>
                                </p:cTn>
                              </p:par>
                            </p:childTnLst>
                          </p:cTn>
                        </p:par>
                        <p:par>
                          <p:cTn id="32" fill="hold">
                            <p:stCondLst>
                              <p:cond delay="500"/>
                            </p:stCondLst>
                            <p:childTnLst>
                              <p:par>
                                <p:cTn id="33" presetID="3" presetClass="entr" presetSubtype="10"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linds(horizontal)">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4">
                                            <p:txEl>
                                              <p:pRg st="1" end="1"/>
                                            </p:txEl>
                                          </p:spTgt>
                                        </p:tgtEl>
                                        <p:attrNameLst>
                                          <p:attrName>style.visibility</p:attrName>
                                        </p:attrNameLst>
                                      </p:cBhvr>
                                      <p:to>
                                        <p:strVal val="visible"/>
                                      </p:to>
                                    </p:set>
                                    <p:animEffect transition="in" filter="blinds(horizontal)">
                                      <p:cBhvr>
                                        <p:cTn id="40" dur="500"/>
                                        <p:tgtEl>
                                          <p:spTgt spid="24">
                                            <p:txEl>
                                              <p:pRg st="1" end="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24">
                                            <p:txEl>
                                              <p:pRg st="2" end="2"/>
                                            </p:txEl>
                                          </p:spTgt>
                                        </p:tgtEl>
                                        <p:attrNameLst>
                                          <p:attrName>style.visibility</p:attrName>
                                        </p:attrNameLst>
                                      </p:cBhvr>
                                      <p:to>
                                        <p:strVal val="visible"/>
                                      </p:to>
                                    </p:set>
                                    <p:animEffect transition="in" filter="blinds(horizontal)">
                                      <p:cBhvr>
                                        <p:cTn id="43" dur="500"/>
                                        <p:tgtEl>
                                          <p:spTgt spid="24">
                                            <p:txEl>
                                              <p:pRg st="2" end="2"/>
                                            </p:txEl>
                                          </p:spTgt>
                                        </p:tgtEl>
                                      </p:cBhvr>
                                    </p:animEffect>
                                  </p:childTnLst>
                                </p:cTn>
                              </p:par>
                            </p:childTnLst>
                          </p:cTn>
                        </p:par>
                        <p:par>
                          <p:cTn id="44" fill="hold">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blinds(horizontal)">
                                      <p:cBhvr>
                                        <p:cTn id="47" dur="500"/>
                                        <p:tgtEl>
                                          <p:spTgt spid="26"/>
                                        </p:tgtEl>
                                      </p:cBhvr>
                                    </p:animEffect>
                                  </p:childTnLst>
                                </p:cTn>
                              </p:par>
                            </p:childTnLst>
                          </p:cTn>
                        </p:par>
                        <p:par>
                          <p:cTn id="48" fill="hold">
                            <p:stCondLst>
                              <p:cond delay="1000"/>
                            </p:stCondLst>
                            <p:childTnLst>
                              <p:par>
                                <p:cTn id="49" presetID="3" presetClass="entr" presetSubtype="10"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blinds(horizontal)">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blinds(horizontal)">
                                      <p:cBhvr>
                                        <p:cTn id="5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animBg="1"/>
      <p:bldP spid="23" grpId="0" animBg="1"/>
      <p:bldP spid="25" grpId="0" animBg="1"/>
      <p:bldP spid="26" grpId="0" animBg="1"/>
      <p:bldP spid="28"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9491" y="176040"/>
            <a:ext cx="7583170" cy="705485"/>
          </a:xfrm>
        </p:spPr>
        <p:txBody>
          <a:bodyPr>
            <a:normAutofit/>
          </a:bodyPr>
          <a:lstStyle/>
          <a:p>
            <a:r>
              <a:rPr lang="zh-CN" altLang="en-US" dirty="0">
                <a:sym typeface="可画风暴黑-简" panose="020B0500000000000000" charset="-122"/>
              </a:rPr>
              <a:t>优化的目标：找到‘最小损失’</a:t>
            </a:r>
            <a:endParaRPr lang="zh-CN" altLang="en-US" dirty="0"/>
          </a:p>
        </p:txBody>
      </p:sp>
      <p:sp>
        <p:nvSpPr>
          <p:cNvPr id="3" name="内容占位符 2"/>
          <p:cNvSpPr>
            <a:spLocks noGrp="1"/>
          </p:cNvSpPr>
          <p:nvPr>
            <p:ph idx="1"/>
          </p:nvPr>
        </p:nvSpPr>
        <p:spPr/>
        <p:txBody>
          <a:bodyPr>
            <a:normAutofit/>
          </a:bodyPr>
          <a:lstStyle/>
          <a:p>
            <a:pPr marL="0" indent="0">
              <a:buNone/>
            </a:pPr>
            <a:r>
              <a:rPr lang="en-US" sz="2000" b="1" dirty="0">
                <a:solidFill>
                  <a:srgbClr val="000000"/>
                </a:solidFill>
                <a:cs typeface="宋体" panose="02010600030101010101" pitchFamily="2" charset="-122"/>
                <a:sym typeface="可画风暴黑-简" panose="020B0500000000000000" charset="-122"/>
              </a:rPr>
              <a:t>优化算法</a:t>
            </a:r>
            <a:r>
              <a:rPr lang="en-US" sz="2000" dirty="0">
                <a:solidFill>
                  <a:srgbClr val="000000"/>
                </a:solidFill>
                <a:cs typeface="宋体" panose="02010600030101010101" pitchFamily="2" charset="-122"/>
                <a:sym typeface="可画风暴黑-简" panose="020B0500000000000000" charset="-122"/>
              </a:rPr>
              <a:t>是机器学习的"</a:t>
            </a:r>
            <a:r>
              <a:rPr lang="en-US" sz="2000" dirty="0" err="1">
                <a:solidFill>
                  <a:srgbClr val="000000"/>
                </a:solidFill>
                <a:cs typeface="宋体" panose="02010600030101010101" pitchFamily="2" charset="-122"/>
                <a:sym typeface="可画风暴黑-简" panose="020B0500000000000000" charset="-122"/>
              </a:rPr>
              <a:t>智能导航员</a:t>
            </a:r>
            <a:r>
              <a:rPr lang="en-US" sz="2000" dirty="0">
                <a:solidFill>
                  <a:srgbClr val="000000"/>
                </a:solidFill>
                <a:cs typeface="宋体" panose="02010600030101010101" pitchFamily="2" charset="-122"/>
                <a:sym typeface="可画风暴黑-简" panose="020B0500000000000000" charset="-122"/>
              </a:rPr>
              <a:t>"：</a:t>
            </a:r>
            <a:r>
              <a:rPr lang="en-US" sz="2000" dirty="0" err="1">
                <a:solidFill>
                  <a:srgbClr val="000000"/>
                </a:solidFill>
                <a:cs typeface="宋体" panose="02010600030101010101" pitchFamily="2" charset="-122"/>
                <a:sym typeface="可画风暴黑-简" panose="020B0500000000000000" charset="-122"/>
              </a:rPr>
              <a:t>通过计算模型预测错误的方向（损失函数的梯度</a:t>
            </a:r>
            <a:r>
              <a:rPr lang="en-US" sz="2000" dirty="0">
                <a:solidFill>
                  <a:srgbClr val="000000"/>
                </a:solidFill>
                <a:cs typeface="宋体" panose="02010600030101010101" pitchFamily="2" charset="-122"/>
                <a:sym typeface="可画风暴黑-简" panose="020B0500000000000000" charset="-122"/>
              </a:rPr>
              <a:t>），引导模型参数沿着"最陡的下坡路"（负梯度方向）逐步调整，就像手持指南针的登山者从错误率高的山顶（初始随机参数）出发，通过调节步幅（学习率大小）避开悬崖（局部最优），</a:t>
            </a:r>
            <a:r>
              <a:rPr lang="en-US" sz="2000" dirty="0" err="1">
                <a:solidFill>
                  <a:srgbClr val="000000"/>
                </a:solidFill>
                <a:cs typeface="宋体" panose="02010600030101010101" pitchFamily="2" charset="-122"/>
                <a:sym typeface="可画风暴黑-简" panose="020B0500000000000000" charset="-122"/>
              </a:rPr>
              <a:t>最终抵达错误率最低的谷底（最优模型</a:t>
            </a:r>
            <a:r>
              <a:rPr lang="en-US" sz="2000" dirty="0">
                <a:solidFill>
                  <a:srgbClr val="000000"/>
                </a:solidFill>
                <a:cs typeface="宋体" panose="02010600030101010101" pitchFamily="2" charset="-122"/>
                <a:sym typeface="可画风暴黑-简" panose="020B0500000000000000" charset="-122"/>
              </a:rPr>
              <a:t>）——</a:t>
            </a:r>
            <a:r>
              <a:rPr lang="en-US" sz="2000" dirty="0" err="1">
                <a:solidFill>
                  <a:srgbClr val="000000"/>
                </a:solidFill>
                <a:cs typeface="宋体" panose="02010600030101010101" pitchFamily="2" charset="-122"/>
                <a:sym typeface="可画风暴黑-简" panose="020B0500000000000000" charset="-122"/>
              </a:rPr>
              <a:t>这正是人脸识别模型从开始常认错人，到最终精准识别人脸的关键优化过程</a:t>
            </a:r>
            <a:r>
              <a:rPr lang="en-US" sz="2000" dirty="0">
                <a:solidFill>
                  <a:srgbClr val="000000"/>
                </a:solidFill>
                <a:cs typeface="宋体" panose="02010600030101010101" pitchFamily="2" charset="-122"/>
                <a:sym typeface="可画风暴黑-简" panose="020B0500000000000000" charset="-122"/>
              </a:rPr>
              <a:t>。</a:t>
            </a:r>
          </a:p>
          <a:p>
            <a:pPr marL="0" indent="0">
              <a:buNone/>
            </a:pPr>
            <a:endParaRPr lang="zh-CN" altLang="en-US" sz="2000" b="1" dirty="0">
              <a:solidFill>
                <a:schemeClr val="tx1"/>
              </a:solidFill>
              <a:cs typeface="宋体" panose="02010600030101010101" pitchFamily="2" charset="-122"/>
            </a:endParaRPr>
          </a:p>
        </p:txBody>
      </p:sp>
      <p:sp>
        <p:nvSpPr>
          <p:cNvPr id="6" name="Freeform 3"/>
          <p:cNvSpPr/>
          <p:nvPr/>
        </p:nvSpPr>
        <p:spPr>
          <a:xfrm>
            <a:off x="2441022" y="3488400"/>
            <a:ext cx="6670675" cy="2884170"/>
          </a:xfrm>
          <a:custGeom>
            <a:avLst/>
            <a:gdLst/>
            <a:ahLst/>
            <a:cxnLst/>
            <a:rect l="l" t="t" r="r" b="b"/>
            <a:pathLst>
              <a:path w="9306668" h="4520780">
                <a:moveTo>
                  <a:pt x="0" y="0"/>
                </a:moveTo>
                <a:lnTo>
                  <a:pt x="9306668" y="0"/>
                </a:lnTo>
                <a:lnTo>
                  <a:pt x="9306668" y="4520780"/>
                </a:lnTo>
                <a:lnTo>
                  <a:pt x="0" y="4520780"/>
                </a:lnTo>
                <a:lnTo>
                  <a:pt x="0" y="0"/>
                </a:lnTo>
                <a:close/>
              </a:path>
            </a:pathLst>
          </a:custGeom>
          <a:blipFill>
            <a:blip r:embed="rId2"/>
            <a:stretch>
              <a:fillRect/>
            </a:stretch>
          </a:blipFill>
        </p:spPr>
        <p:txBody>
          <a:bodyPr/>
          <a:lstStyle/>
          <a:p>
            <a:endParaRPr lang="zh-CN" altLang="en-US"/>
          </a:p>
        </p:txBody>
      </p:sp>
      <p:sp>
        <p:nvSpPr>
          <p:cNvPr id="4" name="同侧圆角矩形 29">
            <a:extLst>
              <a:ext uri="{FF2B5EF4-FFF2-40B4-BE49-F238E27FC236}">
                <a16:creationId xmlns:a16="http://schemas.microsoft.com/office/drawing/2014/main" id="{05BDEC37-B758-8032-0E2D-BEB49FCA32DD}"/>
              </a:ext>
            </a:extLst>
          </p:cNvPr>
          <p:cNvSpPr/>
          <p:nvPr/>
        </p:nvSpPr>
        <p:spPr>
          <a:xfrm>
            <a:off x="7197213" y="-1"/>
            <a:ext cx="4994786" cy="1020543"/>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了解基本思想，不要求掌握</a:t>
            </a:r>
            <a:endParaRPr kumimoji="0" lang="zh-CN" altLang="en-US" sz="2400"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a:extLst>
              <a:ext uri="{FF2B5EF4-FFF2-40B4-BE49-F238E27FC236}">
                <a16:creationId xmlns:a16="http://schemas.microsoft.com/office/drawing/2014/main" id="{EE5E6BF3-1ABF-42AE-248F-B38D92BB09F1}"/>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021946" cy="705485"/>
          </a:xfrm>
        </p:spPr>
        <p:txBody>
          <a:bodyPr>
            <a:normAutofit fontScale="90000"/>
          </a:bodyPr>
          <a:lstStyle/>
          <a:p>
            <a:r>
              <a:rPr lang="zh-CN" altLang="en-US" dirty="0">
                <a:sym typeface="可画风暴黑-简" panose="020B0500000000000000" charset="-122"/>
              </a:rPr>
              <a:t>梯度下降：最常用的优化算法</a:t>
            </a:r>
            <a:endParaRPr lang="zh-CN" altLang="en-US" dirty="0"/>
          </a:p>
        </p:txBody>
      </p:sp>
      <p:pic>
        <p:nvPicPr>
          <p:cNvPr id="7" name="Picture 6" descr="相关图片"/>
          <p:cNvPicPr>
            <a:picLocks noChangeAspect="1" noChangeArrowheads="1"/>
          </p:cNvPicPr>
          <p:nvPr/>
        </p:nvPicPr>
        <p:blipFill>
          <a:blip r:embed="rId2"/>
          <a:srcRect/>
          <a:stretch>
            <a:fillRect/>
          </a:stretch>
        </p:blipFill>
        <p:spPr bwMode="auto">
          <a:xfrm>
            <a:off x="3766849" y="895873"/>
            <a:ext cx="3129762" cy="322249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æ¢¯åº¦ä¸é"/>
          <p:cNvPicPr>
            <a:picLocks noChangeAspect="1" noChangeArrowheads="1" noCrop="1"/>
          </p:cNvPicPr>
          <p:nvPr/>
        </p:nvPicPr>
        <p:blipFill>
          <a:blip r:embed="rId3"/>
          <a:srcRect/>
          <a:stretch>
            <a:fillRect/>
          </a:stretch>
        </p:blipFill>
        <p:spPr bwMode="auto">
          <a:xfrm>
            <a:off x="8170299" y="1295513"/>
            <a:ext cx="3048614" cy="302320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屏幕剪辑"/>
          <p:cNvPicPr>
            <a:picLocks noChangeAspect="1"/>
          </p:cNvPicPr>
          <p:nvPr/>
        </p:nvPicPr>
        <p:blipFill>
          <a:blip r:embed="rId4"/>
          <a:stretch>
            <a:fillRect/>
          </a:stretch>
        </p:blipFill>
        <p:spPr>
          <a:xfrm>
            <a:off x="4111583" y="4352892"/>
            <a:ext cx="3468441" cy="1303575"/>
          </a:xfrm>
          <a:prstGeom prst="rect">
            <a:avLst/>
          </a:prstGeom>
        </p:spPr>
      </p:pic>
      <p:sp>
        <p:nvSpPr>
          <p:cNvPr id="10" name="AutoShape 15"/>
          <p:cNvSpPr>
            <a:spLocks noChangeArrowheads="1"/>
          </p:cNvSpPr>
          <p:nvPr/>
        </p:nvSpPr>
        <p:spPr bwMode="auto">
          <a:xfrm>
            <a:off x="8179985" y="4473292"/>
            <a:ext cx="3219023" cy="999666"/>
          </a:xfrm>
          <a:prstGeom prst="wedgeRoundRectCallout">
            <a:avLst>
              <a:gd name="adj1" fmla="val -68387"/>
              <a:gd name="adj2" fmla="val -4845"/>
              <a:gd name="adj3" fmla="val 16667"/>
            </a:avLst>
          </a:prstGeom>
          <a:solidFill>
            <a:sysClr val="window" lastClr="FFFFFF"/>
          </a:solidFill>
          <a:ln w="12700">
            <a:solidFill>
              <a:srgbClr val="CC0000"/>
            </a:solidFill>
            <a:beve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170" tIns="46990" rIns="90170" bIns="46990" anchor="ctr"/>
          <a:lstStyle/>
          <a:p>
            <a:pPr lvl="0" algn="ctr" fontAlgn="base">
              <a:spcBef>
                <a:spcPct val="20000"/>
              </a:spcBef>
              <a:spcAft>
                <a:spcPct val="0"/>
              </a:spcAft>
              <a:defRPr/>
            </a:pPr>
            <a:r>
              <a:rPr kumimoji="1" lang="zh-CN" altLang="en-US" sz="2000" b="1" dirty="0">
                <a:latin typeface="微软雅黑" panose="020B0503020204020204" charset="-122"/>
                <a:ea typeface="微软雅黑" panose="020B0503020204020204" charset="-122"/>
              </a:rPr>
              <a:t>搜索步长</a:t>
            </a:r>
            <a:r>
              <a:rPr kumimoji="1" lang="el-GR" altLang="zh-CN" sz="2000" b="1" dirty="0">
                <a:latin typeface="微软雅黑" panose="020B0503020204020204" charset="-122"/>
                <a:ea typeface="微软雅黑" panose="020B0503020204020204" charset="-122"/>
              </a:rPr>
              <a:t>α</a:t>
            </a:r>
            <a:r>
              <a:rPr kumimoji="1" lang="zh-CN" altLang="en-US" sz="2000" b="1" dirty="0">
                <a:latin typeface="微软雅黑" panose="020B0503020204020204" charset="-122"/>
                <a:ea typeface="微软雅黑" panose="020B0503020204020204" charset="-122"/>
              </a:rPr>
              <a:t>中也叫作</a:t>
            </a:r>
            <a:endParaRPr kumimoji="1" lang="en-US" altLang="zh-CN" sz="2000" b="1" dirty="0">
              <a:latin typeface="微软雅黑" panose="020B0503020204020204" charset="-122"/>
              <a:ea typeface="微软雅黑" panose="020B0503020204020204" charset="-122"/>
            </a:endParaRPr>
          </a:p>
          <a:p>
            <a:pPr lvl="0" algn="ctr" fontAlgn="base">
              <a:spcBef>
                <a:spcPct val="20000"/>
              </a:spcBef>
              <a:spcAft>
                <a:spcPct val="0"/>
              </a:spcAft>
              <a:defRPr/>
            </a:pPr>
            <a:r>
              <a:rPr kumimoji="1" lang="zh-CN" altLang="en-US" sz="2000" b="1" dirty="0">
                <a:solidFill>
                  <a:srgbClr val="0000FF"/>
                </a:solidFill>
                <a:latin typeface="微软雅黑" panose="020B0503020204020204" charset="-122"/>
                <a:ea typeface="微软雅黑" panose="020B0503020204020204" charset="-122"/>
              </a:rPr>
              <a:t>学习率（</a:t>
            </a:r>
            <a:r>
              <a:rPr kumimoji="1" lang="en-US" altLang="zh-CN" sz="2000" b="1" dirty="0">
                <a:solidFill>
                  <a:srgbClr val="0000FF"/>
                </a:solidFill>
                <a:latin typeface="微软雅黑" panose="020B0503020204020204" charset="-122"/>
                <a:ea typeface="微软雅黑" panose="020B0503020204020204" charset="-122"/>
              </a:rPr>
              <a:t>Learning Rate</a:t>
            </a:r>
            <a:r>
              <a:rPr kumimoji="1" lang="zh-CN" altLang="en-US" sz="2000" b="1" dirty="0">
                <a:solidFill>
                  <a:srgbClr val="0000FF"/>
                </a:solidFill>
                <a:latin typeface="微软雅黑" panose="020B0503020204020204" charset="-122"/>
                <a:ea typeface="微软雅黑" panose="020B0503020204020204" charset="-122"/>
              </a:rPr>
              <a:t>）</a:t>
            </a:r>
          </a:p>
        </p:txBody>
      </p:sp>
      <p:sp>
        <p:nvSpPr>
          <p:cNvPr id="11" name="云形 10"/>
          <p:cNvSpPr/>
          <p:nvPr/>
        </p:nvSpPr>
        <p:spPr>
          <a:xfrm>
            <a:off x="1168673" y="5627529"/>
            <a:ext cx="9208292" cy="763580"/>
          </a:xfrm>
          <a:prstGeom prst="cloud">
            <a:avLst/>
          </a:prstGeom>
          <a:noFill/>
          <a:ln>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1202055" indent="-1202055" algn="just">
              <a:lnSpc>
                <a:spcPct val="150000"/>
              </a:lnSpc>
            </a:pPr>
            <a:r>
              <a:rPr kumimoji="1" lang="zh-CN" altLang="en-US" sz="2000" b="1" dirty="0">
                <a:solidFill>
                  <a:srgbClr val="C00000"/>
                </a:solidFill>
                <a:latin typeface="微软雅黑" panose="020B0503020204020204" charset="-122"/>
                <a:ea typeface="微软雅黑" panose="020B0503020204020204" charset="-122"/>
              </a:rPr>
              <a:t>两个问题：每次处理几个样本？以多大的步子优化？</a:t>
            </a:r>
            <a:endParaRPr kumimoji="1" lang="en-US" altLang="zh-CN" sz="2000" b="1" dirty="0">
              <a:solidFill>
                <a:srgbClr val="C00000"/>
              </a:solidFill>
              <a:latin typeface="微软雅黑" panose="020B0503020204020204" charset="-122"/>
              <a:ea typeface="微软雅黑" panose="020B0503020204020204" charset="-122"/>
            </a:endParaRPr>
          </a:p>
        </p:txBody>
      </p:sp>
      <p:sp>
        <p:nvSpPr>
          <p:cNvPr id="12" name="矩形 11"/>
          <p:cNvSpPr/>
          <p:nvPr/>
        </p:nvSpPr>
        <p:spPr>
          <a:xfrm>
            <a:off x="381860" y="1034321"/>
            <a:ext cx="3129762" cy="4539872"/>
          </a:xfrm>
          <a:prstGeom prst="rect">
            <a:avLst/>
          </a:prstGeom>
          <a:solidFill>
            <a:srgbClr val="FF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432000" rtlCol="0" anchor="ctr" anchorCtr="0"/>
          <a:lstStyle/>
          <a:p>
            <a:pPr algn="ctr">
              <a:lnSpc>
                <a:spcPct val="200000"/>
              </a:lnSpc>
            </a:pPr>
            <a:r>
              <a:rPr kumimoji="1" lang="zh-CN" altLang="en-US" sz="2400" b="1" dirty="0">
                <a:solidFill>
                  <a:srgbClr val="0000FF"/>
                </a:solidFill>
                <a:latin typeface="微软雅黑" panose="020B0503020204020204" charset="-122"/>
                <a:ea typeface="微软雅黑" panose="020B0503020204020204" charset="-122"/>
              </a:rPr>
              <a:t>梯度下降法</a:t>
            </a:r>
            <a:endParaRPr kumimoji="1" lang="en-US" altLang="zh-CN" sz="2400" b="1" dirty="0">
              <a:solidFill>
                <a:srgbClr val="0000FF"/>
              </a:solidFill>
              <a:latin typeface="微软雅黑" panose="020B0503020204020204" charset="-122"/>
              <a:ea typeface="微软雅黑" panose="020B0503020204020204" charset="-122"/>
            </a:endParaRPr>
          </a:p>
          <a:p>
            <a:pPr algn="just">
              <a:lnSpc>
                <a:spcPct val="200000"/>
              </a:lnSpc>
            </a:pPr>
            <a:r>
              <a:rPr kumimoji="1" lang="zh-CN" altLang="en-US" sz="2000" b="1" dirty="0">
                <a:solidFill>
                  <a:schemeClr val="tx1"/>
                </a:solidFill>
                <a:latin typeface="微软雅黑" panose="020B0503020204020204" charset="-122"/>
                <a:ea typeface="微软雅黑" panose="020B0503020204020204" charset="-122"/>
              </a:rPr>
              <a:t>通过计算损失函数关于模型参数的梯度（一阶导数），</a:t>
            </a:r>
            <a:r>
              <a:rPr kumimoji="1" lang="zh-CN" altLang="en-US" sz="2000" b="1" dirty="0">
                <a:solidFill>
                  <a:srgbClr val="C00000"/>
                </a:solidFill>
                <a:latin typeface="微软雅黑" panose="020B0503020204020204" charset="-122"/>
                <a:ea typeface="微软雅黑" panose="020B0503020204020204" charset="-122"/>
              </a:rPr>
              <a:t>沿梯度反方向</a:t>
            </a:r>
            <a:r>
              <a:rPr kumimoji="1" lang="zh-CN" altLang="en-US" sz="2000" b="1" dirty="0">
                <a:solidFill>
                  <a:schemeClr val="tx1"/>
                </a:solidFill>
                <a:latin typeface="微软雅黑" panose="020B0503020204020204" charset="-122"/>
                <a:ea typeface="微软雅黑" panose="020B0503020204020204" charset="-122"/>
              </a:rPr>
              <a:t>迭代更新参数，逐步降低损失函数值。</a:t>
            </a:r>
          </a:p>
        </p:txBody>
      </p:sp>
      <p:sp>
        <p:nvSpPr>
          <p:cNvPr id="3" name="同侧圆角矩形 29">
            <a:extLst>
              <a:ext uri="{FF2B5EF4-FFF2-40B4-BE49-F238E27FC236}">
                <a16:creationId xmlns:a16="http://schemas.microsoft.com/office/drawing/2014/main" id="{5F59A2B0-A97A-62DE-EBC2-AD6F721D49BA}"/>
              </a:ext>
            </a:extLst>
          </p:cNvPr>
          <p:cNvSpPr/>
          <p:nvPr/>
        </p:nvSpPr>
        <p:spPr>
          <a:xfrm>
            <a:off x="6784258" y="-1"/>
            <a:ext cx="5407741" cy="1020543"/>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了解</a:t>
            </a:r>
            <a:r>
              <a:rPr lang="zh-CN" altLang="en-US" sz="2400" b="1" kern="0" noProof="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学习率</a:t>
            </a: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，不要求掌握公式与计算</a:t>
            </a:r>
            <a:endParaRPr kumimoji="0" lang="zh-CN" altLang="en-US" sz="2400"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4">
            <a:extLst>
              <a:ext uri="{FF2B5EF4-FFF2-40B4-BE49-F238E27FC236}">
                <a16:creationId xmlns:a16="http://schemas.microsoft.com/office/drawing/2014/main" id="{DF9AEA55-26D6-BCAD-C6F4-7EC978987092}"/>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33</a:t>
            </a:fld>
            <a:endParaRPr lang="zh-CN" altLang="en-US" dirty="0"/>
          </a:p>
        </p:txBody>
      </p:sp>
      <p:sp>
        <p:nvSpPr>
          <p:cNvPr id="6" name="文本框 5">
            <a:extLst>
              <a:ext uri="{FF2B5EF4-FFF2-40B4-BE49-F238E27FC236}">
                <a16:creationId xmlns:a16="http://schemas.microsoft.com/office/drawing/2014/main" id="{4891B3C8-31E5-9529-7000-6058FAE1E3DA}"/>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autoUpdateAnimBg="0"/>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EB285-AB84-2869-538B-FD343330A9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A0F0D6-FE3C-1C03-414B-7637275764B7}"/>
              </a:ext>
            </a:extLst>
          </p:cNvPr>
          <p:cNvSpPr>
            <a:spLocks noGrp="1"/>
          </p:cNvSpPr>
          <p:nvPr>
            <p:ph type="title"/>
          </p:nvPr>
        </p:nvSpPr>
        <p:spPr>
          <a:xfrm>
            <a:off x="147484" y="229235"/>
            <a:ext cx="6127192" cy="705485"/>
          </a:xfrm>
        </p:spPr>
        <p:txBody>
          <a:bodyPr>
            <a:normAutofit/>
          </a:bodyPr>
          <a:lstStyle/>
          <a:p>
            <a:r>
              <a:rPr lang="zh-CN" altLang="en-US" dirty="0">
                <a:sym typeface="可画风暴黑-简" panose="020B0500000000000000" charset="-122"/>
              </a:rPr>
              <a:t>梯度下降：三种主要模式</a:t>
            </a:r>
            <a:endParaRPr lang="zh-CN" altLang="en-US" dirty="0"/>
          </a:p>
        </p:txBody>
      </p:sp>
      <p:sp>
        <p:nvSpPr>
          <p:cNvPr id="4" name="流程图: 过程 59">
            <a:extLst>
              <a:ext uri="{FF2B5EF4-FFF2-40B4-BE49-F238E27FC236}">
                <a16:creationId xmlns:a16="http://schemas.microsoft.com/office/drawing/2014/main" id="{E549BFAC-ABB0-2153-7D18-FF7DC3D0DA5B}"/>
              </a:ext>
            </a:extLst>
          </p:cNvPr>
          <p:cNvSpPr/>
          <p:nvPr/>
        </p:nvSpPr>
        <p:spPr>
          <a:xfrm>
            <a:off x="294968" y="1166649"/>
            <a:ext cx="9866671" cy="811002"/>
          </a:xfrm>
          <a:prstGeom prst="flowChartProcess">
            <a:avLst/>
          </a:prstGeom>
          <a:noFill/>
          <a:ln w="12700" cap="flat" cmpd="sng" algn="ctr">
            <a:noFill/>
            <a:prstDash val="solid"/>
            <a:extLst>
              <a:ext uri="{C807C97D-BFC1-408E-A445-0C87EB9F89A2}">
                <ask:lineSketchStyleProps xmlns:ask="http://schemas.microsoft.com/office/drawing/2018/sketchyshapes" sd="1219033472">
                  <a:custGeom>
                    <a:avLst/>
                    <a:gdLst>
                      <a:gd name="connsiteX0" fmla="*/ 0 w 11470781"/>
                      <a:gd name="connsiteY0" fmla="*/ 0 h 998554"/>
                      <a:gd name="connsiteX1" fmla="*/ 560044 w 11470781"/>
                      <a:gd name="connsiteY1" fmla="*/ 0 h 998554"/>
                      <a:gd name="connsiteX2" fmla="*/ 890672 w 11470781"/>
                      <a:gd name="connsiteY2" fmla="*/ 0 h 998554"/>
                      <a:gd name="connsiteX3" fmla="*/ 1794840 w 11470781"/>
                      <a:gd name="connsiteY3" fmla="*/ 0 h 998554"/>
                      <a:gd name="connsiteX4" fmla="*/ 2354884 w 11470781"/>
                      <a:gd name="connsiteY4" fmla="*/ 0 h 998554"/>
                      <a:gd name="connsiteX5" fmla="*/ 2914928 w 11470781"/>
                      <a:gd name="connsiteY5" fmla="*/ 0 h 998554"/>
                      <a:gd name="connsiteX6" fmla="*/ 3819095 w 11470781"/>
                      <a:gd name="connsiteY6" fmla="*/ 0 h 998554"/>
                      <a:gd name="connsiteX7" fmla="*/ 4264432 w 11470781"/>
                      <a:gd name="connsiteY7" fmla="*/ 0 h 998554"/>
                      <a:gd name="connsiteX8" fmla="*/ 5168599 w 11470781"/>
                      <a:gd name="connsiteY8" fmla="*/ 0 h 998554"/>
                      <a:gd name="connsiteX9" fmla="*/ 6072766 w 11470781"/>
                      <a:gd name="connsiteY9" fmla="*/ 0 h 998554"/>
                      <a:gd name="connsiteX10" fmla="*/ 6747518 w 11470781"/>
                      <a:gd name="connsiteY10" fmla="*/ 0 h 998554"/>
                      <a:gd name="connsiteX11" fmla="*/ 7651686 w 11470781"/>
                      <a:gd name="connsiteY11" fmla="*/ 0 h 998554"/>
                      <a:gd name="connsiteX12" fmla="*/ 8211730 w 11470781"/>
                      <a:gd name="connsiteY12" fmla="*/ 0 h 998554"/>
                      <a:gd name="connsiteX13" fmla="*/ 8771774 w 11470781"/>
                      <a:gd name="connsiteY13" fmla="*/ 0 h 998554"/>
                      <a:gd name="connsiteX14" fmla="*/ 9561233 w 11470781"/>
                      <a:gd name="connsiteY14" fmla="*/ 0 h 998554"/>
                      <a:gd name="connsiteX15" fmla="*/ 10121277 w 11470781"/>
                      <a:gd name="connsiteY15" fmla="*/ 0 h 998554"/>
                      <a:gd name="connsiteX16" fmla="*/ 11470781 w 11470781"/>
                      <a:gd name="connsiteY16" fmla="*/ 0 h 998554"/>
                      <a:gd name="connsiteX17" fmla="*/ 11470781 w 11470781"/>
                      <a:gd name="connsiteY17" fmla="*/ 519248 h 998554"/>
                      <a:gd name="connsiteX18" fmla="*/ 11470781 w 11470781"/>
                      <a:gd name="connsiteY18" fmla="*/ 998554 h 998554"/>
                      <a:gd name="connsiteX19" fmla="*/ 10681321 w 11470781"/>
                      <a:gd name="connsiteY19" fmla="*/ 998554 h 998554"/>
                      <a:gd name="connsiteX20" fmla="*/ 10235985 w 11470781"/>
                      <a:gd name="connsiteY20" fmla="*/ 998554 h 998554"/>
                      <a:gd name="connsiteX21" fmla="*/ 9331818 w 11470781"/>
                      <a:gd name="connsiteY21" fmla="*/ 998554 h 998554"/>
                      <a:gd name="connsiteX22" fmla="*/ 8657066 w 11470781"/>
                      <a:gd name="connsiteY22" fmla="*/ 998554 h 998554"/>
                      <a:gd name="connsiteX23" fmla="*/ 8211730 w 11470781"/>
                      <a:gd name="connsiteY23" fmla="*/ 998554 h 998554"/>
                      <a:gd name="connsiteX24" fmla="*/ 7536978 w 11470781"/>
                      <a:gd name="connsiteY24" fmla="*/ 998554 h 998554"/>
                      <a:gd name="connsiteX25" fmla="*/ 7206349 w 11470781"/>
                      <a:gd name="connsiteY25" fmla="*/ 998554 h 998554"/>
                      <a:gd name="connsiteX26" fmla="*/ 6875721 w 11470781"/>
                      <a:gd name="connsiteY26" fmla="*/ 998554 h 998554"/>
                      <a:gd name="connsiteX27" fmla="*/ 6200969 w 11470781"/>
                      <a:gd name="connsiteY27" fmla="*/ 998554 h 998554"/>
                      <a:gd name="connsiteX28" fmla="*/ 5755633 w 11470781"/>
                      <a:gd name="connsiteY28" fmla="*/ 998554 h 998554"/>
                      <a:gd name="connsiteX29" fmla="*/ 4966173 w 11470781"/>
                      <a:gd name="connsiteY29" fmla="*/ 998554 h 998554"/>
                      <a:gd name="connsiteX30" fmla="*/ 4520837 w 11470781"/>
                      <a:gd name="connsiteY30" fmla="*/ 998554 h 998554"/>
                      <a:gd name="connsiteX31" fmla="*/ 3731378 w 11470781"/>
                      <a:gd name="connsiteY31" fmla="*/ 998554 h 998554"/>
                      <a:gd name="connsiteX32" fmla="*/ 3400749 w 11470781"/>
                      <a:gd name="connsiteY32" fmla="*/ 998554 h 998554"/>
                      <a:gd name="connsiteX33" fmla="*/ 2611290 w 11470781"/>
                      <a:gd name="connsiteY33" fmla="*/ 998554 h 998554"/>
                      <a:gd name="connsiteX34" fmla="*/ 2165953 w 11470781"/>
                      <a:gd name="connsiteY34" fmla="*/ 998554 h 998554"/>
                      <a:gd name="connsiteX35" fmla="*/ 1835325 w 11470781"/>
                      <a:gd name="connsiteY35" fmla="*/ 998554 h 998554"/>
                      <a:gd name="connsiteX36" fmla="*/ 1389989 w 11470781"/>
                      <a:gd name="connsiteY36" fmla="*/ 998554 h 998554"/>
                      <a:gd name="connsiteX37" fmla="*/ 600529 w 11470781"/>
                      <a:gd name="connsiteY37" fmla="*/ 998554 h 998554"/>
                      <a:gd name="connsiteX38" fmla="*/ 0 w 11470781"/>
                      <a:gd name="connsiteY38" fmla="*/ 998554 h 998554"/>
                      <a:gd name="connsiteX39" fmla="*/ 0 w 11470781"/>
                      <a:gd name="connsiteY39" fmla="*/ 529234 h 998554"/>
                      <a:gd name="connsiteX40" fmla="*/ 0 w 11470781"/>
                      <a:gd name="connsiteY40" fmla="*/ 0 h 9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470781" h="998554" extrusionOk="0">
                        <a:moveTo>
                          <a:pt x="0" y="0"/>
                        </a:moveTo>
                        <a:cubicBezTo>
                          <a:pt x="187205" y="-11002"/>
                          <a:pt x="313260" y="27986"/>
                          <a:pt x="560044" y="0"/>
                        </a:cubicBezTo>
                        <a:cubicBezTo>
                          <a:pt x="806828" y="-27986"/>
                          <a:pt x="746963" y="-6288"/>
                          <a:pt x="890672" y="0"/>
                        </a:cubicBezTo>
                        <a:cubicBezTo>
                          <a:pt x="1034381" y="6288"/>
                          <a:pt x="1386506" y="35623"/>
                          <a:pt x="1794840" y="0"/>
                        </a:cubicBezTo>
                        <a:cubicBezTo>
                          <a:pt x="2203174" y="-35623"/>
                          <a:pt x="2076524" y="20975"/>
                          <a:pt x="2354884" y="0"/>
                        </a:cubicBezTo>
                        <a:cubicBezTo>
                          <a:pt x="2633244" y="-20975"/>
                          <a:pt x="2654104" y="4778"/>
                          <a:pt x="2914928" y="0"/>
                        </a:cubicBezTo>
                        <a:cubicBezTo>
                          <a:pt x="3175752" y="-4778"/>
                          <a:pt x="3587424" y="-1930"/>
                          <a:pt x="3819095" y="0"/>
                        </a:cubicBezTo>
                        <a:cubicBezTo>
                          <a:pt x="4050766" y="1930"/>
                          <a:pt x="4087145" y="5433"/>
                          <a:pt x="4264432" y="0"/>
                        </a:cubicBezTo>
                        <a:cubicBezTo>
                          <a:pt x="4441719" y="-5433"/>
                          <a:pt x="4789341" y="-18658"/>
                          <a:pt x="5168599" y="0"/>
                        </a:cubicBezTo>
                        <a:cubicBezTo>
                          <a:pt x="5547857" y="18658"/>
                          <a:pt x="5869644" y="28951"/>
                          <a:pt x="6072766" y="0"/>
                        </a:cubicBezTo>
                        <a:cubicBezTo>
                          <a:pt x="6275888" y="-28951"/>
                          <a:pt x="6429854" y="22688"/>
                          <a:pt x="6747518" y="0"/>
                        </a:cubicBezTo>
                        <a:cubicBezTo>
                          <a:pt x="7065182" y="-22688"/>
                          <a:pt x="7359150" y="32814"/>
                          <a:pt x="7651686" y="0"/>
                        </a:cubicBezTo>
                        <a:cubicBezTo>
                          <a:pt x="7944222" y="-32814"/>
                          <a:pt x="8077246" y="24670"/>
                          <a:pt x="8211730" y="0"/>
                        </a:cubicBezTo>
                        <a:cubicBezTo>
                          <a:pt x="8346214" y="-24670"/>
                          <a:pt x="8617652" y="-12699"/>
                          <a:pt x="8771774" y="0"/>
                        </a:cubicBezTo>
                        <a:cubicBezTo>
                          <a:pt x="8925896" y="12699"/>
                          <a:pt x="9191921" y="-20810"/>
                          <a:pt x="9561233" y="0"/>
                        </a:cubicBezTo>
                        <a:cubicBezTo>
                          <a:pt x="9930545" y="20810"/>
                          <a:pt x="9923875" y="24135"/>
                          <a:pt x="10121277" y="0"/>
                        </a:cubicBezTo>
                        <a:cubicBezTo>
                          <a:pt x="10318679" y="-24135"/>
                          <a:pt x="10847934" y="-23021"/>
                          <a:pt x="11470781" y="0"/>
                        </a:cubicBezTo>
                        <a:cubicBezTo>
                          <a:pt x="11486838" y="244652"/>
                          <a:pt x="11445779" y="306325"/>
                          <a:pt x="11470781" y="519248"/>
                        </a:cubicBezTo>
                        <a:cubicBezTo>
                          <a:pt x="11495783" y="732171"/>
                          <a:pt x="11466567" y="772113"/>
                          <a:pt x="11470781" y="998554"/>
                        </a:cubicBezTo>
                        <a:cubicBezTo>
                          <a:pt x="11188270" y="1010191"/>
                          <a:pt x="10849570" y="981448"/>
                          <a:pt x="10681321" y="998554"/>
                        </a:cubicBezTo>
                        <a:cubicBezTo>
                          <a:pt x="10513072" y="1015660"/>
                          <a:pt x="10384253" y="1004954"/>
                          <a:pt x="10235985" y="998554"/>
                        </a:cubicBezTo>
                        <a:cubicBezTo>
                          <a:pt x="10087717" y="992154"/>
                          <a:pt x="9591805" y="992503"/>
                          <a:pt x="9331818" y="998554"/>
                        </a:cubicBezTo>
                        <a:cubicBezTo>
                          <a:pt x="9071831" y="1004605"/>
                          <a:pt x="8837706" y="1021653"/>
                          <a:pt x="8657066" y="998554"/>
                        </a:cubicBezTo>
                        <a:cubicBezTo>
                          <a:pt x="8476426" y="975455"/>
                          <a:pt x="8397233" y="995025"/>
                          <a:pt x="8211730" y="998554"/>
                        </a:cubicBezTo>
                        <a:cubicBezTo>
                          <a:pt x="8026227" y="1002083"/>
                          <a:pt x="7755852" y="980938"/>
                          <a:pt x="7536978" y="998554"/>
                        </a:cubicBezTo>
                        <a:cubicBezTo>
                          <a:pt x="7318104" y="1016170"/>
                          <a:pt x="7326506" y="985356"/>
                          <a:pt x="7206349" y="998554"/>
                        </a:cubicBezTo>
                        <a:cubicBezTo>
                          <a:pt x="7086192" y="1011752"/>
                          <a:pt x="6944809" y="992294"/>
                          <a:pt x="6875721" y="998554"/>
                        </a:cubicBezTo>
                        <a:cubicBezTo>
                          <a:pt x="6806633" y="1004814"/>
                          <a:pt x="6400393" y="974314"/>
                          <a:pt x="6200969" y="998554"/>
                        </a:cubicBezTo>
                        <a:cubicBezTo>
                          <a:pt x="6001545" y="1022794"/>
                          <a:pt x="5910933" y="1011298"/>
                          <a:pt x="5755633" y="998554"/>
                        </a:cubicBezTo>
                        <a:cubicBezTo>
                          <a:pt x="5600333" y="985810"/>
                          <a:pt x="5311700" y="1001124"/>
                          <a:pt x="4966173" y="998554"/>
                        </a:cubicBezTo>
                        <a:cubicBezTo>
                          <a:pt x="4620646" y="995984"/>
                          <a:pt x="4674971" y="1006509"/>
                          <a:pt x="4520837" y="998554"/>
                        </a:cubicBezTo>
                        <a:cubicBezTo>
                          <a:pt x="4366703" y="990599"/>
                          <a:pt x="3960853" y="995417"/>
                          <a:pt x="3731378" y="998554"/>
                        </a:cubicBezTo>
                        <a:cubicBezTo>
                          <a:pt x="3501903" y="1001691"/>
                          <a:pt x="3468848" y="995379"/>
                          <a:pt x="3400749" y="998554"/>
                        </a:cubicBezTo>
                        <a:cubicBezTo>
                          <a:pt x="3332650" y="1001729"/>
                          <a:pt x="2808078" y="1010358"/>
                          <a:pt x="2611290" y="998554"/>
                        </a:cubicBezTo>
                        <a:cubicBezTo>
                          <a:pt x="2414502" y="986750"/>
                          <a:pt x="2272351" y="988719"/>
                          <a:pt x="2165953" y="998554"/>
                        </a:cubicBezTo>
                        <a:cubicBezTo>
                          <a:pt x="2059555" y="1008389"/>
                          <a:pt x="1907937" y="1003175"/>
                          <a:pt x="1835325" y="998554"/>
                        </a:cubicBezTo>
                        <a:cubicBezTo>
                          <a:pt x="1762713" y="993933"/>
                          <a:pt x="1521078" y="1020224"/>
                          <a:pt x="1389989" y="998554"/>
                        </a:cubicBezTo>
                        <a:cubicBezTo>
                          <a:pt x="1258900" y="976884"/>
                          <a:pt x="792531" y="1032338"/>
                          <a:pt x="600529" y="998554"/>
                        </a:cubicBezTo>
                        <a:cubicBezTo>
                          <a:pt x="408527" y="964770"/>
                          <a:pt x="293200" y="1002657"/>
                          <a:pt x="0" y="998554"/>
                        </a:cubicBezTo>
                        <a:cubicBezTo>
                          <a:pt x="16476" y="876321"/>
                          <a:pt x="-5265" y="631579"/>
                          <a:pt x="0" y="529234"/>
                        </a:cubicBezTo>
                        <a:cubicBezTo>
                          <a:pt x="5265" y="426889"/>
                          <a:pt x="-13443" y="250709"/>
                          <a:pt x="0" y="0"/>
                        </a:cubicBezTo>
                        <a:close/>
                      </a:path>
                    </a:pathLst>
                  </a:custGeom>
                  <ask:type>
                    <ask:lineSketchNone/>
                  </ask:type>
                </ask:lineSketchStyleProps>
              </a:ext>
            </a:extLst>
          </a:ln>
          <a:effectLst/>
        </p:spPr>
        <p:txBody>
          <a:bodyPr lIns="180000" rIns="180000" bIns="108000" rtlCol="0" anchor="ctr"/>
          <a:lstStyle/>
          <a:p>
            <a:pPr marL="0" marR="0" lvl="0" indent="0" algn="just" defTabSz="914400" rtl="0" eaLnBrk="1" fontAlgn="base" latinLnBrk="0" hangingPunct="1">
              <a:lnSpc>
                <a:spcPct val="130000"/>
              </a:lnSpc>
              <a:spcBef>
                <a:spcPct val="0"/>
              </a:spcBef>
              <a:spcAft>
                <a:spcPct val="0"/>
              </a:spcAft>
              <a:buClrTx/>
              <a:buSzTx/>
              <a:buFontTx/>
              <a:buNone/>
              <a:tabLst/>
              <a:defRPr/>
            </a:pPr>
            <a:r>
              <a:rPr lang="zh-CN" altLang="en-US" sz="2400" b="1" dirty="0">
                <a:solidFill>
                  <a:srgbClr val="0000FF"/>
                </a:solidFill>
                <a:latin typeface="SimHei" panose="02010609060101010101" pitchFamily="49" charset="-122"/>
                <a:ea typeface="SimHei" panose="02010609060101010101" pitchFamily="49" charset="-122"/>
                <a:sym typeface="宋体" panose="02010600030101010101" pitchFamily="2" charset="-122"/>
              </a:rPr>
              <a:t>对于“</a:t>
            </a:r>
            <a:r>
              <a:rPr lang="zh-CN" altLang="en-US" sz="2400" b="1" dirty="0">
                <a:solidFill>
                  <a:srgbClr val="C00000"/>
                </a:solidFill>
                <a:latin typeface="SimHei" panose="02010609060101010101" pitchFamily="49" charset="-122"/>
                <a:ea typeface="SimHei" panose="02010609060101010101" pitchFamily="49" charset="-122"/>
              </a:rPr>
              <a:t>每次处理几个样本？</a:t>
            </a:r>
            <a:r>
              <a:rPr lang="zh-CN" altLang="en-US" sz="2400" b="1" dirty="0">
                <a:solidFill>
                  <a:srgbClr val="0000FF"/>
                </a:solidFill>
                <a:latin typeface="SimHei" panose="02010609060101010101" pitchFamily="49" charset="-122"/>
                <a:ea typeface="SimHei" panose="02010609060101010101" pitchFamily="49" charset="-122"/>
                <a:sym typeface="宋体" panose="02010600030101010101" pitchFamily="2" charset="-122"/>
              </a:rPr>
              <a:t>”，梯度下降法有三种主要模式：</a:t>
            </a: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C409F96B-D935-DF4E-382C-8275576A606A}"/>
                  </a:ext>
                </a:extLst>
              </p:cNvPr>
              <p:cNvGraphicFramePr>
                <a:graphicFrameLocks noGrp="1"/>
              </p:cNvGraphicFramePr>
              <p:nvPr>
                <p:extLst>
                  <p:ext uri="{D42A27DB-BD31-4B8C-83A1-F6EECF244321}">
                    <p14:modId xmlns:p14="http://schemas.microsoft.com/office/powerpoint/2010/main" val="2613250329"/>
                  </p:ext>
                </p:extLst>
              </p:nvPr>
            </p:nvGraphicFramePr>
            <p:xfrm>
              <a:off x="399073" y="2066139"/>
              <a:ext cx="11393854" cy="3518308"/>
            </p:xfrm>
            <a:graphic>
              <a:graphicData uri="http://schemas.openxmlformats.org/drawingml/2006/table">
                <a:tbl>
                  <a:tblPr firstRow="1" bandRow="1">
                    <a:tableStyleId>{5C22544A-7EE6-4342-B048-85BDC9FD1C3A}</a:tableStyleId>
                  </a:tblPr>
                  <a:tblGrid>
                    <a:gridCol w="2919313">
                      <a:extLst>
                        <a:ext uri="{9D8B030D-6E8A-4147-A177-3AD203B41FA5}">
                          <a16:colId xmlns:a16="http://schemas.microsoft.com/office/drawing/2014/main" val="589712975"/>
                        </a:ext>
                      </a:extLst>
                    </a:gridCol>
                    <a:gridCol w="2802194">
                      <a:extLst>
                        <a:ext uri="{9D8B030D-6E8A-4147-A177-3AD203B41FA5}">
                          <a16:colId xmlns:a16="http://schemas.microsoft.com/office/drawing/2014/main" val="961022852"/>
                        </a:ext>
                      </a:extLst>
                    </a:gridCol>
                    <a:gridCol w="5672347">
                      <a:extLst>
                        <a:ext uri="{9D8B030D-6E8A-4147-A177-3AD203B41FA5}">
                          <a16:colId xmlns:a16="http://schemas.microsoft.com/office/drawing/2014/main" val="1295517709"/>
                        </a:ext>
                      </a:extLst>
                    </a:gridCol>
                  </a:tblGrid>
                  <a:tr h="605096">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方法</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每次使用数据量</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特点</a:t>
                          </a:r>
                        </a:p>
                      </a:txBody>
                      <a:tcPr anchor="ctr"/>
                    </a:tc>
                    <a:extLst>
                      <a:ext uri="{0D108BD9-81ED-4DB2-BD59-A6C34878D82A}">
                        <a16:rowId xmlns:a16="http://schemas.microsoft.com/office/drawing/2014/main" val="2888602925"/>
                      </a:ext>
                    </a:extLst>
                  </a:tr>
                  <a:tr h="605096">
                    <a:tc>
                      <a:txBody>
                        <a:bodyPr/>
                        <a:lstStyle/>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随机梯度下降</a:t>
                          </a:r>
                          <a:endParaRPr lang="en-US" altLang="zh-CN" sz="2000" b="1" kern="1200" dirty="0">
                            <a:solidFill>
                              <a:schemeClr val="dk1"/>
                            </a:solidFill>
                            <a:latin typeface="SimHei" panose="02010609060101010101" pitchFamily="49" charset="-122"/>
                            <a:ea typeface="SimHei" panose="02010609060101010101" pitchFamily="49" charset="-122"/>
                            <a:cs typeface="+mn-cs"/>
                          </a:endParaRPr>
                        </a:p>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a:t>
                          </a:r>
                          <a:r>
                            <a:rPr lang="en-US" altLang="zh-CN" sz="2000" b="1" kern="1200" dirty="0">
                              <a:solidFill>
                                <a:schemeClr val="dk1"/>
                              </a:solidFill>
                              <a:latin typeface="SimHei" panose="02010609060101010101" pitchFamily="49" charset="-122"/>
                              <a:ea typeface="SimHei" panose="02010609060101010101" pitchFamily="49" charset="-122"/>
                              <a:cs typeface="+mn-cs"/>
                            </a:rPr>
                            <a:t>SGD</a:t>
                          </a:r>
                          <a:r>
                            <a:rPr lang="zh-CN" altLang="en-US" sz="2000" b="1" kern="1200" dirty="0">
                              <a:solidFill>
                                <a:schemeClr val="dk1"/>
                              </a:solidFill>
                              <a:latin typeface="SimHei" panose="02010609060101010101" pitchFamily="49" charset="-122"/>
                              <a:ea typeface="SimHei" panose="02010609060101010101" pitchFamily="49" charset="-122"/>
                              <a:cs typeface="+mn-cs"/>
                            </a:rPr>
                            <a:t>）</a:t>
                          </a: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r>
                                  <m:rPr>
                                    <m:nor/>
                                  </m:rPr>
                                  <a:rPr lang="zh-CN" altLang="en-US" sz="2000" b="1" kern="1200" smtClean="0">
                                    <a:solidFill>
                                      <a:schemeClr val="dk1"/>
                                    </a:solidFill>
                                    <a:latin typeface="SimHei" panose="02010609060101010101" pitchFamily="49" charset="-122"/>
                                    <a:ea typeface="SimHei" panose="02010609060101010101" pitchFamily="49" charset="-122"/>
                                    <a:cs typeface="+mn-cs"/>
                                  </a:rPr>
                                  <m:t>单个样本</m:t>
                                </m:r>
                              </m:oMath>
                            </m:oMathPara>
                          </a14:m>
                          <a:endParaRPr lang="zh-CN" altLang="en-US" sz="2000" b="1" kern="1200" dirty="0">
                            <a:solidFill>
                              <a:schemeClr val="dk1"/>
                            </a:solidFill>
                            <a:latin typeface="SimHei" panose="02010609060101010101" pitchFamily="49" charset="-122"/>
                            <a:ea typeface="SimHei" panose="02010609060101010101" pitchFamily="49" charset="-122"/>
                            <a:cs typeface="+mn-cs"/>
                          </a:endParaRPr>
                        </a:p>
                      </a:txBody>
                      <a:tcPr anchor="ct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波动大，收敛不稳定；显存要求低</a:t>
                          </a:r>
                        </a:p>
                      </a:txBody>
                      <a:tcPr anchor="ctr"/>
                    </a:tc>
                    <a:extLst>
                      <a:ext uri="{0D108BD9-81ED-4DB2-BD59-A6C34878D82A}">
                        <a16:rowId xmlns:a16="http://schemas.microsoft.com/office/drawing/2014/main" val="3863458051"/>
                      </a:ext>
                    </a:extLst>
                  </a:tr>
                  <a:tr h="883581">
                    <a:tc>
                      <a:txBody>
                        <a:bodyPr/>
                        <a:lstStyle/>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批量梯度下降</a:t>
                          </a:r>
                          <a:endParaRPr lang="en-US" altLang="zh-CN" sz="2000" b="1" kern="1200" dirty="0">
                            <a:solidFill>
                              <a:schemeClr val="dk1"/>
                            </a:solidFill>
                            <a:latin typeface="SimHei" panose="02010609060101010101" pitchFamily="49" charset="-122"/>
                            <a:ea typeface="SimHei" panose="02010609060101010101" pitchFamily="49" charset="-122"/>
                            <a:cs typeface="+mn-cs"/>
                          </a:endParaRPr>
                        </a:p>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a:t>
                          </a:r>
                          <a:r>
                            <a:rPr lang="en-US" altLang="zh-CN" sz="2000" b="1" kern="1200" dirty="0">
                              <a:solidFill>
                                <a:schemeClr val="dk1"/>
                              </a:solidFill>
                              <a:latin typeface="SimHei" panose="02010609060101010101" pitchFamily="49" charset="-122"/>
                              <a:ea typeface="SimHei" panose="02010609060101010101" pitchFamily="49" charset="-122"/>
                              <a:cs typeface="+mn-cs"/>
                            </a:rPr>
                            <a:t>BGD</a:t>
                          </a:r>
                          <a:r>
                            <a:rPr lang="zh-CN" altLang="en-US" sz="2000" b="1" kern="1200" dirty="0">
                              <a:solidFill>
                                <a:schemeClr val="dk1"/>
                              </a:solidFill>
                              <a:latin typeface="SimHei" panose="02010609060101010101" pitchFamily="49" charset="-122"/>
                              <a:ea typeface="SimHei" panose="02010609060101010101" pitchFamily="49" charset="-122"/>
                              <a:cs typeface="+mn-cs"/>
                            </a:rPr>
                            <a:t>）</a:t>
                          </a: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r>
                                  <m:rPr>
                                    <m:nor/>
                                  </m:rPr>
                                  <a:rPr lang="zh-CN" altLang="en-US" sz="2000" b="1" kern="1200" smtClean="0">
                                    <a:solidFill>
                                      <a:schemeClr val="dk1"/>
                                    </a:solidFill>
                                    <a:latin typeface="SimHei" panose="02010609060101010101" pitchFamily="49" charset="-122"/>
                                    <a:ea typeface="SimHei" panose="02010609060101010101" pitchFamily="49" charset="-122"/>
                                    <a:cs typeface="+mn-cs"/>
                                  </a:rPr>
                                  <m:t>整个训练集</m:t>
                                </m:r>
                              </m:oMath>
                            </m:oMathPara>
                          </a14:m>
                          <a:endParaRPr lang="zh-CN" altLang="en-US" sz="2000" b="1" kern="1200" dirty="0">
                            <a:solidFill>
                              <a:schemeClr val="dk1"/>
                            </a:solidFill>
                            <a:latin typeface="SimHei" panose="02010609060101010101" pitchFamily="49" charset="-122"/>
                            <a:ea typeface="SimHei" panose="02010609060101010101" pitchFamily="49" charset="-122"/>
                            <a:cs typeface="+mn-cs"/>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2000" dirty="0">
                              <a:latin typeface="SimHei" panose="02010609060101010101" pitchFamily="49" charset="-122"/>
                              <a:ea typeface="SimHei" panose="02010609060101010101" pitchFamily="49" charset="-122"/>
                            </a:rPr>
                            <a:t>稳定；缺乏随机性；显存要求低</a:t>
                          </a:r>
                        </a:p>
                      </a:txBody>
                      <a:tcPr anchor="ctr"/>
                    </a:tc>
                    <a:extLst>
                      <a:ext uri="{0D108BD9-81ED-4DB2-BD59-A6C34878D82A}">
                        <a16:rowId xmlns:a16="http://schemas.microsoft.com/office/drawing/2014/main" val="758905748"/>
                      </a:ext>
                    </a:extLst>
                  </a:tr>
                  <a:tr h="1044406">
                    <a:tc>
                      <a:txBody>
                        <a:bodyPr/>
                        <a:lstStyle/>
                        <a:p>
                          <a:pPr algn="ctr">
                            <a:lnSpc>
                              <a:spcPct val="150000"/>
                            </a:lnSpc>
                          </a:pPr>
                          <a:r>
                            <a:rPr lang="zh-CN" altLang="en-US" sz="2000" b="1" kern="1200" dirty="0">
                              <a:solidFill>
                                <a:srgbClr val="C00000"/>
                              </a:solidFill>
                              <a:latin typeface="SimHei" panose="02010609060101010101" pitchFamily="49" charset="-122"/>
                              <a:ea typeface="SimHei" panose="02010609060101010101" pitchFamily="49" charset="-122"/>
                              <a:cs typeface="+mn-cs"/>
                            </a:rPr>
                            <a:t>小批量随机梯度下降（</a:t>
                          </a:r>
                          <a:r>
                            <a:rPr lang="en-US" altLang="zh-CN" sz="2000" b="1" kern="1200" dirty="0">
                              <a:solidFill>
                                <a:srgbClr val="C00000"/>
                              </a:solidFill>
                              <a:latin typeface="SimHei" panose="02010609060101010101" pitchFamily="49" charset="-122"/>
                              <a:ea typeface="SimHei" panose="02010609060101010101" pitchFamily="49" charset="-122"/>
                              <a:cs typeface="+mn-cs"/>
                            </a:rPr>
                            <a:t>Mini-Batch</a:t>
                          </a:r>
                          <a:r>
                            <a:rPr lang="zh-CN" altLang="en-US" sz="2000" b="1" kern="1200" dirty="0">
                              <a:solidFill>
                                <a:srgbClr val="C00000"/>
                              </a:solidFill>
                              <a:latin typeface="SimHei" panose="02010609060101010101" pitchFamily="49" charset="-122"/>
                              <a:ea typeface="SimHei" panose="02010609060101010101" pitchFamily="49" charset="-122"/>
                              <a:cs typeface="+mn-cs"/>
                            </a:rPr>
                            <a:t> </a:t>
                          </a:r>
                          <a:r>
                            <a:rPr lang="en-US" altLang="zh-CN" sz="2000" b="1" kern="1200" dirty="0">
                              <a:solidFill>
                                <a:srgbClr val="C00000"/>
                              </a:solidFill>
                              <a:latin typeface="SimHei" panose="02010609060101010101" pitchFamily="49" charset="-122"/>
                              <a:ea typeface="SimHei" panose="02010609060101010101" pitchFamily="49" charset="-122"/>
                              <a:cs typeface="+mn-cs"/>
                            </a:rPr>
                            <a:t>SGD</a:t>
                          </a:r>
                          <a:r>
                            <a:rPr lang="zh-CN" altLang="en-US" sz="2000" b="1" kern="1200" dirty="0">
                              <a:solidFill>
                                <a:srgbClr val="C00000"/>
                              </a:solidFill>
                              <a:latin typeface="SimHei" panose="02010609060101010101" pitchFamily="49" charset="-122"/>
                              <a:ea typeface="SimHei" panose="02010609060101010101" pitchFamily="49" charset="-122"/>
                              <a:cs typeface="+mn-cs"/>
                            </a:rPr>
                            <a:t>）</a:t>
                          </a: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r>
                                  <m:rPr>
                                    <m:nor/>
                                  </m:rPr>
                                  <a:rPr lang="zh-CN" altLang="en-US" sz="2000" b="1" kern="1200" smtClean="0">
                                    <a:solidFill>
                                      <a:srgbClr val="C00000"/>
                                    </a:solidFill>
                                    <a:latin typeface="SimHei" panose="02010609060101010101" pitchFamily="49" charset="-122"/>
                                    <a:ea typeface="SimHei" panose="02010609060101010101" pitchFamily="49" charset="-122"/>
                                    <a:cs typeface="+mn-cs"/>
                                  </a:rPr>
                                  <m:t>一小批样本 </m:t>
                                </m:r>
                                <m:r>
                                  <m:rPr>
                                    <m:nor/>
                                  </m:rPr>
                                  <a:rPr lang="en-US" altLang="zh-CN" sz="2000" b="1" kern="1200" smtClean="0">
                                    <a:solidFill>
                                      <a:srgbClr val="C00000"/>
                                    </a:solidFill>
                                    <a:latin typeface="SimHei" panose="02010609060101010101" pitchFamily="49" charset="-122"/>
                                    <a:ea typeface="SimHei" panose="02010609060101010101" pitchFamily="49" charset="-122"/>
                                    <a:cs typeface="+mn-cs"/>
                                  </a:rPr>
                                  <m:t>(</m:t>
                                </m:r>
                                <m:r>
                                  <m:rPr>
                                    <m:nor/>
                                  </m:rPr>
                                  <a:rPr lang="en-US" altLang="zh-CN" sz="2000" b="1" kern="1200" smtClean="0">
                                    <a:solidFill>
                                      <a:srgbClr val="C00000"/>
                                    </a:solidFill>
                                    <a:latin typeface="SimHei" panose="02010609060101010101" pitchFamily="49" charset="-122"/>
                                    <a:ea typeface="SimHei" panose="02010609060101010101" pitchFamily="49" charset="-122"/>
                                    <a:cs typeface="+mn-cs"/>
                                  </a:rPr>
                                  <m:t>Batch</m:t>
                                </m:r>
                                <m:r>
                                  <m:rPr>
                                    <m:nor/>
                                  </m:rPr>
                                  <a:rPr lang="en-US" altLang="zh-CN" sz="2000" b="1" kern="1200" smtClean="0">
                                    <a:solidFill>
                                      <a:srgbClr val="C00000"/>
                                    </a:solidFill>
                                    <a:latin typeface="SimHei" panose="02010609060101010101" pitchFamily="49" charset="-122"/>
                                    <a:ea typeface="SimHei" panose="02010609060101010101" pitchFamily="49" charset="-122"/>
                                    <a:cs typeface="+mn-cs"/>
                                  </a:rPr>
                                  <m:t>)</m:t>
                                </m:r>
                              </m:oMath>
                            </m:oMathPara>
                          </a14:m>
                          <a:endParaRPr lang="zh-CN" altLang="en-US" sz="2000" b="1" kern="1200" dirty="0">
                            <a:solidFill>
                              <a:srgbClr val="C00000"/>
                            </a:solidFill>
                            <a:latin typeface="SimHei" panose="02010609060101010101" pitchFamily="49" charset="-122"/>
                            <a:ea typeface="SimHei" panose="02010609060101010101" pitchFamily="49" charset="-122"/>
                            <a:cs typeface="+mn-cs"/>
                          </a:endParaRPr>
                        </a:p>
                      </a:txBody>
                      <a:tcPr anchor="ctr"/>
                    </a:tc>
                    <a:tc>
                      <a:txBody>
                        <a:bodyPr/>
                        <a:lstStyle/>
                        <a:p>
                          <a:pPr algn="ctr">
                            <a:lnSpc>
                              <a:spcPct val="150000"/>
                            </a:lnSpc>
                          </a:pPr>
                          <a:r>
                            <a:rPr lang="zh-CN" altLang="en-US" sz="2000" kern="1200" dirty="0">
                              <a:solidFill>
                                <a:srgbClr val="C00000"/>
                              </a:solidFill>
                              <a:latin typeface="SimHei" panose="02010609060101010101" pitchFamily="49" charset="-122"/>
                              <a:ea typeface="SimHei" panose="02010609060101010101" pitchFamily="49" charset="-122"/>
                              <a:cs typeface="+mn-cs"/>
                            </a:rPr>
                            <a:t>兼顾稳定性和随机性，显存要求因批量大小（</a:t>
                          </a:r>
                          <a:r>
                            <a:rPr lang="en-US" altLang="zh-CN" sz="2000" kern="1200" dirty="0">
                              <a:solidFill>
                                <a:srgbClr val="C00000"/>
                              </a:solidFill>
                              <a:latin typeface="SimHei" panose="02010609060101010101" pitchFamily="49" charset="-122"/>
                              <a:ea typeface="SimHei" panose="02010609060101010101" pitchFamily="49" charset="-122"/>
                              <a:cs typeface="+mn-cs"/>
                            </a:rPr>
                            <a:t>Batch</a:t>
                          </a:r>
                          <a:r>
                            <a:rPr lang="zh-CN" altLang="en-US" sz="2000" kern="1200" dirty="0">
                              <a:solidFill>
                                <a:srgbClr val="C00000"/>
                              </a:solidFill>
                              <a:latin typeface="SimHei" panose="02010609060101010101" pitchFamily="49" charset="-122"/>
                              <a:ea typeface="SimHei" panose="02010609060101010101" pitchFamily="49" charset="-122"/>
                              <a:cs typeface="+mn-cs"/>
                            </a:rPr>
                            <a:t> </a:t>
                          </a:r>
                          <a:r>
                            <a:rPr lang="en-US" altLang="zh-CN" sz="2000" kern="1200" dirty="0">
                              <a:solidFill>
                                <a:srgbClr val="C00000"/>
                              </a:solidFill>
                              <a:latin typeface="SimHei" panose="02010609060101010101" pitchFamily="49" charset="-122"/>
                              <a:ea typeface="SimHei" panose="02010609060101010101" pitchFamily="49" charset="-122"/>
                              <a:cs typeface="+mn-cs"/>
                            </a:rPr>
                            <a:t>Size</a:t>
                          </a:r>
                          <a:r>
                            <a:rPr lang="zh-CN" altLang="en-US" sz="2000" kern="1200" dirty="0">
                              <a:solidFill>
                                <a:srgbClr val="C00000"/>
                              </a:solidFill>
                              <a:latin typeface="SimHei" panose="02010609060101010101" pitchFamily="49" charset="-122"/>
                              <a:ea typeface="SimHei" panose="02010609060101010101" pitchFamily="49" charset="-122"/>
                              <a:cs typeface="+mn-cs"/>
                            </a:rPr>
                            <a:t>）而异；实践中最常用</a:t>
                          </a:r>
                        </a:p>
                      </a:txBody>
                      <a:tcPr anchor="ctr"/>
                    </a:tc>
                    <a:extLst>
                      <a:ext uri="{0D108BD9-81ED-4DB2-BD59-A6C34878D82A}">
                        <a16:rowId xmlns:a16="http://schemas.microsoft.com/office/drawing/2014/main" val="2331681709"/>
                      </a:ext>
                    </a:extLst>
                  </a:tr>
                </a:tbl>
              </a:graphicData>
            </a:graphic>
          </p:graphicFrame>
        </mc:Choice>
        <mc:Fallback xmlns="">
          <p:graphicFrame>
            <p:nvGraphicFramePr>
              <p:cNvPr id="6" name="表格 5">
                <a:extLst>
                  <a:ext uri="{FF2B5EF4-FFF2-40B4-BE49-F238E27FC236}">
                    <a16:creationId xmlns:a16="http://schemas.microsoft.com/office/drawing/2014/main" id="{C409F96B-D935-DF4E-382C-8275576A606A}"/>
                  </a:ext>
                </a:extLst>
              </p:cNvPr>
              <p:cNvGraphicFramePr>
                <a:graphicFrameLocks noGrp="1"/>
              </p:cNvGraphicFramePr>
              <p:nvPr>
                <p:extLst>
                  <p:ext uri="{D42A27DB-BD31-4B8C-83A1-F6EECF244321}">
                    <p14:modId xmlns:p14="http://schemas.microsoft.com/office/powerpoint/2010/main" val="2613250329"/>
                  </p:ext>
                </p:extLst>
              </p:nvPr>
            </p:nvGraphicFramePr>
            <p:xfrm>
              <a:off x="399073" y="2066139"/>
              <a:ext cx="11393854" cy="3518308"/>
            </p:xfrm>
            <a:graphic>
              <a:graphicData uri="http://schemas.openxmlformats.org/drawingml/2006/table">
                <a:tbl>
                  <a:tblPr firstRow="1" bandRow="1">
                    <a:tableStyleId>{5C22544A-7EE6-4342-B048-85BDC9FD1C3A}</a:tableStyleId>
                  </a:tblPr>
                  <a:tblGrid>
                    <a:gridCol w="2919313">
                      <a:extLst>
                        <a:ext uri="{9D8B030D-6E8A-4147-A177-3AD203B41FA5}">
                          <a16:colId xmlns:a16="http://schemas.microsoft.com/office/drawing/2014/main" val="589712975"/>
                        </a:ext>
                      </a:extLst>
                    </a:gridCol>
                    <a:gridCol w="2802194">
                      <a:extLst>
                        <a:ext uri="{9D8B030D-6E8A-4147-A177-3AD203B41FA5}">
                          <a16:colId xmlns:a16="http://schemas.microsoft.com/office/drawing/2014/main" val="961022852"/>
                        </a:ext>
                      </a:extLst>
                    </a:gridCol>
                    <a:gridCol w="5672347">
                      <a:extLst>
                        <a:ext uri="{9D8B030D-6E8A-4147-A177-3AD203B41FA5}">
                          <a16:colId xmlns:a16="http://schemas.microsoft.com/office/drawing/2014/main" val="1295517709"/>
                        </a:ext>
                      </a:extLst>
                    </a:gridCol>
                  </a:tblGrid>
                  <a:tr h="605096">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方法</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每次使用数据量</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特点</a:t>
                          </a:r>
                        </a:p>
                      </a:txBody>
                      <a:tcPr anchor="ctr"/>
                    </a:tc>
                    <a:extLst>
                      <a:ext uri="{0D108BD9-81ED-4DB2-BD59-A6C34878D82A}">
                        <a16:rowId xmlns:a16="http://schemas.microsoft.com/office/drawing/2014/main" val="2888602925"/>
                      </a:ext>
                    </a:extLst>
                  </a:tr>
                  <a:tr h="934403">
                    <a:tc>
                      <a:txBody>
                        <a:bodyPr/>
                        <a:lstStyle/>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随机梯度下降</a:t>
                          </a:r>
                          <a:endParaRPr lang="en-US" altLang="zh-CN" sz="2000" b="1" kern="1200" dirty="0">
                            <a:solidFill>
                              <a:schemeClr val="dk1"/>
                            </a:solidFill>
                            <a:latin typeface="SimHei" panose="02010609060101010101" pitchFamily="49" charset="-122"/>
                            <a:ea typeface="SimHei" panose="02010609060101010101" pitchFamily="49" charset="-122"/>
                            <a:cs typeface="+mn-cs"/>
                          </a:endParaRPr>
                        </a:p>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a:t>
                          </a:r>
                          <a:r>
                            <a:rPr lang="en-US" altLang="zh-CN" sz="2000" b="1" kern="1200" dirty="0">
                              <a:solidFill>
                                <a:schemeClr val="dk1"/>
                              </a:solidFill>
                              <a:latin typeface="SimHei" panose="02010609060101010101" pitchFamily="49" charset="-122"/>
                              <a:ea typeface="SimHei" panose="02010609060101010101" pitchFamily="49" charset="-122"/>
                              <a:cs typeface="+mn-cs"/>
                            </a:rPr>
                            <a:t>SGD</a:t>
                          </a:r>
                          <a:r>
                            <a:rPr lang="zh-CN" altLang="en-US" sz="2000" b="1" kern="1200" dirty="0">
                              <a:solidFill>
                                <a:schemeClr val="dk1"/>
                              </a:solidFill>
                              <a:latin typeface="SimHei" panose="02010609060101010101" pitchFamily="49" charset="-122"/>
                              <a:ea typeface="SimHei" panose="02010609060101010101" pitchFamily="49" charset="-122"/>
                              <a:cs typeface="+mn-cs"/>
                            </a:rPr>
                            <a:t>）</a:t>
                          </a:r>
                        </a:p>
                      </a:txBody>
                      <a:tcPr anchor="ctr"/>
                    </a:tc>
                    <a:tc>
                      <a:txBody>
                        <a:bodyPr/>
                        <a:lstStyle/>
                        <a:p>
                          <a:endParaRPr lang="zh-CN"/>
                        </a:p>
                      </a:txBody>
                      <a:tcPr anchor="ctr">
                        <a:blipFill>
                          <a:blip r:embed="rId2"/>
                          <a:stretch>
                            <a:fillRect l="-104525" t="-66216" r="-203167" b="-216216"/>
                          </a:stretch>
                        </a:blipFill>
                      </a:tcPr>
                    </a:tc>
                    <a:tc>
                      <a:txBody>
                        <a:bodyPr/>
                        <a:lstStyle/>
                        <a:p>
                          <a:pPr algn="ctr">
                            <a:lnSpc>
                              <a:spcPct val="150000"/>
                            </a:lnSpc>
                          </a:pPr>
                          <a:r>
                            <a:rPr lang="zh-CN" altLang="en-US" sz="2000" dirty="0">
                              <a:latin typeface="SimHei" panose="02010609060101010101" pitchFamily="49" charset="-122"/>
                              <a:ea typeface="SimHei" panose="02010609060101010101" pitchFamily="49" charset="-122"/>
                            </a:rPr>
                            <a:t>波动大，收敛不稳定；显存要求低</a:t>
                          </a:r>
                        </a:p>
                      </a:txBody>
                      <a:tcPr anchor="ctr"/>
                    </a:tc>
                    <a:extLst>
                      <a:ext uri="{0D108BD9-81ED-4DB2-BD59-A6C34878D82A}">
                        <a16:rowId xmlns:a16="http://schemas.microsoft.com/office/drawing/2014/main" val="3863458051"/>
                      </a:ext>
                    </a:extLst>
                  </a:tr>
                  <a:tr h="934403">
                    <a:tc>
                      <a:txBody>
                        <a:bodyPr/>
                        <a:lstStyle/>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批量梯度下降</a:t>
                          </a:r>
                          <a:endParaRPr lang="en-US" altLang="zh-CN" sz="2000" b="1" kern="1200" dirty="0">
                            <a:solidFill>
                              <a:schemeClr val="dk1"/>
                            </a:solidFill>
                            <a:latin typeface="SimHei" panose="02010609060101010101" pitchFamily="49" charset="-122"/>
                            <a:ea typeface="SimHei" panose="02010609060101010101" pitchFamily="49" charset="-122"/>
                            <a:cs typeface="+mn-cs"/>
                          </a:endParaRPr>
                        </a:p>
                        <a:p>
                          <a:pPr algn="ctr">
                            <a:lnSpc>
                              <a:spcPct val="150000"/>
                            </a:lnSpc>
                          </a:pPr>
                          <a:r>
                            <a:rPr lang="zh-CN" altLang="en-US" sz="2000" b="1" kern="1200" dirty="0">
                              <a:solidFill>
                                <a:schemeClr val="dk1"/>
                              </a:solidFill>
                              <a:latin typeface="SimHei" panose="02010609060101010101" pitchFamily="49" charset="-122"/>
                              <a:ea typeface="SimHei" panose="02010609060101010101" pitchFamily="49" charset="-122"/>
                              <a:cs typeface="+mn-cs"/>
                            </a:rPr>
                            <a:t>（</a:t>
                          </a:r>
                          <a:r>
                            <a:rPr lang="en-US" altLang="zh-CN" sz="2000" b="1" kern="1200" dirty="0">
                              <a:solidFill>
                                <a:schemeClr val="dk1"/>
                              </a:solidFill>
                              <a:latin typeface="SimHei" panose="02010609060101010101" pitchFamily="49" charset="-122"/>
                              <a:ea typeface="SimHei" panose="02010609060101010101" pitchFamily="49" charset="-122"/>
                              <a:cs typeface="+mn-cs"/>
                            </a:rPr>
                            <a:t>BGD</a:t>
                          </a:r>
                          <a:r>
                            <a:rPr lang="zh-CN" altLang="en-US" sz="2000" b="1" kern="1200" dirty="0">
                              <a:solidFill>
                                <a:schemeClr val="dk1"/>
                              </a:solidFill>
                              <a:latin typeface="SimHei" panose="02010609060101010101" pitchFamily="49" charset="-122"/>
                              <a:ea typeface="SimHei" panose="02010609060101010101" pitchFamily="49" charset="-122"/>
                              <a:cs typeface="+mn-cs"/>
                            </a:rPr>
                            <a:t>）</a:t>
                          </a:r>
                        </a:p>
                      </a:txBody>
                      <a:tcPr anchor="ctr"/>
                    </a:tc>
                    <a:tc>
                      <a:txBody>
                        <a:bodyPr/>
                        <a:lstStyle/>
                        <a:p>
                          <a:endParaRPr lang="zh-CN"/>
                        </a:p>
                      </a:txBody>
                      <a:tcPr anchor="ctr">
                        <a:blipFill>
                          <a:blip r:embed="rId2"/>
                          <a:stretch>
                            <a:fillRect l="-104525" t="-168493" r="-203167" b="-119178"/>
                          </a:stretch>
                        </a:blip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2000" dirty="0">
                              <a:latin typeface="SimHei" panose="02010609060101010101" pitchFamily="49" charset="-122"/>
                              <a:ea typeface="SimHei" panose="02010609060101010101" pitchFamily="49" charset="-122"/>
                            </a:rPr>
                            <a:t>稳定；缺乏随机性；显存要求低</a:t>
                          </a:r>
                        </a:p>
                      </a:txBody>
                      <a:tcPr anchor="ctr"/>
                    </a:tc>
                    <a:extLst>
                      <a:ext uri="{0D108BD9-81ED-4DB2-BD59-A6C34878D82A}">
                        <a16:rowId xmlns:a16="http://schemas.microsoft.com/office/drawing/2014/main" val="758905748"/>
                      </a:ext>
                    </a:extLst>
                  </a:tr>
                  <a:tr h="1044406">
                    <a:tc>
                      <a:txBody>
                        <a:bodyPr/>
                        <a:lstStyle/>
                        <a:p>
                          <a:pPr algn="ctr">
                            <a:lnSpc>
                              <a:spcPct val="150000"/>
                            </a:lnSpc>
                          </a:pPr>
                          <a:r>
                            <a:rPr lang="zh-CN" altLang="en-US" sz="2000" b="1" kern="1200" dirty="0">
                              <a:solidFill>
                                <a:srgbClr val="C00000"/>
                              </a:solidFill>
                              <a:latin typeface="SimHei" panose="02010609060101010101" pitchFamily="49" charset="-122"/>
                              <a:ea typeface="SimHei" panose="02010609060101010101" pitchFamily="49" charset="-122"/>
                              <a:cs typeface="+mn-cs"/>
                            </a:rPr>
                            <a:t>小批量随机梯度下降（</a:t>
                          </a:r>
                          <a:r>
                            <a:rPr lang="en-US" altLang="zh-CN" sz="2000" b="1" kern="1200" dirty="0">
                              <a:solidFill>
                                <a:srgbClr val="C00000"/>
                              </a:solidFill>
                              <a:latin typeface="SimHei" panose="02010609060101010101" pitchFamily="49" charset="-122"/>
                              <a:ea typeface="SimHei" panose="02010609060101010101" pitchFamily="49" charset="-122"/>
                              <a:cs typeface="+mn-cs"/>
                            </a:rPr>
                            <a:t>Mini-Batch</a:t>
                          </a:r>
                          <a:r>
                            <a:rPr lang="zh-CN" altLang="en-US" sz="2000" b="1" kern="1200" dirty="0">
                              <a:solidFill>
                                <a:srgbClr val="C00000"/>
                              </a:solidFill>
                              <a:latin typeface="SimHei" panose="02010609060101010101" pitchFamily="49" charset="-122"/>
                              <a:ea typeface="SimHei" panose="02010609060101010101" pitchFamily="49" charset="-122"/>
                              <a:cs typeface="+mn-cs"/>
                            </a:rPr>
                            <a:t> </a:t>
                          </a:r>
                          <a:r>
                            <a:rPr lang="en-US" altLang="zh-CN" sz="2000" b="1" kern="1200" dirty="0">
                              <a:solidFill>
                                <a:srgbClr val="C00000"/>
                              </a:solidFill>
                              <a:latin typeface="SimHei" panose="02010609060101010101" pitchFamily="49" charset="-122"/>
                              <a:ea typeface="SimHei" panose="02010609060101010101" pitchFamily="49" charset="-122"/>
                              <a:cs typeface="+mn-cs"/>
                            </a:rPr>
                            <a:t>SGD</a:t>
                          </a:r>
                          <a:r>
                            <a:rPr lang="zh-CN" altLang="en-US" sz="2000" b="1" kern="1200" dirty="0">
                              <a:solidFill>
                                <a:srgbClr val="C00000"/>
                              </a:solidFill>
                              <a:latin typeface="SimHei" panose="02010609060101010101" pitchFamily="49" charset="-122"/>
                              <a:ea typeface="SimHei" panose="02010609060101010101" pitchFamily="49" charset="-122"/>
                              <a:cs typeface="+mn-cs"/>
                            </a:rPr>
                            <a:t>）</a:t>
                          </a:r>
                        </a:p>
                      </a:txBody>
                      <a:tcPr anchor="ctr"/>
                    </a:tc>
                    <a:tc>
                      <a:txBody>
                        <a:bodyPr/>
                        <a:lstStyle/>
                        <a:p>
                          <a:endParaRPr lang="zh-CN"/>
                        </a:p>
                      </a:txBody>
                      <a:tcPr anchor="ctr">
                        <a:blipFill>
                          <a:blip r:embed="rId2"/>
                          <a:stretch>
                            <a:fillRect l="-104525" t="-236145" r="-203167" b="-4819"/>
                          </a:stretch>
                        </a:blipFill>
                      </a:tcPr>
                    </a:tc>
                    <a:tc>
                      <a:txBody>
                        <a:bodyPr/>
                        <a:lstStyle/>
                        <a:p>
                          <a:pPr algn="ctr">
                            <a:lnSpc>
                              <a:spcPct val="150000"/>
                            </a:lnSpc>
                          </a:pPr>
                          <a:r>
                            <a:rPr lang="zh-CN" altLang="en-US" sz="2000" kern="1200" dirty="0">
                              <a:solidFill>
                                <a:srgbClr val="C00000"/>
                              </a:solidFill>
                              <a:latin typeface="SimHei" panose="02010609060101010101" pitchFamily="49" charset="-122"/>
                              <a:ea typeface="SimHei" panose="02010609060101010101" pitchFamily="49" charset="-122"/>
                              <a:cs typeface="+mn-cs"/>
                            </a:rPr>
                            <a:t>兼顾稳定性和随机性，显存要求因批量大小（</a:t>
                          </a:r>
                          <a:r>
                            <a:rPr lang="en-US" altLang="zh-CN" sz="2000" kern="1200" dirty="0">
                              <a:solidFill>
                                <a:srgbClr val="C00000"/>
                              </a:solidFill>
                              <a:latin typeface="SimHei" panose="02010609060101010101" pitchFamily="49" charset="-122"/>
                              <a:ea typeface="SimHei" panose="02010609060101010101" pitchFamily="49" charset="-122"/>
                              <a:cs typeface="+mn-cs"/>
                            </a:rPr>
                            <a:t>Batch</a:t>
                          </a:r>
                          <a:r>
                            <a:rPr lang="zh-CN" altLang="en-US" sz="2000" kern="1200" dirty="0">
                              <a:solidFill>
                                <a:srgbClr val="C00000"/>
                              </a:solidFill>
                              <a:latin typeface="SimHei" panose="02010609060101010101" pitchFamily="49" charset="-122"/>
                              <a:ea typeface="SimHei" panose="02010609060101010101" pitchFamily="49" charset="-122"/>
                              <a:cs typeface="+mn-cs"/>
                            </a:rPr>
                            <a:t> </a:t>
                          </a:r>
                          <a:r>
                            <a:rPr lang="en-US" altLang="zh-CN" sz="2000" kern="1200" dirty="0">
                              <a:solidFill>
                                <a:srgbClr val="C00000"/>
                              </a:solidFill>
                              <a:latin typeface="SimHei" panose="02010609060101010101" pitchFamily="49" charset="-122"/>
                              <a:ea typeface="SimHei" panose="02010609060101010101" pitchFamily="49" charset="-122"/>
                              <a:cs typeface="+mn-cs"/>
                            </a:rPr>
                            <a:t>Size</a:t>
                          </a:r>
                          <a:r>
                            <a:rPr lang="zh-CN" altLang="en-US" sz="2000" kern="1200" dirty="0">
                              <a:solidFill>
                                <a:srgbClr val="C00000"/>
                              </a:solidFill>
                              <a:latin typeface="SimHei" panose="02010609060101010101" pitchFamily="49" charset="-122"/>
                              <a:ea typeface="SimHei" panose="02010609060101010101" pitchFamily="49" charset="-122"/>
                              <a:cs typeface="+mn-cs"/>
                            </a:rPr>
                            <a:t>）而异；实践中最常用</a:t>
                          </a:r>
                        </a:p>
                      </a:txBody>
                      <a:tcPr anchor="ctr"/>
                    </a:tc>
                    <a:extLst>
                      <a:ext uri="{0D108BD9-81ED-4DB2-BD59-A6C34878D82A}">
                        <a16:rowId xmlns:a16="http://schemas.microsoft.com/office/drawing/2014/main" val="2331681709"/>
                      </a:ext>
                    </a:extLst>
                  </a:tr>
                </a:tbl>
              </a:graphicData>
            </a:graphic>
          </p:graphicFrame>
        </mc:Fallback>
      </mc:AlternateContent>
      <p:sp>
        <p:nvSpPr>
          <p:cNvPr id="3" name="灯片编号占位符 4">
            <a:extLst>
              <a:ext uri="{FF2B5EF4-FFF2-40B4-BE49-F238E27FC236}">
                <a16:creationId xmlns:a16="http://schemas.microsoft.com/office/drawing/2014/main" id="{3315759D-5854-D82E-320C-C29549B24075}"/>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34</a:t>
            </a:fld>
            <a:endParaRPr lang="zh-CN" altLang="en-US" dirty="0"/>
          </a:p>
        </p:txBody>
      </p:sp>
      <p:sp>
        <p:nvSpPr>
          <p:cNvPr id="7" name="文本框 6">
            <a:extLst>
              <a:ext uri="{FF2B5EF4-FFF2-40B4-BE49-F238E27FC236}">
                <a16:creationId xmlns:a16="http://schemas.microsoft.com/office/drawing/2014/main" id="{D0F2CACE-BEF3-BE89-EBB9-CBDF0E530574}"/>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751646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F309-9E85-B2B5-C792-E49CF57310A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B58135-C4A8-B366-CF75-8CF62FDCD097}"/>
              </a:ext>
            </a:extLst>
          </p:cNvPr>
          <p:cNvSpPr>
            <a:spLocks noGrp="1"/>
          </p:cNvSpPr>
          <p:nvPr>
            <p:ph type="title"/>
          </p:nvPr>
        </p:nvSpPr>
        <p:spPr>
          <a:xfrm>
            <a:off x="147484" y="229235"/>
            <a:ext cx="6127192" cy="705485"/>
          </a:xfrm>
        </p:spPr>
        <p:txBody>
          <a:bodyPr>
            <a:normAutofit/>
          </a:bodyPr>
          <a:lstStyle/>
          <a:p>
            <a:r>
              <a:rPr lang="zh-CN" altLang="en-US" dirty="0">
                <a:sym typeface="可画风暴黑-简" panose="020B0500000000000000" charset="-122"/>
              </a:rPr>
              <a:t>小批量随机梯度下降</a:t>
            </a:r>
            <a:endParaRPr lang="zh-CN" altLang="en-US" dirty="0"/>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49004336-3F3A-70E6-E77E-56D4E1F464D1}"/>
                  </a:ext>
                </a:extLst>
              </p:cNvPr>
              <p:cNvGraphicFramePr>
                <a:graphicFrameLocks noGrp="1"/>
              </p:cNvGraphicFramePr>
              <p:nvPr>
                <p:extLst>
                  <p:ext uri="{D42A27DB-BD31-4B8C-83A1-F6EECF244321}">
                    <p14:modId xmlns:p14="http://schemas.microsoft.com/office/powerpoint/2010/main" val="1041142448"/>
                  </p:ext>
                </p:extLst>
              </p:nvPr>
            </p:nvGraphicFramePr>
            <p:xfrm>
              <a:off x="399073" y="1284474"/>
              <a:ext cx="11393854" cy="1649502"/>
            </p:xfrm>
            <a:graphic>
              <a:graphicData uri="http://schemas.openxmlformats.org/drawingml/2006/table">
                <a:tbl>
                  <a:tblPr firstRow="1" bandRow="1">
                    <a:tableStyleId>{5C22544A-7EE6-4342-B048-85BDC9FD1C3A}</a:tableStyleId>
                  </a:tblPr>
                  <a:tblGrid>
                    <a:gridCol w="2919313">
                      <a:extLst>
                        <a:ext uri="{9D8B030D-6E8A-4147-A177-3AD203B41FA5}">
                          <a16:colId xmlns:a16="http://schemas.microsoft.com/office/drawing/2014/main" val="589712975"/>
                        </a:ext>
                      </a:extLst>
                    </a:gridCol>
                    <a:gridCol w="2802194">
                      <a:extLst>
                        <a:ext uri="{9D8B030D-6E8A-4147-A177-3AD203B41FA5}">
                          <a16:colId xmlns:a16="http://schemas.microsoft.com/office/drawing/2014/main" val="961022852"/>
                        </a:ext>
                      </a:extLst>
                    </a:gridCol>
                    <a:gridCol w="5672347">
                      <a:extLst>
                        <a:ext uri="{9D8B030D-6E8A-4147-A177-3AD203B41FA5}">
                          <a16:colId xmlns:a16="http://schemas.microsoft.com/office/drawing/2014/main" val="1295517709"/>
                        </a:ext>
                      </a:extLst>
                    </a:gridCol>
                  </a:tblGrid>
                  <a:tr h="605096">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方法</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每次使用数据量</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特点</a:t>
                          </a:r>
                        </a:p>
                      </a:txBody>
                      <a:tcPr anchor="ctr"/>
                    </a:tc>
                    <a:extLst>
                      <a:ext uri="{0D108BD9-81ED-4DB2-BD59-A6C34878D82A}">
                        <a16:rowId xmlns:a16="http://schemas.microsoft.com/office/drawing/2014/main" val="2888602925"/>
                      </a:ext>
                    </a:extLst>
                  </a:tr>
                  <a:tr h="1044406">
                    <a:tc>
                      <a:txBody>
                        <a:bodyPr/>
                        <a:lstStyle/>
                        <a:p>
                          <a:pPr algn="ctr">
                            <a:lnSpc>
                              <a:spcPct val="150000"/>
                            </a:lnSpc>
                          </a:pPr>
                          <a:r>
                            <a:rPr lang="zh-CN" altLang="en-US" sz="2000" b="1" kern="1200" dirty="0">
                              <a:solidFill>
                                <a:schemeClr val="tx1"/>
                              </a:solidFill>
                              <a:latin typeface="SimHei" panose="02010609060101010101" pitchFamily="49" charset="-122"/>
                              <a:ea typeface="SimHei" panose="02010609060101010101" pitchFamily="49" charset="-122"/>
                              <a:cs typeface="+mn-cs"/>
                            </a:rPr>
                            <a:t>小批量随机梯度下降（</a:t>
                          </a:r>
                          <a:r>
                            <a:rPr lang="en-US" altLang="zh-CN" sz="2000" b="1" kern="1200" dirty="0">
                              <a:solidFill>
                                <a:schemeClr val="tx1"/>
                              </a:solidFill>
                              <a:latin typeface="SimHei" panose="02010609060101010101" pitchFamily="49" charset="-122"/>
                              <a:ea typeface="SimHei" panose="02010609060101010101" pitchFamily="49" charset="-122"/>
                              <a:cs typeface="+mn-cs"/>
                            </a:rPr>
                            <a:t>Mini-Batch</a:t>
                          </a:r>
                          <a:r>
                            <a:rPr lang="zh-CN" altLang="en-US" sz="2000" b="1" kern="1200" dirty="0">
                              <a:solidFill>
                                <a:schemeClr val="tx1"/>
                              </a:solidFill>
                              <a:latin typeface="SimHei" panose="02010609060101010101" pitchFamily="49" charset="-122"/>
                              <a:ea typeface="SimHei" panose="02010609060101010101" pitchFamily="49" charset="-122"/>
                              <a:cs typeface="+mn-cs"/>
                            </a:rPr>
                            <a:t> </a:t>
                          </a:r>
                          <a:r>
                            <a:rPr lang="en-US" altLang="zh-CN" sz="2000" b="1" kern="1200" dirty="0">
                              <a:solidFill>
                                <a:schemeClr val="tx1"/>
                              </a:solidFill>
                              <a:latin typeface="SimHei" panose="02010609060101010101" pitchFamily="49" charset="-122"/>
                              <a:ea typeface="SimHei" panose="02010609060101010101" pitchFamily="49" charset="-122"/>
                              <a:cs typeface="+mn-cs"/>
                            </a:rPr>
                            <a:t>SGD</a:t>
                          </a:r>
                          <a:r>
                            <a:rPr lang="zh-CN" altLang="en-US" sz="2000" b="1" kern="1200" dirty="0">
                              <a:solidFill>
                                <a:schemeClr val="tx1"/>
                              </a:solidFill>
                              <a:latin typeface="SimHei" panose="02010609060101010101" pitchFamily="49" charset="-122"/>
                              <a:ea typeface="SimHei" panose="02010609060101010101" pitchFamily="49" charset="-122"/>
                              <a:cs typeface="+mn-cs"/>
                            </a:rPr>
                            <a:t>）</a:t>
                          </a:r>
                        </a:p>
                      </a:txBody>
                      <a:tcPr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r>
                                  <m:rPr>
                                    <m:nor/>
                                  </m:rPr>
                                  <a:rPr lang="zh-CN" altLang="en-US" sz="2000" b="1" kern="1200" smtClean="0">
                                    <a:solidFill>
                                      <a:schemeClr val="tx1"/>
                                    </a:solidFill>
                                    <a:latin typeface="SimHei" panose="02010609060101010101" pitchFamily="49" charset="-122"/>
                                    <a:ea typeface="SimHei" panose="02010609060101010101" pitchFamily="49" charset="-122"/>
                                    <a:cs typeface="+mn-cs"/>
                                  </a:rPr>
                                  <m:t>一小批样本 </m:t>
                                </m:r>
                                <m:r>
                                  <m:rPr>
                                    <m:nor/>
                                  </m:rPr>
                                  <a:rPr lang="en-US" altLang="zh-CN" sz="2000" b="1" kern="1200" smtClean="0">
                                    <a:solidFill>
                                      <a:schemeClr val="tx1"/>
                                    </a:solidFill>
                                    <a:latin typeface="SimHei" panose="02010609060101010101" pitchFamily="49" charset="-122"/>
                                    <a:ea typeface="SimHei" panose="02010609060101010101" pitchFamily="49" charset="-122"/>
                                    <a:cs typeface="+mn-cs"/>
                                  </a:rPr>
                                  <m:t>(</m:t>
                                </m:r>
                                <m:r>
                                  <m:rPr>
                                    <m:nor/>
                                  </m:rPr>
                                  <a:rPr lang="en-US" altLang="zh-CN" sz="2000" b="1" kern="1200" smtClean="0">
                                    <a:solidFill>
                                      <a:schemeClr val="tx1"/>
                                    </a:solidFill>
                                    <a:latin typeface="SimHei" panose="02010609060101010101" pitchFamily="49" charset="-122"/>
                                    <a:ea typeface="SimHei" panose="02010609060101010101" pitchFamily="49" charset="-122"/>
                                    <a:cs typeface="+mn-cs"/>
                                  </a:rPr>
                                  <m:t>Batch</m:t>
                                </m:r>
                                <m:r>
                                  <m:rPr>
                                    <m:nor/>
                                  </m:rPr>
                                  <a:rPr lang="en-US" altLang="zh-CN" sz="2000" b="1" kern="1200" smtClean="0">
                                    <a:solidFill>
                                      <a:schemeClr val="tx1"/>
                                    </a:solidFill>
                                    <a:latin typeface="SimHei" panose="02010609060101010101" pitchFamily="49" charset="-122"/>
                                    <a:ea typeface="SimHei" panose="02010609060101010101" pitchFamily="49" charset="-122"/>
                                    <a:cs typeface="+mn-cs"/>
                                  </a:rPr>
                                  <m:t>)</m:t>
                                </m:r>
                              </m:oMath>
                            </m:oMathPara>
                          </a14:m>
                          <a:endParaRPr lang="zh-CN" altLang="en-US" sz="2000" b="1" kern="1200" dirty="0">
                            <a:solidFill>
                              <a:schemeClr val="tx1"/>
                            </a:solidFill>
                            <a:latin typeface="SimHei" panose="02010609060101010101" pitchFamily="49" charset="-122"/>
                            <a:ea typeface="SimHei" panose="02010609060101010101" pitchFamily="49" charset="-122"/>
                            <a:cs typeface="+mn-cs"/>
                          </a:endParaRPr>
                        </a:p>
                      </a:txBody>
                      <a:tcPr anchor="ctr"/>
                    </a:tc>
                    <a:tc>
                      <a:txBody>
                        <a:bodyPr/>
                        <a:lstStyle/>
                        <a:p>
                          <a:pPr algn="ctr">
                            <a:lnSpc>
                              <a:spcPct val="150000"/>
                            </a:lnSpc>
                          </a:pPr>
                          <a:r>
                            <a:rPr lang="zh-CN" altLang="en-US" sz="2000" kern="1200" dirty="0">
                              <a:solidFill>
                                <a:schemeClr val="tx1"/>
                              </a:solidFill>
                              <a:latin typeface="SimHei" panose="02010609060101010101" pitchFamily="49" charset="-122"/>
                              <a:ea typeface="SimHei" panose="02010609060101010101" pitchFamily="49" charset="-122"/>
                              <a:cs typeface="+mn-cs"/>
                            </a:rPr>
                            <a:t>兼顾稳定性和随机性，显存要求因批量大小（</a:t>
                          </a:r>
                          <a:r>
                            <a:rPr lang="en-US" altLang="zh-CN" sz="2000" kern="1200" dirty="0">
                              <a:solidFill>
                                <a:schemeClr val="tx1"/>
                              </a:solidFill>
                              <a:latin typeface="SimHei" panose="02010609060101010101" pitchFamily="49" charset="-122"/>
                              <a:ea typeface="SimHei" panose="02010609060101010101" pitchFamily="49" charset="-122"/>
                              <a:cs typeface="+mn-cs"/>
                            </a:rPr>
                            <a:t>Batch</a:t>
                          </a:r>
                          <a:r>
                            <a:rPr lang="zh-CN" altLang="en-US" sz="2000" kern="1200" dirty="0">
                              <a:solidFill>
                                <a:schemeClr val="tx1"/>
                              </a:solidFill>
                              <a:latin typeface="SimHei" panose="02010609060101010101" pitchFamily="49" charset="-122"/>
                              <a:ea typeface="SimHei" panose="02010609060101010101" pitchFamily="49" charset="-122"/>
                              <a:cs typeface="+mn-cs"/>
                            </a:rPr>
                            <a:t> </a:t>
                          </a:r>
                          <a:r>
                            <a:rPr lang="en-US" altLang="zh-CN" sz="2000" kern="1200" dirty="0">
                              <a:solidFill>
                                <a:schemeClr val="tx1"/>
                              </a:solidFill>
                              <a:latin typeface="SimHei" panose="02010609060101010101" pitchFamily="49" charset="-122"/>
                              <a:ea typeface="SimHei" panose="02010609060101010101" pitchFamily="49" charset="-122"/>
                              <a:cs typeface="+mn-cs"/>
                            </a:rPr>
                            <a:t>Size</a:t>
                          </a:r>
                          <a:r>
                            <a:rPr lang="zh-CN" altLang="en-US" sz="2000" kern="1200" dirty="0">
                              <a:solidFill>
                                <a:schemeClr val="tx1"/>
                              </a:solidFill>
                              <a:latin typeface="SimHei" panose="02010609060101010101" pitchFamily="49" charset="-122"/>
                              <a:ea typeface="SimHei" panose="02010609060101010101" pitchFamily="49" charset="-122"/>
                              <a:cs typeface="+mn-cs"/>
                            </a:rPr>
                            <a:t>）而异；实践中最常用</a:t>
                          </a:r>
                        </a:p>
                      </a:txBody>
                      <a:tcPr anchor="ctr"/>
                    </a:tc>
                    <a:extLst>
                      <a:ext uri="{0D108BD9-81ED-4DB2-BD59-A6C34878D82A}">
                        <a16:rowId xmlns:a16="http://schemas.microsoft.com/office/drawing/2014/main" val="2331681709"/>
                      </a:ext>
                    </a:extLst>
                  </a:tr>
                </a:tbl>
              </a:graphicData>
            </a:graphic>
          </p:graphicFrame>
        </mc:Choice>
        <mc:Fallback xmlns="">
          <p:graphicFrame>
            <p:nvGraphicFramePr>
              <p:cNvPr id="6" name="表格 5">
                <a:extLst>
                  <a:ext uri="{FF2B5EF4-FFF2-40B4-BE49-F238E27FC236}">
                    <a16:creationId xmlns:a16="http://schemas.microsoft.com/office/drawing/2014/main" id="{49004336-3F3A-70E6-E77E-56D4E1F464D1}"/>
                  </a:ext>
                </a:extLst>
              </p:cNvPr>
              <p:cNvGraphicFramePr>
                <a:graphicFrameLocks noGrp="1"/>
              </p:cNvGraphicFramePr>
              <p:nvPr>
                <p:extLst>
                  <p:ext uri="{D42A27DB-BD31-4B8C-83A1-F6EECF244321}">
                    <p14:modId xmlns:p14="http://schemas.microsoft.com/office/powerpoint/2010/main" val="1041142448"/>
                  </p:ext>
                </p:extLst>
              </p:nvPr>
            </p:nvGraphicFramePr>
            <p:xfrm>
              <a:off x="399073" y="1284474"/>
              <a:ext cx="11393854" cy="1649502"/>
            </p:xfrm>
            <a:graphic>
              <a:graphicData uri="http://schemas.openxmlformats.org/drawingml/2006/table">
                <a:tbl>
                  <a:tblPr firstRow="1" bandRow="1">
                    <a:tableStyleId>{5C22544A-7EE6-4342-B048-85BDC9FD1C3A}</a:tableStyleId>
                  </a:tblPr>
                  <a:tblGrid>
                    <a:gridCol w="2919313">
                      <a:extLst>
                        <a:ext uri="{9D8B030D-6E8A-4147-A177-3AD203B41FA5}">
                          <a16:colId xmlns:a16="http://schemas.microsoft.com/office/drawing/2014/main" val="589712975"/>
                        </a:ext>
                      </a:extLst>
                    </a:gridCol>
                    <a:gridCol w="2802194">
                      <a:extLst>
                        <a:ext uri="{9D8B030D-6E8A-4147-A177-3AD203B41FA5}">
                          <a16:colId xmlns:a16="http://schemas.microsoft.com/office/drawing/2014/main" val="961022852"/>
                        </a:ext>
                      </a:extLst>
                    </a:gridCol>
                    <a:gridCol w="5672347">
                      <a:extLst>
                        <a:ext uri="{9D8B030D-6E8A-4147-A177-3AD203B41FA5}">
                          <a16:colId xmlns:a16="http://schemas.microsoft.com/office/drawing/2014/main" val="1295517709"/>
                        </a:ext>
                      </a:extLst>
                    </a:gridCol>
                  </a:tblGrid>
                  <a:tr h="605096">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方法</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每次使用数据量</a:t>
                          </a:r>
                        </a:p>
                      </a:txBody>
                      <a:tcPr anchor="ctr"/>
                    </a:tc>
                    <a:tc>
                      <a:txBody>
                        <a:bodyPr/>
                        <a:lstStyle/>
                        <a:p>
                          <a:pPr algn="ctr">
                            <a:lnSpc>
                              <a:spcPct val="150000"/>
                            </a:lnSpc>
                          </a:pPr>
                          <a:r>
                            <a:rPr lang="zh-CN" altLang="en-US" sz="2000" b="1" dirty="0">
                              <a:latin typeface="SimHei" panose="02010609060101010101" pitchFamily="49" charset="-122"/>
                              <a:ea typeface="SimHei" panose="02010609060101010101" pitchFamily="49" charset="-122"/>
                            </a:rPr>
                            <a:t>特点</a:t>
                          </a:r>
                        </a:p>
                      </a:txBody>
                      <a:tcPr anchor="ctr"/>
                    </a:tc>
                    <a:extLst>
                      <a:ext uri="{0D108BD9-81ED-4DB2-BD59-A6C34878D82A}">
                        <a16:rowId xmlns:a16="http://schemas.microsoft.com/office/drawing/2014/main" val="2888602925"/>
                      </a:ext>
                    </a:extLst>
                  </a:tr>
                  <a:tr h="1044406">
                    <a:tc>
                      <a:txBody>
                        <a:bodyPr/>
                        <a:lstStyle/>
                        <a:p>
                          <a:pPr algn="ctr">
                            <a:lnSpc>
                              <a:spcPct val="150000"/>
                            </a:lnSpc>
                          </a:pPr>
                          <a:r>
                            <a:rPr lang="zh-CN" altLang="en-US" sz="2000" b="1" kern="1200" dirty="0">
                              <a:solidFill>
                                <a:schemeClr val="tx1"/>
                              </a:solidFill>
                              <a:latin typeface="SimHei" panose="02010609060101010101" pitchFamily="49" charset="-122"/>
                              <a:ea typeface="SimHei" panose="02010609060101010101" pitchFamily="49" charset="-122"/>
                              <a:cs typeface="+mn-cs"/>
                            </a:rPr>
                            <a:t>小批量随机梯度下降（</a:t>
                          </a:r>
                          <a:r>
                            <a:rPr lang="en-US" altLang="zh-CN" sz="2000" b="1" kern="1200" dirty="0">
                              <a:solidFill>
                                <a:schemeClr val="tx1"/>
                              </a:solidFill>
                              <a:latin typeface="SimHei" panose="02010609060101010101" pitchFamily="49" charset="-122"/>
                              <a:ea typeface="SimHei" panose="02010609060101010101" pitchFamily="49" charset="-122"/>
                              <a:cs typeface="+mn-cs"/>
                            </a:rPr>
                            <a:t>Mini-Batch</a:t>
                          </a:r>
                          <a:r>
                            <a:rPr lang="zh-CN" altLang="en-US" sz="2000" b="1" kern="1200" dirty="0">
                              <a:solidFill>
                                <a:schemeClr val="tx1"/>
                              </a:solidFill>
                              <a:latin typeface="SimHei" panose="02010609060101010101" pitchFamily="49" charset="-122"/>
                              <a:ea typeface="SimHei" panose="02010609060101010101" pitchFamily="49" charset="-122"/>
                              <a:cs typeface="+mn-cs"/>
                            </a:rPr>
                            <a:t> </a:t>
                          </a:r>
                          <a:r>
                            <a:rPr lang="en-US" altLang="zh-CN" sz="2000" b="1" kern="1200" dirty="0">
                              <a:solidFill>
                                <a:schemeClr val="tx1"/>
                              </a:solidFill>
                              <a:latin typeface="SimHei" panose="02010609060101010101" pitchFamily="49" charset="-122"/>
                              <a:ea typeface="SimHei" panose="02010609060101010101" pitchFamily="49" charset="-122"/>
                              <a:cs typeface="+mn-cs"/>
                            </a:rPr>
                            <a:t>SGD</a:t>
                          </a:r>
                          <a:r>
                            <a:rPr lang="zh-CN" altLang="en-US" sz="2000" b="1" kern="1200" dirty="0">
                              <a:solidFill>
                                <a:schemeClr val="tx1"/>
                              </a:solidFill>
                              <a:latin typeface="SimHei" panose="02010609060101010101" pitchFamily="49" charset="-122"/>
                              <a:ea typeface="SimHei" panose="02010609060101010101" pitchFamily="49" charset="-122"/>
                              <a:cs typeface="+mn-cs"/>
                            </a:rPr>
                            <a:t>）</a:t>
                          </a:r>
                        </a:p>
                      </a:txBody>
                      <a:tcPr anchor="ctr"/>
                    </a:tc>
                    <a:tc>
                      <a:txBody>
                        <a:bodyPr/>
                        <a:lstStyle/>
                        <a:p>
                          <a:endParaRPr lang="zh-CN"/>
                        </a:p>
                      </a:txBody>
                      <a:tcPr anchor="ctr">
                        <a:blipFill>
                          <a:blip r:embed="rId2"/>
                          <a:stretch>
                            <a:fillRect l="-104525" t="-59036" r="-203167" b="-3614"/>
                          </a:stretch>
                        </a:blipFill>
                      </a:tcPr>
                    </a:tc>
                    <a:tc>
                      <a:txBody>
                        <a:bodyPr/>
                        <a:lstStyle/>
                        <a:p>
                          <a:pPr algn="ctr">
                            <a:lnSpc>
                              <a:spcPct val="150000"/>
                            </a:lnSpc>
                          </a:pPr>
                          <a:r>
                            <a:rPr lang="zh-CN" altLang="en-US" sz="2000" kern="1200" dirty="0">
                              <a:solidFill>
                                <a:schemeClr val="tx1"/>
                              </a:solidFill>
                              <a:latin typeface="SimHei" panose="02010609060101010101" pitchFamily="49" charset="-122"/>
                              <a:ea typeface="SimHei" panose="02010609060101010101" pitchFamily="49" charset="-122"/>
                              <a:cs typeface="+mn-cs"/>
                            </a:rPr>
                            <a:t>兼顾稳定性和随机性，显存要求因批量大小（</a:t>
                          </a:r>
                          <a:r>
                            <a:rPr lang="en-US" altLang="zh-CN" sz="2000" kern="1200" dirty="0">
                              <a:solidFill>
                                <a:schemeClr val="tx1"/>
                              </a:solidFill>
                              <a:latin typeface="SimHei" panose="02010609060101010101" pitchFamily="49" charset="-122"/>
                              <a:ea typeface="SimHei" panose="02010609060101010101" pitchFamily="49" charset="-122"/>
                              <a:cs typeface="+mn-cs"/>
                            </a:rPr>
                            <a:t>Batch</a:t>
                          </a:r>
                          <a:r>
                            <a:rPr lang="zh-CN" altLang="en-US" sz="2000" kern="1200" dirty="0">
                              <a:solidFill>
                                <a:schemeClr val="tx1"/>
                              </a:solidFill>
                              <a:latin typeface="SimHei" panose="02010609060101010101" pitchFamily="49" charset="-122"/>
                              <a:ea typeface="SimHei" panose="02010609060101010101" pitchFamily="49" charset="-122"/>
                              <a:cs typeface="+mn-cs"/>
                            </a:rPr>
                            <a:t> </a:t>
                          </a:r>
                          <a:r>
                            <a:rPr lang="en-US" altLang="zh-CN" sz="2000" kern="1200" dirty="0">
                              <a:solidFill>
                                <a:schemeClr val="tx1"/>
                              </a:solidFill>
                              <a:latin typeface="SimHei" panose="02010609060101010101" pitchFamily="49" charset="-122"/>
                              <a:ea typeface="SimHei" panose="02010609060101010101" pitchFamily="49" charset="-122"/>
                              <a:cs typeface="+mn-cs"/>
                            </a:rPr>
                            <a:t>Size</a:t>
                          </a:r>
                          <a:r>
                            <a:rPr lang="zh-CN" altLang="en-US" sz="2000" kern="1200" dirty="0">
                              <a:solidFill>
                                <a:schemeClr val="tx1"/>
                              </a:solidFill>
                              <a:latin typeface="SimHei" panose="02010609060101010101" pitchFamily="49" charset="-122"/>
                              <a:ea typeface="SimHei" panose="02010609060101010101" pitchFamily="49" charset="-122"/>
                              <a:cs typeface="+mn-cs"/>
                            </a:rPr>
                            <a:t>）而异；实践中最常用</a:t>
                          </a:r>
                        </a:p>
                      </a:txBody>
                      <a:tcPr anchor="ctr"/>
                    </a:tc>
                    <a:extLst>
                      <a:ext uri="{0D108BD9-81ED-4DB2-BD59-A6C34878D82A}">
                        <a16:rowId xmlns:a16="http://schemas.microsoft.com/office/drawing/2014/main" val="2331681709"/>
                      </a:ext>
                    </a:extLst>
                  </a:tr>
                </a:tbl>
              </a:graphicData>
            </a:graphic>
          </p:graphicFrame>
        </mc:Fallback>
      </mc:AlternateContent>
      <p:sp>
        <p:nvSpPr>
          <p:cNvPr id="3" name="文本框 2">
            <a:extLst>
              <a:ext uri="{FF2B5EF4-FFF2-40B4-BE49-F238E27FC236}">
                <a16:creationId xmlns:a16="http://schemas.microsoft.com/office/drawing/2014/main" id="{F98E9A9D-3503-8ED2-76AB-ADE8070C9E0B}"/>
              </a:ext>
            </a:extLst>
          </p:cNvPr>
          <p:cNvSpPr txBox="1"/>
          <p:nvPr/>
        </p:nvSpPr>
        <p:spPr>
          <a:xfrm>
            <a:off x="597046" y="3078575"/>
            <a:ext cx="11195881" cy="2342244"/>
          </a:xfrm>
          <a:prstGeom prst="rect">
            <a:avLst/>
          </a:prstGeom>
          <a:noFill/>
        </p:spPr>
        <p:txBody>
          <a:bodyPr wrap="square" rtlCol="0" anchor="t">
            <a:spAutoFit/>
          </a:bodyPr>
          <a:lstStyle/>
          <a:p>
            <a:pPr algn="just" fontAlgn="auto">
              <a:lnSpc>
                <a:spcPct val="150000"/>
              </a:lnSpc>
            </a:pPr>
            <a:r>
              <a:rPr lang="en-US" altLang="zh-CN"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Batch Size</a:t>
            </a:r>
            <a:r>
              <a:rPr lang="zh-CN" altLang="en-US"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（批量大小）</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：在小批量随机梯度下降中，单次所使用的样本数量，即一小批一小批进行训练时，每一小批的样本数量。</a:t>
            </a: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a:p>
            <a:pPr algn="just">
              <a:lnSpc>
                <a:spcPct val="150000"/>
              </a:lnSpc>
            </a:pPr>
            <a:r>
              <a:rPr lang="en-US" altLang="zh-CN"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Iteration</a:t>
            </a:r>
            <a:r>
              <a:rPr lang="zh-CN" altLang="en-US"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（迭代）</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：完成一小批样本（</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Batch</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）的训练，并以此更新一次模型参数的过程，称为一次迭代</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a:p>
            <a:pPr algn="just" fontAlgn="auto">
              <a:lnSpc>
                <a:spcPct val="150000"/>
              </a:lnSpc>
            </a:pPr>
            <a:r>
              <a:rPr lang="en-US"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Epoch（</a:t>
            </a:r>
            <a:r>
              <a:rPr lang="zh-CN" altLang="en-US"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周期</a:t>
            </a:r>
            <a:r>
              <a:rPr lang="en-US" altLang="zh-CN"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a:t>
            </a:r>
            <a:r>
              <a:rPr lang="zh-CN" altLang="en-US" sz="2000" b="1" spc="315" dirty="0">
                <a:solidFill>
                  <a:srgbClr val="0000FF"/>
                </a:solidFill>
                <a:latin typeface="Times New Roman" panose="02020603050405020304" pitchFamily="18" charset="0"/>
                <a:ea typeface="SimHei" panose="02010609060101010101" pitchFamily="49" charset="-122"/>
                <a:cs typeface="Times New Roman" panose="02020603050405020304" pitchFamily="18" charset="0"/>
                <a:sym typeface="思源黑体" panose="020B0500000000000000" charset="-122"/>
              </a:rPr>
              <a:t>代）</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：一个</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epoch</a:t>
            </a:r>
            <a:r>
              <a:rPr lang="zh-CN" alt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表示整个训练数据集完整地通过模型一次</a:t>
            </a:r>
            <a:r>
              <a:rPr lang="en-US" altLang="zh-CN"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rPr>
              <a:t>。</a:t>
            </a:r>
            <a:endParaRPr lang="en-US" sz="2000" spc="315" dirty="0">
              <a:latin typeface="宋体" panose="02010600030101010101" pitchFamily="2" charset="-122"/>
              <a:ea typeface="宋体" panose="02010600030101010101" pitchFamily="2" charset="-122"/>
              <a:cs typeface="可画风暴黑-简" panose="020B0500000000000000" charset="-122"/>
              <a:sym typeface="思源黑体" panose="020B0500000000000000" charset="-122"/>
            </a:endParaRPr>
          </a:p>
        </p:txBody>
      </p:sp>
      <p:sp>
        <p:nvSpPr>
          <p:cNvPr id="7" name="矩形 6">
            <a:extLst>
              <a:ext uri="{FF2B5EF4-FFF2-40B4-BE49-F238E27FC236}">
                <a16:creationId xmlns:a16="http://schemas.microsoft.com/office/drawing/2014/main" id="{FCEFE930-BC3B-CFB5-4F08-EC3A44218EE6}"/>
              </a:ext>
            </a:extLst>
          </p:cNvPr>
          <p:cNvSpPr/>
          <p:nvPr/>
        </p:nvSpPr>
        <p:spPr>
          <a:xfrm>
            <a:off x="280219" y="5565418"/>
            <a:ext cx="11710680" cy="102036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72000" rtlCol="0" anchor="ctr" anchorCtr="0"/>
          <a:lstStyle/>
          <a:p>
            <a:pPr algn="just">
              <a:lnSpc>
                <a:spcPct val="150000"/>
              </a:lnSpc>
            </a:pPr>
            <a:r>
              <a:rPr kumimoji="1" lang="zh-CN" altLang="en-US" sz="2000" b="1" dirty="0">
                <a:solidFill>
                  <a:srgbClr val="C00000"/>
                </a:solidFill>
                <a:latin typeface="SimHei" panose="02010609060101010101" pitchFamily="49" charset="-122"/>
                <a:ea typeface="SimHei" panose="02010609060101010101" pitchFamily="49" charset="-122"/>
              </a:rPr>
              <a:t>三者的关系（重点）</a:t>
            </a:r>
            <a:r>
              <a:rPr kumimoji="1" lang="zh-CN" altLang="en-US" sz="2000" b="1" dirty="0">
                <a:solidFill>
                  <a:schemeClr val="tx1"/>
                </a:solidFill>
                <a:latin typeface="SimHei" panose="02010609060101010101" pitchFamily="49" charset="-122"/>
                <a:ea typeface="SimHei" panose="02010609060101010101" pitchFamily="49" charset="-122"/>
              </a:rPr>
              <a:t>：每个</a:t>
            </a:r>
            <a:r>
              <a:rPr kumimoji="1" lang="en-US" altLang="zh-CN" sz="2000" b="1" dirty="0">
                <a:solidFill>
                  <a:schemeClr val="tx1"/>
                </a:solidFill>
                <a:latin typeface="SimHei" panose="02010609060101010101" pitchFamily="49" charset="-122"/>
                <a:ea typeface="SimHei" panose="02010609060101010101" pitchFamily="49" charset="-122"/>
              </a:rPr>
              <a:t>epoch</a:t>
            </a:r>
            <a:r>
              <a:rPr kumimoji="1" lang="zh-CN" altLang="en-US" sz="2000" b="1" dirty="0">
                <a:solidFill>
                  <a:schemeClr val="tx1"/>
                </a:solidFill>
                <a:latin typeface="SimHei" panose="02010609060101010101" pitchFamily="49" charset="-122"/>
                <a:ea typeface="SimHei" panose="02010609060101010101" pitchFamily="49" charset="-122"/>
              </a:rPr>
              <a:t>的迭代次数</a:t>
            </a:r>
            <a:r>
              <a:rPr kumimoji="1" lang="en-US" altLang="zh-CN" sz="2000" b="1" dirty="0">
                <a:solidFill>
                  <a:schemeClr val="tx1"/>
                </a:solidFill>
                <a:latin typeface="SimHei" panose="02010609060101010101" pitchFamily="49" charset="-122"/>
                <a:ea typeface="SimHei" panose="02010609060101010101" pitchFamily="49" charset="-122"/>
              </a:rPr>
              <a:t>= </a:t>
            </a:r>
            <a:r>
              <a:rPr kumimoji="1" lang="zh-CN" altLang="en-US" sz="2000" b="1" dirty="0">
                <a:solidFill>
                  <a:schemeClr val="tx1"/>
                </a:solidFill>
                <a:latin typeface="SimHei" panose="02010609060101010101" pitchFamily="49" charset="-122"/>
                <a:ea typeface="SimHei" panose="02010609060101010101" pitchFamily="49" charset="-122"/>
              </a:rPr>
              <a:t>训练集总样本数 </a:t>
            </a:r>
            <a:r>
              <a:rPr kumimoji="1" lang="en-US" altLang="zh-CN" sz="2000" b="1" dirty="0">
                <a:solidFill>
                  <a:schemeClr val="tx1"/>
                </a:solidFill>
                <a:latin typeface="SimHei" panose="02010609060101010101" pitchFamily="49" charset="-122"/>
                <a:ea typeface="SimHei" panose="02010609060101010101" pitchFamily="49" charset="-122"/>
              </a:rPr>
              <a:t>/</a:t>
            </a:r>
            <a:r>
              <a:rPr kumimoji="1" lang="zh-CN" altLang="en-US" sz="2000" b="1" dirty="0">
                <a:solidFill>
                  <a:schemeClr val="tx1"/>
                </a:solidFill>
                <a:latin typeface="SimHei" panose="02010609060101010101" pitchFamily="49" charset="-122"/>
                <a:ea typeface="SimHei" panose="02010609060101010101" pitchFamily="49" charset="-122"/>
                <a:sym typeface="思源黑体" panose="020B0500000000000000" charset="-122"/>
              </a:rPr>
              <a:t>批量大小</a:t>
            </a:r>
            <a:r>
              <a:rPr kumimoji="1" lang="zh-CN" altLang="en-US" sz="2000" b="1" dirty="0">
                <a:solidFill>
                  <a:schemeClr val="tx1"/>
                </a:solidFill>
                <a:latin typeface="SimHei" panose="02010609060101010101" pitchFamily="49" charset="-122"/>
                <a:ea typeface="SimHei" panose="02010609060101010101" pitchFamily="49" charset="-122"/>
              </a:rPr>
              <a:t>。</a:t>
            </a:r>
            <a:endParaRPr kumimoji="1" lang="en-US" altLang="zh-CN" sz="2000" b="1" dirty="0">
              <a:solidFill>
                <a:schemeClr val="tx1"/>
              </a:solidFill>
              <a:latin typeface="SimHei" panose="02010609060101010101" pitchFamily="49" charset="-122"/>
              <a:ea typeface="SimHei" panose="02010609060101010101" pitchFamily="49" charset="-122"/>
            </a:endParaRPr>
          </a:p>
          <a:p>
            <a:pPr algn="just">
              <a:lnSpc>
                <a:spcPct val="150000"/>
              </a:lnSpc>
            </a:pPr>
            <a:r>
              <a:rPr kumimoji="1" lang="zh-CN" altLang="en-US" sz="2000" b="1" dirty="0">
                <a:solidFill>
                  <a:schemeClr val="tx1"/>
                </a:solidFill>
                <a:latin typeface="SimHei" panose="02010609060101010101" pitchFamily="49" charset="-122"/>
                <a:ea typeface="SimHei" panose="02010609060101010101" pitchFamily="49" charset="-122"/>
              </a:rPr>
              <a:t>示例：如果训练集样本数</a:t>
            </a:r>
            <a:r>
              <a:rPr kumimoji="1" lang="en-US" altLang="zh-CN" sz="2000" b="1" dirty="0">
                <a:solidFill>
                  <a:schemeClr val="tx1"/>
                </a:solidFill>
                <a:latin typeface="SimHei" panose="02010609060101010101" pitchFamily="49" charset="-122"/>
                <a:ea typeface="SimHei" panose="02010609060101010101" pitchFamily="49" charset="-122"/>
              </a:rPr>
              <a:t>N=10000</a:t>
            </a:r>
            <a:r>
              <a:rPr kumimoji="1" lang="zh-CN" altLang="en-US" sz="2000" b="1" dirty="0">
                <a:solidFill>
                  <a:schemeClr val="tx1"/>
                </a:solidFill>
                <a:latin typeface="SimHei" panose="02010609060101010101" pitchFamily="49" charset="-122"/>
                <a:ea typeface="SimHei" panose="02010609060101010101" pitchFamily="49" charset="-122"/>
              </a:rPr>
              <a:t>，批量大小</a:t>
            </a:r>
            <a:r>
              <a:rPr kumimoji="1" lang="en-US" altLang="zh-CN" sz="2000" b="1" dirty="0">
                <a:solidFill>
                  <a:schemeClr val="tx1"/>
                </a:solidFill>
                <a:latin typeface="SimHei" panose="02010609060101010101" pitchFamily="49" charset="-122"/>
                <a:ea typeface="SimHei" panose="02010609060101010101" pitchFamily="49" charset="-122"/>
              </a:rPr>
              <a:t>Batch Size=50</a:t>
            </a:r>
            <a:r>
              <a:rPr kumimoji="1" lang="zh-CN" altLang="en-US" sz="2000" b="1" dirty="0">
                <a:solidFill>
                  <a:schemeClr val="tx1"/>
                </a:solidFill>
                <a:latin typeface="SimHei" panose="02010609060101010101" pitchFamily="49" charset="-122"/>
                <a:ea typeface="SimHei" panose="02010609060101010101" pitchFamily="49" charset="-122"/>
              </a:rPr>
              <a:t>，则单个</a:t>
            </a:r>
            <a:r>
              <a:rPr kumimoji="1" lang="en-US" altLang="zh-CN" sz="2000" b="1" dirty="0">
                <a:solidFill>
                  <a:schemeClr val="tx1"/>
                </a:solidFill>
                <a:latin typeface="SimHei" panose="02010609060101010101" pitchFamily="49" charset="-122"/>
                <a:ea typeface="SimHei" panose="02010609060101010101" pitchFamily="49" charset="-122"/>
              </a:rPr>
              <a:t>epoch</a:t>
            </a:r>
            <a:r>
              <a:rPr kumimoji="1" lang="zh-CN" altLang="en-US" sz="2000" b="1" dirty="0">
                <a:solidFill>
                  <a:schemeClr val="tx1"/>
                </a:solidFill>
                <a:latin typeface="SimHei" panose="02010609060101010101" pitchFamily="49" charset="-122"/>
                <a:ea typeface="SimHei" panose="02010609060101010101" pitchFamily="49" charset="-122"/>
              </a:rPr>
              <a:t>的迭代次数</a:t>
            </a:r>
            <a:r>
              <a:rPr kumimoji="1" lang="en-US" altLang="zh-CN" sz="2000" b="1" dirty="0">
                <a:solidFill>
                  <a:schemeClr val="tx1"/>
                </a:solidFill>
                <a:latin typeface="SimHei" panose="02010609060101010101" pitchFamily="49" charset="-122"/>
                <a:ea typeface="SimHei" panose="02010609060101010101" pitchFamily="49" charset="-122"/>
              </a:rPr>
              <a:t>=10000/50=200 </a:t>
            </a:r>
            <a:endParaRPr kumimoji="1" lang="zh-CN" altLang="en-US" sz="2000" b="1" dirty="0">
              <a:solidFill>
                <a:schemeClr val="tx1"/>
              </a:solidFill>
              <a:latin typeface="SimHei" panose="02010609060101010101" pitchFamily="49" charset="-122"/>
              <a:ea typeface="SimHei" panose="02010609060101010101" pitchFamily="49" charset="-122"/>
            </a:endParaRPr>
          </a:p>
        </p:txBody>
      </p:sp>
      <p:sp>
        <p:nvSpPr>
          <p:cNvPr id="8" name="文本框 7">
            <a:extLst>
              <a:ext uri="{FF2B5EF4-FFF2-40B4-BE49-F238E27FC236}">
                <a16:creationId xmlns:a16="http://schemas.microsoft.com/office/drawing/2014/main" id="{C61649D7-685C-EDB1-7027-8F4336B6FADC}"/>
              </a:ext>
            </a:extLst>
          </p:cNvPr>
          <p:cNvSpPr txBox="1"/>
          <p:nvPr/>
        </p:nvSpPr>
        <p:spPr>
          <a:xfrm>
            <a:off x="6346413" y="638412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3910584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703695" cy="705485"/>
          </a:xfrm>
        </p:spPr>
        <p:txBody>
          <a:bodyPr>
            <a:normAutofit/>
          </a:bodyPr>
          <a:lstStyle/>
          <a:p>
            <a:r>
              <a:rPr lang="zh-CN" altLang="en-US">
                <a:sym typeface="字由文艺黑" panose="00020600040101010101" charset="-122"/>
              </a:rPr>
              <a:t>学习率α的至关重要性</a:t>
            </a:r>
            <a:endParaRPr lang="zh-CN" altLang="en-US"/>
          </a:p>
        </p:txBody>
      </p:sp>
      <p:sp>
        <p:nvSpPr>
          <p:cNvPr id="3" name="内容占位符 2"/>
          <p:cNvSpPr>
            <a:spLocks noGrp="1"/>
          </p:cNvSpPr>
          <p:nvPr>
            <p:ph idx="1"/>
          </p:nvPr>
        </p:nvSpPr>
        <p:spPr>
          <a:xfrm>
            <a:off x="608330" y="1350645"/>
            <a:ext cx="10968990" cy="1590675"/>
          </a:xfrm>
        </p:spPr>
        <p:txBody>
          <a:bodyPr>
            <a:normAutofit/>
          </a:bodyPr>
          <a:lstStyle/>
          <a:p>
            <a:pPr algn="l">
              <a:lnSpc>
                <a:spcPct val="150000"/>
              </a:lnSpc>
              <a:spcBef>
                <a:spcPct val="0"/>
              </a:spcBef>
              <a:spcAft>
                <a:spcPts val="0"/>
              </a:spcAft>
            </a:pPr>
            <a:r>
              <a:rPr lang="en-US" sz="2000">
                <a:solidFill>
                  <a:srgbClr val="000000"/>
                </a:solidFill>
                <a:cs typeface="宋体" panose="02010600030101010101" pitchFamily="2" charset="-122"/>
                <a:sym typeface="可画风暴黑-简" panose="020B0500000000000000" charset="-122"/>
              </a:rPr>
              <a:t>α太小：步长太小 → 下山速度极慢（收敛慢）</a:t>
            </a:r>
          </a:p>
          <a:p>
            <a:pPr algn="l">
              <a:lnSpc>
                <a:spcPct val="150000"/>
              </a:lnSpc>
              <a:spcBef>
                <a:spcPct val="0"/>
              </a:spcBef>
              <a:spcAft>
                <a:spcPts val="0"/>
              </a:spcAft>
            </a:pPr>
            <a:r>
              <a:rPr lang="en-US" sz="2000">
                <a:solidFill>
                  <a:srgbClr val="000000"/>
                </a:solidFill>
                <a:cs typeface="宋体" panose="02010600030101010101" pitchFamily="2" charset="-122"/>
                <a:sym typeface="可画风暴黑-简" panose="020B0500000000000000" charset="-122"/>
              </a:rPr>
              <a:t>α太大：步长太大 → 可能"跨过"谷底，或在山谷两侧震荡</a:t>
            </a:r>
          </a:p>
          <a:p>
            <a:pPr algn="l">
              <a:lnSpc>
                <a:spcPct val="150000"/>
              </a:lnSpc>
              <a:spcBef>
                <a:spcPct val="0"/>
              </a:spcBef>
              <a:spcAft>
                <a:spcPts val="0"/>
              </a:spcAft>
            </a:pPr>
            <a:r>
              <a:rPr lang="en-US" sz="2000">
                <a:solidFill>
                  <a:srgbClr val="000000"/>
                </a:solidFill>
                <a:cs typeface="宋体" panose="02010600030101010101" pitchFamily="2" charset="-122"/>
                <a:sym typeface="可画风暴黑-简" panose="020B0500000000000000" charset="-122"/>
              </a:rPr>
              <a:t>α适中：能稳定、高效地沿最陡方向下降，找到最优解</a:t>
            </a:r>
          </a:p>
          <a:p>
            <a:pPr marL="0" indent="0">
              <a:buNone/>
            </a:pPr>
            <a:endParaRPr lang="zh-CN" altLang="en-US" sz="2000" b="1">
              <a:solidFill>
                <a:schemeClr val="tx1"/>
              </a:solidFill>
              <a:cs typeface="宋体" panose="02010600030101010101" pitchFamily="2" charset="-122"/>
            </a:endParaRPr>
          </a:p>
        </p:txBody>
      </p:sp>
      <p:sp>
        <p:nvSpPr>
          <p:cNvPr id="6" name="Freeform 3"/>
          <p:cNvSpPr/>
          <p:nvPr/>
        </p:nvSpPr>
        <p:spPr>
          <a:xfrm>
            <a:off x="1942977" y="3093332"/>
            <a:ext cx="8299696" cy="2837180"/>
          </a:xfrm>
          <a:custGeom>
            <a:avLst/>
            <a:gdLst/>
            <a:ahLst/>
            <a:cxnLst/>
            <a:rect l="l" t="t" r="r" b="b"/>
            <a:pathLst>
              <a:path w="12314605" h="4725730">
                <a:moveTo>
                  <a:pt x="0" y="0"/>
                </a:moveTo>
                <a:lnTo>
                  <a:pt x="12314605" y="0"/>
                </a:lnTo>
                <a:lnTo>
                  <a:pt x="12314605" y="4725729"/>
                </a:lnTo>
                <a:lnTo>
                  <a:pt x="0" y="4725729"/>
                </a:lnTo>
                <a:lnTo>
                  <a:pt x="0" y="0"/>
                </a:lnTo>
                <a:close/>
              </a:path>
            </a:pathLst>
          </a:custGeom>
          <a:blipFill>
            <a:blip r:embed="rId2"/>
            <a:stretch>
              <a:fillRect/>
            </a:stretch>
          </a:blipFill>
        </p:spPr>
        <p:txBody>
          <a:bodyPr/>
          <a:lstStyle/>
          <a:p>
            <a:endParaRPr lang="zh-CN" altLang="en-US"/>
          </a:p>
        </p:txBody>
      </p:sp>
      <p:sp>
        <p:nvSpPr>
          <p:cNvPr id="7" name="同侧圆角矩形 29">
            <a:extLst>
              <a:ext uri="{FF2B5EF4-FFF2-40B4-BE49-F238E27FC236}">
                <a16:creationId xmlns:a16="http://schemas.microsoft.com/office/drawing/2014/main" id="{D5E642B9-CB39-273B-9B82-8CCDFE4D5F60}"/>
              </a:ext>
            </a:extLst>
          </p:cNvPr>
          <p:cNvSpPr/>
          <p:nvPr/>
        </p:nvSpPr>
        <p:spPr>
          <a:xfrm>
            <a:off x="6784258" y="-1"/>
            <a:ext cx="5407741" cy="1020543"/>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了解</a:t>
            </a:r>
            <a:r>
              <a:rPr lang="zh-CN" altLang="en-US" sz="2400" b="1" kern="0" noProof="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学习率</a:t>
            </a: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，不要求掌握公式与计算</a:t>
            </a:r>
            <a:endParaRPr kumimoji="0" lang="zh-CN" altLang="en-US" sz="2400"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4">
            <a:extLst>
              <a:ext uri="{FF2B5EF4-FFF2-40B4-BE49-F238E27FC236}">
                <a16:creationId xmlns:a16="http://schemas.microsoft.com/office/drawing/2014/main" id="{067613B8-00C3-52E9-9EC7-0CAAF4B66FB8}"/>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36</a:t>
            </a:fld>
            <a:endParaRPr lang="zh-CN" altLang="en-US" dirty="0"/>
          </a:p>
        </p:txBody>
      </p:sp>
      <p:sp>
        <p:nvSpPr>
          <p:cNvPr id="8" name="文本框 7">
            <a:extLst>
              <a:ext uri="{FF2B5EF4-FFF2-40B4-BE49-F238E27FC236}">
                <a16:creationId xmlns:a16="http://schemas.microsoft.com/office/drawing/2014/main" id="{3375F6FF-A6B4-F12E-E171-8F4156C92266}"/>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字由文艺黑" panose="00020600040101010101" charset="-122"/>
              </a:rPr>
              <a:t>参数 vs 超参数</a:t>
            </a:r>
            <a:endParaRPr lang="zh-CN" altLang="en-US"/>
          </a:p>
        </p:txBody>
      </p:sp>
      <p:sp>
        <p:nvSpPr>
          <p:cNvPr id="6" name="文本框 5"/>
          <p:cNvSpPr txBox="1"/>
          <p:nvPr/>
        </p:nvSpPr>
        <p:spPr>
          <a:xfrm>
            <a:off x="545690" y="1567873"/>
            <a:ext cx="5339265" cy="4765932"/>
          </a:xfrm>
          <a:prstGeom prst="rect">
            <a:avLst/>
          </a:prstGeom>
          <a:noFill/>
        </p:spPr>
        <p:txBody>
          <a:bodyPr wrap="square" rtlCol="0" anchor="t">
            <a:noAutofit/>
          </a:bodyPr>
          <a:lstStyle/>
          <a:p>
            <a:pPr algn="just" fontAlgn="auto">
              <a:lnSpc>
                <a:spcPct val="150000"/>
              </a:lnSpc>
            </a:pPr>
            <a:r>
              <a:rPr lang="zh-CN" altLang="en-US"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参数（</a:t>
            </a:r>
            <a:r>
              <a:rPr lang="en-US"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Parameters），</a:t>
            </a:r>
            <a:r>
              <a:rPr lang="zh-CN" altLang="en-US"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即普通参数、模型参数，是模型内部的变量，模型通过调整这些变量来学习数据中的规律。</a:t>
            </a:r>
            <a:endParaRPr lang="en-US" altLang="zh-CN"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endParaRPr>
          </a:p>
          <a:p>
            <a:pPr algn="just" fontAlgn="auto">
              <a:lnSpc>
                <a:spcPct val="150000"/>
              </a:lnSpc>
            </a:pPr>
            <a:endParaRPr lang="en-US" sz="600" dirty="0">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a:p>
            <a:pPr algn="just" fontAlgn="auto">
              <a:lnSpc>
                <a:spcPct val="130000"/>
              </a:lnSpc>
            </a:pPr>
            <a:r>
              <a:rPr lang="zh-CN" altLang="en-US" sz="2000" b="1"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模型参数是由模型自己通过训练数据学习得到的，不需要人为设定。例如在线性回归中，模型参数是直线的斜率和截距；在神经网络中，模型参数是神经元之间的连接权重。模型参数是通过优化算法（如梯度下降）自动调整的，目标是让模型的预测更准确。</a:t>
            </a:r>
            <a:endParaRPr lang="en-US" sz="2000" b="1"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a:p>
            <a:pPr algn="just" fontAlgn="auto">
              <a:lnSpc>
                <a:spcPct val="150000"/>
              </a:lnSpc>
              <a:spcBef>
                <a:spcPct val="0"/>
              </a:spcBef>
            </a:pPr>
            <a:r>
              <a:rPr lang="en-US" sz="2000"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    </a:t>
            </a:r>
            <a:endParaRPr lang="en-US" altLang="en-US" sz="2000"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p:txBody>
      </p:sp>
      <p:sp>
        <p:nvSpPr>
          <p:cNvPr id="7" name="文本框 6"/>
          <p:cNvSpPr txBox="1"/>
          <p:nvPr/>
        </p:nvSpPr>
        <p:spPr>
          <a:xfrm>
            <a:off x="913764" y="1066834"/>
            <a:ext cx="4603115" cy="583565"/>
          </a:xfrm>
          <a:prstGeom prst="rect">
            <a:avLst/>
          </a:prstGeom>
          <a:noFill/>
        </p:spPr>
        <p:txBody>
          <a:bodyPr wrap="square" rtlCol="0">
            <a:spAutoFit/>
          </a:bodyPr>
          <a:lstStyle/>
          <a:p>
            <a:pPr algn="ctr"/>
            <a:r>
              <a:rPr lang="zh-CN" altLang="en-US" sz="3200" b="1" dirty="0">
                <a:latin typeface="黑体" panose="02010609060101010101" pitchFamily="49" charset="-122"/>
                <a:ea typeface="黑体" panose="02010609060101010101" pitchFamily="49" charset="-122"/>
              </a:rPr>
              <a:t>参数</a:t>
            </a:r>
          </a:p>
        </p:txBody>
      </p:sp>
      <p:sp>
        <p:nvSpPr>
          <p:cNvPr id="3" name="文本框 2">
            <a:extLst>
              <a:ext uri="{FF2B5EF4-FFF2-40B4-BE49-F238E27FC236}">
                <a16:creationId xmlns:a16="http://schemas.microsoft.com/office/drawing/2014/main" id="{4DFCE498-AB4A-7F24-6754-76D1CF5562E9}"/>
              </a:ext>
            </a:extLst>
          </p:cNvPr>
          <p:cNvSpPr txBox="1"/>
          <p:nvPr/>
        </p:nvSpPr>
        <p:spPr>
          <a:xfrm>
            <a:off x="6281360" y="1567873"/>
            <a:ext cx="5620587" cy="4765932"/>
          </a:xfrm>
          <a:prstGeom prst="rect">
            <a:avLst/>
          </a:prstGeom>
          <a:noFill/>
        </p:spPr>
        <p:txBody>
          <a:bodyPr wrap="square" rtlCol="0" anchor="t">
            <a:noAutofit/>
          </a:bodyPr>
          <a:lstStyle/>
          <a:p>
            <a:pPr algn="just" fontAlgn="auto">
              <a:lnSpc>
                <a:spcPct val="150000"/>
              </a:lnSpc>
            </a:pPr>
            <a:r>
              <a:rPr lang="zh-CN" altLang="en-US"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超参数（</a:t>
            </a:r>
            <a:r>
              <a:rPr lang="en-US" altLang="zh-CN"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Hyperparameters</a:t>
            </a:r>
            <a:r>
              <a:rPr lang="zh-CN" altLang="en-US"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）是控制模型训练过程的设置，决定了模型的结构和训练方式。</a:t>
            </a:r>
            <a:endParaRPr lang="en-US" altLang="zh-CN"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endParaRPr>
          </a:p>
          <a:p>
            <a:pPr algn="just" fontAlgn="auto">
              <a:lnSpc>
                <a:spcPct val="150000"/>
              </a:lnSpc>
            </a:pPr>
            <a:endParaRPr lang="en-US" altLang="zh-CN" sz="2000" b="1" dirty="0">
              <a:solidFill>
                <a:srgbClr val="0000FF"/>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a:p>
            <a:pPr algn="just" fontAlgn="auto">
              <a:lnSpc>
                <a:spcPct val="150000"/>
              </a:lnSpc>
            </a:pPr>
            <a:endParaRPr lang="en-US" altLang="zh-CN" sz="600" b="1" dirty="0">
              <a:solidFill>
                <a:srgbClr val="0000FF"/>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a:p>
            <a:pPr algn="just" fontAlgn="auto">
              <a:lnSpc>
                <a:spcPct val="130000"/>
              </a:lnSpc>
            </a:pPr>
            <a:r>
              <a:rPr lang="zh-CN" altLang="en-US" sz="2000" b="1" dirty="0">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超参数是由人为设定的，模型无法自动学习，例如神经网络中的</a:t>
            </a:r>
            <a:r>
              <a:rPr lang="zh-CN" altLang="en-US" sz="2000" b="1" dirty="0">
                <a:solidFill>
                  <a:srgbClr val="0000FF"/>
                </a:solidFill>
                <a:latin typeface="SimHei" panose="02010609060101010101" pitchFamily="49" charset="-122"/>
                <a:ea typeface="SimHei" panose="02010609060101010101" pitchFamily="49" charset="-122"/>
                <a:cs typeface="可画风暴黑-简" panose="020B0500000000000000" charset="-122"/>
                <a:sym typeface="可画风暴黑-简" panose="020B0500000000000000" charset="-122"/>
              </a:rPr>
              <a:t>学习</a:t>
            </a:r>
            <a:r>
              <a:rPr lang="zh-CN" altLang="en-US" sz="2000" b="1" dirty="0">
                <a:solidFill>
                  <a:srgbClr val="0000FF"/>
                </a:solidFill>
                <a:latin typeface="SimHei" panose="02010609060101010101" pitchFamily="49" charset="-122"/>
                <a:ea typeface="SimHei" panose="02010609060101010101" pitchFamily="49" charset="-122"/>
                <a:sym typeface="可画风暴黑-简" panose="020B0500000000000000" charset="-122"/>
              </a:rPr>
              <a:t>率</a:t>
            </a:r>
            <a:r>
              <a:rPr lang="zh-CN" altLang="en-US" sz="2000" b="1" dirty="0">
                <a:latin typeface="宋体" panose="02010600030101010101" pitchFamily="2" charset="-122"/>
                <a:ea typeface="宋体" panose="02010600030101010101" pitchFamily="2" charset="-122"/>
                <a:sym typeface="可画风暴黑-简" panose="020B0500000000000000" charset="-122"/>
              </a:rPr>
              <a:t>（控制模型参数更新的步长）</a:t>
            </a:r>
            <a:r>
              <a:rPr lang="zh-CN" altLang="en-US" sz="2000" b="1" dirty="0">
                <a:latin typeface="宋体" panose="02010600030101010101" pitchFamily="2" charset="-122"/>
                <a:ea typeface="宋体" panose="02010600030101010101" pitchFamily="2" charset="-122"/>
              </a:rPr>
              <a:t>、</a:t>
            </a:r>
            <a:r>
              <a:rPr lang="zh-CN" altLang="en-US" sz="2000" b="1" dirty="0">
                <a:solidFill>
                  <a:srgbClr val="0000FF"/>
                </a:solidFill>
                <a:latin typeface="SimHei" panose="02010609060101010101" pitchFamily="49" charset="-122"/>
                <a:ea typeface="SimHei" panose="02010609060101010101" pitchFamily="49" charset="-122"/>
              </a:rPr>
              <a:t>批量大小</a:t>
            </a:r>
            <a:r>
              <a:rPr lang="zh-CN" altLang="en-US" sz="2000" b="1" dirty="0">
                <a:latin typeface="宋体" panose="02010600030101010101" pitchFamily="2" charset="-122"/>
                <a:ea typeface="宋体" panose="02010600030101010101" pitchFamily="2" charset="-122"/>
              </a:rPr>
              <a:t>（决定一次迭代使用的样本数）</a:t>
            </a:r>
            <a:r>
              <a:rPr lang="zh-CN" altLang="en-US" sz="2000" b="1" dirty="0">
                <a:latin typeface="宋体" panose="02010600030101010101" pitchFamily="2" charset="-122"/>
                <a:ea typeface="宋体" panose="02010600030101010101" pitchFamily="2" charset="-122"/>
                <a:sym typeface="可画风暴黑-简" panose="020B0500000000000000" charset="-122"/>
              </a:rPr>
              <a:t>、神经网络的层数（决定模型的复杂度）、正则化系数（控制模型的过拟合程度）等。超</a:t>
            </a:r>
            <a:r>
              <a:rPr lang="zh-CN" altLang="en-US" sz="2000" b="1" dirty="0">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参数通常需要通过实验或经验来调整与设置。</a:t>
            </a:r>
            <a:r>
              <a:rPr lang="en-US" sz="2000"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rPr>
              <a:t>    </a:t>
            </a:r>
            <a:endParaRPr lang="en-US" altLang="en-US" sz="2000" dirty="0">
              <a:solidFill>
                <a:schemeClr val="tx1"/>
              </a:solidFill>
              <a:latin typeface="宋体" panose="02010600030101010101" pitchFamily="2" charset="-122"/>
              <a:ea typeface="宋体" panose="02010600030101010101" pitchFamily="2" charset="-122"/>
              <a:cs typeface="可画风暴黑-简" panose="020B0500000000000000" charset="-122"/>
              <a:sym typeface="可画风暴黑-简" panose="020B0500000000000000" charset="-122"/>
            </a:endParaRPr>
          </a:p>
        </p:txBody>
      </p:sp>
      <p:sp>
        <p:nvSpPr>
          <p:cNvPr id="4" name="文本框 3">
            <a:extLst>
              <a:ext uri="{FF2B5EF4-FFF2-40B4-BE49-F238E27FC236}">
                <a16:creationId xmlns:a16="http://schemas.microsoft.com/office/drawing/2014/main" id="{298EF8D0-B2DD-D0D1-8455-72C5BF95D6FF}"/>
              </a:ext>
            </a:extLst>
          </p:cNvPr>
          <p:cNvSpPr txBox="1"/>
          <p:nvPr/>
        </p:nvSpPr>
        <p:spPr>
          <a:xfrm>
            <a:off x="6526745" y="1066834"/>
            <a:ext cx="4603115" cy="583565"/>
          </a:xfrm>
          <a:prstGeom prst="rect">
            <a:avLst/>
          </a:prstGeom>
          <a:noFill/>
        </p:spPr>
        <p:txBody>
          <a:bodyPr wrap="square" rtlCol="0">
            <a:spAutoFit/>
          </a:bodyPr>
          <a:lstStyle/>
          <a:p>
            <a:pPr algn="ctr"/>
            <a:r>
              <a:rPr lang="zh-CN" altLang="en-US" sz="3200" b="1" dirty="0">
                <a:latin typeface="黑体" panose="02010609060101010101" pitchFamily="49" charset="-122"/>
                <a:ea typeface="黑体" panose="02010609060101010101" pitchFamily="49" charset="-122"/>
              </a:rPr>
              <a:t>超参数</a:t>
            </a:r>
          </a:p>
        </p:txBody>
      </p:sp>
      <p:sp>
        <p:nvSpPr>
          <p:cNvPr id="9" name="矩形 8">
            <a:extLst>
              <a:ext uri="{FF2B5EF4-FFF2-40B4-BE49-F238E27FC236}">
                <a16:creationId xmlns:a16="http://schemas.microsoft.com/office/drawing/2014/main" id="{C96DC9B8-4544-D948-88B0-F395B8DB6C50}"/>
              </a:ext>
            </a:extLst>
          </p:cNvPr>
          <p:cNvSpPr/>
          <p:nvPr/>
        </p:nvSpPr>
        <p:spPr>
          <a:xfrm>
            <a:off x="560438" y="5580395"/>
            <a:ext cx="11356257" cy="991055"/>
          </a:xfrm>
          <a:prstGeom prst="rect">
            <a:avLst/>
          </a:prstGeom>
          <a:solidFill>
            <a:srgbClr val="FF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72000" rtlCol="0" anchor="ctr" anchorCtr="0"/>
          <a:lstStyle/>
          <a:p>
            <a:pPr indent="495300" algn="just">
              <a:lnSpc>
                <a:spcPct val="150000"/>
              </a:lnSpc>
            </a:pPr>
            <a:r>
              <a:rPr kumimoji="1" lang="zh-CN" altLang="en-US" sz="2000" b="1" dirty="0">
                <a:solidFill>
                  <a:srgbClr val="C00000"/>
                </a:solidFill>
                <a:latin typeface="SimHei" panose="02010609060101010101" pitchFamily="49" charset="-122"/>
                <a:ea typeface="SimHei" panose="02010609060101010101" pitchFamily="49" charset="-122"/>
              </a:rPr>
              <a:t>优化算法的目标是找到使损失函数最小的模型参数。选择合适的优化算法、调整学习率、批量大小等超参数（称为</a:t>
            </a:r>
            <a:r>
              <a:rPr kumimoji="1" lang="zh-CN" altLang="en-US" sz="2000" b="1" dirty="0">
                <a:solidFill>
                  <a:srgbClr val="0000FF"/>
                </a:solidFill>
                <a:latin typeface="SimHei" panose="02010609060101010101" pitchFamily="49" charset="-122"/>
                <a:ea typeface="SimHei" panose="02010609060101010101" pitchFamily="49" charset="-122"/>
              </a:rPr>
              <a:t>超参数调优</a:t>
            </a:r>
            <a:r>
              <a:rPr kumimoji="1" lang="zh-CN" altLang="en-US" sz="2000" b="1" dirty="0">
                <a:solidFill>
                  <a:srgbClr val="C00000"/>
                </a:solidFill>
                <a:latin typeface="SimHei" panose="02010609060101010101" pitchFamily="49" charset="-122"/>
                <a:ea typeface="SimHei" panose="02010609060101010101" pitchFamily="49" charset="-122"/>
              </a:rPr>
              <a:t>），是提高模型性能的关键。</a:t>
            </a:r>
            <a:endParaRPr kumimoji="1" lang="zh-CN" altLang="en-US" sz="2000" b="1" dirty="0">
              <a:solidFill>
                <a:schemeClr val="tx1"/>
              </a:solidFill>
              <a:latin typeface="SimHei" panose="02010609060101010101" pitchFamily="49" charset="-122"/>
              <a:ea typeface="SimHei" panose="02010609060101010101" pitchFamily="49" charset="-122"/>
            </a:endParaRPr>
          </a:p>
        </p:txBody>
      </p:sp>
      <p:sp>
        <p:nvSpPr>
          <p:cNvPr id="10" name="同侧圆角矩形 29">
            <a:extLst>
              <a:ext uri="{FF2B5EF4-FFF2-40B4-BE49-F238E27FC236}">
                <a16:creationId xmlns:a16="http://schemas.microsoft.com/office/drawing/2014/main" id="{77C69A0D-6D9B-13AB-3A7E-7A41580604C2}"/>
              </a:ext>
            </a:extLst>
          </p:cNvPr>
          <p:cNvSpPr/>
          <p:nvPr/>
        </p:nvSpPr>
        <p:spPr>
          <a:xfrm>
            <a:off x="4734232" y="-1"/>
            <a:ext cx="7457767" cy="1020543"/>
          </a:xfrm>
          <a:prstGeom prst="round2SameRect">
            <a:avLst>
              <a:gd name="adj1" fmla="val 0"/>
              <a:gd name="adj2" fmla="val 0"/>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tabLst/>
              <a:defRPr/>
            </a:pP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理解</a:t>
            </a:r>
            <a:r>
              <a:rPr lang="zh-CN" altLang="en-US" sz="2400" b="1" kern="0" noProof="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参数</a:t>
            </a: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是模型学出来的，</a:t>
            </a:r>
            <a:r>
              <a:rPr lang="zh-CN" altLang="en-US" sz="2400" b="1" kern="0" noProof="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超参数</a:t>
            </a:r>
            <a:r>
              <a:rPr lang="zh-CN" altLang="en-US" sz="2400" b="1"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是人为设定的</a:t>
            </a:r>
            <a:endParaRPr kumimoji="0" lang="zh-CN" altLang="en-US" sz="2400" b="1" i="0" u="none" strike="noStrike" kern="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a:extLst>
              <a:ext uri="{FF2B5EF4-FFF2-40B4-BE49-F238E27FC236}">
                <a16:creationId xmlns:a16="http://schemas.microsoft.com/office/drawing/2014/main" id="{DB9DD8B9-8B08-EE08-4D05-E1CD6CB1CFB1}"/>
              </a:ext>
            </a:extLst>
          </p:cNvPr>
          <p:cNvSpPr txBox="1"/>
          <p:nvPr/>
        </p:nvSpPr>
        <p:spPr>
          <a:xfrm>
            <a:off x="6346413" y="639555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b="1" dirty="0">
                <a:latin typeface="黑体" panose="02010609060101010101" charset="-122"/>
                <a:ea typeface="黑体" panose="02010609060101010101" charset="-122"/>
                <a:cs typeface="+mn-ea"/>
                <a:sym typeface="+mn-lt"/>
              </a:rPr>
              <a:t>回顾三要素</a:t>
            </a:r>
          </a:p>
        </p:txBody>
      </p:sp>
      <p:sp>
        <p:nvSpPr>
          <p:cNvPr id="92" name="文本框 91"/>
          <p:cNvSpPr txBox="1"/>
          <p:nvPr/>
        </p:nvSpPr>
        <p:spPr>
          <a:xfrm>
            <a:off x="845660" y="1323467"/>
            <a:ext cx="10786223" cy="3533916"/>
          </a:xfrm>
          <a:prstGeom prst="rect">
            <a:avLst/>
          </a:prstGeom>
          <a:noFill/>
        </p:spPr>
        <p:txBody>
          <a:bodyPr wrap="square" rtlCol="0" anchor="t">
            <a:spAutoFit/>
          </a:bodyPr>
          <a:lstStyle/>
          <a:p>
            <a:pPr algn="l">
              <a:lnSpc>
                <a:spcPct val="150000"/>
              </a:lnSpc>
            </a:pPr>
            <a:r>
              <a:rPr lang="en-US" altLang="zh-CN" sz="2500" b="1" dirty="0">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en-US" sz="2500" b="1" dirty="0" err="1">
                <a:solidFill>
                  <a:srgbClr val="C00000"/>
                </a:solidFill>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模型</a:t>
            </a:r>
            <a:r>
              <a:rPr lang="zh-CN" altLang="en-US" sz="2500" b="1" dirty="0">
                <a:solidFill>
                  <a:srgbClr val="C00000"/>
                </a:solidFill>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a:t>
            </a:r>
            <a:r>
              <a:rPr lang="en-US" altLang="zh-CN" sz="2500" b="1" dirty="0">
                <a:solidFill>
                  <a:srgbClr val="FF0000"/>
                </a:solidFill>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	</a:t>
            </a:r>
            <a:r>
              <a:rPr lang="zh-CN" altLang="en-US" sz="2500" b="1" dirty="0">
                <a:solidFill>
                  <a:srgbClr val="FF0000"/>
                </a:solidFill>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模型是对</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输入与输出关系</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的假设。本质上，模型是一个</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参数化的函数</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，参数就是我们要通过数据学习的</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未知数</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a:t>
            </a:r>
          </a:p>
          <a:p>
            <a:pPr algn="l">
              <a:lnSpc>
                <a:spcPct val="150000"/>
              </a:lnSpc>
            </a:pPr>
            <a:endParaRPr lang="zh-CN" altLang="en-US" sz="14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endParaRPr>
          </a:p>
          <a:p>
            <a:pPr algn="l">
              <a:lnSpc>
                <a:spcPct val="150000"/>
              </a:lnSpc>
            </a:pPr>
            <a:r>
              <a:rPr lang="en-US" altLang="zh-CN" sz="2500" b="1" dirty="0">
                <a:solidFill>
                  <a:srgbClr val="C00000"/>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rgbClr val="C00000"/>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学习准则：</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有了模型，怎么判断它好不好？学习准则就是</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打分标准</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，通常转化为</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目标函数</a:t>
            </a:r>
            <a:r>
              <a:rPr lang="en-US" altLang="zh-CN"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a:t>
            </a:r>
          </a:p>
          <a:p>
            <a:pPr algn="l">
              <a:lnSpc>
                <a:spcPct val="150000"/>
              </a:lnSpc>
            </a:pPr>
            <a:endParaRPr lang="zh-CN" altLang="en-US" sz="14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endParaRPr>
          </a:p>
          <a:p>
            <a:pPr algn="l">
              <a:lnSpc>
                <a:spcPct val="150000"/>
              </a:lnSpc>
            </a:pPr>
            <a:r>
              <a:rPr lang="en-US" altLang="zh-CN" sz="2500" b="1" dirty="0">
                <a:solidFill>
                  <a:srgbClr val="C00000"/>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 </a:t>
            </a:r>
            <a:r>
              <a:rPr lang="zh-CN" altLang="en-US" sz="2500" b="1" dirty="0">
                <a:solidFill>
                  <a:srgbClr val="C00000"/>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优化算法：</a:t>
            </a:r>
            <a:r>
              <a:rPr lang="zh-CN" altLang="en-US" sz="2500" b="1" dirty="0">
                <a:solidFill>
                  <a:schemeClr val="tx1"/>
                </a:solidFill>
                <a:latin typeface="SimHei" panose="02010609060101010101" pitchFamily="49" charset="-122"/>
                <a:ea typeface="SimHei" panose="02010609060101010101" pitchFamily="49" charset="-122"/>
                <a:cs typeface="宋体" panose="02010600030101010101" pitchFamily="2" charset="-122"/>
                <a:sym typeface="黑体" panose="02010609060101010101" charset="-122"/>
              </a:rPr>
              <a:t>优化算法的核心是，如何高效找到最优参数。</a:t>
            </a:r>
            <a:endParaRPr lang="zh-CN" altLang="en-US" sz="2500" b="1" dirty="0">
              <a:latin typeface="SimHei" panose="02010609060101010101" pitchFamily="49" charset="-122"/>
              <a:ea typeface="SimHei" panose="02010609060101010101" pitchFamily="49" charset="-122"/>
              <a:cs typeface="宋体" panose="02010600030101010101" pitchFamily="2" charset="-122"/>
              <a:sym typeface="黑体" panose="02010609060101010101" charset="-122"/>
            </a:endParaRPr>
          </a:p>
        </p:txBody>
      </p:sp>
      <p:pic>
        <p:nvPicPr>
          <p:cNvPr id="8" name="图形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64511" y="9427"/>
            <a:ext cx="2704410" cy="719661"/>
          </a:xfrm>
          <a:prstGeom prst="rect">
            <a:avLst/>
          </a:prstGeom>
        </p:spPr>
      </p:pic>
      <p:sp>
        <p:nvSpPr>
          <p:cNvPr id="3" name="云形 2">
            <a:extLst>
              <a:ext uri="{FF2B5EF4-FFF2-40B4-BE49-F238E27FC236}">
                <a16:creationId xmlns:a16="http://schemas.microsoft.com/office/drawing/2014/main" id="{A3BDC197-CCE1-C73C-34A4-BFA9DEBFE61A}"/>
              </a:ext>
            </a:extLst>
          </p:cNvPr>
          <p:cNvSpPr/>
          <p:nvPr/>
        </p:nvSpPr>
        <p:spPr>
          <a:xfrm>
            <a:off x="1346654" y="5254637"/>
            <a:ext cx="9208292" cy="1001527"/>
          </a:xfrm>
          <a:prstGeom prst="cloud">
            <a:avLst/>
          </a:prstGeom>
          <a:noFill/>
          <a:ln>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1202055" indent="-1202055" algn="ctr">
              <a:lnSpc>
                <a:spcPct val="150000"/>
              </a:lnSpc>
            </a:pPr>
            <a:r>
              <a:rPr kumimoji="1" lang="zh-CN" altLang="en-US" sz="2400" b="1" dirty="0">
                <a:solidFill>
                  <a:srgbClr val="C00000"/>
                </a:solidFill>
                <a:latin typeface="微软雅黑" panose="020B0503020204020204" charset="-122"/>
                <a:ea typeface="微软雅黑" panose="020B0503020204020204" charset="-122"/>
              </a:rPr>
              <a:t>有哪些常见模型？</a:t>
            </a:r>
            <a:endParaRPr kumimoji="1" lang="en-US" altLang="zh-CN" sz="2400" b="1" dirty="0">
              <a:solidFill>
                <a:srgbClr val="C00000"/>
              </a:solidFill>
              <a:latin typeface="微软雅黑" panose="020B0503020204020204" charset="-122"/>
              <a:ea typeface="微软雅黑" panose="020B0503020204020204" charset="-122"/>
            </a:endParaRPr>
          </a:p>
        </p:txBody>
      </p:sp>
      <p:sp>
        <p:nvSpPr>
          <p:cNvPr id="4" name="灯片编号占位符 4">
            <a:extLst>
              <a:ext uri="{FF2B5EF4-FFF2-40B4-BE49-F238E27FC236}">
                <a16:creationId xmlns:a16="http://schemas.microsoft.com/office/drawing/2014/main" id="{D5A07C3C-3B3F-4DD9-7CB3-909C5F9F1023}"/>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38</a:t>
            </a:fld>
            <a:endParaRPr lang="zh-CN" altLang="en-US" dirty="0"/>
          </a:p>
        </p:txBody>
      </p:sp>
      <p:sp>
        <p:nvSpPr>
          <p:cNvPr id="6" name="文本框 5">
            <a:extLst>
              <a:ext uri="{FF2B5EF4-FFF2-40B4-BE49-F238E27FC236}">
                <a16:creationId xmlns:a16="http://schemas.microsoft.com/office/drawing/2014/main" id="{0DE55DE4-AC6A-BE51-6A0B-AD32AAB929B0}"/>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224270" cy="705485"/>
          </a:xfrm>
        </p:spPr>
        <p:txBody>
          <a:bodyPr>
            <a:normAutofit fontScale="90000"/>
          </a:bodyPr>
          <a:lstStyle/>
          <a:p>
            <a:r>
              <a:rPr lang="zh-CN" altLang="en-US"/>
              <a:t>小测试：你能分清这些术语吗？</a:t>
            </a:r>
          </a:p>
        </p:txBody>
      </p:sp>
      <p:sp>
        <p:nvSpPr>
          <p:cNvPr id="3" name="内容占位符 2"/>
          <p:cNvSpPr>
            <a:spLocks noGrp="1"/>
          </p:cNvSpPr>
          <p:nvPr>
            <p:ph idx="1"/>
          </p:nvPr>
        </p:nvSpPr>
        <p:spPr/>
        <p:txBody>
          <a:bodyPr>
            <a:normAutofit/>
          </a:bodyPr>
          <a:lstStyle/>
          <a:p>
            <a:pPr marL="0" indent="0" algn="l">
              <a:lnSpc>
                <a:spcPts val="5505"/>
              </a:lnSpc>
              <a:buNone/>
            </a:pPr>
            <a:r>
              <a:rPr lang="en-US" sz="2400">
                <a:solidFill>
                  <a:srgbClr val="000000"/>
                </a:solidFill>
                <a:cs typeface="宋体" panose="02010600030101010101" pitchFamily="2" charset="-122"/>
                <a:sym typeface="可画风暴黑-简" panose="020B0500000000000000" charset="-122"/>
              </a:rPr>
              <a:t>1. 宿舍楼刷脸门禁录脸时，你提供的第4张自拍照属于？（ ）</a:t>
            </a:r>
          </a:p>
          <a:p>
            <a:pPr marL="0" indent="0" algn="l">
              <a:lnSpc>
                <a:spcPts val="5505"/>
              </a:lnSpc>
              <a:buNone/>
            </a:pPr>
            <a:r>
              <a:rPr lang="en-US" sz="2400">
                <a:solidFill>
                  <a:srgbClr val="000000"/>
                </a:solidFill>
                <a:cs typeface="宋体" panose="02010600030101010101" pitchFamily="2" charset="-122"/>
                <a:sym typeface="可画风暴黑-简" panose="020B0500000000000000" charset="-122"/>
              </a:rPr>
              <a:t>​​A. 样本​              B. 数据集              C. 标签</a:t>
            </a:r>
            <a:endParaRPr lang="zh-CN" altLang="en-US" sz="2400" b="1">
              <a:solidFill>
                <a:schemeClr val="tx1"/>
              </a:solidFill>
              <a:cs typeface="宋体" panose="02010600030101010101" pitchFamily="2" charset="-122"/>
            </a:endParaRPr>
          </a:p>
        </p:txBody>
      </p:sp>
      <p:sp>
        <p:nvSpPr>
          <p:cNvPr id="4" name="灯片编号占位符 4">
            <a:extLst>
              <a:ext uri="{FF2B5EF4-FFF2-40B4-BE49-F238E27FC236}">
                <a16:creationId xmlns:a16="http://schemas.microsoft.com/office/drawing/2014/main" id="{ED86FA95-C920-B7B3-9496-2EC6A71931CF}"/>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39</a:t>
            </a:fld>
            <a:endParaRPr lang="zh-CN" altLang="en-US" dirty="0"/>
          </a:p>
        </p:txBody>
      </p:sp>
      <p:sp>
        <p:nvSpPr>
          <p:cNvPr id="6" name="文本框 5">
            <a:extLst>
              <a:ext uri="{FF2B5EF4-FFF2-40B4-BE49-F238E27FC236}">
                <a16:creationId xmlns:a16="http://schemas.microsoft.com/office/drawing/2014/main" id="{2B6E14B3-E097-DF1A-1E0B-98408230ECFC}"/>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145327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224270" cy="705485"/>
          </a:xfrm>
        </p:spPr>
        <p:txBody>
          <a:bodyPr>
            <a:normAutofit fontScale="90000"/>
          </a:bodyPr>
          <a:lstStyle/>
          <a:p>
            <a:r>
              <a:rPr lang="zh-CN" altLang="en-US"/>
              <a:t>小测试：你能分清这些术语吗？</a:t>
            </a:r>
          </a:p>
        </p:txBody>
      </p:sp>
      <p:sp>
        <p:nvSpPr>
          <p:cNvPr id="3" name="内容占位符 2"/>
          <p:cNvSpPr>
            <a:spLocks noGrp="1"/>
          </p:cNvSpPr>
          <p:nvPr>
            <p:ph idx="1"/>
          </p:nvPr>
        </p:nvSpPr>
        <p:spPr>
          <a:xfrm>
            <a:off x="371660" y="1528066"/>
            <a:ext cx="11448680" cy="4545965"/>
          </a:xfrm>
        </p:spPr>
        <p:txBody>
          <a:bodyPr>
            <a:normAutofit/>
          </a:bodyPr>
          <a:lstStyle/>
          <a:p>
            <a:pPr marL="0" indent="0" algn="l">
              <a:lnSpc>
                <a:spcPts val="5505"/>
              </a:lnSpc>
              <a:buNone/>
            </a:pPr>
            <a:r>
              <a:rPr lang="en-US" sz="2400" dirty="0">
                <a:solidFill>
                  <a:srgbClr val="000000"/>
                </a:solidFill>
                <a:cs typeface="宋体" panose="02010600030101010101" pitchFamily="2" charset="-122"/>
                <a:sym typeface="可画风暴黑-简" panose="020B0500000000000000" charset="-122"/>
              </a:rPr>
              <a:t>1. 宿舍楼刷脸门禁录脸时，你提供的第4张自拍照属于？（ ）</a:t>
            </a:r>
          </a:p>
          <a:p>
            <a:pPr marL="0" indent="0" algn="l">
              <a:lnSpc>
                <a:spcPts val="5505"/>
              </a:lnSpc>
              <a:buNone/>
            </a:pPr>
            <a:r>
              <a:rPr lang="en-US" sz="2400" dirty="0">
                <a:solidFill>
                  <a:srgbClr val="000000"/>
                </a:solidFill>
                <a:cs typeface="宋体" panose="02010600030101010101" pitchFamily="2" charset="-122"/>
                <a:sym typeface="可画风暴黑-简" panose="020B0500000000000000" charset="-122"/>
              </a:rPr>
              <a:t>​​A. </a:t>
            </a:r>
            <a:r>
              <a:rPr lang="en-US" sz="2400" dirty="0" err="1">
                <a:solidFill>
                  <a:srgbClr val="000000"/>
                </a:solidFill>
                <a:cs typeface="宋体" panose="02010600030101010101" pitchFamily="2" charset="-122"/>
                <a:sym typeface="可画风暴黑-简" panose="020B0500000000000000" charset="-122"/>
              </a:rPr>
              <a:t>样本</a:t>
            </a:r>
            <a:r>
              <a:rPr lang="en-US" sz="2400" dirty="0">
                <a:solidFill>
                  <a:srgbClr val="000000"/>
                </a:solidFill>
                <a:cs typeface="宋体" panose="02010600030101010101" pitchFamily="2" charset="-122"/>
                <a:sym typeface="可画风暴黑-简" panose="020B0500000000000000" charset="-122"/>
              </a:rPr>
              <a:t>​                     B. </a:t>
            </a:r>
            <a:r>
              <a:rPr lang="en-US" sz="2400" dirty="0" err="1">
                <a:solidFill>
                  <a:srgbClr val="000000"/>
                </a:solidFill>
                <a:cs typeface="宋体" panose="02010600030101010101" pitchFamily="2" charset="-122"/>
                <a:sym typeface="可画风暴黑-简" panose="020B0500000000000000" charset="-122"/>
              </a:rPr>
              <a:t>数据集</a:t>
            </a:r>
            <a:r>
              <a:rPr lang="en-US" sz="2400" dirty="0">
                <a:solidFill>
                  <a:srgbClr val="000000"/>
                </a:solidFill>
                <a:cs typeface="宋体" panose="02010600030101010101" pitchFamily="2" charset="-122"/>
                <a:sym typeface="可画风暴黑-简" panose="020B0500000000000000" charset="-122"/>
              </a:rPr>
              <a:t>                   C. </a:t>
            </a:r>
            <a:r>
              <a:rPr lang="en-US" sz="2400" dirty="0" err="1">
                <a:solidFill>
                  <a:srgbClr val="000000"/>
                </a:solidFill>
                <a:cs typeface="宋体" panose="02010600030101010101" pitchFamily="2" charset="-122"/>
                <a:sym typeface="可画风暴黑-简" panose="020B0500000000000000" charset="-122"/>
              </a:rPr>
              <a:t>标签</a:t>
            </a:r>
            <a:endParaRPr lang="en-US" sz="2400" dirty="0">
              <a:solidFill>
                <a:srgbClr val="000000"/>
              </a:solidFill>
              <a:cs typeface="宋体" panose="02010600030101010101" pitchFamily="2" charset="-122"/>
              <a:sym typeface="可画风暴黑-简" panose="020B0500000000000000" charset="-122"/>
            </a:endParaRPr>
          </a:p>
          <a:p>
            <a:pPr marL="0" indent="0" algn="l">
              <a:lnSpc>
                <a:spcPts val="5505"/>
              </a:lnSpc>
              <a:buNone/>
            </a:pPr>
            <a:r>
              <a:rPr lang="en-US" sz="2400" b="1" dirty="0" err="1">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答案：A</a:t>
            </a:r>
            <a:endParaRPr 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endParaRPr>
          </a:p>
          <a:p>
            <a:pPr marL="0" indent="0" algn="l">
              <a:lnSpc>
                <a:spcPts val="5505"/>
              </a:lnSpc>
              <a:buNone/>
            </a:pPr>
            <a:r>
              <a:rPr lang="en-US" sz="2400" b="1" dirty="0" err="1">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单张照片是数据集中的个体实例</a:t>
            </a:r>
            <a:r>
              <a:rPr lang="zh-CN" alt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（样本）</a:t>
            </a:r>
            <a:r>
              <a:rPr 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 → </a:t>
            </a:r>
            <a:r>
              <a:rPr lang="en-US" sz="2400" b="1" dirty="0" err="1">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如同人脸库中的“一张证件照</a:t>
            </a:r>
            <a:r>
              <a:rPr 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a:t>
            </a:r>
            <a:r>
              <a:rPr lang="zh-CN" alt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a:t>
            </a:r>
            <a:endParaRPr 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endParaRPr>
          </a:p>
        </p:txBody>
      </p:sp>
      <p:sp>
        <p:nvSpPr>
          <p:cNvPr id="4" name="灯片编号占位符 4">
            <a:extLst>
              <a:ext uri="{FF2B5EF4-FFF2-40B4-BE49-F238E27FC236}">
                <a16:creationId xmlns:a16="http://schemas.microsoft.com/office/drawing/2014/main" id="{56120834-FA33-C6F2-917F-EAFDE2B22465}"/>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40</a:t>
            </a:fld>
            <a:endParaRPr lang="zh-CN" altLang="en-US" dirty="0"/>
          </a:p>
        </p:txBody>
      </p:sp>
      <p:sp>
        <p:nvSpPr>
          <p:cNvPr id="6" name="文本框 5">
            <a:extLst>
              <a:ext uri="{FF2B5EF4-FFF2-40B4-BE49-F238E27FC236}">
                <a16:creationId xmlns:a16="http://schemas.microsoft.com/office/drawing/2014/main" id="{286E62C6-72B8-4E8E-403C-52BD11EE5B11}"/>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2483344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224270" cy="705485"/>
          </a:xfrm>
        </p:spPr>
        <p:txBody>
          <a:bodyPr>
            <a:normAutofit fontScale="90000"/>
          </a:bodyPr>
          <a:lstStyle/>
          <a:p>
            <a:r>
              <a:rPr lang="zh-CN" altLang="en-US"/>
              <a:t>小测试：你能分清这些术语吗？</a:t>
            </a:r>
          </a:p>
        </p:txBody>
      </p:sp>
      <p:sp>
        <p:nvSpPr>
          <p:cNvPr id="3" name="内容占位符 2"/>
          <p:cNvSpPr>
            <a:spLocks noGrp="1"/>
          </p:cNvSpPr>
          <p:nvPr>
            <p:ph idx="1"/>
          </p:nvPr>
        </p:nvSpPr>
        <p:spPr/>
        <p:txBody>
          <a:bodyPr>
            <a:normAutofit/>
          </a:bodyPr>
          <a:lstStyle/>
          <a:p>
            <a:pPr marL="0" indent="0" algn="ctr">
              <a:lnSpc>
                <a:spcPts val="5505"/>
              </a:lnSpc>
              <a:buNone/>
            </a:pPr>
            <a:r>
              <a:rPr lang="en-US" sz="2400">
                <a:solidFill>
                  <a:srgbClr val="000000"/>
                </a:solidFill>
                <a:cs typeface="宋体" panose="02010600030101010101" pitchFamily="2" charset="-122"/>
                <a:sym typeface="可画风暴黑-简" panose="020B0500000000000000" charset="-122"/>
              </a:rPr>
              <a:t>2. 体测成绩预测APP把"肺活量4500ml"标记为"及格"，该标记属于？（ ）</a:t>
            </a:r>
          </a:p>
          <a:p>
            <a:pPr marL="0" indent="0" algn="l">
              <a:lnSpc>
                <a:spcPts val="5505"/>
              </a:lnSpc>
              <a:buNone/>
            </a:pPr>
            <a:r>
              <a:rPr lang="en-US" sz="2400">
                <a:solidFill>
                  <a:srgbClr val="000000"/>
                </a:solidFill>
                <a:cs typeface="宋体" panose="02010600030101010101" pitchFamily="2" charset="-122"/>
                <a:sym typeface="可画风暴黑-简" panose="020B0500000000000000" charset="-122"/>
              </a:rPr>
              <a:t>A. 特征                       B. 模型                   C. 标签​</a:t>
            </a:r>
          </a:p>
        </p:txBody>
      </p:sp>
      <p:sp>
        <p:nvSpPr>
          <p:cNvPr id="4" name="灯片编号占位符 4">
            <a:extLst>
              <a:ext uri="{FF2B5EF4-FFF2-40B4-BE49-F238E27FC236}">
                <a16:creationId xmlns:a16="http://schemas.microsoft.com/office/drawing/2014/main" id="{9B69F333-B3DC-7A83-54F2-D3B04125A479}"/>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41</a:t>
            </a:fld>
            <a:endParaRPr lang="zh-CN" altLang="en-US" dirty="0"/>
          </a:p>
        </p:txBody>
      </p:sp>
      <p:sp>
        <p:nvSpPr>
          <p:cNvPr id="6" name="文本框 5">
            <a:extLst>
              <a:ext uri="{FF2B5EF4-FFF2-40B4-BE49-F238E27FC236}">
                <a16:creationId xmlns:a16="http://schemas.microsoft.com/office/drawing/2014/main" id="{EAE58076-78DF-2BD9-4947-27355918E51E}"/>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1731891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224270" cy="705485"/>
          </a:xfrm>
        </p:spPr>
        <p:txBody>
          <a:bodyPr>
            <a:normAutofit fontScale="90000"/>
          </a:bodyPr>
          <a:lstStyle/>
          <a:p>
            <a:r>
              <a:rPr lang="zh-CN" altLang="en-US"/>
              <a:t>小测试：你能分清这些术语吗？</a:t>
            </a:r>
          </a:p>
        </p:txBody>
      </p:sp>
      <p:sp>
        <p:nvSpPr>
          <p:cNvPr id="3" name="内容占位符 2"/>
          <p:cNvSpPr>
            <a:spLocks noGrp="1"/>
          </p:cNvSpPr>
          <p:nvPr>
            <p:ph idx="1"/>
          </p:nvPr>
        </p:nvSpPr>
        <p:spPr/>
        <p:txBody>
          <a:bodyPr>
            <a:normAutofit/>
          </a:bodyPr>
          <a:lstStyle/>
          <a:p>
            <a:pPr marL="0" indent="0" algn="ctr">
              <a:lnSpc>
                <a:spcPts val="5505"/>
              </a:lnSpc>
              <a:buNone/>
            </a:pPr>
            <a:r>
              <a:rPr lang="en-US" sz="2400" dirty="0">
                <a:solidFill>
                  <a:srgbClr val="000000"/>
                </a:solidFill>
                <a:cs typeface="宋体" panose="02010600030101010101" pitchFamily="2" charset="-122"/>
                <a:sym typeface="可画风暴黑-简" panose="020B0500000000000000" charset="-122"/>
              </a:rPr>
              <a:t>2. 体测成绩预测APP把"肺活量4500ml"标记为"及格"，该标记属于？（ ）</a:t>
            </a:r>
          </a:p>
          <a:p>
            <a:pPr marL="0" indent="0" algn="l">
              <a:lnSpc>
                <a:spcPts val="5505"/>
              </a:lnSpc>
              <a:buNone/>
            </a:pPr>
            <a:r>
              <a:rPr lang="en-US" sz="2400" dirty="0">
                <a:solidFill>
                  <a:srgbClr val="000000"/>
                </a:solidFill>
                <a:cs typeface="宋体" panose="02010600030101010101" pitchFamily="2" charset="-122"/>
                <a:sym typeface="可画风暴黑-简" panose="020B0500000000000000" charset="-122"/>
              </a:rPr>
              <a:t>A. </a:t>
            </a:r>
            <a:r>
              <a:rPr lang="en-US" sz="2400" dirty="0" err="1">
                <a:solidFill>
                  <a:srgbClr val="000000"/>
                </a:solidFill>
                <a:cs typeface="宋体" panose="02010600030101010101" pitchFamily="2" charset="-122"/>
                <a:sym typeface="可画风暴黑-简" panose="020B0500000000000000" charset="-122"/>
              </a:rPr>
              <a:t>特征</a:t>
            </a:r>
            <a:r>
              <a:rPr lang="en-US" sz="2400" dirty="0">
                <a:solidFill>
                  <a:srgbClr val="000000"/>
                </a:solidFill>
                <a:cs typeface="宋体" panose="02010600030101010101" pitchFamily="2" charset="-122"/>
                <a:sym typeface="可画风暴黑-简" panose="020B0500000000000000" charset="-122"/>
              </a:rPr>
              <a:t>                       B. </a:t>
            </a:r>
            <a:r>
              <a:rPr lang="en-US" sz="2400" dirty="0" err="1">
                <a:solidFill>
                  <a:srgbClr val="000000"/>
                </a:solidFill>
                <a:cs typeface="宋体" panose="02010600030101010101" pitchFamily="2" charset="-122"/>
                <a:sym typeface="可画风暴黑-简" panose="020B0500000000000000" charset="-122"/>
              </a:rPr>
              <a:t>模型</a:t>
            </a:r>
            <a:r>
              <a:rPr lang="en-US" sz="2400" dirty="0">
                <a:solidFill>
                  <a:srgbClr val="000000"/>
                </a:solidFill>
                <a:cs typeface="宋体" panose="02010600030101010101" pitchFamily="2" charset="-122"/>
                <a:sym typeface="可画风暴黑-简" panose="020B0500000000000000" charset="-122"/>
              </a:rPr>
              <a:t>                   C. </a:t>
            </a:r>
            <a:r>
              <a:rPr lang="en-US" sz="2400" dirty="0" err="1">
                <a:solidFill>
                  <a:srgbClr val="000000"/>
                </a:solidFill>
                <a:cs typeface="宋体" panose="02010600030101010101" pitchFamily="2" charset="-122"/>
                <a:sym typeface="可画风暴黑-简" panose="020B0500000000000000" charset="-122"/>
              </a:rPr>
              <a:t>标签</a:t>
            </a:r>
            <a:r>
              <a:rPr lang="en-US" sz="2400" dirty="0">
                <a:solidFill>
                  <a:srgbClr val="000000"/>
                </a:solidFill>
                <a:cs typeface="宋体" panose="02010600030101010101" pitchFamily="2" charset="-122"/>
                <a:sym typeface="可画风暴黑-简" panose="020B0500000000000000" charset="-122"/>
              </a:rPr>
              <a:t>​</a:t>
            </a:r>
          </a:p>
          <a:p>
            <a:pPr marL="0" indent="0" algn="l">
              <a:lnSpc>
                <a:spcPts val="5505"/>
              </a:lnSpc>
              <a:buNone/>
            </a:pPr>
            <a:r>
              <a:rPr lang="en-US" sz="2400" b="1" dirty="0" err="1">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答案：C</a:t>
            </a:r>
            <a:endParaRPr 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endParaRPr>
          </a:p>
          <a:p>
            <a:pPr marL="0" indent="0">
              <a:lnSpc>
                <a:spcPts val="5505"/>
              </a:lnSpc>
              <a:buClrTx/>
              <a:buSzTx/>
              <a:buNone/>
            </a:pPr>
            <a:r>
              <a:rPr lang="en-US" sz="2400" b="1" dirty="0">
                <a:solidFill>
                  <a:srgbClr val="000000"/>
                </a:solidFill>
                <a:latin typeface="黑体" panose="02010609060101010101" pitchFamily="49" charset="-122"/>
                <a:ea typeface="黑体" panose="02010609060101010101" pitchFamily="49" charset="-122"/>
                <a:sym typeface="可画风暴黑-简" panose="020B0500000000000000" charset="-122"/>
              </a:rPr>
              <a:t>“</a:t>
            </a:r>
            <a:r>
              <a:rPr lang="en-US" sz="2400" b="1" dirty="0" err="1">
                <a:solidFill>
                  <a:srgbClr val="000000"/>
                </a:solidFill>
                <a:latin typeface="黑体" panose="02010609060101010101" pitchFamily="49" charset="-122"/>
                <a:ea typeface="黑体" panose="02010609060101010101" pitchFamily="49" charset="-122"/>
                <a:sym typeface="可画风暴黑-简" panose="020B0500000000000000" charset="-122"/>
              </a:rPr>
              <a:t>及格”是待预测的目标结果</a:t>
            </a:r>
            <a:r>
              <a:rPr lang="en-US" sz="2400" b="1" dirty="0">
                <a:solidFill>
                  <a:srgbClr val="000000"/>
                </a:solidFill>
                <a:latin typeface="黑体" panose="02010609060101010101" pitchFamily="49" charset="-122"/>
                <a:ea typeface="黑体" panose="02010609060101010101" pitchFamily="49" charset="-122"/>
                <a:sym typeface="可画风暴黑-简" panose="020B0500000000000000" charset="-122"/>
              </a:rPr>
              <a:t> → </a:t>
            </a:r>
            <a:r>
              <a:rPr lang="en-US" sz="2400" b="1" dirty="0" err="1">
                <a:solidFill>
                  <a:srgbClr val="000000"/>
                </a:solidFill>
                <a:latin typeface="黑体" panose="02010609060101010101" pitchFamily="49" charset="-122"/>
                <a:ea typeface="黑体" panose="02010609060101010101" pitchFamily="49" charset="-122"/>
                <a:sym typeface="可画风暴黑-简" panose="020B0500000000000000" charset="-122"/>
              </a:rPr>
              <a:t>对应人脸识别中的“是否机主”判断</a:t>
            </a:r>
            <a:r>
              <a:rPr lang="zh-CN" altLang="en-US" sz="2400" b="1" dirty="0">
                <a:solidFill>
                  <a:srgbClr val="000000"/>
                </a:solidFill>
                <a:latin typeface="黑体" panose="02010609060101010101" pitchFamily="49" charset="-122"/>
                <a:ea typeface="黑体" panose="02010609060101010101" pitchFamily="49" charset="-122"/>
                <a:sym typeface="可画风暴黑-简" panose="020B0500000000000000" charset="-122"/>
              </a:rPr>
              <a:t>。</a:t>
            </a:r>
            <a:endParaRPr lang="en-US" sz="2400" b="1" dirty="0">
              <a:solidFill>
                <a:srgbClr val="000000"/>
              </a:solidFill>
              <a:latin typeface="黑体" panose="02010609060101010101" pitchFamily="49" charset="-122"/>
              <a:ea typeface="黑体" panose="02010609060101010101" pitchFamily="49" charset="-122"/>
              <a:sym typeface="可画风暴黑-简" panose="020B0500000000000000" charset="-122"/>
            </a:endParaRPr>
          </a:p>
        </p:txBody>
      </p:sp>
      <p:sp>
        <p:nvSpPr>
          <p:cNvPr id="4" name="灯片编号占位符 4">
            <a:extLst>
              <a:ext uri="{FF2B5EF4-FFF2-40B4-BE49-F238E27FC236}">
                <a16:creationId xmlns:a16="http://schemas.microsoft.com/office/drawing/2014/main" id="{53981C87-8737-5861-ADB0-398217E6F5BF}"/>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42</a:t>
            </a:fld>
            <a:endParaRPr lang="zh-CN" altLang="en-US" dirty="0"/>
          </a:p>
        </p:txBody>
      </p:sp>
      <p:sp>
        <p:nvSpPr>
          <p:cNvPr id="6" name="文本框 5">
            <a:extLst>
              <a:ext uri="{FF2B5EF4-FFF2-40B4-BE49-F238E27FC236}">
                <a16:creationId xmlns:a16="http://schemas.microsoft.com/office/drawing/2014/main" id="{559CB8AA-481E-F619-3545-87E84104F704}"/>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2001279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224270" cy="705485"/>
          </a:xfrm>
        </p:spPr>
        <p:txBody>
          <a:bodyPr>
            <a:normAutofit fontScale="90000"/>
          </a:bodyPr>
          <a:lstStyle/>
          <a:p>
            <a:r>
              <a:rPr lang="zh-CN" altLang="en-US"/>
              <a:t>小测试：你能分清这些术语吗？</a:t>
            </a:r>
          </a:p>
        </p:txBody>
      </p:sp>
      <p:sp>
        <p:nvSpPr>
          <p:cNvPr id="3" name="内容占位符 2"/>
          <p:cNvSpPr>
            <a:spLocks noGrp="1"/>
          </p:cNvSpPr>
          <p:nvPr>
            <p:ph idx="1"/>
          </p:nvPr>
        </p:nvSpPr>
        <p:spPr/>
        <p:txBody>
          <a:bodyPr>
            <a:normAutofit/>
          </a:bodyPr>
          <a:lstStyle/>
          <a:p>
            <a:pPr marL="0" indent="0" algn="l">
              <a:lnSpc>
                <a:spcPts val="5505"/>
              </a:lnSpc>
              <a:buNone/>
            </a:pPr>
            <a:r>
              <a:rPr lang="en-US" sz="2400">
                <a:solidFill>
                  <a:srgbClr val="000000"/>
                </a:solidFill>
                <a:cs typeface="宋体" panose="02010600030101010101" pitchFamily="2" charset="-122"/>
                <a:sym typeface="可画风暴黑-简" panose="020B0500000000000000" charset="-122"/>
              </a:rPr>
              <a:t>3.食堂人流量预测系统用上学期3000条打饭记录训练，其中包含的"12:05西园食堂"记录属于？（ ）</a:t>
            </a:r>
          </a:p>
          <a:p>
            <a:pPr marL="0" indent="0" algn="l">
              <a:lnSpc>
                <a:spcPts val="5505"/>
              </a:lnSpc>
              <a:buNone/>
            </a:pPr>
            <a:r>
              <a:rPr lang="en-US" sz="2400">
                <a:solidFill>
                  <a:srgbClr val="000000"/>
                </a:solidFill>
                <a:cs typeface="宋体" panose="02010600030101010101" pitchFamily="2" charset="-122"/>
                <a:sym typeface="可画风暴黑-简" panose="020B0500000000000000" charset="-122"/>
              </a:rPr>
              <a:t>A. 训练集​​                   B. 测试集                   C. 参数</a:t>
            </a:r>
          </a:p>
          <a:p>
            <a:pPr marL="0" indent="0" algn="l">
              <a:lnSpc>
                <a:spcPts val="5505"/>
              </a:lnSpc>
              <a:buNone/>
            </a:pPr>
            <a:r>
              <a:rPr lang="en-US" sz="2400">
                <a:solidFill>
                  <a:srgbClr val="000000"/>
                </a:solidFill>
                <a:cs typeface="宋体" panose="02010600030101010101" pitchFamily="2" charset="-122"/>
                <a:sym typeface="可画风暴黑-简" panose="020B0500000000000000" charset="-122"/>
              </a:rPr>
              <a:t>​</a:t>
            </a:r>
          </a:p>
        </p:txBody>
      </p:sp>
      <p:sp>
        <p:nvSpPr>
          <p:cNvPr id="4" name="灯片编号占位符 4">
            <a:extLst>
              <a:ext uri="{FF2B5EF4-FFF2-40B4-BE49-F238E27FC236}">
                <a16:creationId xmlns:a16="http://schemas.microsoft.com/office/drawing/2014/main" id="{4702C7D9-AE83-B911-0B65-D919521D720F}"/>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43</a:t>
            </a:fld>
            <a:endParaRPr lang="zh-CN" altLang="en-US" dirty="0"/>
          </a:p>
        </p:txBody>
      </p:sp>
      <p:sp>
        <p:nvSpPr>
          <p:cNvPr id="6" name="文本框 5">
            <a:extLst>
              <a:ext uri="{FF2B5EF4-FFF2-40B4-BE49-F238E27FC236}">
                <a16:creationId xmlns:a16="http://schemas.microsoft.com/office/drawing/2014/main" id="{4BF627A1-443C-7764-09B6-6A34B7242834}"/>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3448332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30" y="229235"/>
            <a:ext cx="6224270" cy="705485"/>
          </a:xfrm>
        </p:spPr>
        <p:txBody>
          <a:bodyPr>
            <a:normAutofit fontScale="90000"/>
          </a:bodyPr>
          <a:lstStyle/>
          <a:p>
            <a:r>
              <a:rPr lang="zh-CN" altLang="en-US"/>
              <a:t>小测试：你能分清这些术语吗？</a:t>
            </a:r>
          </a:p>
        </p:txBody>
      </p:sp>
      <p:sp>
        <p:nvSpPr>
          <p:cNvPr id="3" name="内容占位符 2"/>
          <p:cNvSpPr>
            <a:spLocks noGrp="1"/>
          </p:cNvSpPr>
          <p:nvPr>
            <p:ph idx="1"/>
          </p:nvPr>
        </p:nvSpPr>
        <p:spPr>
          <a:xfrm>
            <a:off x="608330" y="1191260"/>
            <a:ext cx="10968990" cy="4705350"/>
          </a:xfrm>
        </p:spPr>
        <p:txBody>
          <a:bodyPr>
            <a:normAutofit/>
          </a:bodyPr>
          <a:lstStyle/>
          <a:p>
            <a:pPr marL="0" indent="0" algn="l">
              <a:lnSpc>
                <a:spcPts val="5505"/>
              </a:lnSpc>
              <a:buNone/>
            </a:pPr>
            <a:r>
              <a:rPr lang="en-US" sz="2400" dirty="0">
                <a:solidFill>
                  <a:srgbClr val="000000"/>
                </a:solidFill>
                <a:cs typeface="宋体" panose="02010600030101010101" pitchFamily="2" charset="-122"/>
                <a:sym typeface="可画风暴黑-简" panose="020B0500000000000000" charset="-122"/>
              </a:rPr>
              <a:t>3.食堂人流量预测系统用上学期3000条打饭记录训练，其中包含的"12:05西园食堂"记录属于？（ ）</a:t>
            </a:r>
          </a:p>
          <a:p>
            <a:pPr marL="0" indent="0" algn="l">
              <a:lnSpc>
                <a:spcPts val="5505"/>
              </a:lnSpc>
              <a:buNone/>
            </a:pPr>
            <a:r>
              <a:rPr lang="en-US" sz="2400" dirty="0">
                <a:solidFill>
                  <a:srgbClr val="000000"/>
                </a:solidFill>
                <a:cs typeface="宋体" panose="02010600030101010101" pitchFamily="2" charset="-122"/>
                <a:sym typeface="可画风暴黑-简" panose="020B0500000000000000" charset="-122"/>
              </a:rPr>
              <a:t>A. </a:t>
            </a:r>
            <a:r>
              <a:rPr lang="en-US" sz="2400" dirty="0" err="1">
                <a:solidFill>
                  <a:srgbClr val="000000"/>
                </a:solidFill>
                <a:cs typeface="宋体" panose="02010600030101010101" pitchFamily="2" charset="-122"/>
                <a:sym typeface="可画风暴黑-简" panose="020B0500000000000000" charset="-122"/>
              </a:rPr>
              <a:t>训练集</a:t>
            </a:r>
            <a:r>
              <a:rPr lang="en-US" sz="2400" dirty="0">
                <a:solidFill>
                  <a:srgbClr val="000000"/>
                </a:solidFill>
                <a:cs typeface="宋体" panose="02010600030101010101" pitchFamily="2" charset="-122"/>
                <a:sym typeface="可画风暴黑-简" panose="020B0500000000000000" charset="-122"/>
              </a:rPr>
              <a:t>​​                   B. </a:t>
            </a:r>
            <a:r>
              <a:rPr lang="en-US" sz="2400" dirty="0" err="1">
                <a:solidFill>
                  <a:srgbClr val="000000"/>
                </a:solidFill>
                <a:cs typeface="宋体" panose="02010600030101010101" pitchFamily="2" charset="-122"/>
                <a:sym typeface="可画风暴黑-简" panose="020B0500000000000000" charset="-122"/>
              </a:rPr>
              <a:t>测试集</a:t>
            </a:r>
            <a:r>
              <a:rPr lang="en-US" sz="2400" dirty="0">
                <a:solidFill>
                  <a:srgbClr val="000000"/>
                </a:solidFill>
                <a:cs typeface="宋体" panose="02010600030101010101" pitchFamily="2" charset="-122"/>
                <a:sym typeface="可画风暴黑-简" panose="020B0500000000000000" charset="-122"/>
              </a:rPr>
              <a:t>                   C. </a:t>
            </a:r>
            <a:r>
              <a:rPr lang="en-US" sz="2400" dirty="0" err="1">
                <a:solidFill>
                  <a:srgbClr val="000000"/>
                </a:solidFill>
                <a:cs typeface="宋体" panose="02010600030101010101" pitchFamily="2" charset="-122"/>
                <a:sym typeface="可画风暴黑-简" panose="020B0500000000000000" charset="-122"/>
              </a:rPr>
              <a:t>参数</a:t>
            </a:r>
            <a:endParaRPr lang="en-US" sz="2400" dirty="0">
              <a:solidFill>
                <a:srgbClr val="000000"/>
              </a:solidFill>
              <a:cs typeface="宋体" panose="02010600030101010101" pitchFamily="2" charset="-122"/>
              <a:sym typeface="可画风暴黑-简" panose="020B0500000000000000" charset="-122"/>
            </a:endParaRPr>
          </a:p>
          <a:p>
            <a:pPr marL="0" indent="0" algn="l">
              <a:lnSpc>
                <a:spcPts val="5505"/>
              </a:lnSpc>
              <a:buNone/>
            </a:pPr>
            <a:r>
              <a:rPr lang="en-US" sz="2400" b="1" dirty="0">
                <a:solidFill>
                  <a:srgbClr val="000000"/>
                </a:solidFill>
                <a:cs typeface="宋体" panose="02010600030101010101" pitchFamily="2" charset="-122"/>
                <a:sym typeface="可画风暴黑-简" panose="020B0500000000000000" charset="-122"/>
              </a:rPr>
              <a:t>​</a:t>
            </a:r>
            <a:r>
              <a:rPr lang="en-US" sz="2400" b="1" dirty="0" err="1">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答案：A</a:t>
            </a:r>
            <a:endParaRPr 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endParaRPr>
          </a:p>
          <a:p>
            <a:pPr marL="0" indent="0" algn="l">
              <a:lnSpc>
                <a:spcPct val="150000"/>
              </a:lnSpc>
              <a:buNone/>
            </a:pPr>
            <a:r>
              <a:rPr lang="zh-CN" alt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样本是最小单位，指单条数据（如某次</a:t>
            </a:r>
            <a:r>
              <a:rPr lang="en-US" altLang="zh-CN"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12</a:t>
            </a:r>
            <a:r>
              <a:rPr lang="zh-CN" alt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a:t>
            </a:r>
            <a:r>
              <a:rPr lang="en-US" altLang="zh-CN"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05</a:t>
            </a:r>
            <a:r>
              <a:rPr lang="zh-CN" alt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在绿榕园的打饭记录）。</a:t>
            </a:r>
            <a:endParaRPr lang="en-US" altLang="zh-CN"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endParaRPr>
          </a:p>
          <a:p>
            <a:pPr marL="0" indent="0" algn="l">
              <a:lnSpc>
                <a:spcPct val="150000"/>
              </a:lnSpc>
              <a:buNone/>
            </a:pPr>
            <a:r>
              <a:rPr lang="zh-CN" altLang="en-US" sz="2400" b="1" dirty="0">
                <a:solidFill>
                  <a:srgbClr val="000000"/>
                </a:solidFill>
                <a:latin typeface="黑体" panose="02010609060101010101" pitchFamily="49" charset="-122"/>
                <a:ea typeface="黑体" panose="02010609060101010101" pitchFamily="49" charset="-122"/>
                <a:cs typeface="宋体" panose="02010600030101010101" pitchFamily="2" charset="-122"/>
                <a:sym typeface="可画风暴黑-简" panose="020B0500000000000000" charset="-122"/>
              </a:rPr>
              <a:t>训练集是样本的集合。</a:t>
            </a:r>
          </a:p>
        </p:txBody>
      </p:sp>
      <p:sp>
        <p:nvSpPr>
          <p:cNvPr id="4" name="灯片编号占位符 4">
            <a:extLst>
              <a:ext uri="{FF2B5EF4-FFF2-40B4-BE49-F238E27FC236}">
                <a16:creationId xmlns:a16="http://schemas.microsoft.com/office/drawing/2014/main" id="{8DFB86E8-255C-9259-44B2-311949BCF4DD}"/>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44</a:t>
            </a:fld>
            <a:endParaRPr lang="zh-CN" altLang="en-US" dirty="0"/>
          </a:p>
        </p:txBody>
      </p:sp>
      <p:sp>
        <p:nvSpPr>
          <p:cNvPr id="6" name="文本框 5">
            <a:extLst>
              <a:ext uri="{FF2B5EF4-FFF2-40B4-BE49-F238E27FC236}">
                <a16:creationId xmlns:a16="http://schemas.microsoft.com/office/drawing/2014/main" id="{BB2BB4C7-13F8-1B40-BC51-8572944CA60B}"/>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2540720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a:sym typeface="可画风暴黑-简" panose="020B0500000000000000" charset="-122"/>
              </a:rPr>
              <a:t>拓展思考</a:t>
            </a:r>
            <a:endParaRPr lang="zh-CN" altLang="en-US" dirty="0"/>
          </a:p>
        </p:txBody>
      </p:sp>
      <p:sp>
        <p:nvSpPr>
          <p:cNvPr id="6" name="文本框 5"/>
          <p:cNvSpPr txBox="1"/>
          <p:nvPr/>
        </p:nvSpPr>
        <p:spPr>
          <a:xfrm>
            <a:off x="761681" y="1447956"/>
            <a:ext cx="10668635" cy="510193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思考题</a:t>
            </a:r>
            <a:r>
              <a:rPr kumimoji="0" lang="en-US" sz="2800" b="1" i="0" u="none" strike="noStrike" kern="1200" cap="none" spc="0" normalizeH="0" baseline="0" noProof="0" dirty="0">
                <a:ln>
                  <a:noFill/>
                </a:ln>
                <a:solidFill>
                  <a:prstClr val="black"/>
                </a:solidFill>
                <a:effectLst/>
                <a:uLnTx/>
                <a:uFillTx/>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a:t>
            </a:r>
          </a:p>
          <a:p>
            <a:pPr marL="342900" marR="0" lvl="0" indent="-342900" algn="l" defTabSz="914400" rtl="0" eaLnBrk="1" fontAlgn="auto" latinLnBrk="0" hangingPunct="1">
              <a:lnSpc>
                <a:spcPct val="150000"/>
              </a:lnSpc>
              <a:spcBef>
                <a:spcPct val="0"/>
              </a:spcBef>
              <a:spcAft>
                <a:spcPts val="0"/>
              </a:spcAft>
              <a:buClrTx/>
              <a:buSzTx/>
              <a:buFont typeface="Wingdings" pitchFamily="2" charset="2"/>
              <a:buChar char="Ø"/>
              <a:tabLst/>
              <a:defRPr/>
            </a:pP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假设我们现在有一个简单的</a:t>
            </a:r>
            <a:r>
              <a:rPr kumimoji="0" lang="en-US" sz="2100" b="1" i="0" u="none" strike="noStrike" kern="1200" cap="none" spc="0" normalizeH="0" baseline="0" noProof="0" dirty="0" err="1">
                <a:ln>
                  <a:noFill/>
                </a:ln>
                <a:solidFill>
                  <a:srgbClr val="C00000"/>
                </a:solidFill>
                <a:effectLst/>
                <a:uLnTx/>
                <a:uFillTx/>
                <a:latin typeface="SimHei" panose="02010609060101010101" pitchFamily="49" charset="-122"/>
                <a:ea typeface="SimHei" panose="02010609060101010101" pitchFamily="49" charset="-122"/>
                <a:cs typeface="宋体" panose="02010600030101010101" pitchFamily="2" charset="-122"/>
                <a:sym typeface="可画风暴黑-简" panose="020B0500000000000000" charset="-122"/>
              </a:rPr>
              <a:t>房价预测任务</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：根据房屋面积</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(X) </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预测其售价</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(Y)。​​</a:t>
            </a:r>
          </a:p>
          <a:p>
            <a:pPr marL="342900" marR="0" lvl="0" indent="-342900" algn="l" defTabSz="914400" rtl="0" eaLnBrk="1" fontAlgn="auto" latinLnBrk="0" hangingPunct="1">
              <a:lnSpc>
                <a:spcPct val="150000"/>
              </a:lnSpc>
              <a:spcBef>
                <a:spcPct val="0"/>
              </a:spcBef>
              <a:spcAft>
                <a:spcPts val="0"/>
              </a:spcAft>
              <a:buClrTx/>
              <a:buSzTx/>
              <a:buFont typeface="Wingdings" pitchFamily="2" charset="2"/>
              <a:buChar char="Ø"/>
              <a:tabLst/>
              <a:defRPr/>
            </a:pP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如果选择</a:t>
            </a:r>
            <a:r>
              <a:rPr kumimoji="0" lang="en-US" sz="2100" b="1" i="0" u="none" strike="noStrike" kern="1200" cap="none" spc="0" normalizeH="0" baseline="0" noProof="0" dirty="0" err="1">
                <a:ln>
                  <a:noFill/>
                </a:ln>
                <a:solidFill>
                  <a:srgbClr val="C00000"/>
                </a:solidFill>
                <a:effectLst/>
                <a:uLnTx/>
                <a:uFillTx/>
                <a:latin typeface="SimHei" panose="02010609060101010101" pitchFamily="49" charset="-122"/>
                <a:ea typeface="SimHei" panose="02010609060101010101" pitchFamily="49" charset="-122"/>
                <a:cs typeface="+mn-cs"/>
                <a:sym typeface="可画风暴黑-简" panose="020B0500000000000000" charset="-122"/>
              </a:rPr>
              <a:t>线性模型</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例如</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Y = </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wX</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 </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b）作为我们的预测模型，你认为这可能捕捉到房价和面积之间真实关系的哪些方面？又</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可能忽略或无法精确表达</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哪些潜在的关系</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p>
          <a:p>
            <a:pPr marL="342900" marR="0" lvl="0" indent="-342900" algn="l" defTabSz="914400" rtl="0" eaLnBrk="1" fontAlgn="auto" latinLnBrk="0" hangingPunct="1">
              <a:lnSpc>
                <a:spcPct val="150000"/>
              </a:lnSpc>
              <a:spcBef>
                <a:spcPct val="0"/>
              </a:spcBef>
              <a:spcAft>
                <a:spcPts val="0"/>
              </a:spcAft>
              <a:buClrTx/>
              <a:buSzTx/>
              <a:buFont typeface="Wingdings" pitchFamily="2" charset="2"/>
              <a:buChar char="Ø"/>
              <a:tabLst/>
              <a:defRPr/>
            </a:pP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基于你对这个任务的理解，除了线性模型</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你能设想一两种其他类型的模型结构（例如树形、曲线形、分段式）吗</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 </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这些</a:t>
            </a:r>
            <a:r>
              <a:rPr kumimoji="0" lang="en-US" sz="2100" b="1" i="0" u="none" strike="noStrike" kern="1200" cap="none" spc="0" normalizeH="0" baseline="0" noProof="0" dirty="0" err="1">
                <a:ln>
                  <a:noFill/>
                </a:ln>
                <a:solidFill>
                  <a:srgbClr val="C00000"/>
                </a:solidFill>
                <a:effectLst/>
                <a:uLnTx/>
                <a:uFillTx/>
                <a:latin typeface="SimHei" panose="02010609060101010101" pitchFamily="49" charset="-122"/>
                <a:ea typeface="SimHei" panose="02010609060101010101" pitchFamily="49" charset="-122"/>
                <a:cs typeface="+mn-cs"/>
                <a:sym typeface="可画风暴黑-简" panose="020B0500000000000000" charset="-122"/>
              </a:rPr>
              <a:t>不同的模型</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结构在处理这个预测问题时</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可能各自具有什么优势或面临什么挑战</a:t>
            </a:r>
            <a:r>
              <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p>
          <a:p>
            <a:pPr marL="342900" marR="0" lvl="0" indent="-342900" algn="l" defTabSz="914400" rtl="0" eaLnBrk="1" fontAlgn="auto" latinLnBrk="0" hangingPunct="1">
              <a:lnSpc>
                <a:spcPct val="150000"/>
              </a:lnSpc>
              <a:spcBef>
                <a:spcPct val="0"/>
              </a:spcBef>
              <a:spcAft>
                <a:spcPts val="0"/>
              </a:spcAft>
              <a:buClrTx/>
              <a:buSzTx/>
              <a:buFont typeface="Wingdings" pitchFamily="2" charset="2"/>
              <a:buChar char="Ø"/>
              <a:tabLst/>
              <a:defRPr/>
            </a:pPr>
            <a:r>
              <a:rPr kumimoji="0" lang="en-US" sz="21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除了模型</a:t>
            </a:r>
            <a:r>
              <a:rPr kumimoji="0" lang="zh-CN" alt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a:t>
            </a:r>
            <a:r>
              <a:rPr kumimoji="0" lang="zh-CN" altLang="en-US" sz="2100" b="1" i="0" u="none" strike="noStrike" kern="1200" cap="none" spc="0" normalizeH="0" baseline="0" noProof="0" dirty="0">
                <a:ln>
                  <a:noFill/>
                </a:ln>
                <a:solidFill>
                  <a:srgbClr val="C00000"/>
                </a:solidFill>
                <a:effectLst/>
                <a:uLnTx/>
                <a:uFillTx/>
                <a:latin typeface="SimHei" panose="02010609060101010101" pitchFamily="49" charset="-122"/>
                <a:ea typeface="SimHei" panose="02010609060101010101" pitchFamily="49" charset="-122"/>
                <a:cs typeface="+mn-cs"/>
                <a:sym typeface="可画风暴黑-简" panose="020B0500000000000000" charset="-122"/>
              </a:rPr>
              <a:t>输入特征</a:t>
            </a:r>
            <a:r>
              <a:rPr kumimoji="0" lang="zh-CN" alt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rPr>
              <a:t>除了房屋面积，还可以有哪些因素？</a:t>
            </a:r>
            <a:endParaRPr kumimoji="0" lang="en-US" sz="21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sym typeface="可画风暴黑-简" panose="020B0500000000000000" charset="-122"/>
            </a:endParaRPr>
          </a:p>
        </p:txBody>
      </p:sp>
      <p:sp>
        <p:nvSpPr>
          <p:cNvPr id="3" name="灯片编号占位符 4">
            <a:extLst>
              <a:ext uri="{FF2B5EF4-FFF2-40B4-BE49-F238E27FC236}">
                <a16:creationId xmlns:a16="http://schemas.microsoft.com/office/drawing/2014/main" id="{DAF6FD50-EDA5-1916-AF3C-FC4947B31C8E}"/>
              </a:ext>
            </a:extLst>
          </p:cNvPr>
          <p:cNvSpPr txBox="1">
            <a:spLocks/>
          </p:cNvSpPr>
          <p:nvPr/>
        </p:nvSpPr>
        <p:spPr>
          <a:xfrm>
            <a:off x="5808027" y="6391459"/>
            <a:ext cx="575945" cy="31686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45</a:t>
            </a:fld>
            <a:endParaRPr lang="zh-CN" altLang="en-US" dirty="0"/>
          </a:p>
        </p:txBody>
      </p:sp>
      <p:sp>
        <p:nvSpPr>
          <p:cNvPr id="4" name="文本框 3">
            <a:extLst>
              <a:ext uri="{FF2B5EF4-FFF2-40B4-BE49-F238E27FC236}">
                <a16:creationId xmlns:a16="http://schemas.microsoft.com/office/drawing/2014/main" id="{D93037A6-02F9-80A3-BB04-45E08B0102FE}"/>
              </a:ext>
            </a:extLst>
          </p:cNvPr>
          <p:cNvSpPr txBox="1"/>
          <p:nvPr/>
        </p:nvSpPr>
        <p:spPr>
          <a:xfrm>
            <a:off x="6346413" y="6349837"/>
            <a:ext cx="5829651" cy="400110"/>
          </a:xfrm>
          <a:prstGeom prst="rect">
            <a:avLst/>
          </a:prstGeom>
          <a:noFill/>
        </p:spPr>
        <p:txBody>
          <a:bodyPr wrap="square" rtlCol="0">
            <a:spAutoFit/>
          </a:bodyPr>
          <a:lstStyle/>
          <a:p>
            <a:r>
              <a:rPr kumimoji="1" lang="zh-CN" altLang="en-US" sz="2000" dirty="0">
                <a:solidFill>
                  <a:srgbClr val="F0F0F0"/>
                </a:solidFill>
              </a:rPr>
              <a:t>人工智能通识教程（公共课版）主编：黄栋 等</a:t>
            </a:r>
          </a:p>
        </p:txBody>
      </p:sp>
    </p:spTree>
    <p:extLst>
      <p:ext uri="{BB962C8B-B14F-4D97-AF65-F5344CB8AC3E}">
        <p14:creationId xmlns:p14="http://schemas.microsoft.com/office/powerpoint/2010/main" val="38160173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25309" y="2358304"/>
            <a:ext cx="8764270" cy="1862048"/>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500" b="1" i="0" u="none" strike="noStrike" kern="1200" cap="none" spc="0" normalizeH="0" baseline="0" noProof="0" dirty="0">
                <a:ln>
                  <a:noFill/>
                </a:ln>
                <a:solidFill>
                  <a:srgbClr val="C00000"/>
                </a:solidFill>
                <a:effectLst/>
                <a:uLnTx/>
                <a:uFillTx/>
                <a:latin typeface="Times New Roman" panose="02020603050405020304" charset="0"/>
                <a:ea typeface="黑体" panose="02010609060101010101" charset="-122"/>
                <a:cs typeface="Times New Roman" panose="02020603050405020304" charset="0"/>
                <a:sym typeface="+mn-lt"/>
              </a:rPr>
              <a:t>谢谢！</a:t>
            </a:r>
          </a:p>
        </p:txBody>
      </p:sp>
      <p:pic>
        <p:nvPicPr>
          <p:cNvPr id="9" name="图片 8">
            <a:extLst>
              <a:ext uri="{FF2B5EF4-FFF2-40B4-BE49-F238E27FC236}">
                <a16:creationId xmlns:a16="http://schemas.microsoft.com/office/drawing/2014/main" id="{46FCE6D8-AA98-59F1-C088-EFE3A971A5D4}"/>
              </a:ext>
            </a:extLst>
          </p:cNvPr>
          <p:cNvPicPr>
            <a:picLocks noChangeAspect="1"/>
          </p:cNvPicPr>
          <p:nvPr/>
        </p:nvPicPr>
        <p:blipFill>
          <a:blip r:embed="rId2"/>
          <a:stretch>
            <a:fillRect/>
          </a:stretch>
        </p:blipFill>
        <p:spPr>
          <a:xfrm>
            <a:off x="0" y="277622"/>
            <a:ext cx="4038600" cy="754136"/>
          </a:xfrm>
          <a:prstGeom prst="rect">
            <a:avLst/>
          </a:prstGeom>
        </p:spPr>
      </p:pic>
      <p:sp>
        <p:nvSpPr>
          <p:cNvPr id="10" name="文本框 9">
            <a:extLst>
              <a:ext uri="{FF2B5EF4-FFF2-40B4-BE49-F238E27FC236}">
                <a16:creationId xmlns:a16="http://schemas.microsoft.com/office/drawing/2014/main" id="{A90E8119-914A-1ADE-4F33-E942D8A64736}"/>
              </a:ext>
            </a:extLst>
          </p:cNvPr>
          <p:cNvSpPr txBox="1"/>
          <p:nvPr/>
        </p:nvSpPr>
        <p:spPr>
          <a:xfrm>
            <a:off x="8694513" y="6249630"/>
            <a:ext cx="3663387" cy="4924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hlinkClick r:id="rId3"/>
              </a:rPr>
              <a:t>https://ai4ge.github.io/</a:t>
            </a:r>
            <a:r>
              <a:rPr kumimoji="0" lang="en-US" altLang="zh-CN" sz="2600" b="0" i="0" u="none" strike="noStrike" kern="1200" cap="none" spc="0" normalizeH="0" baseline="0" noProof="0" dirty="0">
                <a:ln>
                  <a:noFill/>
                </a:ln>
                <a:solidFill>
                  <a:prstClr val="black">
                    <a:lumMod val="65000"/>
                    <a:lumOff val="35000"/>
                  </a:prstClr>
                </a:solidFill>
                <a:effectLst/>
                <a:uLnTx/>
                <a:uFillTx/>
                <a:latin typeface="Times New Roman" pitchFamily="18" charset="0"/>
                <a:ea typeface="黑体" pitchFamily="49" charset="-122"/>
                <a:cs typeface="Times New Roman" pitchFamily="18" charset="0"/>
              </a:rPr>
              <a:t> </a:t>
            </a:r>
            <a:endParaRPr kumimoji="0" lang="zh-CN" altLang="en-US" sz="2600" b="0" i="0" u="none" strike="noStrike" kern="1200" cap="none" spc="0" normalizeH="0" baseline="0" noProof="0" dirty="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2218311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AxODI4YjJkZGUyMjNkNzljNmNjZmNiNzU0NmE3MzM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945,&quot;width&quot;:1578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3965</TotalTime>
  <Words>3942</Words>
  <Application>Microsoft Macintosh PowerPoint</Application>
  <PresentationFormat>宽屏</PresentationFormat>
  <Paragraphs>395</Paragraphs>
  <Slides>46</Slides>
  <Notes>4</Notes>
  <HiddenSlides>0</HiddenSlides>
  <MMClips>0</MMClips>
  <ScaleCrop>false</ScaleCrop>
  <HeadingPairs>
    <vt:vector size="6" baseType="variant">
      <vt:variant>
        <vt:lpstr>已用的字体</vt:lpstr>
      </vt:variant>
      <vt:variant>
        <vt:i4>14</vt:i4>
      </vt:variant>
      <vt:variant>
        <vt:lpstr>主题</vt:lpstr>
      </vt:variant>
      <vt:variant>
        <vt:i4>5</vt:i4>
      </vt:variant>
      <vt:variant>
        <vt:lpstr>幻灯片标题</vt:lpstr>
      </vt:variant>
      <vt:variant>
        <vt:i4>46</vt:i4>
      </vt:variant>
    </vt:vector>
  </HeadingPairs>
  <TitlesOfParts>
    <vt:vector size="65" baseType="lpstr">
      <vt:lpstr>仿宋</vt:lpstr>
      <vt:lpstr>SimHei</vt:lpstr>
      <vt:lpstr>SimHei</vt:lpstr>
      <vt:lpstr>可画风暴黑-简</vt:lpstr>
      <vt:lpstr>宋体</vt:lpstr>
      <vt:lpstr>宋体</vt:lpstr>
      <vt:lpstr>Microsoft YaHei</vt:lpstr>
      <vt:lpstr>Microsoft YaHei</vt:lpstr>
      <vt:lpstr>字由文艺黑</vt:lpstr>
      <vt:lpstr>Arial</vt:lpstr>
      <vt:lpstr>Calibri</vt:lpstr>
      <vt:lpstr>Cambria Math</vt:lpstr>
      <vt:lpstr>Times New Roman</vt:lpstr>
      <vt:lpstr>Wingdings</vt:lpstr>
      <vt:lpstr>WPS</vt:lpstr>
      <vt:lpstr>1_WPS</vt:lpstr>
      <vt:lpstr>2_WPS</vt:lpstr>
      <vt:lpstr>4_WPS</vt:lpstr>
      <vt:lpstr>3_WPS</vt:lpstr>
      <vt:lpstr>PowerPoint 演示文稿</vt:lpstr>
      <vt:lpstr>课程教材</vt:lpstr>
      <vt:lpstr>回顾上一次课</vt:lpstr>
      <vt:lpstr>机器学习基础（中）</vt:lpstr>
      <vt:lpstr>教学重点与难点</vt:lpstr>
      <vt:lpstr>机器学习的任务分类</vt:lpstr>
      <vt:lpstr>回顾：什么是监督信息？</vt:lpstr>
      <vt:lpstr>根据训练数据是否包含标签（监督信息），机器学习主要分为以下几类：</vt:lpstr>
      <vt:lpstr>有监督学习</vt:lpstr>
      <vt:lpstr>无监督学习</vt:lpstr>
      <vt:lpstr>半监督学习</vt:lpstr>
      <vt:lpstr>三种学习的核心差异 </vt:lpstr>
      <vt:lpstr>2.2 机器学习三要素 模型、学习准则、优化方法</vt:lpstr>
      <vt:lpstr>机器学习三要素</vt:lpstr>
      <vt:lpstr>机器学习三要素之：</vt:lpstr>
      <vt:lpstr>回顾模型本质​​</vt:lpstr>
      <vt:lpstr>模型分类</vt:lpstr>
      <vt:lpstr>模型分类</vt:lpstr>
      <vt:lpstr>机器学习三要素之：</vt:lpstr>
      <vt:lpstr>学习准则</vt:lpstr>
      <vt:lpstr>损失函数：差距的‘量化工具’</vt:lpstr>
      <vt:lpstr>分类损失函数</vt:lpstr>
      <vt:lpstr>回归损失函数</vt:lpstr>
      <vt:lpstr>0-1 损失函数（二分类）</vt:lpstr>
      <vt:lpstr>平方损失函数</vt:lpstr>
      <vt:lpstr>交叉熵损失</vt:lpstr>
      <vt:lpstr>独热编码（One-Hot Encoding）</vt:lpstr>
      <vt:lpstr>交叉熵损失的计算</vt:lpstr>
      <vt:lpstr>交叉熵损失的计算</vt:lpstr>
      <vt:lpstr>机器学习三要素之：</vt:lpstr>
      <vt:lpstr>模型训练：以神经网络为例</vt:lpstr>
      <vt:lpstr>优化的目标：找到‘最小损失’</vt:lpstr>
      <vt:lpstr>梯度下降：最常用的优化算法</vt:lpstr>
      <vt:lpstr>梯度下降：三种主要模式</vt:lpstr>
      <vt:lpstr>小批量随机梯度下降</vt:lpstr>
      <vt:lpstr>学习率α的至关重要性</vt:lpstr>
      <vt:lpstr>参数 vs 超参数</vt:lpstr>
      <vt:lpstr>回顾三要素</vt:lpstr>
      <vt:lpstr>小测试：你能分清这些术语吗？</vt:lpstr>
      <vt:lpstr>小测试：你能分清这些术语吗？</vt:lpstr>
      <vt:lpstr>小测试：你能分清这些术语吗？</vt:lpstr>
      <vt:lpstr>小测试：你能分清这些术语吗？</vt:lpstr>
      <vt:lpstr>小测试：你能分清这些术语吗？</vt:lpstr>
      <vt:lpstr>小测试：你能分清这些术语吗？</vt:lpstr>
      <vt:lpstr>拓展思考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Huang Dong</cp:lastModifiedBy>
  <cp:revision>284</cp:revision>
  <dcterms:created xsi:type="dcterms:W3CDTF">2019-06-19T02:08:00Z</dcterms:created>
  <dcterms:modified xsi:type="dcterms:W3CDTF">2026-09-17T18:44:04Z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641BD3B5FD1F42F4AF23D115AF6991C9_13</vt:lpwstr>
  </property>
</Properties>
</file>
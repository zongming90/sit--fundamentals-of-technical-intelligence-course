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65" r:id="rId3"/>
  </p:sldMasterIdLst>
  <p:notesMasterIdLst>
    <p:notesMasterId r:id="rId44"/>
  </p:notesMasterIdLst>
  <p:handoutMasterIdLst>
    <p:handoutMasterId r:id="rId45"/>
  </p:handoutMasterIdLst>
  <p:sldIdLst>
    <p:sldId id="1244" r:id="rId4"/>
    <p:sldId id="1245" r:id="rId5"/>
    <p:sldId id="557" r:id="rId6"/>
    <p:sldId id="556" r:id="rId7"/>
    <p:sldId id="558" r:id="rId8"/>
    <p:sldId id="266" r:id="rId9"/>
    <p:sldId id="559" r:id="rId10"/>
    <p:sldId id="560" r:id="rId11"/>
    <p:sldId id="576" r:id="rId12"/>
    <p:sldId id="561" r:id="rId13"/>
    <p:sldId id="577" r:id="rId14"/>
    <p:sldId id="563" r:id="rId15"/>
    <p:sldId id="564" r:id="rId16"/>
    <p:sldId id="565" r:id="rId17"/>
    <p:sldId id="265" r:id="rId18"/>
    <p:sldId id="541" r:id="rId19"/>
    <p:sldId id="540" r:id="rId20"/>
    <p:sldId id="294" r:id="rId21"/>
    <p:sldId id="341" r:id="rId22"/>
    <p:sldId id="296" r:id="rId23"/>
    <p:sldId id="297" r:id="rId24"/>
    <p:sldId id="342" r:id="rId25"/>
    <p:sldId id="343" r:id="rId26"/>
    <p:sldId id="1246" r:id="rId27"/>
    <p:sldId id="344" r:id="rId28"/>
    <p:sldId id="345" r:id="rId29"/>
    <p:sldId id="348" r:id="rId30"/>
    <p:sldId id="567" r:id="rId31"/>
    <p:sldId id="568" r:id="rId32"/>
    <p:sldId id="569" r:id="rId33"/>
    <p:sldId id="572" r:id="rId34"/>
    <p:sldId id="573" r:id="rId35"/>
    <p:sldId id="349" r:id="rId36"/>
    <p:sldId id="546" r:id="rId37"/>
    <p:sldId id="574" r:id="rId38"/>
    <p:sldId id="575" r:id="rId39"/>
    <p:sldId id="399" r:id="rId40"/>
    <p:sldId id="357" r:id="rId41"/>
    <p:sldId id="300" r:id="rId42"/>
    <p:sldId id="1247" r:id="rId43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s" initials="y" lastIdx="0" clrIdx="0"/>
  <p:cmAuthor id="2" name="Administra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3553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20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240" y="320"/>
      </p:cViewPr>
      <p:guideLst>
        <p:guide orient="horz" pos="22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第一章</a:t>
            </a:r>
            <a:r>
              <a:rPr lang="zh-CN" altLang="en-US">
                <a:sym typeface="+mn-ea"/>
              </a:rPr>
              <a:t>内容预计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学时，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从以下几个方面展开。</a:t>
            </a:r>
          </a:p>
          <a:p>
            <a:r>
              <a:rPr lang="zh-CN" altLang="en-US">
                <a:sym typeface="+mn-ea"/>
              </a:rPr>
              <a:t>知识目标：理解农业从刀耕火种到智慧农业的发展脉络；了解人工智能的发展历程及其在农业中的融合趋势；掌握智慧农业的基本定义与核心特征。</a:t>
            </a:r>
            <a:endParaRPr lang="zh-CN" altLang="en-US"/>
          </a:p>
          <a:p>
            <a:r>
              <a:rPr lang="zh-CN" altLang="en-US">
                <a:sym typeface="+mn-ea"/>
              </a:rPr>
              <a:t>能力目标：具备用时代视角理解农业变迁与技术演进的能力；提升跨学科分析与总结能力。</a:t>
            </a:r>
            <a:endParaRPr lang="zh-CN" altLang="en-US"/>
          </a:p>
          <a:p>
            <a:r>
              <a:rPr lang="zh-CN" altLang="en-US">
                <a:sym typeface="+mn-ea"/>
              </a:rPr>
              <a:t>素养目标：增强学生的农业认同感与数字素养，激发投身智慧农业发展的责任意识。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7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7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339339" y="6367744"/>
            <a:ext cx="542290" cy="3168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5950800" y="6372570"/>
            <a:ext cx="575945" cy="31686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662405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87438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8966" y="229235"/>
            <a:ext cx="436176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5804852" y="6490666"/>
            <a:ext cx="575945" cy="316865"/>
          </a:xfrm>
          <a:prstGeom prst="rect">
            <a:avLst/>
          </a:prstGeom>
        </p:spPr>
        <p:txBody>
          <a:bodyPr/>
          <a:lstStyle>
            <a:lvl1pPr algn="ctr">
              <a:def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AutoShape 2">
            <a:extLst>
              <a:ext uri="{FF2B5EF4-FFF2-40B4-BE49-F238E27FC236}">
                <a16:creationId xmlns:a16="http://schemas.microsoft.com/office/drawing/2014/main" id="{B4717D10-A366-9CC8-48A9-48EBB26ADE4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538425" y="4043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92153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01487781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5963"/>
            <a:ext cx="12192000" cy="701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40508"/>
            <a:ext cx="12192000" cy="8996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95218"/>
            <a:ext cx="2618739" cy="7017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单击插入文字</a:t>
            </a:r>
          </a:p>
        </p:txBody>
      </p:sp>
    </p:spTree>
    <p:extLst>
      <p:ext uri="{BB962C8B-B14F-4D97-AF65-F5344CB8AC3E}">
        <p14:creationId xmlns:p14="http://schemas.microsoft.com/office/powerpoint/2010/main" val="148476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35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6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7342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9202609" y="63723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72769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10515600" cy="32476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078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11205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6864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537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274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121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82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576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551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54634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48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810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40312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155032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ags" Target="../tags/tag10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8" Type="http://schemas.openxmlformats.org/officeDocument/2006/relationships/tags" Target="../tags/tag21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20.xml"/><Relationship Id="rId2" Type="http://schemas.openxmlformats.org/officeDocument/2006/relationships/slideLayout" Target="../slideLayouts/slideLayout17.xml"/><Relationship Id="rId16" Type="http://schemas.openxmlformats.org/officeDocument/2006/relationships/tags" Target="../tags/tag19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18.xml"/><Relationship Id="rId10" Type="http://schemas.openxmlformats.org/officeDocument/2006/relationships/slideLayout" Target="../slideLayouts/slideLayout25.xml"/><Relationship Id="rId19" Type="http://schemas.openxmlformats.org/officeDocument/2006/relationships/tags" Target="../tags/tag2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5950800" y="619560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0917555" y="635635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261485" y="63995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64376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27972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emf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788" y="1917413"/>
            <a:ext cx="10286999" cy="2530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人工智能通识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第三章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机器学习基础（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1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）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11CB91-2700-F309-4620-3E33490A0CD2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EB1791-2CA9-3ECF-F0CD-AEB3A4484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88" y="4770635"/>
            <a:ext cx="4775021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1pPr>
            <a:lvl2pPr marL="742950" indent="-28575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2pPr>
            <a:lvl3pPr marL="11430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3pPr>
            <a:lvl4pPr marL="16002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4pPr>
            <a:lvl5pPr marL="20574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任课教师：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联系方式：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2026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年秋季学期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CA2495-5BE5-88BF-F210-B9F746167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90"/>
          <a:stretch>
            <a:fillRect/>
          </a:stretch>
        </p:blipFill>
        <p:spPr>
          <a:xfrm rot="16200000">
            <a:off x="3748246" y="-3763643"/>
            <a:ext cx="1929367" cy="94258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6626CA-25A8-414D-D76E-5152F68B2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1" t="48704" r="3735" b="18333"/>
          <a:stretch>
            <a:fillRect/>
          </a:stretch>
        </p:blipFill>
        <p:spPr>
          <a:xfrm>
            <a:off x="9362982" y="-15397"/>
            <a:ext cx="2829018" cy="1929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793" y="200660"/>
            <a:ext cx="3781219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课程教材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C81A2EC-D40C-EDE0-E440-6304FF68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003" y="1912938"/>
            <a:ext cx="5446300" cy="35290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《</a:t>
            </a:r>
            <a:r>
              <a:rPr lang="zh-CN" altLang="en-US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人工智能通识（公共课版）</a:t>
            </a: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》</a:t>
            </a:r>
            <a:endParaRPr lang="en-US" altLang="zh-CN" sz="26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机械工业</a:t>
            </a:r>
            <a:r>
              <a:rPr lang="zh-CN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出版社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主  </a:t>
            </a:r>
            <a:r>
              <a:rPr lang="zh-CN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编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：黄 栋、黄 琼、裴颂文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ISBN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>
                <a:latin typeface="SimHei" panose="02010609060101010101" pitchFamily="49" charset="-122"/>
                <a:ea typeface="SimHei" panose="02010609060101010101" pitchFamily="49" charset="-122"/>
              </a:rPr>
              <a:t>978-7-111-82285-1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3BA5BF-8032-411B-E8ED-961C90D0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24266" y="1037263"/>
            <a:ext cx="3454731" cy="47834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847BAA57-A82C-BCC6-FE28-204EB3C5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D7CA4F-F1CF-C404-DDF8-4C44A8CC7B8F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8310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55010" y="3262630"/>
            <a:ext cx="5817235" cy="1018540"/>
          </a:xfrm>
        </p:spPr>
        <p:txBody>
          <a:bodyPr>
            <a:noAutofit/>
          </a:bodyPr>
          <a:lstStyle/>
          <a:p>
            <a:r>
              <a:rPr lang="zh-CN" altLang="en-US" sz="48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机器学习基础（上）</a:t>
            </a:r>
          </a:p>
        </p:txBody>
      </p:sp>
      <p:sp>
        <p:nvSpPr>
          <p:cNvPr id="12" name="矩形 11"/>
          <p:cNvSpPr/>
          <p:nvPr/>
        </p:nvSpPr>
        <p:spPr>
          <a:xfrm>
            <a:off x="5214990" y="2286714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第二章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8369" y="1849347"/>
            <a:ext cx="10723216" cy="3709441"/>
          </a:xfrm>
          <a:effectLst/>
        </p:spPr>
        <p:txBody>
          <a:bodyPr>
            <a:noAutofit/>
          </a:bodyPr>
          <a:lstStyle/>
          <a:p>
            <a:pPr marL="403225" indent="-403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机器学习基本概念</a:t>
            </a:r>
          </a:p>
          <a:p>
            <a:pPr marL="403225" indent="-403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主要术语与任务分类</a:t>
            </a:r>
          </a:p>
          <a:p>
            <a:pPr marL="403225" indent="-403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机器学习的三要素</a:t>
            </a:r>
          </a:p>
          <a:p>
            <a:pPr marL="403225" indent="-403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关键概念辨析</a:t>
            </a: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E724C160-B678-A51E-3C71-F77499B6A7A1}"/>
              </a:ext>
            </a:extLst>
          </p:cNvPr>
          <p:cNvSpPr/>
          <p:nvPr/>
        </p:nvSpPr>
        <p:spPr>
          <a:xfrm>
            <a:off x="5695716" y="1701133"/>
            <a:ext cx="6061753" cy="3455733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2900" b="1" dirty="0">
                <a:solidFill>
                  <a:srgbClr val="C00000"/>
                </a:solidFill>
              </a:rPr>
              <a:t>机器学习的本质是什么？</a:t>
            </a:r>
            <a:endParaRPr kumimoji="1" lang="en-US" altLang="zh-CN" sz="29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400" dirty="0">
                <a:solidFill>
                  <a:schemeClr val="tx1"/>
                </a:solidFill>
              </a:rPr>
              <a:t>这既是伏笔，也是贯穿始终的核心问题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57F55ED-E821-3029-8DF8-F6D389E5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66" y="229235"/>
            <a:ext cx="4361760" cy="705485"/>
          </a:xfrm>
        </p:spPr>
        <p:txBody>
          <a:bodyPr/>
          <a:lstStyle/>
          <a:p>
            <a:pPr algn="ctr"/>
            <a:r>
              <a:rPr lang="zh-CN" altLang="en-US" dirty="0"/>
              <a:t>教学目录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9B5ADF35-BF9E-F409-1AEE-B8BB55E3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4F0348-4BD8-C662-4B75-6D74E37679B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1D4E-09E7-94FB-2146-BD8E89B3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6CC1847-1C56-5324-08E9-DBD551DD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973" y="2552131"/>
            <a:ext cx="6373505" cy="17290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引入：</a:t>
            </a:r>
            <a:br>
              <a:rPr lang="en-US" altLang="zh-CN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</a:b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一个案例、两个流派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D3AAA22B-9AB7-F568-E352-42ED74F1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101136-7D81-12ED-F1A6-4F4C546B806C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35849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229235"/>
            <a:ext cx="4981433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身边的“机器学习”</a:t>
            </a:r>
          </a:p>
        </p:txBody>
      </p:sp>
      <p:sp>
        <p:nvSpPr>
          <p:cNvPr id="7" name="名片裂变系统"/>
          <p:cNvSpPr txBox="1"/>
          <p:nvPr>
            <p:custDataLst>
              <p:tags r:id="rId1"/>
            </p:custDataLst>
          </p:nvPr>
        </p:nvSpPr>
        <p:spPr>
          <a:xfrm>
            <a:off x="6554207" y="2900681"/>
            <a:ext cx="5219168" cy="1090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冬青黑体简体中文 W3" charset="-122"/>
                <a:ea typeface="冬青黑体简体中文 W3" charset="-122"/>
                <a:cs typeface="冬青黑体简体中文 W3" charset="-122"/>
                <a:sym typeface="冬青黑体简体中文 W3" charset="-122"/>
              </a:defRPr>
            </a:lvl1pPr>
          </a:lstStyle>
          <a:p>
            <a:pPr algn="l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你每天用几次人脸识别解锁手机？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思考一下</a:t>
            </a:r>
            <a:r>
              <a:rPr lang="zh-CN" altLang="en-US" sz="24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手机为什么能识别出你的脸？</a:t>
            </a:r>
          </a:p>
        </p:txBody>
      </p:sp>
      <p:sp>
        <p:nvSpPr>
          <p:cNvPr id="6" name="Freeform 6"/>
          <p:cNvSpPr/>
          <p:nvPr/>
        </p:nvSpPr>
        <p:spPr>
          <a:xfrm>
            <a:off x="721199" y="2103324"/>
            <a:ext cx="2720340" cy="2984500"/>
          </a:xfrm>
          <a:custGeom>
            <a:avLst/>
            <a:gdLst/>
            <a:ahLst/>
            <a:cxnLst/>
            <a:rect l="l" t="t" r="r" b="b"/>
            <a:pathLst>
              <a:path w="4460141" h="5551946">
                <a:moveTo>
                  <a:pt x="0" y="0"/>
                </a:moveTo>
                <a:lnTo>
                  <a:pt x="4460140" y="0"/>
                </a:lnTo>
                <a:lnTo>
                  <a:pt x="4460140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"/>
          <p:cNvSpPr/>
          <p:nvPr/>
        </p:nvSpPr>
        <p:spPr>
          <a:xfrm>
            <a:off x="13371286" y="4735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>
          <a:xfrm>
            <a:off x="13498286" y="4862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"/>
          <p:cNvSpPr/>
          <p:nvPr/>
        </p:nvSpPr>
        <p:spPr>
          <a:xfrm>
            <a:off x="13625286" y="4989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"/>
          <p:cNvSpPr/>
          <p:nvPr/>
        </p:nvSpPr>
        <p:spPr>
          <a:xfrm>
            <a:off x="13371286" y="4914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"/>
          <p:cNvSpPr/>
          <p:nvPr/>
        </p:nvSpPr>
        <p:spPr>
          <a:xfrm>
            <a:off x="13498286" y="5041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7"/>
          <p:cNvSpPr/>
          <p:nvPr/>
        </p:nvSpPr>
        <p:spPr>
          <a:xfrm>
            <a:off x="13625286" y="5168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7"/>
          <p:cNvSpPr/>
          <p:nvPr/>
        </p:nvSpPr>
        <p:spPr>
          <a:xfrm>
            <a:off x="13752286" y="5295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 descr="图片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294" y="2068054"/>
            <a:ext cx="2313940" cy="2973705"/>
          </a:xfrm>
          <a:prstGeom prst="rect">
            <a:avLst/>
          </a:prstGeom>
        </p:spPr>
      </p:pic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F7DB6DB6-36D8-E35A-3861-155949DA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646539-CBB9-D177-611E-A8684B46B92C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64A01-8CA1-1A4F-3180-79DDCFB1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116F37D-FBC5-5D15-9114-18BF3D3B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247" y="2210937"/>
            <a:ext cx="6373505" cy="172903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带着这个问题，</a:t>
            </a:r>
            <a:b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</a:br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先了解人工智能的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两个流派</a:t>
            </a:r>
            <a:b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</a:br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稍后回来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…</a:t>
            </a:r>
            <a:endParaRPr lang="zh-CN" altLang="en-US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4FBF7863-37BB-E176-CB85-CC3CE79F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A5974A-B8D4-B4BC-4DA7-78E118A7A4E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64089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CAA8-4B72-8CA2-0383-3552D81D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ADF760-18F0-A0D2-A3CB-FCB47E6CD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85" y="1046365"/>
            <a:ext cx="9417427" cy="329660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3AADBAA-52A2-4153-384C-7087ABDE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235"/>
            <a:ext cx="4722125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cs typeface="+mn-ea"/>
                <a:sym typeface="+mn-lt"/>
              </a:rPr>
              <a:t>两个历史流派</a:t>
            </a:r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62C9F4E7-C901-E0D5-A59E-E588B59DBACF}"/>
              </a:ext>
            </a:extLst>
          </p:cNvPr>
          <p:cNvSpPr txBox="1">
            <a:spLocks/>
          </p:cNvSpPr>
          <p:nvPr/>
        </p:nvSpPr>
        <p:spPr bwMode="auto">
          <a:xfrm>
            <a:off x="704046" y="4214191"/>
            <a:ext cx="10863943" cy="224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53591" indent="-153591" algn="l" rtl="0" eaLnBrk="1" fontAlgn="base" hangingPunct="1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lang="en-US" altLang="zh-CN" sz="3200" kern="1200" baseline="0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08075" indent="-153591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800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62558" indent="-128588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17042" indent="-128588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1525" indent="-128588" algn="l" rtl="0" eaLnBrk="1" fontAlgn="base" hangingPunct="1">
              <a:spcBef>
                <a:spcPts val="169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25830" indent="-102870" algn="l" rtl="0" eaLnBrk="1" latinLnBrk="0" hangingPunct="1">
              <a:spcBef>
                <a:spcPts val="169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02870" algn="l" rtl="0" eaLnBrk="1" latinLnBrk="0" hangingPunct="1">
              <a:spcBef>
                <a:spcPts val="169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1570" indent="-102870" algn="l" rtl="0" eaLnBrk="1" latinLnBrk="0" hangingPunct="1">
              <a:spcBef>
                <a:spcPts val="169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02870" algn="l" rtl="0" eaLnBrk="1" latinLnBrk="0" hangingPunct="1">
              <a:spcBef>
                <a:spcPts val="169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67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defRPr/>
            </a:pPr>
            <a:r>
              <a:rPr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人工智能的两个历史流派</a:t>
            </a:r>
          </a:p>
          <a:p>
            <a:pPr marL="1031875" lvl="1" indent="-373063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符号主义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（又称逻辑主义）：早期主流</a:t>
            </a:r>
            <a:endParaRPr lang="zh-CN" altLang="en-US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1031875" lvl="1" indent="-373063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连接主义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：近三十余年占据主导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E77DC9-4D8B-E761-0A69-7367634F3D8D}"/>
              </a:ext>
            </a:extLst>
          </p:cNvPr>
          <p:cNvSpPr/>
          <p:nvPr/>
        </p:nvSpPr>
        <p:spPr>
          <a:xfrm>
            <a:off x="8820556" y="5048972"/>
            <a:ext cx="2667398" cy="584775"/>
          </a:xfrm>
          <a:prstGeom prst="rect">
            <a:avLst/>
          </a:prstGeom>
          <a:noFill/>
          <a:ln w="15875">
            <a:solidFill>
              <a:srgbClr val="2F5897"/>
            </a:solidFill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ln/>
                <a:solidFill>
                  <a:srgbClr val="006600"/>
                </a:solidFill>
                <a:latin typeface="Microsoft YaHei" panose="020B0503020204020204" pitchFamily="34" charset="-122"/>
              </a:rPr>
              <a:t>规则驱动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ADD0744-87EE-BF4F-EC1F-E9D07A81A0E9}"/>
              </a:ext>
            </a:extLst>
          </p:cNvPr>
          <p:cNvSpPr/>
          <p:nvPr/>
        </p:nvSpPr>
        <p:spPr>
          <a:xfrm>
            <a:off x="8820556" y="5754671"/>
            <a:ext cx="2667398" cy="584775"/>
          </a:xfrm>
          <a:prstGeom prst="rect">
            <a:avLst/>
          </a:prstGeom>
          <a:noFill/>
          <a:ln w="15875">
            <a:solidFill>
              <a:srgbClr val="2F5897"/>
            </a:solidFill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ln/>
                <a:solidFill>
                  <a:srgbClr val="006600"/>
                </a:solidFill>
                <a:latin typeface="Microsoft YaHei" panose="020B0503020204020204" pitchFamily="34" charset="-122"/>
              </a:rPr>
              <a:t>数据驱动</a:t>
            </a:r>
          </a:p>
        </p:txBody>
      </p:sp>
      <p:sp>
        <p:nvSpPr>
          <p:cNvPr id="39" name="右箭头 38">
            <a:extLst>
              <a:ext uri="{FF2B5EF4-FFF2-40B4-BE49-F238E27FC236}">
                <a16:creationId xmlns:a16="http://schemas.microsoft.com/office/drawing/2014/main" id="{374830C8-8C8F-9485-50A5-AC8C56B2AC35}"/>
              </a:ext>
            </a:extLst>
          </p:cNvPr>
          <p:cNvSpPr/>
          <p:nvPr/>
        </p:nvSpPr>
        <p:spPr>
          <a:xfrm rot="10800000" flipH="1">
            <a:off x="8182023" y="5218121"/>
            <a:ext cx="468951" cy="281300"/>
          </a:xfrm>
          <a:prstGeom prst="rightArrow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667AF8F8-D771-0D20-1867-261BBC90E622}"/>
              </a:ext>
            </a:extLst>
          </p:cNvPr>
          <p:cNvSpPr/>
          <p:nvPr/>
        </p:nvSpPr>
        <p:spPr>
          <a:xfrm rot="10800000" flipH="1">
            <a:off x="7007526" y="5908949"/>
            <a:ext cx="1643448" cy="281300"/>
          </a:xfrm>
          <a:prstGeom prst="rightArrow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D1F6836-6D1C-D3E0-E48A-43839029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C8A49A-CD2D-7A10-6ED0-0EEF94D06A03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814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AF69E-8C23-C889-6699-91B71189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b="1" dirty="0"/>
              <a:t>符号主义（规则驱动）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20169A-3DDA-49B7-9AAD-674053E0406B}"/>
              </a:ext>
            </a:extLst>
          </p:cNvPr>
          <p:cNvSpPr txBox="1"/>
          <p:nvPr/>
        </p:nvSpPr>
        <p:spPr>
          <a:xfrm>
            <a:off x="1275885" y="1152371"/>
            <a:ext cx="9640230" cy="509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核心思想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：模仿人类逻辑，认为“智能”源于对符号（概念）的操纵和基于规则的推理，可视作</a:t>
            </a:r>
            <a:r>
              <a:rPr lang="zh-CN" altLang="en-US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通过一系列“如果</a:t>
            </a:r>
            <a:r>
              <a:rPr lang="en-US" altLang="zh-CN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...</a:t>
            </a:r>
            <a:r>
              <a:rPr lang="zh-CN" altLang="en-US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那么</a:t>
            </a:r>
            <a:r>
              <a:rPr lang="en-US" altLang="zh-CN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...”</a:t>
            </a:r>
            <a:r>
              <a:rPr lang="zh-CN" altLang="en-US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的逻辑规则来实现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例如：如何识别猫？</a:t>
            </a:r>
            <a:endParaRPr lang="zh-CN" altLang="en-US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人类专家先定义好规则：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如果 它有尖耳朵 那么 加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分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如果 它有胡须 那么 加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10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分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如果 它的眼睛是竖瞳 那么 加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15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分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如果 它会“喵喵”叫 那么 加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20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分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...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电脑接收到一个对象后，就一条一条地核对这些规则，进行逻辑推理和计算。</a:t>
            </a:r>
            <a:endParaRPr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如果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总分超过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50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分，</a:t>
            </a: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那么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就判定它是猫。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A3283EAC-4ECF-4187-5F47-C4664FCE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084BA0-DB14-83CC-CCFE-E47787DE8F6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1839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56DD723-68B1-B6CE-B6D4-BB031305E7C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F7EAD9-EB46-2400-352E-4813D421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520"/>
            <a:ext cx="6803163" cy="705485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符号主义的局限：</a:t>
            </a:r>
            <a:r>
              <a:rPr kumimoji="1" lang="zh-CN" altLang="en-US" b="1" dirty="0"/>
              <a:t>柏拉图的故事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DEDF7A7-C8BE-4EB4-6CF0-2F2EDA2D5738}"/>
              </a:ext>
            </a:extLst>
          </p:cNvPr>
          <p:cNvSpPr txBox="1">
            <a:spLocks/>
          </p:cNvSpPr>
          <p:nvPr/>
        </p:nvSpPr>
        <p:spPr>
          <a:xfrm>
            <a:off x="335360" y="1207263"/>
            <a:ext cx="11617291" cy="3976464"/>
          </a:xfrm>
          <a:prstGeom prst="rect">
            <a:avLst/>
          </a:prstGeom>
          <a:ln>
            <a:solidFill>
              <a:srgbClr val="2F5897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5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254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Font typeface="Wingdings" pitchFamily="2" charset="2"/>
              <a:buChar char="§"/>
              <a:defRPr sz="22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96938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tabLst/>
              <a:defRPr sz="20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16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700" kern="1200" baseline="0">
                <a:solidFill>
                  <a:schemeClr val="tx1"/>
                </a:solidFill>
                <a:latin typeface="Cambria" pitchFamily="18" charset="0"/>
                <a:ea typeface="黑体" pitchFamily="49" charset="-122"/>
                <a:cs typeface="+mn-cs"/>
              </a:defRPr>
            </a:lvl4pPr>
            <a:lvl5pPr marL="116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500" kern="1200" baseline="0">
                <a:solidFill>
                  <a:schemeClr val="tx1"/>
                </a:solidFill>
                <a:latin typeface="+mj-lt"/>
                <a:ea typeface="黑体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defRPr/>
            </a:pPr>
            <a:r>
              <a:rPr kumimoji="1" lang="zh-CN" altLang="en-US" sz="2800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柏拉图曾给人下过一个定义：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两条腿走路的就叫人。</a:t>
            </a:r>
            <a:endParaRPr kumimoji="1" lang="en-US" altLang="zh-CN" sz="2800" b="1" dirty="0">
              <a:solidFill>
                <a:sysClr val="windowText" lastClr="00000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kumimoji="1" lang="zh-CN" altLang="en-US" sz="2800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某学生抓来了一只鸡，说：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老师，这就是你的“人”。</a:t>
            </a:r>
            <a:endParaRPr kumimoji="1" lang="en-US" altLang="zh-CN" sz="2800" b="1" dirty="0">
              <a:solidFill>
                <a:sysClr val="windowText" lastClr="00000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kumimoji="1" lang="zh-CN" altLang="en-US" sz="2800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柏拉图于是对定义进行了补充：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两条腿走路，并且没有羽毛的就是人。</a:t>
            </a:r>
            <a:endParaRPr kumimoji="1" lang="en-US" altLang="zh-CN" sz="2800" b="1" dirty="0">
              <a:solidFill>
                <a:sysClr val="windowText" lastClr="00000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kumimoji="1" lang="zh-CN" altLang="en-US" sz="2800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次日，学生又抱来一只拨了毛的鸡：</a:t>
            </a:r>
            <a:r>
              <a:rPr kumimoji="1" lang="zh-CN" altLang="en-US" sz="2800" b="1" dirty="0">
                <a:solidFill>
                  <a:sysClr val="windowText" lastClr="000000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老师，这就是你定义的“人”。</a:t>
            </a:r>
            <a:endParaRPr kumimoji="1" lang="en-US" altLang="zh-CN" sz="2800" b="1" dirty="0">
              <a:solidFill>
                <a:sysClr val="windowText" lastClr="000000"/>
              </a:solidFill>
              <a:latin typeface="Kaiti SC" panose="02010600040101010101" pitchFamily="2" charset="-122"/>
              <a:ea typeface="Kaiti SC" panose="02010600040101010101" pitchFamily="2" charset="-122"/>
            </a:endParaRPr>
          </a:p>
          <a:p>
            <a:pPr>
              <a:lnSpc>
                <a:spcPct val="200000"/>
              </a:lnSpc>
              <a:defRPr/>
            </a:pPr>
            <a:endParaRPr kumimoji="1" lang="zh-CN" altLang="en-US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A30CF6-83E6-F2C4-4294-1984A8DB421F}"/>
              </a:ext>
            </a:extLst>
          </p:cNvPr>
          <p:cNvSpPr/>
          <p:nvPr/>
        </p:nvSpPr>
        <p:spPr>
          <a:xfrm>
            <a:off x="335360" y="5370535"/>
            <a:ext cx="8049223" cy="1224303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08000" tIns="0" rIns="108000" bIns="144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规则驱动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虽然符合人的直觉，但依赖专家预设的规则体系，试图用有限离散规则描述连续开放世界，可能陷入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“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补充规则→新反例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”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的循环困境</a:t>
            </a:r>
          </a:p>
        </p:txBody>
      </p:sp>
      <p:sp>
        <p:nvSpPr>
          <p:cNvPr id="7" name="云形 6">
            <a:extLst>
              <a:ext uri="{FF2B5EF4-FFF2-40B4-BE49-F238E27FC236}">
                <a16:creationId xmlns:a16="http://schemas.microsoft.com/office/drawing/2014/main" id="{4A35C81F-EF00-19FE-B941-5F6864429709}"/>
              </a:ext>
            </a:extLst>
          </p:cNvPr>
          <p:cNvSpPr/>
          <p:nvPr/>
        </p:nvSpPr>
        <p:spPr>
          <a:xfrm>
            <a:off x="8557147" y="5401573"/>
            <a:ext cx="3585038" cy="1224304"/>
          </a:xfrm>
          <a:prstGeom prst="cloud">
            <a:avLst/>
          </a:prstGeom>
          <a:solidFill>
            <a:schemeClr val="bg1"/>
          </a:solidFill>
          <a:ln w="25400" cap="flat" cmpd="sng" algn="ctr">
            <a:gradFill flip="none" rotWithShape="1">
              <a:gsLst>
                <a:gs pos="0">
                  <a:srgbClr val="4F81BD">
                    <a:lumMod val="40000"/>
                    <a:lumOff val="60000"/>
                  </a:srgbClr>
                </a:gs>
                <a:gs pos="46000">
                  <a:srgbClr val="4F81BD">
                    <a:lumMod val="95000"/>
                    <a:lumOff val="5000"/>
                  </a:srgbClr>
                </a:gs>
                <a:gs pos="100000">
                  <a:srgbClr val="4F81BD">
                    <a:lumMod val="60000"/>
                  </a:srgbClr>
                </a:gs>
              </a:gsLst>
              <a:path path="circle">
                <a:fillToRect l="50000" t="130000" r="50000" b="-30000"/>
              </a:path>
              <a:tileRect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回顾两次“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AI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寒冬”</a:t>
            </a:r>
          </a:p>
        </p:txBody>
      </p:sp>
    </p:spTree>
    <p:extLst>
      <p:ext uri="{BB962C8B-B14F-4D97-AF65-F5344CB8AC3E}">
        <p14:creationId xmlns:p14="http://schemas.microsoft.com/office/powerpoint/2010/main" val="124464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CAAE-C66B-BE4B-3C95-20877051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719BCB-1866-ADE0-1EA8-456F713B9140}"/>
              </a:ext>
            </a:extLst>
          </p:cNvPr>
          <p:cNvSpPr/>
          <p:nvPr/>
        </p:nvSpPr>
        <p:spPr>
          <a:xfrm>
            <a:off x="576007" y="2674961"/>
            <a:ext cx="11240676" cy="180150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8765A6-D0DB-6E10-A13B-FCD9F5A36600}"/>
              </a:ext>
            </a:extLst>
          </p:cNvPr>
          <p:cNvSpPr/>
          <p:nvPr/>
        </p:nvSpPr>
        <p:spPr>
          <a:xfrm>
            <a:off x="565195" y="4476466"/>
            <a:ext cx="11251488" cy="936733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1F27B1-B40C-F275-BCD6-1CE22560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b="1" dirty="0"/>
              <a:t>连接主义（数据驱动）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5C7D5B-D1EC-B4DA-FEDC-06CB0DB916A4}"/>
              </a:ext>
            </a:extLst>
          </p:cNvPr>
          <p:cNvSpPr txBox="1"/>
          <p:nvPr/>
        </p:nvSpPr>
        <p:spPr>
          <a:xfrm>
            <a:off x="375313" y="1084129"/>
            <a:ext cx="11441373" cy="4329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核心思想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：模仿大脑结构，认为“智能”源于大量简单处理单元（神经元）相互连接形成的网络中，通过调整连接强度（权重）来学习模式，可视作一个</a:t>
            </a:r>
            <a:r>
              <a:rPr lang="zh-CN" altLang="en-US" sz="2000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从海量数据中自动统计和学习规律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的模型。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又例如：如何识别猫？</a:t>
            </a:r>
            <a:endParaRPr lang="zh-CN" altLang="en-US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我们不告诉电脑任何关于猫的规则；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直接给它看成千上万张图片（数据），并告诉它哪些是猫（标签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），哪些不是猫（标签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0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）；</a:t>
            </a:r>
            <a:endParaRPr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模型（例如神经网络）自己从这些数据中统计和学习出“猫”的抽象模式（比如什么样的像素组合大概率是猫）；</a:t>
            </a:r>
            <a:endParaRPr lang="en-US" altLang="zh-CN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学习完成后，给出一张或一组不曾见过的新图片，模型自动计算出“是不是猫”的概率；如果需评估模型性能，在计算出每张图片是不是猫之后，可得出其“准确率”。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9EEAF-D317-1910-9278-57BF1A522222}"/>
              </a:ext>
            </a:extLst>
          </p:cNvPr>
          <p:cNvSpPr/>
          <p:nvPr/>
        </p:nvSpPr>
        <p:spPr>
          <a:xfrm>
            <a:off x="5148590" y="5642528"/>
            <a:ext cx="4311603" cy="690885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测试阶段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推理阶段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DF5C0C-6DF0-B341-1B1A-7200E2DD3F0B}"/>
              </a:ext>
            </a:extLst>
          </p:cNvPr>
          <p:cNvSpPr/>
          <p:nvPr/>
        </p:nvSpPr>
        <p:spPr>
          <a:xfrm>
            <a:off x="576007" y="5642528"/>
            <a:ext cx="4311603" cy="690885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训练阶段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40F4E787-B2A3-C866-6FA7-635B1F8D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4D5661-40CE-7370-C8EC-71BD485A0F7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45699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BD42-1F53-A9B8-319C-0FAFA545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165500-5659-A29E-AFE4-5154BF701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247" y="2852381"/>
            <a:ext cx="6373505" cy="8598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再回顾人脸识别的例子</a:t>
            </a:r>
            <a:endParaRPr lang="zh-CN" altLang="en-US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70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C837-1BC0-F9D6-77CD-0D8C596E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5DE7E-E8EB-D718-8C13-5AAEC2E2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9235"/>
            <a:ext cx="4981433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人脸识别</a:t>
            </a:r>
          </a:p>
        </p:txBody>
      </p:sp>
      <p:sp>
        <p:nvSpPr>
          <p:cNvPr id="7" name="名片裂变系统">
            <a:extLst>
              <a:ext uri="{FF2B5EF4-FFF2-40B4-BE49-F238E27FC236}">
                <a16:creationId xmlns:a16="http://schemas.microsoft.com/office/drawing/2014/main" id="{5380A6C5-E210-2292-39CC-AC730E94EF6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08478" y="1500838"/>
            <a:ext cx="7269822" cy="16446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冬青黑体简体中文 W3" charset="-122"/>
                <a:ea typeface="冬青黑体简体中文 W3" charset="-122"/>
                <a:cs typeface="冬青黑体简体中文 W3" charset="-122"/>
                <a:sym typeface="冬青黑体简体中文 W3" charset="-122"/>
              </a:defRPr>
            </a:lvl1pPr>
          </a:lstStyle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人工区分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：如果用语言区分两个人，你会怎样表述？</a:t>
            </a:r>
            <a:endParaRPr lang="en-US" altLang="zh-CN" sz="24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或说：额头有痣、戴眼镜者为张三，否则为李四</a:t>
            </a:r>
            <a:endParaRPr lang="en-US" altLang="zh-CN" sz="2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——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可理解为规则驱动式表述</a:t>
            </a:r>
            <a:endParaRPr lang="zh-CN" altLang="en-US" sz="2400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B083136-54BB-21D8-5F6D-1B015C25FC1E}"/>
              </a:ext>
            </a:extLst>
          </p:cNvPr>
          <p:cNvSpPr/>
          <p:nvPr/>
        </p:nvSpPr>
        <p:spPr>
          <a:xfrm>
            <a:off x="13371286" y="4735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DF3A814-1614-22B3-3126-26B31E292328}"/>
              </a:ext>
            </a:extLst>
          </p:cNvPr>
          <p:cNvSpPr/>
          <p:nvPr/>
        </p:nvSpPr>
        <p:spPr>
          <a:xfrm>
            <a:off x="13498286" y="4862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18FF2B2-7374-8A76-7FEA-70A97A06838C}"/>
              </a:ext>
            </a:extLst>
          </p:cNvPr>
          <p:cNvSpPr/>
          <p:nvPr/>
        </p:nvSpPr>
        <p:spPr>
          <a:xfrm>
            <a:off x="13625286" y="4989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5DF27411-78A6-8DD7-EEFC-ECB09628C58E}"/>
              </a:ext>
            </a:extLst>
          </p:cNvPr>
          <p:cNvSpPr/>
          <p:nvPr/>
        </p:nvSpPr>
        <p:spPr>
          <a:xfrm>
            <a:off x="13371286" y="4914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793682A3-283A-E192-74E0-F602233D8D15}"/>
              </a:ext>
            </a:extLst>
          </p:cNvPr>
          <p:cNvSpPr/>
          <p:nvPr/>
        </p:nvSpPr>
        <p:spPr>
          <a:xfrm>
            <a:off x="13498286" y="5041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54968360-6903-EC9D-D8D7-84BDF8E2F732}"/>
              </a:ext>
            </a:extLst>
          </p:cNvPr>
          <p:cNvSpPr/>
          <p:nvPr/>
        </p:nvSpPr>
        <p:spPr>
          <a:xfrm>
            <a:off x="13625286" y="5168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FC5115D4-56C8-C53C-DF94-46BE2C704CEF}"/>
              </a:ext>
            </a:extLst>
          </p:cNvPr>
          <p:cNvSpPr/>
          <p:nvPr/>
        </p:nvSpPr>
        <p:spPr>
          <a:xfrm>
            <a:off x="13752286" y="5295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 descr="图片1">
            <a:extLst>
              <a:ext uri="{FF2B5EF4-FFF2-40B4-BE49-F238E27FC236}">
                <a16:creationId xmlns:a16="http://schemas.microsoft.com/office/drawing/2014/main" id="{B69DCE08-1977-7F2E-7400-4BE4524AC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98" y="1740938"/>
            <a:ext cx="3212948" cy="4129044"/>
          </a:xfrm>
          <a:prstGeom prst="rect">
            <a:avLst/>
          </a:prstGeom>
        </p:spPr>
      </p:pic>
      <p:sp>
        <p:nvSpPr>
          <p:cNvPr id="3" name="云形 2">
            <a:extLst>
              <a:ext uri="{FF2B5EF4-FFF2-40B4-BE49-F238E27FC236}">
                <a16:creationId xmlns:a16="http://schemas.microsoft.com/office/drawing/2014/main" id="{D8E9A377-783D-46E2-CA29-95F529F0B88D}"/>
              </a:ext>
            </a:extLst>
          </p:cNvPr>
          <p:cNvSpPr/>
          <p:nvPr/>
        </p:nvSpPr>
        <p:spPr>
          <a:xfrm>
            <a:off x="4621818" y="3323580"/>
            <a:ext cx="7269822" cy="2822947"/>
          </a:xfrm>
          <a:prstGeom prst="cloud">
            <a:avLst/>
          </a:prstGeom>
          <a:solidFill>
            <a:schemeClr val="bg1"/>
          </a:solidFill>
          <a:ln w="25400" cap="flat" cmpd="sng" algn="ctr">
            <a:gradFill flip="none" rotWithShape="1">
              <a:gsLst>
                <a:gs pos="0">
                  <a:srgbClr val="4F81BD">
                    <a:lumMod val="40000"/>
                    <a:lumOff val="60000"/>
                  </a:srgbClr>
                </a:gs>
                <a:gs pos="46000">
                  <a:srgbClr val="4F81BD">
                    <a:lumMod val="95000"/>
                    <a:lumOff val="5000"/>
                  </a:srgbClr>
                </a:gs>
                <a:gs pos="100000">
                  <a:srgbClr val="4F81BD">
                    <a:lumMod val="60000"/>
                  </a:srgbClr>
                </a:gs>
              </a:gsLst>
              <a:path path="circle">
                <a:fillToRect l="50000" t="130000" r="50000" b="-30000"/>
              </a:path>
              <a:tileRect/>
            </a:gradFill>
            <a:prstDash val="solid"/>
          </a:ln>
          <a:effectLst/>
        </p:spPr>
        <p:txBody>
          <a:bodyPr wrap="none" lIns="0" rIns="0" rtlCol="0" anchor="ctr"/>
          <a:lstStyle/>
          <a:p>
            <a:pPr marL="12700" marR="0" lvl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若区分两人，是否有痣、戴眼镜的规则足矣！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12700" marR="0" lvl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kern="0" dirty="0">
                <a:solidFill>
                  <a:srgbClr val="0000FF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若千万人，是否还能用有限规则区分？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4D8C4C4-8C03-9671-2018-A22F97B5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049337-FDAB-ED7A-48BE-576069A2D5BD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72400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BA25-3966-4CA0-89B7-2F805421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2B7F4-C21A-133F-D614-FF84EF65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9235"/>
            <a:ext cx="4981433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人脸识别</a:t>
            </a:r>
          </a:p>
        </p:txBody>
      </p:sp>
      <p:sp>
        <p:nvSpPr>
          <p:cNvPr id="7" name="名片裂变系统">
            <a:extLst>
              <a:ext uri="{FF2B5EF4-FFF2-40B4-BE49-F238E27FC236}">
                <a16:creationId xmlns:a16="http://schemas.microsoft.com/office/drawing/2014/main" id="{99E6FC35-5EEB-A8DF-A082-253C184FDD6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707194" y="1230325"/>
            <a:ext cx="7269822" cy="21986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4288" tIns="34288" rIns="34288" bIns="34288" numCol="1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冬青黑体简体中文 W3" charset="-122"/>
                <a:ea typeface="冬青黑体简体中文 W3" charset="-122"/>
                <a:cs typeface="冬青黑体简体中文 W3" charset="-122"/>
                <a:sym typeface="冬青黑体简体中文 W3" charset="-122"/>
              </a:defRPr>
            </a:lvl1pPr>
          </a:lstStyle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机器学习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：</a:t>
            </a:r>
            <a:endParaRPr lang="en-US" altLang="zh-CN" sz="24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输入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数据：人脸图像</a:t>
            </a:r>
            <a:endParaRPr lang="en-US" altLang="zh-CN" sz="2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输出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结果：身份判断（标签）</a:t>
            </a:r>
            <a:endParaRPr lang="en-US" altLang="zh-CN" sz="24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介于输入与输出之间是什么？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方正姚体" panose="02010601030101010101" charset="-122"/>
                <a:sym typeface="黑体" panose="02010609060101010101" charset="-122"/>
              </a:rPr>
              <a:t>机器学习模型</a:t>
            </a:r>
            <a:endParaRPr lang="en-US" altLang="zh-CN" sz="24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  <a:cs typeface="方正姚体" panose="02010601030101010101" charset="-122"/>
              <a:sym typeface="黑体" panose="02010609060101010101" charset="-122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9C8B4975-E7F6-E208-21D1-D7B7969FC262}"/>
              </a:ext>
            </a:extLst>
          </p:cNvPr>
          <p:cNvSpPr/>
          <p:nvPr/>
        </p:nvSpPr>
        <p:spPr>
          <a:xfrm>
            <a:off x="13371286" y="4735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EE065D0-1A8D-1647-B65A-7A36902B4990}"/>
              </a:ext>
            </a:extLst>
          </p:cNvPr>
          <p:cNvSpPr/>
          <p:nvPr/>
        </p:nvSpPr>
        <p:spPr>
          <a:xfrm>
            <a:off x="13498286" y="4862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46EA6F8A-36CF-F729-0AC1-864FD1C98B9E}"/>
              </a:ext>
            </a:extLst>
          </p:cNvPr>
          <p:cNvSpPr/>
          <p:nvPr/>
        </p:nvSpPr>
        <p:spPr>
          <a:xfrm>
            <a:off x="13625286" y="4989054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2DEF5D5-FD9D-6F0F-B6F6-86B68BA2A21C}"/>
              </a:ext>
            </a:extLst>
          </p:cNvPr>
          <p:cNvSpPr/>
          <p:nvPr/>
        </p:nvSpPr>
        <p:spPr>
          <a:xfrm>
            <a:off x="13371286" y="4914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762F693-2EB4-F9DA-9C65-FD344FECE17D}"/>
              </a:ext>
            </a:extLst>
          </p:cNvPr>
          <p:cNvSpPr/>
          <p:nvPr/>
        </p:nvSpPr>
        <p:spPr>
          <a:xfrm>
            <a:off x="13498286" y="5041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C71F95E-6A59-7C9C-CFCF-93804BFAD022}"/>
              </a:ext>
            </a:extLst>
          </p:cNvPr>
          <p:cNvSpPr/>
          <p:nvPr/>
        </p:nvSpPr>
        <p:spPr>
          <a:xfrm>
            <a:off x="13625286" y="5168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27E1AFD-5198-AEA1-6464-E6059E930053}"/>
              </a:ext>
            </a:extLst>
          </p:cNvPr>
          <p:cNvSpPr/>
          <p:nvPr/>
        </p:nvSpPr>
        <p:spPr>
          <a:xfrm>
            <a:off x="13752286" y="5295759"/>
            <a:ext cx="4315451" cy="5551946"/>
          </a:xfrm>
          <a:custGeom>
            <a:avLst/>
            <a:gdLst/>
            <a:ahLst/>
            <a:cxnLst/>
            <a:rect l="l" t="t" r="r" b="b"/>
            <a:pathLst>
              <a:path w="4315451" h="5551946">
                <a:moveTo>
                  <a:pt x="0" y="0"/>
                </a:moveTo>
                <a:lnTo>
                  <a:pt x="4315451" y="0"/>
                </a:lnTo>
                <a:lnTo>
                  <a:pt x="4315451" y="5551946"/>
                </a:lnTo>
                <a:lnTo>
                  <a:pt x="0" y="555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 descr="图片1">
            <a:extLst>
              <a:ext uri="{FF2B5EF4-FFF2-40B4-BE49-F238E27FC236}">
                <a16:creationId xmlns:a16="http://schemas.microsoft.com/office/drawing/2014/main" id="{35A4528D-5AFA-1E4C-99F3-3475C5C7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98" y="1740938"/>
            <a:ext cx="3212948" cy="4129044"/>
          </a:xfrm>
          <a:prstGeom prst="rect">
            <a:avLst/>
          </a:prstGeom>
        </p:spPr>
      </p:pic>
      <p:sp>
        <p:nvSpPr>
          <p:cNvPr id="4" name="云形 3">
            <a:extLst>
              <a:ext uri="{FF2B5EF4-FFF2-40B4-BE49-F238E27FC236}">
                <a16:creationId xmlns:a16="http://schemas.microsoft.com/office/drawing/2014/main" id="{3AE52BD3-6B4A-356E-C3C0-4C4723D7B4F2}"/>
              </a:ext>
            </a:extLst>
          </p:cNvPr>
          <p:cNvSpPr/>
          <p:nvPr/>
        </p:nvSpPr>
        <p:spPr>
          <a:xfrm>
            <a:off x="4621818" y="3586359"/>
            <a:ext cx="6722961" cy="1618980"/>
          </a:xfrm>
          <a:prstGeom prst="cloud">
            <a:avLst/>
          </a:prstGeom>
          <a:solidFill>
            <a:schemeClr val="bg1"/>
          </a:solidFill>
          <a:ln w="25400" cap="flat" cmpd="sng" algn="ctr">
            <a:gradFill flip="none" rotWithShape="1">
              <a:gsLst>
                <a:gs pos="0">
                  <a:srgbClr val="4F81BD">
                    <a:lumMod val="40000"/>
                    <a:lumOff val="60000"/>
                  </a:srgbClr>
                </a:gs>
                <a:gs pos="46000">
                  <a:srgbClr val="4F81BD">
                    <a:lumMod val="95000"/>
                    <a:lumOff val="5000"/>
                  </a:srgbClr>
                </a:gs>
                <a:gs pos="100000">
                  <a:srgbClr val="4F81BD">
                    <a:lumMod val="60000"/>
                  </a:srgbClr>
                </a:gs>
              </a:gsLst>
              <a:path path="circle">
                <a:fillToRect l="50000" t="130000" r="50000" b="-30000"/>
              </a:path>
              <a:tileRect/>
            </a:gradFill>
            <a:prstDash val="solid"/>
          </a:ln>
          <a:effectLst/>
        </p:spPr>
        <p:txBody>
          <a:bodyPr wrap="square" lIns="0" rIns="0" rtlCol="0" anchor="ctr"/>
          <a:lstStyle/>
          <a:p>
            <a:pPr marL="12700" marR="0" lvl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机器学习模型：构建输入数据与预测值之间的映射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577C0F-54CF-ED34-5E6A-A4553382BAE4}"/>
              </a:ext>
            </a:extLst>
          </p:cNvPr>
          <p:cNvSpPr/>
          <p:nvPr/>
        </p:nvSpPr>
        <p:spPr>
          <a:xfrm>
            <a:off x="4707194" y="5362698"/>
            <a:ext cx="6637585" cy="1119435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08000" tIns="0" rIns="108000" bIns="144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更多问题：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输入数据怎样表示？预测值怎样表示？两者的映射怎样学习？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876989CD-C262-E51D-1795-803AFB69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E2B9F5-BBC6-55BE-B238-6ED641E8363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72369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312795" y="3053080"/>
            <a:ext cx="5817235" cy="1228090"/>
          </a:xfrm>
        </p:spPr>
        <p:txBody>
          <a:bodyPr/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2.1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 机器学习基本概念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229235"/>
            <a:ext cx="4708478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>
                <a:cs typeface="+mn-ea"/>
                <a:sym typeface="+mn-lt"/>
              </a:rPr>
              <a:t>教学重点与难点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570" y="1885166"/>
            <a:ext cx="5013395" cy="35629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数据集、样本、特征、标签、训练集、测试集、模型的定义及在应用案例中的具体理解。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" panose="020B0500000000000000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" panose="020B0500000000000000" charset="-122"/>
              </a:rPr>
              <a:t>有监督学习（带标签）、无监督学习（无标签）、半监督学习（部分标签）的基本概念。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2121217" y="1341221"/>
            <a:ext cx="2331720" cy="4845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教学重点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6851176" y="1885166"/>
            <a:ext cx="4327795" cy="2967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特征工程 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VS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 特征学习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理解机器学习的本质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理解训练阶段与测试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推理</a:t>
            </a:r>
            <a:r>
              <a:rPr lang="en-US" altLang="zh-CN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charset="0"/>
                <a:sym typeface="思源黑体 Bold" panose="020B0800000000000000" charset="-122"/>
              </a:rPr>
              <a:t>阶段，了解训练集、测试集</a:t>
            </a: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  <a:p>
            <a:pPr marL="28575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charset="0"/>
              <a:sym typeface="思源黑体 Bold" panose="020B0800000000000000" charset="-122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7483221" y="1399005"/>
            <a:ext cx="2901950" cy="368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44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可画风暴黑-简" panose="020B0500000000000000" charset="-122"/>
                <a:sym typeface="可画风暴黑-简" panose="020B0500000000000000" charset="-122"/>
              </a:rPr>
              <a:t>教学难点</a:t>
            </a:r>
            <a:endParaRPr lang="en-US" sz="2400" b="1" spc="44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可画风暴黑-简" panose="020B0500000000000000" charset="-122"/>
              <a:sym typeface="可画风暴黑-简" panose="020B0500000000000000" charset="-122"/>
            </a:endParaRP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18723484-98BF-DD4D-F27D-9ED026B7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B09F39-400D-F2F3-D4A4-E4E5CF3DEA3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5DCACA-6E28-AD5C-420E-E43903EFAC60}"/>
              </a:ext>
            </a:extLst>
          </p:cNvPr>
          <p:cNvSpPr/>
          <p:nvPr/>
        </p:nvSpPr>
        <p:spPr>
          <a:xfrm>
            <a:off x="4981433" y="3179926"/>
            <a:ext cx="6018663" cy="51861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F16464-A95E-B612-FF23-09B692B5C2C8}"/>
              </a:ext>
            </a:extLst>
          </p:cNvPr>
          <p:cNvSpPr/>
          <p:nvPr/>
        </p:nvSpPr>
        <p:spPr>
          <a:xfrm>
            <a:off x="821449" y="4072123"/>
            <a:ext cx="9755566" cy="518616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可画风暴黑-简" panose="020B0500000000000000" charset="-122"/>
              </a:rPr>
              <a:t>机器学习基本概念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8084" y="1199117"/>
            <a:ext cx="11435832" cy="4423759"/>
          </a:xfrm>
        </p:spPr>
        <p:txBody>
          <a:bodyPr>
            <a:noAutofit/>
          </a:bodyPr>
          <a:lstStyle/>
          <a:p>
            <a:pPr marL="363538" indent="-363538" algn="just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机器学习（Machine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Learning，ML）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是以计算机模拟或实现人类的学习行为、自动从数据中学习规律的过程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。</a:t>
            </a:r>
          </a:p>
          <a:p>
            <a:pPr marL="363538" indent="-363538" algn="just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换言之，机器学习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是一种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从观察到的数据（样本）中发现规律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，并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利用学到的规律（模型）对未观察到的位置和数据进行预测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的方法，是人工智能的一类基础技术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。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可画风暴黑-简" panose="020B0500000000000000" charset="-122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393699" y="2700125"/>
            <a:ext cx="3477681" cy="3694240"/>
          </a:xfrm>
          <a:custGeom>
            <a:avLst/>
            <a:gdLst/>
            <a:ahLst/>
            <a:cxnLst/>
            <a:rect l="l" t="t" r="r" b="b"/>
            <a:pathLst>
              <a:path w="3477681" h="3694240">
                <a:moveTo>
                  <a:pt x="0" y="0"/>
                </a:moveTo>
                <a:lnTo>
                  <a:pt x="3477681" y="0"/>
                </a:lnTo>
                <a:lnTo>
                  <a:pt x="3477681" y="3694240"/>
                </a:lnTo>
                <a:lnTo>
                  <a:pt x="0" y="369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0EA5B8-D6CF-AAFE-CE52-2C29A4BD2491}"/>
              </a:ext>
            </a:extLst>
          </p:cNvPr>
          <p:cNvSpPr/>
          <p:nvPr/>
        </p:nvSpPr>
        <p:spPr>
          <a:xfrm>
            <a:off x="4887610" y="5622875"/>
            <a:ext cx="4066161" cy="505817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测试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推理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B72407-356C-9DBC-1E0F-C1355298F78F}"/>
              </a:ext>
            </a:extLst>
          </p:cNvPr>
          <p:cNvSpPr/>
          <p:nvPr/>
        </p:nvSpPr>
        <p:spPr>
          <a:xfrm>
            <a:off x="821449" y="5622876"/>
            <a:ext cx="4066161" cy="50581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训练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BDB9BC9-DF76-163C-AC90-E1415D40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5471F2-E78E-F3E5-8CFA-9F9B73FAF399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可画风暴黑-简" panose="020B0500000000000000" charset="-122"/>
              </a:rPr>
              <a:t>机器学习基本概念</a:t>
            </a:r>
            <a:endParaRPr lang="zh-CN" altLang="en-US" dirty="0"/>
          </a:p>
        </p:txBody>
      </p:sp>
      <p:sp>
        <p:nvSpPr>
          <p:cNvPr id="12" name="Freeform 7"/>
          <p:cNvSpPr/>
          <p:nvPr/>
        </p:nvSpPr>
        <p:spPr>
          <a:xfrm>
            <a:off x="14393699" y="2700125"/>
            <a:ext cx="3477681" cy="3694240"/>
          </a:xfrm>
          <a:custGeom>
            <a:avLst/>
            <a:gdLst/>
            <a:ahLst/>
            <a:cxnLst/>
            <a:rect l="l" t="t" r="r" b="b"/>
            <a:pathLst>
              <a:path w="3477681" h="3694240">
                <a:moveTo>
                  <a:pt x="0" y="0"/>
                </a:moveTo>
                <a:lnTo>
                  <a:pt x="3477681" y="0"/>
                </a:lnTo>
                <a:lnTo>
                  <a:pt x="3477681" y="3694240"/>
                </a:lnTo>
                <a:lnTo>
                  <a:pt x="0" y="369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55DD6DA-47D1-5597-67C8-C62C74782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312795" y="3016155"/>
            <a:ext cx="5817235" cy="1265015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主要术语介绍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552" y="3933825"/>
            <a:ext cx="11668546" cy="172275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ym typeface="可画风暴黑-简" panose="020B0500000000000000" charset="-122"/>
              </a:rPr>
              <a:t>思考：在人脸识别的例子中，什么是“数据集”？什么又是一个“样本”？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6804" y="1949583"/>
            <a:ext cx="11072041" cy="249872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数据集（Dataset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）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由一组用于机器学习的数据样本组成的集合，其中每一个独立的数据对象称为一个“样本”（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Sample）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或“示例”（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nstance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）</a:t>
            </a:r>
            <a:endParaRPr lang="en-US" altLang="en-US" sz="13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可画风暴黑-简" panose="020B0500000000000000" charset="-122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可画风暴黑-简" panose="020B0500000000000000" charset="-122"/>
              </a:rPr>
              <a:t>数据集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602B4477-DF5C-B451-FDE9-514D64B0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68F6F3-FB38-07BE-92C7-E72BCCBD412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可画风暴黑-简" panose="020B0500000000000000" charset="-122"/>
              </a:rPr>
              <a:t>数据集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480" y="2382023"/>
            <a:ext cx="5731519" cy="332867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在人脸识别任务中，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人脸数据集</a:t>
            </a:r>
            <a:r>
              <a:rPr lang="zh-CN" altLang="en-US" sz="24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是由大量人脸样本组成的数据集合，可用于模型的训练、验证或测试。</a:t>
            </a:r>
            <a:r>
              <a:rPr lang="zh-CN" altLang="en-US" sz="2400" dirty="0">
                <a:solidFill>
                  <a:schemeClr val="tx1"/>
                </a:solidFill>
                <a:cs typeface="宋体" panose="02010600030101010101" pitchFamily="2" charset="-122"/>
              </a:rPr>
              <a:t>其中，每一张人脸图像可以看作一个</a:t>
            </a:r>
            <a:r>
              <a:rPr lang="zh-CN" altLang="en-US" sz="24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</a:rPr>
              <a:t>样本</a:t>
            </a:r>
            <a:r>
              <a:rPr lang="zh-CN" altLang="en-US" sz="2400" dirty="0">
                <a:solidFill>
                  <a:schemeClr val="tx1"/>
                </a:solidFill>
                <a:cs typeface="宋体" panose="02010600030101010101" pitchFamily="2" charset="-122"/>
              </a:rPr>
              <a:t>。</a:t>
            </a:r>
            <a:endParaRPr lang="en-US" sz="2400" dirty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6339849" y="1610360"/>
            <a:ext cx="5405755" cy="3637280"/>
          </a:xfrm>
          <a:custGeom>
            <a:avLst/>
            <a:gdLst/>
            <a:ahLst/>
            <a:cxnLst/>
            <a:rect l="l" t="t" r="r" b="b"/>
            <a:pathLst>
              <a:path w="7293089" h="5964348">
                <a:moveTo>
                  <a:pt x="0" y="0"/>
                </a:moveTo>
                <a:lnTo>
                  <a:pt x="7293089" y="0"/>
                </a:lnTo>
                <a:lnTo>
                  <a:pt x="7293089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C4F1478-57D8-2B05-8778-E2E7B9CB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6C90D1-3D91-6548-1C94-3464A8FC916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4" y="1677036"/>
            <a:ext cx="10968990" cy="28676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特征（Feature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）：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特征是输入变量，反映事件或对象在某些方面的表现或性质，又称“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属性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”（Attribute）。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机器学习模型正是利用这些特征，寻找不同样本之间的规律，并据此作出预测或判断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。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可画风暴黑-简" panose="020B0500000000000000" charset="-122"/>
              </a:rPr>
              <a:t>特征</a:t>
            </a:r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9D89932-051F-5F4D-F91C-FD9E80B4E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56" y="4342506"/>
            <a:ext cx="11668546" cy="172275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ym typeface="可画风暴黑-简" panose="020B0500000000000000" charset="-122"/>
              </a:rPr>
              <a:t>思考：一张人脸图像输入计算机后，机器究竟根据什么信息来区分不同的人？</a:t>
            </a:r>
            <a:endParaRPr lang="zh-CN" altLang="en-US" sz="2400" dirty="0"/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B94B80C3-3A86-2710-6C27-ACF01F4B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093765-8F87-06C4-F89A-5979D994AD3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>
                <a:sym typeface="可画风暴黑-简" panose="020B0500000000000000" charset="-122"/>
              </a:rPr>
              <a:t>特征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731" y="1451463"/>
            <a:ext cx="6131241" cy="363402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Tx/>
              <a:buSzTx/>
            </a:pPr>
            <a:r>
              <a:rPr lang="zh-CN" altLang="en-US" sz="23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在人脸识别中，“特征”是模型用来表示和区分不同人脸的信息。</a:t>
            </a:r>
            <a:endParaRPr lang="en-US" altLang="zh-CN" sz="2300" b="1" dirty="0">
              <a:solidFill>
                <a:schemeClr val="tx1"/>
              </a:solidFill>
              <a:cs typeface="宋体" panose="02010600030101010101" pitchFamily="2" charset="-122"/>
              <a:sym typeface="可画风暴黑-简" panose="020B0500000000000000" charset="-122"/>
            </a:endParaRPr>
          </a:p>
          <a:p>
            <a:pPr marL="539750" lvl="1" indent="-263525" algn="just">
              <a:lnSpc>
                <a:spcPct val="150000"/>
              </a:lnSpc>
              <a:buFont typeface="Wingdings" pitchFamily="2" charset="2"/>
              <a:buChar char="Ø"/>
              <a:tabLst>
                <a:tab pos="1609725" algn="l"/>
              </a:tabLst>
            </a:pPr>
            <a:r>
              <a:rPr lang="zh-CN" altLang="en-US" sz="21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简单情况下，人们可以</a:t>
            </a:r>
            <a:r>
              <a:rPr lang="zh-CN" altLang="en-US" sz="2100" b="1" dirty="0">
                <a:solidFill>
                  <a:srgbClr val="C00000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人工设计一些容易理解的特征</a:t>
            </a:r>
            <a:r>
              <a:rPr lang="zh-CN" altLang="en-US" sz="21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，例如眼睛间距、脸部轮廓、局部纹理等。</a:t>
            </a:r>
            <a:r>
              <a:rPr lang="en-US" altLang="zh-CN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[</a:t>
            </a:r>
            <a:r>
              <a:rPr lang="zh-CN" altLang="en-US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特征工程</a:t>
            </a:r>
            <a:r>
              <a:rPr lang="en-US" altLang="zh-CN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]</a:t>
            </a:r>
            <a:endParaRPr lang="zh-CN" altLang="en-US" sz="21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  <a:sym typeface="可画风暴黑-简" panose="020B0500000000000000" charset="-122"/>
            </a:endParaRPr>
          </a:p>
          <a:p>
            <a:pPr marL="539750" lvl="1" indent="-263525" algn="just">
              <a:lnSpc>
                <a:spcPct val="150000"/>
              </a:lnSpc>
              <a:buFont typeface="Wingdings" pitchFamily="2" charset="2"/>
              <a:buChar char="Ø"/>
              <a:tabLst>
                <a:tab pos="1609725" algn="l"/>
              </a:tabLst>
            </a:pPr>
            <a:r>
              <a:rPr lang="zh-CN" altLang="en-US" sz="21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现代深度学习系统则更多由模型直接</a:t>
            </a:r>
            <a:r>
              <a:rPr lang="zh-CN" altLang="en-US" sz="2100" b="1" dirty="0">
                <a:solidFill>
                  <a:srgbClr val="C00000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从人脸图像中自动学习高维、抽象的特征表示</a:t>
            </a:r>
            <a:r>
              <a:rPr lang="zh-CN" altLang="en-US" sz="2100" b="1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，而不需要人工逐项规定“应该看哪些特征”。</a:t>
            </a:r>
            <a:r>
              <a:rPr lang="en-US" altLang="zh-CN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[</a:t>
            </a:r>
            <a:r>
              <a:rPr lang="zh-CN" altLang="en-US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特征学习</a:t>
            </a:r>
            <a:r>
              <a:rPr lang="en-US" altLang="zh-CN" sz="21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]</a:t>
            </a:r>
          </a:p>
        </p:txBody>
      </p:sp>
      <p:sp>
        <p:nvSpPr>
          <p:cNvPr id="7" name="Freeform 3"/>
          <p:cNvSpPr>
            <a:spLocks noChangeAspect="1"/>
          </p:cNvSpPr>
          <p:nvPr/>
        </p:nvSpPr>
        <p:spPr>
          <a:xfrm>
            <a:off x="6881803" y="1804875"/>
            <a:ext cx="4758869" cy="3724283"/>
          </a:xfrm>
          <a:custGeom>
            <a:avLst/>
            <a:gdLst/>
            <a:ahLst/>
            <a:cxnLst/>
            <a:rect l="l" t="t" r="r" b="b"/>
            <a:pathLst>
              <a:path w="6490362" h="5928205">
                <a:moveTo>
                  <a:pt x="0" y="0"/>
                </a:moveTo>
                <a:lnTo>
                  <a:pt x="6490362" y="0"/>
                </a:lnTo>
                <a:lnTo>
                  <a:pt x="6490362" y="5928205"/>
                </a:lnTo>
                <a:lnTo>
                  <a:pt x="0" y="5928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723635F-663F-5AAD-704D-FA1541A0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F9A3BA-E20C-B672-934F-79813A08B36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26DB-F2FA-8EE8-9A71-3E2396EC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79723-4FB6-3425-FA72-CCABAC74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ym typeface="可画风暴黑-简" panose="020B0500000000000000" charset="-122"/>
              </a:rPr>
              <a:t>特征工程与特征学习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69F849-256E-1285-33E9-9A5B972F38BC}"/>
              </a:ext>
            </a:extLst>
          </p:cNvPr>
          <p:cNvSpPr txBox="1"/>
          <p:nvPr/>
        </p:nvSpPr>
        <p:spPr>
          <a:xfrm>
            <a:off x="616974" y="1165490"/>
            <a:ext cx="10958051" cy="4042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特征工程（</a:t>
            </a:r>
            <a:r>
              <a:rPr lang="en-US" altLang="zh-CN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Feature Engineering</a:t>
            </a:r>
            <a:r>
              <a:rPr lang="zh-CN" altLang="en-US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en-US" altLang="zh-CN" sz="2800" spc="15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spc="15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由人根据领域知识，对原始数据进行特征的提取、选择和构造，再将这些特征输入模型进行学习。</a:t>
            </a:r>
            <a:endParaRPr lang="zh-CN" altLang="en-US" sz="2400" spc="15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特征学习（</a:t>
            </a:r>
            <a:r>
              <a:rPr lang="en-US" altLang="zh-CN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Feature Learning</a:t>
            </a:r>
            <a:r>
              <a:rPr lang="zh-CN" altLang="en-US" sz="2800" spc="150" dirty="0">
                <a:solidFill>
                  <a:srgbClr val="0000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en-US" altLang="zh-CN" sz="2800" spc="15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spc="15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由模型在训练过程中自动从数据中学习适合任务的特征表示，不再需要人工逐项规定“应该提取哪些特征”。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D133E1-7CF9-0079-BCD7-2B4903092701}"/>
              </a:ext>
            </a:extLst>
          </p:cNvPr>
          <p:cNvSpPr/>
          <p:nvPr/>
        </p:nvSpPr>
        <p:spPr>
          <a:xfrm>
            <a:off x="1323666" y="5379657"/>
            <a:ext cx="9544666" cy="1190116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0" rtlCol="0" anchor="ctr" anchorCtr="0"/>
          <a:lstStyle/>
          <a:p>
            <a:pPr lvl="0" algn="ctr">
              <a:defRPr/>
            </a:pPr>
            <a:r>
              <a:rPr kumimoji="1" lang="zh-CN" altLang="en-US" sz="2600" b="1" kern="0" dirty="0">
                <a:solidFill>
                  <a:srgbClr val="C00000"/>
                </a:solidFill>
                <a:latin typeface="Microsoft YaHei" panose="020B0503020204020204" pitchFamily="34" charset="-122"/>
                <a:ea typeface="宋体" panose="02010600030101010101" pitchFamily="2" charset="-122"/>
              </a:rPr>
              <a:t>从特征工程到特征学习，本质上是由“人工设计特征”逐步走向“模型自动学习特征表示”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508" y="2182188"/>
            <a:ext cx="10968990" cy="28676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标签（Label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）：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在监督学习中，标签是训练样本对应的真实目标或“正确答案”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模型根据样本的输入特征进行预测，得到相应的预测结果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可画风暴黑-简" panose="020B0500000000000000" charset="-122"/>
              </a:rPr>
              <a:t>。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/>
              <a:t>根据样本是否具有标签，数据可以分为有标签数据和无标签数据。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可画风暴黑-简" panose="020B0500000000000000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可画风暴黑-简" panose="020B0500000000000000" charset="-122"/>
              </a:rPr>
              <a:t>标签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0AE7258-ACB1-0D78-BF72-5B93A84C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26" y="4230092"/>
            <a:ext cx="11668546" cy="172275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ym typeface="可画风暴黑-简" panose="020B0500000000000000" charset="-122"/>
              </a:rPr>
              <a:t>思考：在人脸识别的例子中，一张人脸图像的“标签”是什么？</a:t>
            </a:r>
            <a:endParaRPr lang="zh-CN" altLang="en-US" sz="2400" dirty="0"/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60E3C5DF-40E8-C246-EDB7-9259DD25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CDE597-01C9-11B2-E99A-47ECA32C207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>
                <a:sym typeface="可画风暴黑-简" panose="020B0500000000000000" charset="-122"/>
              </a:rPr>
              <a:t>标签</a:t>
            </a:r>
          </a:p>
        </p:txBody>
      </p:sp>
      <p:sp>
        <p:nvSpPr>
          <p:cNvPr id="6" name="Freeform 3"/>
          <p:cNvSpPr/>
          <p:nvPr/>
        </p:nvSpPr>
        <p:spPr>
          <a:xfrm>
            <a:off x="6752695" y="1430285"/>
            <a:ext cx="4768220" cy="4469680"/>
          </a:xfrm>
          <a:custGeom>
            <a:avLst/>
            <a:gdLst/>
            <a:ahLst/>
            <a:cxnLst/>
            <a:rect l="l" t="t" r="r" b="b"/>
            <a:pathLst>
              <a:path w="5848893" h="5706527">
                <a:moveTo>
                  <a:pt x="0" y="0"/>
                </a:moveTo>
                <a:lnTo>
                  <a:pt x="5848893" y="0"/>
                </a:lnTo>
                <a:lnTo>
                  <a:pt x="5848893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912FDE3-102D-9BF1-0260-EA99676D7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25" y="1901499"/>
            <a:ext cx="6038447" cy="379198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zh-CN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在人脸识别中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，标签（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Label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） 就是我们要让机器学习模型去预测或判断的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“这张脸是谁？”的答案</a:t>
            </a:r>
            <a:endParaRPr lang="en-US" altLang="zh-CN" sz="23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可画风暴黑-简" panose="020B0500000000000000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在人脸识别的二分类例子中，标签表示一张人脸图像对应的真实身份类别，即“机主”（标签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1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）或“非机主”（标签</a:t>
            </a: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0</a:t>
            </a:r>
            <a:r>
              <a:rPr lang="zh-CN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可画风暴黑-简" panose="020B0500000000000000" charset="-122"/>
              </a:rPr>
              <a:t>）。</a:t>
            </a:r>
            <a:endParaRPr lang="en-US" altLang="zh-CN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可画风暴黑-简" panose="020B0500000000000000" charset="-122"/>
            </a:endParaRP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3B2F1C1C-02D6-0B7D-F948-30B328ED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F34CDE-1FA1-CACB-C4BA-D970FC96805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2716" y="2164902"/>
            <a:ext cx="10488574" cy="280383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24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模型（Model</a:t>
            </a:r>
            <a:r>
              <a:rPr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）：</a:t>
            </a:r>
            <a:r>
              <a:rPr sz="2400" dirty="0" err="1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模型</a:t>
            </a:r>
            <a:r>
              <a:rPr lang="zh-CN" alt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可以简单理解为机器通过训练“学会的一套映射规律”。它接收样本的特征作为输入，并据此给出预测结果。</a:t>
            </a:r>
            <a:endParaRPr sz="2400" dirty="0">
              <a:solidFill>
                <a:schemeClr val="tx1"/>
              </a:solidFill>
              <a:cs typeface="宋体" panose="02010600030101010101" pitchFamily="2" charset="-122"/>
              <a:sym typeface="可画风暴黑-简" panose="020B0500000000000000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可画风暴黑-简" panose="020B0500000000000000" charset="-122"/>
              </a:rPr>
              <a:t>模型</a:t>
            </a:r>
          </a:p>
        </p:txBody>
      </p:sp>
      <p:sp>
        <p:nvSpPr>
          <p:cNvPr id="2" name="云形 1">
            <a:extLst>
              <a:ext uri="{FF2B5EF4-FFF2-40B4-BE49-F238E27FC236}">
                <a16:creationId xmlns:a16="http://schemas.microsoft.com/office/drawing/2014/main" id="{C0A8E05A-E89F-6423-6EA8-3DB5D8CB6C37}"/>
              </a:ext>
            </a:extLst>
          </p:cNvPr>
          <p:cNvSpPr/>
          <p:nvPr/>
        </p:nvSpPr>
        <p:spPr>
          <a:xfrm>
            <a:off x="707923" y="4367215"/>
            <a:ext cx="11046542" cy="1473146"/>
          </a:xfrm>
          <a:prstGeom prst="cloud">
            <a:avLst/>
          </a:prstGeom>
          <a:solidFill>
            <a:schemeClr val="bg1"/>
          </a:solidFill>
          <a:ln w="25400" cap="flat" cmpd="sng" algn="ctr">
            <a:gradFill flip="none" rotWithShape="1">
              <a:gsLst>
                <a:gs pos="0">
                  <a:srgbClr val="4F81BD">
                    <a:lumMod val="40000"/>
                    <a:lumOff val="60000"/>
                  </a:srgbClr>
                </a:gs>
                <a:gs pos="46000">
                  <a:srgbClr val="4F81BD">
                    <a:lumMod val="95000"/>
                    <a:lumOff val="5000"/>
                  </a:srgbClr>
                </a:gs>
                <a:gs pos="100000">
                  <a:srgbClr val="4F81BD">
                    <a:lumMod val="60000"/>
                  </a:srgbClr>
                </a:gs>
              </a:gsLst>
              <a:path path="circle">
                <a:fillToRect l="50000" t="130000" r="50000" b="-30000"/>
              </a:path>
              <a:tileRect/>
            </a:gradFill>
            <a:prstDash val="solid"/>
          </a:ln>
          <a:effectLst/>
        </p:spPr>
        <p:txBody>
          <a:bodyPr wrap="square" lIns="0" rIns="0" rtlCol="0" anchor="ctr"/>
          <a:lstStyle/>
          <a:p>
            <a:pPr marL="12700" marR="0" lvl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如果有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张机主照片、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张非机主照片，“完美”机器学习模型输出值应是什么？  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BAE92DEF-8FA9-C829-33D7-D6E192D4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368F8E-64AB-D423-908B-A5C16955501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6330-3266-63CD-9226-6C8CB54C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86B7196-6E78-9A50-C961-F3214965A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795" y="3016155"/>
            <a:ext cx="5817235" cy="1265015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机器学习的本质</a:t>
            </a:r>
          </a:p>
        </p:txBody>
      </p:sp>
    </p:spTree>
    <p:extLst>
      <p:ext uri="{BB962C8B-B14F-4D97-AF65-F5344CB8AC3E}">
        <p14:creationId xmlns:p14="http://schemas.microsoft.com/office/powerpoint/2010/main" val="3768213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E1D54-0A68-9DF2-19B3-DF695391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54" y="160964"/>
            <a:ext cx="4537634" cy="705485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b="1" dirty="0"/>
              <a:t>机器学习的本质</a:t>
            </a:r>
          </a:p>
        </p:txBody>
      </p:sp>
      <p:sp>
        <p:nvSpPr>
          <p:cNvPr id="5" name="流程图: 过程 59">
            <a:extLst>
              <a:ext uri="{FF2B5EF4-FFF2-40B4-BE49-F238E27FC236}">
                <a16:creationId xmlns:a16="http://schemas.microsoft.com/office/drawing/2014/main" id="{72602F74-A8B5-CB80-1122-E272E4CCFD08}"/>
              </a:ext>
            </a:extLst>
          </p:cNvPr>
          <p:cNvSpPr/>
          <p:nvPr/>
        </p:nvSpPr>
        <p:spPr>
          <a:xfrm>
            <a:off x="468919" y="1165262"/>
            <a:ext cx="11129728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机器学习</a:t>
            </a:r>
            <a:r>
              <a:rPr lang="zh-CN" altLang="en-US" sz="2800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的本质是寻找（学习）一个映射函数：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AB32B999-C35B-419A-0931-775E9A05A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273011"/>
              </p:ext>
            </p:extLst>
          </p:nvPr>
        </p:nvGraphicFramePr>
        <p:xfrm>
          <a:off x="3970317" y="2547030"/>
          <a:ext cx="412693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5" name="Object 12">
                        <a:extLst>
                          <a:ext uri="{FF2B5EF4-FFF2-40B4-BE49-F238E27FC236}">
                            <a16:creationId xmlns:a16="http://schemas.microsoft.com/office/drawing/2014/main" id="{2894EB16-7BBC-DFAC-9B4C-75080BE3E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17" y="2547030"/>
                        <a:ext cx="4126932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>
            <a:extLst>
              <a:ext uri="{FF2B5EF4-FFF2-40B4-BE49-F238E27FC236}">
                <a16:creationId xmlns:a16="http://schemas.microsoft.com/office/drawing/2014/main" id="{7258B493-1331-0E6B-CDBB-2421C694D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259797"/>
              </p:ext>
            </p:extLst>
          </p:nvPr>
        </p:nvGraphicFramePr>
        <p:xfrm>
          <a:off x="3908599" y="3612063"/>
          <a:ext cx="412693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F0350A4E-18E8-050E-57EF-445EEF47B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599" y="3612063"/>
                        <a:ext cx="4126932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E2677D66-3506-ABE8-A014-8B6AAFFFCB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284364"/>
              </p:ext>
            </p:extLst>
          </p:nvPr>
        </p:nvGraphicFramePr>
        <p:xfrm>
          <a:off x="3887334" y="4765001"/>
          <a:ext cx="412693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90640" imgH="215640" progId="Equation.3">
                  <p:embed/>
                </p:oleObj>
              </mc:Choice>
              <mc:Fallback>
                <p:oleObj name="方程式" r:id="rId2" imgW="1790640" imgH="215640" progId="Equation.3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FFE4663B-ED6C-4719-32E9-92AB389827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334" y="4765001"/>
                        <a:ext cx="4126932" cy="460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字方塊 7">
            <a:extLst>
              <a:ext uri="{FF2B5EF4-FFF2-40B4-BE49-F238E27FC236}">
                <a16:creationId xmlns:a16="http://schemas.microsoft.com/office/drawing/2014/main" id="{B73A95D6-BDB0-C8B7-81B8-FEA6A8E28A36}"/>
              </a:ext>
            </a:extLst>
          </p:cNvPr>
          <p:cNvSpPr txBox="1"/>
          <p:nvPr/>
        </p:nvSpPr>
        <p:spPr>
          <a:xfrm>
            <a:off x="7909864" y="4733578"/>
            <a:ext cx="1684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zh-TW" altLang="en-US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你好</a:t>
            </a: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”</a:t>
            </a:r>
            <a:endParaRPr lang="zh-TW" altLang="en-US" sz="2800" b="1" dirty="0">
              <a:solidFill>
                <a:srgbClr val="2A4A75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文字方塊 8">
            <a:extLst>
              <a:ext uri="{FF2B5EF4-FFF2-40B4-BE49-F238E27FC236}">
                <a16:creationId xmlns:a16="http://schemas.microsoft.com/office/drawing/2014/main" id="{F3FBE90A-E841-10B6-FE71-74E8A7A914FE}"/>
              </a:ext>
            </a:extLst>
          </p:cNvPr>
          <p:cNvSpPr txBox="1"/>
          <p:nvPr/>
        </p:nvSpPr>
        <p:spPr>
          <a:xfrm>
            <a:off x="7888553" y="2515846"/>
            <a:ext cx="3129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zh-CN" altLang="en-US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熊猫</a:t>
            </a: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”</a:t>
            </a:r>
            <a:endParaRPr lang="zh-TW" altLang="en-US" sz="2800" b="1" dirty="0">
              <a:solidFill>
                <a:srgbClr val="2A4A75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2" name="文字方塊 9">
            <a:extLst>
              <a:ext uri="{FF2B5EF4-FFF2-40B4-BE49-F238E27FC236}">
                <a16:creationId xmlns:a16="http://schemas.microsoft.com/office/drawing/2014/main" id="{36004667-CAED-1282-48F2-05A0BD2EBB7D}"/>
              </a:ext>
            </a:extLst>
          </p:cNvPr>
          <p:cNvSpPr txBox="1"/>
          <p:nvPr/>
        </p:nvSpPr>
        <p:spPr>
          <a:xfrm>
            <a:off x="7888553" y="3536821"/>
            <a:ext cx="1540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en-US" altLang="zh-CN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en-US" altLang="zh-TW" sz="28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-5”</a:t>
            </a:r>
            <a:endParaRPr lang="zh-TW" altLang="en-US" sz="2800" b="1" dirty="0">
              <a:solidFill>
                <a:srgbClr val="2A4A75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3" name="文字方塊 17">
            <a:extLst>
              <a:ext uri="{FF2B5EF4-FFF2-40B4-BE49-F238E27FC236}">
                <a16:creationId xmlns:a16="http://schemas.microsoft.com/office/drawing/2014/main" id="{2D2FAD61-345C-4B27-DFA8-4D56DE6945BD}"/>
              </a:ext>
            </a:extLst>
          </p:cNvPr>
          <p:cNvSpPr txBox="1"/>
          <p:nvPr/>
        </p:nvSpPr>
        <p:spPr>
          <a:xfrm>
            <a:off x="8685501" y="3567599"/>
            <a:ext cx="2745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24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落子位置</a:t>
            </a:r>
            <a:r>
              <a:rPr lang="en-US" altLang="zh-TW" sz="2400" b="1" dirty="0">
                <a:solidFill>
                  <a:srgbClr val="2A4A75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)</a:t>
            </a:r>
            <a:endParaRPr lang="zh-TW" altLang="en-US" sz="2400" b="1" dirty="0">
              <a:solidFill>
                <a:srgbClr val="2A4A75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B087436-BC6F-AAEA-CB77-B4A937448FF5}"/>
              </a:ext>
            </a:extLst>
          </p:cNvPr>
          <p:cNvSpPr txBox="1">
            <a:spLocks/>
          </p:cNvSpPr>
          <p:nvPr/>
        </p:nvSpPr>
        <p:spPr bwMode="auto">
          <a:xfrm>
            <a:off x="1572749" y="2471576"/>
            <a:ext cx="2994014" cy="317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53591" indent="-153591" algn="l" rtl="0" eaLnBrk="1" fontAlgn="base" hangingPunct="1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lang="en-US" altLang="zh-CN" sz="3200" kern="1200" baseline="0" dirty="0" smtClean="0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08075" indent="-153591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800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62558" indent="-128588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17042" indent="-128588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1525" indent="-128588" algn="l" rtl="0" eaLnBrk="1" fontAlgn="base" hangingPunct="1">
              <a:spcBef>
                <a:spcPts val="169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35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925830" indent="-102870" algn="l" rtl="0" eaLnBrk="1" latinLnBrk="0" hangingPunct="1">
              <a:spcBef>
                <a:spcPts val="169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02870" algn="l" rtl="0" eaLnBrk="1" latinLnBrk="0" hangingPunct="1">
              <a:spcBef>
                <a:spcPts val="169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1570" indent="-102870" algn="l" rtl="0" eaLnBrk="1" latinLnBrk="0" hangingPunct="1">
              <a:spcBef>
                <a:spcPts val="169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02870" algn="l" rtl="0" eaLnBrk="1" latinLnBrk="0" hangingPunct="1">
              <a:spcBef>
                <a:spcPts val="169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67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zh-CN" altLang="en-US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图像分类</a:t>
            </a:r>
            <a:endParaRPr b="1" dirty="0">
              <a:solidFill>
                <a:prstClr val="black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zh-CN" altLang="en-US" b="1" dirty="0">
              <a:solidFill>
                <a:prstClr val="black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zh-CN" altLang="en-US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围棋</a:t>
            </a:r>
            <a:endParaRPr b="1" dirty="0">
              <a:solidFill>
                <a:prstClr val="black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b="1" dirty="0">
              <a:solidFill>
                <a:prstClr val="black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zh-CN" altLang="en-US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语音识别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zh-CN" altLang="en-US" b="1" dirty="0">
              <a:solidFill>
                <a:prstClr val="black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2C71AA50-5888-06C3-ABFC-2302932FD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33217" y="2291644"/>
            <a:ext cx="1235163" cy="91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2427677D-A450-6B6E-6C3C-8CF87259A9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9" t="16225" r="5015" b="16225"/>
          <a:stretch/>
        </p:blipFill>
        <p:spPr bwMode="auto">
          <a:xfrm>
            <a:off x="5441507" y="3373495"/>
            <a:ext cx="1018585" cy="103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84E5AF6C-DAF8-447F-5DEB-918D3AAA8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5" b="35026"/>
          <a:stretch/>
        </p:blipFill>
        <p:spPr bwMode="auto">
          <a:xfrm>
            <a:off x="4741006" y="4598400"/>
            <a:ext cx="2467331" cy="75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BCB77D20-2359-1CD1-C511-D5DF39D3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6FC3F9-4C2B-E183-4189-98520BE31C4F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655821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9F33-AEB0-17B0-21DD-097EBEA1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BDB53-A9D9-B0E8-658A-3B778C44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54" y="160964"/>
            <a:ext cx="4537634" cy="705485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b="1" dirty="0"/>
              <a:t>机器学习的本质</a:t>
            </a:r>
          </a:p>
        </p:txBody>
      </p:sp>
      <p:sp>
        <p:nvSpPr>
          <p:cNvPr id="5" name="流程图: 过程 59">
            <a:extLst>
              <a:ext uri="{FF2B5EF4-FFF2-40B4-BE49-F238E27FC236}">
                <a16:creationId xmlns:a16="http://schemas.microsoft.com/office/drawing/2014/main" id="{376133FF-59C4-7698-8A1E-C91075CCAE43}"/>
              </a:ext>
            </a:extLst>
          </p:cNvPr>
          <p:cNvSpPr/>
          <p:nvPr/>
        </p:nvSpPr>
        <p:spPr>
          <a:xfrm>
            <a:off x="508000" y="1051810"/>
            <a:ext cx="11129728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机器学习</a:t>
            </a:r>
            <a:r>
              <a:rPr lang="zh-CN" altLang="en-US" sz="2400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的本质是寻找（学习）一个映射函数：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80BDE1D-3AF0-D458-4BBA-DC4408E3F983}"/>
                  </a:ext>
                </a:extLst>
              </p:cNvPr>
              <p:cNvSpPr txBox="1"/>
              <p:nvPr/>
            </p:nvSpPr>
            <p:spPr>
              <a:xfrm>
                <a:off x="3942826" y="2224909"/>
                <a:ext cx="4794774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8800" b="1" i="1" dirty="0">
                  <a:solidFill>
                    <a:srgbClr val="C00000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80BDE1D-3AF0-D458-4BBA-DC4408E3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826" y="2224909"/>
                <a:ext cx="4794774" cy="1354217"/>
              </a:xfrm>
              <a:prstGeom prst="rect">
                <a:avLst/>
              </a:prstGeom>
              <a:blipFill>
                <a:blip r:embed="rId2"/>
                <a:stretch>
                  <a:fillRect l="-4762" r="-7937" b="-33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0E693DF-42A6-7016-6FF3-6DD963584743}"/>
              </a:ext>
            </a:extLst>
          </p:cNvPr>
          <p:cNvSpPr/>
          <p:nvPr/>
        </p:nvSpPr>
        <p:spPr>
          <a:xfrm>
            <a:off x="7261736" y="2108773"/>
            <a:ext cx="982378" cy="1586487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D28198-0379-7312-C805-F95FE02D0D1C}"/>
              </a:ext>
            </a:extLst>
          </p:cNvPr>
          <p:cNvSpPr/>
          <p:nvPr/>
        </p:nvSpPr>
        <p:spPr>
          <a:xfrm>
            <a:off x="6095999" y="2108772"/>
            <a:ext cx="896433" cy="1586487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C90C9F-22A6-40C4-C78A-E405A8D79A94}"/>
              </a:ext>
            </a:extLst>
          </p:cNvPr>
          <p:cNvSpPr/>
          <p:nvPr/>
        </p:nvSpPr>
        <p:spPr>
          <a:xfrm>
            <a:off x="3942826" y="2108772"/>
            <a:ext cx="960474" cy="158648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02CDAE-0AC3-47C7-73A9-E0969A2BFA7B}"/>
              </a:ext>
            </a:extLst>
          </p:cNvPr>
          <p:cNvSpPr/>
          <p:nvPr/>
        </p:nvSpPr>
        <p:spPr>
          <a:xfrm>
            <a:off x="8244114" y="4468320"/>
            <a:ext cx="3436558" cy="1850377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输入：数据样本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结构化的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原始数据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，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或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提取的特征</a:t>
            </a:r>
            <a:endParaRPr kumimoji="1" lang="zh-CN" altLang="en-US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0A1A24-3EAD-FACD-4913-9F933497641A}"/>
              </a:ext>
            </a:extLst>
          </p:cNvPr>
          <p:cNvSpPr/>
          <p:nvPr/>
        </p:nvSpPr>
        <p:spPr>
          <a:xfrm>
            <a:off x="4499428" y="4468320"/>
            <a:ext cx="3436559" cy="1850377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模型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模型即函数，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但如何学习？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3453DA-6E9C-D8EF-7D2D-C723F15CB954}"/>
              </a:ext>
            </a:extLst>
          </p:cNvPr>
          <p:cNvSpPr/>
          <p:nvPr/>
        </p:nvSpPr>
        <p:spPr>
          <a:xfrm>
            <a:off x="754742" y="4468320"/>
            <a:ext cx="3436559" cy="185037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输出：预测值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分类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（多分类、二分类）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回归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（输出一个连续值）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9E5BA2C6-6BFE-74DC-D03B-C60DB3F3504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7752925" y="3695260"/>
            <a:ext cx="2209468" cy="773060"/>
          </a:xfrm>
          <a:prstGeom prst="straightConnector1">
            <a:avLst/>
          </a:prstGeom>
          <a:noFill/>
          <a:ln w="76200" cap="flat" cmpd="sng" algn="ctr">
            <a:solidFill>
              <a:srgbClr val="DDE7F3"/>
            </a:solidFill>
            <a:prstDash val="solid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800666A8-D0A1-5DA5-4108-862F473FF9AE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6217708" y="3695259"/>
            <a:ext cx="326508" cy="773061"/>
          </a:xfrm>
          <a:prstGeom prst="straightConnector1">
            <a:avLst/>
          </a:prstGeom>
          <a:noFill/>
          <a:ln w="76200" cap="flat" cmpd="sng" algn="ctr">
            <a:solidFill>
              <a:srgbClr val="FFFFDA"/>
            </a:solidFill>
            <a:prstDash val="solid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8AF3F8B-0E1E-0012-F4CA-2B446CBEA14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2473022" y="3695259"/>
            <a:ext cx="1950041" cy="773061"/>
          </a:xfrm>
          <a:prstGeom prst="straightConnector1">
            <a:avLst/>
          </a:prstGeom>
          <a:noFill/>
          <a:ln w="76200" cap="flat" cmpd="sng" algn="ctr">
            <a:solidFill>
              <a:srgbClr val="D8EFDD"/>
            </a:solidFill>
            <a:prstDash val="solid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cxn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DC8E1C3D-7ADB-C486-BFF8-969A69B8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944ADC-BFF5-BBDC-DF31-9E7C73BB71C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77795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3018-3158-7F13-9110-A03AF75B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D0D2F-489D-E565-0C3F-97509BF1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54" y="160964"/>
            <a:ext cx="4537634" cy="705485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b="1" dirty="0"/>
              <a:t>机器学习的本质</a:t>
            </a:r>
          </a:p>
        </p:txBody>
      </p:sp>
      <p:sp>
        <p:nvSpPr>
          <p:cNvPr id="5" name="流程图: 过程 59">
            <a:extLst>
              <a:ext uri="{FF2B5EF4-FFF2-40B4-BE49-F238E27FC236}">
                <a16:creationId xmlns:a16="http://schemas.microsoft.com/office/drawing/2014/main" id="{3A1FC02B-53BF-EB6C-67D6-1E3615B457D8}"/>
              </a:ext>
            </a:extLst>
          </p:cNvPr>
          <p:cNvSpPr/>
          <p:nvPr/>
        </p:nvSpPr>
        <p:spPr>
          <a:xfrm>
            <a:off x="508000" y="1051810"/>
            <a:ext cx="11129728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机器学习</a:t>
            </a:r>
            <a:r>
              <a:rPr lang="zh-CN" altLang="en-US" sz="2400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的本质是寻找（学习）一个映射函数：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D6C168-B26F-F5B5-9C68-B03EA2FF91C0}"/>
                  </a:ext>
                </a:extLst>
              </p:cNvPr>
              <p:cNvSpPr txBox="1"/>
              <p:nvPr/>
            </p:nvSpPr>
            <p:spPr>
              <a:xfrm>
                <a:off x="3942826" y="2074783"/>
                <a:ext cx="4794774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8800" b="1" i="1" dirty="0">
                  <a:solidFill>
                    <a:srgbClr val="C00000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3D6C168-B26F-F5B5-9C68-B03EA2FF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826" y="2074783"/>
                <a:ext cx="4794774" cy="1354217"/>
              </a:xfrm>
              <a:prstGeom prst="rect">
                <a:avLst/>
              </a:prstGeom>
              <a:blipFill>
                <a:blip r:embed="rId2"/>
                <a:stretch>
                  <a:fillRect l="-4762" r="-793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E696294-441C-45D5-54D4-9BC637886EBF}"/>
              </a:ext>
            </a:extLst>
          </p:cNvPr>
          <p:cNvSpPr/>
          <p:nvPr/>
        </p:nvSpPr>
        <p:spPr>
          <a:xfrm>
            <a:off x="7261736" y="1958647"/>
            <a:ext cx="982378" cy="1586487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DA50EC-3E57-6BD2-EA22-521EBB84ED18}"/>
              </a:ext>
            </a:extLst>
          </p:cNvPr>
          <p:cNvSpPr/>
          <p:nvPr/>
        </p:nvSpPr>
        <p:spPr>
          <a:xfrm>
            <a:off x="6095999" y="1958646"/>
            <a:ext cx="896433" cy="1586487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CFE898-3489-296D-1008-320786C3A8F2}"/>
              </a:ext>
            </a:extLst>
          </p:cNvPr>
          <p:cNvSpPr/>
          <p:nvPr/>
        </p:nvSpPr>
        <p:spPr>
          <a:xfrm>
            <a:off x="3942826" y="1958646"/>
            <a:ext cx="960474" cy="158648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C428FD-AFAA-CC5B-3532-2FBB916B7D21}"/>
              </a:ext>
            </a:extLst>
          </p:cNvPr>
          <p:cNvSpPr/>
          <p:nvPr/>
        </p:nvSpPr>
        <p:spPr>
          <a:xfrm>
            <a:off x="506267" y="4336257"/>
            <a:ext cx="3436559" cy="185037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输出：预测值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分类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（多分类、二分类）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回归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（输出一个连续值）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6D0329B-E418-C98A-C2D0-55C623F5FD3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224547" y="3545133"/>
            <a:ext cx="2198516" cy="791124"/>
          </a:xfrm>
          <a:prstGeom prst="straightConnector1">
            <a:avLst/>
          </a:prstGeom>
          <a:noFill/>
          <a:ln w="76200" cap="flat" cmpd="sng" algn="ctr">
            <a:solidFill>
              <a:srgbClr val="D8EFDD"/>
            </a:solidFill>
            <a:prstDash val="solid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AA7C5F3-F058-9B6D-FD76-73943CFA2689}"/>
              </a:ext>
            </a:extLst>
          </p:cNvPr>
          <p:cNvSpPr/>
          <p:nvPr/>
        </p:nvSpPr>
        <p:spPr>
          <a:xfrm>
            <a:off x="4021908" y="4336257"/>
            <a:ext cx="7891591" cy="185037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108000" tIns="180000" rIns="108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例如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对于三分类（猫、狗、鸟），预测值 𝒀 是一个 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 维向量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，对应于样本 𝑿 属于三类的概率（猫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:0.7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、狗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:0.2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、鸟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:0.1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那对于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二分类问题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回归问题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呢？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6DBA72A8-5935-8E34-9047-E9CFE9B6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010742-4B55-DC77-E7CA-D9BC54E6483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97813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04DF-DB95-073D-6476-9ABA47DF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4">
            <a:extLst>
              <a:ext uri="{FF2B5EF4-FFF2-40B4-BE49-F238E27FC236}">
                <a16:creationId xmlns:a16="http://schemas.microsoft.com/office/drawing/2014/main" id="{DC90DC3C-4799-6ABD-B86B-834497C3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CE8D3B-4E33-5B43-15AB-4C40D369CF7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5D09F1D-B5D3-2256-DC1B-A9C42CBB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54" y="160964"/>
            <a:ext cx="4537634" cy="705485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b="1" dirty="0"/>
              <a:t>机器学习的本质</a:t>
            </a:r>
          </a:p>
        </p:txBody>
      </p:sp>
      <p:sp>
        <p:nvSpPr>
          <p:cNvPr id="5" name="流程图: 过程 59">
            <a:extLst>
              <a:ext uri="{FF2B5EF4-FFF2-40B4-BE49-F238E27FC236}">
                <a16:creationId xmlns:a16="http://schemas.microsoft.com/office/drawing/2014/main" id="{FAFED7C5-A463-9602-005A-49258D65D451}"/>
              </a:ext>
            </a:extLst>
          </p:cNvPr>
          <p:cNvSpPr/>
          <p:nvPr/>
        </p:nvSpPr>
        <p:spPr>
          <a:xfrm>
            <a:off x="508000" y="1051810"/>
            <a:ext cx="11129728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机器学习</a:t>
            </a:r>
            <a:r>
              <a:rPr lang="zh-CN" altLang="en-US" sz="2400" b="1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的本质是寻找（学习）一个映射函数：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2ECF1D-8A01-0715-EE64-90E4666E64EE}"/>
                  </a:ext>
                </a:extLst>
              </p:cNvPr>
              <p:cNvSpPr txBox="1"/>
              <p:nvPr/>
            </p:nvSpPr>
            <p:spPr>
              <a:xfrm>
                <a:off x="3942826" y="2074783"/>
                <a:ext cx="4794774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8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1" lang="en-US" altLang="zh-CN" sz="8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sz="8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8800" b="1" i="1" dirty="0">
                  <a:solidFill>
                    <a:srgbClr val="C00000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2ECF1D-8A01-0715-EE64-90E4666E6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826" y="2074783"/>
                <a:ext cx="4794774" cy="1354217"/>
              </a:xfrm>
              <a:prstGeom prst="rect">
                <a:avLst/>
              </a:prstGeom>
              <a:blipFill>
                <a:blip r:embed="rId2"/>
                <a:stretch>
                  <a:fillRect l="-4762" r="-793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F248CE4A-D236-9CB3-45F5-A17B93B6A3C9}"/>
              </a:ext>
            </a:extLst>
          </p:cNvPr>
          <p:cNvSpPr/>
          <p:nvPr/>
        </p:nvSpPr>
        <p:spPr>
          <a:xfrm>
            <a:off x="7261736" y="1958647"/>
            <a:ext cx="982378" cy="1586487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14C409-A766-EBB4-7F97-8D8909436331}"/>
              </a:ext>
            </a:extLst>
          </p:cNvPr>
          <p:cNvSpPr/>
          <p:nvPr/>
        </p:nvSpPr>
        <p:spPr>
          <a:xfrm>
            <a:off x="6095999" y="1958646"/>
            <a:ext cx="896433" cy="1586487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915A29-CC41-B1B9-FCB4-BA9C47E6CFD2}"/>
              </a:ext>
            </a:extLst>
          </p:cNvPr>
          <p:cNvSpPr/>
          <p:nvPr/>
        </p:nvSpPr>
        <p:spPr>
          <a:xfrm>
            <a:off x="3942826" y="1958646"/>
            <a:ext cx="960474" cy="1586487"/>
          </a:xfrm>
          <a:prstGeom prst="rect">
            <a:avLst/>
          </a:prstGeom>
          <a:solidFill>
            <a:srgbClr val="00B05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421B0A-17D3-89A9-6550-5655CA52C809}"/>
              </a:ext>
            </a:extLst>
          </p:cNvPr>
          <p:cNvSpPr/>
          <p:nvPr/>
        </p:nvSpPr>
        <p:spPr>
          <a:xfrm>
            <a:off x="506268" y="4060000"/>
            <a:ext cx="2922732" cy="2357712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输入：数据样本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不妨简化为 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 维情况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目标：寻找二维平面上的一个分割线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D254E34-B6E2-13CD-E1E5-3135FC1DDE0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1967634" y="3545134"/>
            <a:ext cx="5785291" cy="514866"/>
          </a:xfrm>
          <a:prstGeom prst="straightConnector1">
            <a:avLst/>
          </a:prstGeom>
          <a:noFill/>
          <a:ln w="76200" cap="flat" cmpd="sng" algn="ctr">
            <a:solidFill>
              <a:srgbClr val="DDE7F3"/>
            </a:solidFill>
            <a:prstDash val="solid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cxnSp>
      <p:sp>
        <p:nvSpPr>
          <p:cNvPr id="11" name="连接器 10">
            <a:extLst>
              <a:ext uri="{FF2B5EF4-FFF2-40B4-BE49-F238E27FC236}">
                <a16:creationId xmlns:a16="http://schemas.microsoft.com/office/drawing/2014/main" id="{36F72F53-275D-D64F-E79F-CFC15A1F6DBB}"/>
              </a:ext>
            </a:extLst>
          </p:cNvPr>
          <p:cNvSpPr/>
          <p:nvPr/>
        </p:nvSpPr>
        <p:spPr>
          <a:xfrm>
            <a:off x="4908971" y="4218845"/>
            <a:ext cx="144000" cy="144000"/>
          </a:xfrm>
          <a:prstGeom prst="flowChartConnector">
            <a:avLst/>
          </a:prstGeom>
          <a:noFill/>
          <a:ln w="31750" cap="flat" cmpd="sng" algn="ctr">
            <a:solidFill>
              <a:srgbClr val="4F81B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连接器 11">
            <a:extLst>
              <a:ext uri="{FF2B5EF4-FFF2-40B4-BE49-F238E27FC236}">
                <a16:creationId xmlns:a16="http://schemas.microsoft.com/office/drawing/2014/main" id="{57B6B293-2866-E4D3-C693-C4134F66D931}"/>
              </a:ext>
            </a:extLst>
          </p:cNvPr>
          <p:cNvSpPr/>
          <p:nvPr/>
        </p:nvSpPr>
        <p:spPr>
          <a:xfrm>
            <a:off x="4629254" y="4923672"/>
            <a:ext cx="144000" cy="144000"/>
          </a:xfrm>
          <a:prstGeom prst="flowChartConnector">
            <a:avLst/>
          </a:prstGeom>
          <a:noFill/>
          <a:ln w="31750" cap="flat" cmpd="sng" algn="ctr">
            <a:solidFill>
              <a:srgbClr val="4F81B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连接器 12">
            <a:extLst>
              <a:ext uri="{FF2B5EF4-FFF2-40B4-BE49-F238E27FC236}">
                <a16:creationId xmlns:a16="http://schemas.microsoft.com/office/drawing/2014/main" id="{623C8062-F8BB-E90B-25B7-D7AB41A87B52}"/>
              </a:ext>
            </a:extLst>
          </p:cNvPr>
          <p:cNvSpPr/>
          <p:nvPr/>
        </p:nvSpPr>
        <p:spPr>
          <a:xfrm>
            <a:off x="4348381" y="4346368"/>
            <a:ext cx="144000" cy="144000"/>
          </a:xfrm>
          <a:prstGeom prst="flowChartConnector">
            <a:avLst/>
          </a:prstGeom>
          <a:noFill/>
          <a:ln w="31750" cap="flat" cmpd="sng" algn="ctr">
            <a:solidFill>
              <a:srgbClr val="4F81B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连接器 13">
            <a:extLst>
              <a:ext uri="{FF2B5EF4-FFF2-40B4-BE49-F238E27FC236}">
                <a16:creationId xmlns:a16="http://schemas.microsoft.com/office/drawing/2014/main" id="{E3A29386-EF59-1042-9B2B-4BD6FFEA678F}"/>
              </a:ext>
            </a:extLst>
          </p:cNvPr>
          <p:cNvSpPr/>
          <p:nvPr/>
        </p:nvSpPr>
        <p:spPr>
          <a:xfrm>
            <a:off x="5455194" y="4301616"/>
            <a:ext cx="144000" cy="144000"/>
          </a:xfrm>
          <a:prstGeom prst="flowChartConnector">
            <a:avLst/>
          </a:prstGeom>
          <a:noFill/>
          <a:ln w="31750" cap="flat" cmpd="sng" algn="ctr">
            <a:solidFill>
              <a:srgbClr val="4F81B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连接器 14">
            <a:extLst>
              <a:ext uri="{FF2B5EF4-FFF2-40B4-BE49-F238E27FC236}">
                <a16:creationId xmlns:a16="http://schemas.microsoft.com/office/drawing/2014/main" id="{6ACAD6CA-B815-1CFC-0502-8E925E888505}"/>
              </a:ext>
            </a:extLst>
          </p:cNvPr>
          <p:cNvSpPr/>
          <p:nvPr/>
        </p:nvSpPr>
        <p:spPr>
          <a:xfrm>
            <a:off x="4773254" y="4565380"/>
            <a:ext cx="144000" cy="144000"/>
          </a:xfrm>
          <a:prstGeom prst="flowChartConnector">
            <a:avLst/>
          </a:prstGeom>
          <a:noFill/>
          <a:ln w="31750" cap="flat" cmpd="sng" algn="ctr">
            <a:solidFill>
              <a:srgbClr val="4F81B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2BC1D3-6425-6A82-291A-C10E6A866E1D}"/>
              </a:ext>
            </a:extLst>
          </p:cNvPr>
          <p:cNvSpPr txBox="1"/>
          <p:nvPr/>
        </p:nvSpPr>
        <p:spPr>
          <a:xfrm>
            <a:off x="5202684" y="5153909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41B606-065B-30A9-3C4C-2CDEA0394844}"/>
              </a:ext>
            </a:extLst>
          </p:cNvPr>
          <p:cNvSpPr txBox="1"/>
          <p:nvPr/>
        </p:nvSpPr>
        <p:spPr>
          <a:xfrm>
            <a:off x="4764350" y="5756261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493D0F-F1AE-2078-A566-565D66C6F97E}"/>
              </a:ext>
            </a:extLst>
          </p:cNvPr>
          <p:cNvSpPr txBox="1"/>
          <p:nvPr/>
        </p:nvSpPr>
        <p:spPr>
          <a:xfrm>
            <a:off x="5261055" y="5539525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DC1F8F-6A99-2E60-3A50-10BEA48FB254}"/>
              </a:ext>
            </a:extLst>
          </p:cNvPr>
          <p:cNvSpPr txBox="1"/>
          <p:nvPr/>
        </p:nvSpPr>
        <p:spPr>
          <a:xfrm>
            <a:off x="5355084" y="5306309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551EBA-5183-1AB6-8392-4886F15427D6}"/>
              </a:ext>
            </a:extLst>
          </p:cNvPr>
          <p:cNvSpPr txBox="1"/>
          <p:nvPr/>
        </p:nvSpPr>
        <p:spPr>
          <a:xfrm>
            <a:off x="5779369" y="5038801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8C336-955D-A999-C230-2200537FC130}"/>
              </a:ext>
            </a:extLst>
          </p:cNvPr>
          <p:cNvSpPr txBox="1"/>
          <p:nvPr/>
        </p:nvSpPr>
        <p:spPr>
          <a:xfrm>
            <a:off x="5786588" y="5930246"/>
            <a:ext cx="38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</a:rPr>
              <a:t>×</a:t>
            </a:r>
            <a:endParaRPr lang="zh-CN" altLang="en-US" sz="2000" b="1" dirty="0">
              <a:solidFill>
                <a:srgbClr val="C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3519EFA-0BD8-A3D0-5BA0-836A13A641E4}"/>
              </a:ext>
            </a:extLst>
          </p:cNvPr>
          <p:cNvCxnSpPr>
            <a:cxnSpLocks/>
          </p:cNvCxnSpPr>
          <p:nvPr/>
        </p:nvCxnSpPr>
        <p:spPr>
          <a:xfrm flipV="1">
            <a:off x="3942826" y="4176134"/>
            <a:ext cx="2601389" cy="1780182"/>
          </a:xfrm>
          <a:prstGeom prst="line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142D689-19DA-59C7-A9A7-4056202043EF}"/>
                  </a:ext>
                </a:extLst>
              </p:cNvPr>
              <p:cNvSpPr txBox="1"/>
              <p:nvPr/>
            </p:nvSpPr>
            <p:spPr>
              <a:xfrm>
                <a:off x="5851793" y="4490368"/>
                <a:ext cx="976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1" lang="en-US" altLang="zh-CN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142D689-19DA-59C7-A9A7-405620204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793" y="4490368"/>
                <a:ext cx="97684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右 48">
            <a:extLst>
              <a:ext uri="{FF2B5EF4-FFF2-40B4-BE49-F238E27FC236}">
                <a16:creationId xmlns:a16="http://schemas.microsoft.com/office/drawing/2014/main" id="{CCD9EC71-DFDB-16DC-8DD1-7FE0AF7DE54B}"/>
              </a:ext>
            </a:extLst>
          </p:cNvPr>
          <p:cNvSpPr/>
          <p:nvPr/>
        </p:nvSpPr>
        <p:spPr>
          <a:xfrm rot="10800000" flipH="1">
            <a:off x="3550699" y="4771789"/>
            <a:ext cx="215250" cy="1069039"/>
          </a:xfrm>
          <a:prstGeom prst="rightArrow">
            <a:avLst>
              <a:gd name="adj1" fmla="val 62366"/>
              <a:gd name="adj2" fmla="val 49489"/>
            </a:avLst>
          </a:prstGeom>
          <a:gradFill flip="none" rotWithShape="1">
            <a:gsLst>
              <a:gs pos="50000">
                <a:srgbClr val="ED8D72"/>
              </a:gs>
              <a:gs pos="0">
                <a:srgbClr val="F3B3A1">
                  <a:alpha val="0"/>
                  <a:lumMod val="0"/>
                  <a:lumOff val="100000"/>
                </a:srgbClr>
              </a:gs>
              <a:gs pos="100000">
                <a:srgbClr val="E66643"/>
              </a:gs>
            </a:gsLst>
            <a:lin ang="0" scaled="1"/>
          </a:gradFill>
          <a:ln w="25400" cap="flat" cmpd="sng" algn="ctr">
            <a:gradFill flip="none" rotWithShape="1">
              <a:gsLst>
                <a:gs pos="2000">
                  <a:srgbClr val="4F81BD">
                    <a:lumMod val="5000"/>
                    <a:lumOff val="95000"/>
                  </a:srgbClr>
                </a:gs>
                <a:gs pos="44000">
                  <a:srgbClr val="C00000"/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箭头: 右 48">
            <a:extLst>
              <a:ext uri="{FF2B5EF4-FFF2-40B4-BE49-F238E27FC236}">
                <a16:creationId xmlns:a16="http://schemas.microsoft.com/office/drawing/2014/main" id="{0A6B3DC5-CB0B-E751-CF02-7A07F587A004}"/>
              </a:ext>
            </a:extLst>
          </p:cNvPr>
          <p:cNvSpPr/>
          <p:nvPr/>
        </p:nvSpPr>
        <p:spPr>
          <a:xfrm rot="10800000" flipH="1">
            <a:off x="6838759" y="4771789"/>
            <a:ext cx="215250" cy="1069039"/>
          </a:xfrm>
          <a:prstGeom prst="rightArrow">
            <a:avLst>
              <a:gd name="adj1" fmla="val 62366"/>
              <a:gd name="adj2" fmla="val 49489"/>
            </a:avLst>
          </a:prstGeom>
          <a:gradFill flip="none" rotWithShape="1">
            <a:gsLst>
              <a:gs pos="50000">
                <a:srgbClr val="ED8D72"/>
              </a:gs>
              <a:gs pos="0">
                <a:srgbClr val="F3B3A1">
                  <a:alpha val="0"/>
                  <a:lumMod val="0"/>
                  <a:lumOff val="100000"/>
                </a:srgbClr>
              </a:gs>
              <a:gs pos="100000">
                <a:srgbClr val="E66643"/>
              </a:gs>
            </a:gsLst>
            <a:lin ang="0" scaled="1"/>
          </a:gradFill>
          <a:ln w="25400" cap="flat" cmpd="sng" algn="ctr">
            <a:gradFill flip="none" rotWithShape="1">
              <a:gsLst>
                <a:gs pos="2000">
                  <a:srgbClr val="4F81BD">
                    <a:lumMod val="5000"/>
                    <a:lumOff val="95000"/>
                  </a:srgbClr>
                </a:gs>
                <a:gs pos="44000">
                  <a:srgbClr val="C00000"/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AutoShape 15">
                <a:extLst>
                  <a:ext uri="{FF2B5EF4-FFF2-40B4-BE49-F238E27FC236}">
                    <a16:creationId xmlns:a16="http://schemas.microsoft.com/office/drawing/2014/main" id="{CC1EC318-4344-88CD-BD7E-FA17B303D2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0643" y="3988896"/>
                <a:ext cx="4794774" cy="782893"/>
              </a:xfrm>
              <a:prstGeom prst="wedgeRoundRectCallout">
                <a:avLst>
                  <a:gd name="adj1" fmla="val -20991"/>
                  <a:gd name="adj2" fmla="val 42769"/>
                  <a:gd name="adj3" fmla="val 16667"/>
                </a:avLst>
              </a:prstGeom>
              <a:solidFill>
                <a:sysClr val="window" lastClr="FFFFFF"/>
              </a:solidFill>
              <a:ln w="12700">
                <a:solidFill>
                  <a:srgbClr val="CC0000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170" tIns="46990" rIns="90170" bIns="46990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b="1" dirty="0">
                    <a:solidFill>
                      <a:srgbClr val="C0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该分割线 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𝒂𝒙</m:t>
                    </m:r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 kern="0" dirty="0">
                    <a:solidFill>
                      <a:srgbClr val="C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icrosoft YaHei" charset="-122"/>
                  </a:rPr>
                  <a:t> 即为一个分类模型（分类器），其模型参数量为</a:t>
                </a:r>
                <a:r>
                  <a:rPr lang="en-US" altLang="zh-CN" b="1" kern="0" dirty="0">
                    <a:solidFill>
                      <a:srgbClr val="C00000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Microsoft YaHei" charset="-122"/>
                  </a:rPr>
                  <a:t>2</a:t>
                </a:r>
                <a:endParaRPr lang="zh-CN" altLang="en-US" b="1" kern="0" dirty="0">
                  <a:solidFill>
                    <a:srgbClr val="C00000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26" name="AutoShape 15">
                <a:extLst>
                  <a:ext uri="{FF2B5EF4-FFF2-40B4-BE49-F238E27FC236}">
                    <a16:creationId xmlns:a16="http://schemas.microsoft.com/office/drawing/2014/main" id="{CC1EC318-4344-88CD-BD7E-FA17B303D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0643" y="3988896"/>
                <a:ext cx="4794774" cy="782893"/>
              </a:xfrm>
              <a:prstGeom prst="wedgeRoundRectCallout">
                <a:avLst>
                  <a:gd name="adj1" fmla="val -20991"/>
                  <a:gd name="adj2" fmla="val 42769"/>
                  <a:gd name="adj3" fmla="val 16667"/>
                </a:avLst>
              </a:prstGeom>
              <a:blipFill>
                <a:blip r:embed="rId4"/>
                <a:stretch>
                  <a:fillRect b="-1563"/>
                </a:stretch>
              </a:blipFill>
              <a:ln w="12700">
                <a:solidFill>
                  <a:srgbClr val="CC0000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utoShape 15">
            <a:extLst>
              <a:ext uri="{FF2B5EF4-FFF2-40B4-BE49-F238E27FC236}">
                <a16:creationId xmlns:a16="http://schemas.microsoft.com/office/drawing/2014/main" id="{FA4B3AD7-A82F-EDDA-5788-CC3AE53A1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736" y="4914861"/>
            <a:ext cx="2060064" cy="1663739"/>
          </a:xfrm>
          <a:prstGeom prst="wedgeRoundRectCallout">
            <a:avLst>
              <a:gd name="adj1" fmla="val -20991"/>
              <a:gd name="adj2" fmla="val 42769"/>
              <a:gd name="adj3" fmla="val 16667"/>
            </a:avLst>
          </a:prstGeom>
          <a:noFill/>
          <a:ln w="12700">
            <a:solidFill>
              <a:srgbClr val="CC0000"/>
            </a:solidFill>
            <a:bevel/>
            <a:headEnd/>
            <a:tailEnd/>
          </a:ln>
          <a:effectLst/>
        </p:spPr>
        <p:txBody>
          <a:bodyPr wrap="square" lIns="90170" tIns="46990" rIns="90170" bIns="46990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若无法线性划分呢？则需更复杂函数（分割曲线</a:t>
            </a:r>
            <a:r>
              <a:rPr kumimoji="1" lang="en-US" altLang="zh-CN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曲面），带来更大参数量</a:t>
            </a:r>
            <a:endParaRPr lang="zh-CN" altLang="en-US" b="1" kern="0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  <a:cs typeface="Microsoft YaHei" charset="-122"/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480D3FB7-F38D-9A57-E6CC-E286776B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8638" y="4914861"/>
            <a:ext cx="2646779" cy="1663739"/>
          </a:xfrm>
          <a:prstGeom prst="wedgeRoundRectCallout">
            <a:avLst>
              <a:gd name="adj1" fmla="val -20991"/>
              <a:gd name="adj2" fmla="val 42769"/>
              <a:gd name="adj3" fmla="val 16667"/>
            </a:avLst>
          </a:prstGeom>
          <a:noFill/>
          <a:ln w="12700">
            <a:solidFill>
              <a:srgbClr val="CC0000"/>
            </a:solidFill>
            <a:bevel/>
            <a:headEnd/>
            <a:tailEnd/>
          </a:ln>
          <a:effectLst/>
        </p:spPr>
        <p:txBody>
          <a:bodyPr wrap="square" lIns="72000" tIns="46990" rIns="72000" bIns="46990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问题一</a:t>
            </a:r>
            <a:r>
              <a:rPr kumimoji="1" lang="zh-CN" altLang="en-US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：参数量是什么意思？（例如大模型）</a:t>
            </a:r>
            <a:endParaRPr kumimoji="1" lang="en-US" altLang="zh-CN" b="1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b="1" kern="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  <a:cs typeface="Microsoft YaHei" charset="-122"/>
              </a:rPr>
              <a:t>问题二</a:t>
            </a:r>
            <a:r>
              <a:rPr kumimoji="1" lang="zh-CN" altLang="en-US" b="1" kern="0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icrosoft YaHei" charset="-122"/>
              </a:rPr>
              <a:t>：怎样学出这些参数？（即</a:t>
            </a:r>
            <a:r>
              <a:rPr kumimoji="1" lang="zh-CN" altLang="en-US" b="1" kern="0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  <a:cs typeface="Microsoft YaHei" charset="-122"/>
              </a:rPr>
              <a:t>模型训练</a:t>
            </a:r>
            <a:r>
              <a:rPr kumimoji="1" lang="zh-CN" altLang="en-US" b="1" kern="0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Microsoft YaHei" charset="-122"/>
              </a:rPr>
              <a:t>）</a:t>
            </a:r>
            <a:endParaRPr lang="zh-CN" altLang="en-US" b="1" kern="0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473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ym typeface="可画风暴黑-简" panose="020B0500000000000000" charset="-122"/>
              </a:rPr>
              <a:t>机器学习的本质</a:t>
            </a:r>
            <a:endParaRPr lang="zh-CN" altLang="en-US" dirty="0">
              <a:sym typeface="可画风暴黑-简" panose="020B05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482" y="2158365"/>
            <a:ext cx="5830824" cy="331724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在人脸识别的例子中，模型即</a:t>
            </a:r>
            <a:r>
              <a:rPr lang="en-US" sz="2400" dirty="0" err="1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手机内置的人脸识别算法，其</a:t>
            </a:r>
            <a:r>
              <a:rPr lang="en-US" sz="2400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本质是函数映射f</a:t>
            </a:r>
            <a:r>
              <a:rPr lang="en-US" sz="2400" dirty="0" err="1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，接收特征向量X</a:t>
            </a:r>
            <a:r>
              <a:rPr lang="zh-CN" alt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（人脸信息）</a:t>
            </a:r>
            <a:r>
              <a:rPr 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，</a:t>
            </a:r>
            <a:r>
              <a:rPr lang="en-US" sz="2400" dirty="0" err="1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输出判断结果Y（是机主</a:t>
            </a:r>
            <a:r>
              <a:rPr 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/</a:t>
            </a:r>
            <a:r>
              <a:rPr lang="en-US" sz="2400" dirty="0" err="1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非机主</a:t>
            </a:r>
            <a:r>
              <a:rPr lang="en-US" sz="2400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）。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93" y="1382077"/>
            <a:ext cx="5305425" cy="4093845"/>
          </a:xfrm>
          <a:prstGeom prst="rect">
            <a:avLst/>
          </a:prstGeom>
        </p:spPr>
      </p:pic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E0AB929-F8BC-2CC5-1ECA-55C6EB89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33E83C-8926-FD93-6F12-DF236378CC9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942826" y="1390106"/>
                <a:ext cx="591738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US" altLang="zh-CN" sz="8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88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826" y="1390106"/>
                <a:ext cx="5917389" cy="1354217"/>
              </a:xfrm>
              <a:prstGeom prst="rect">
                <a:avLst/>
              </a:prstGeom>
              <a:blipFill rotWithShape="1">
                <a:blip r:embed="rId2"/>
                <a:stretch>
                  <a:fillRect l="-2" t="-7" r="-271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338861" y="1273969"/>
            <a:ext cx="982378" cy="158648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95999" y="1273969"/>
            <a:ext cx="896433" cy="158648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942826" y="1273969"/>
            <a:ext cx="960474" cy="158648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19314" y="3820130"/>
            <a:ext cx="3436559" cy="185037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模型</a:t>
            </a:r>
            <a:endParaRPr kumimoji="1"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2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以神经网络为例，怎样进行模型训练？</a:t>
            </a:r>
          </a:p>
        </p:txBody>
      </p:sp>
      <p:cxnSp>
        <p:nvCxnSpPr>
          <p:cNvPr id="11" name="直线箭头连接符 17"/>
          <p:cNvCxnSpPr>
            <a:stCxn id="8" idx="2"/>
            <a:endCxn id="10" idx="0"/>
          </p:cNvCxnSpPr>
          <p:nvPr/>
        </p:nvCxnSpPr>
        <p:spPr>
          <a:xfrm flipH="1">
            <a:off x="2037594" y="2860456"/>
            <a:ext cx="4506622" cy="959674"/>
          </a:xfrm>
          <a:prstGeom prst="straightConnector1">
            <a:avLst/>
          </a:prstGeom>
          <a:ln w="76200">
            <a:solidFill>
              <a:srgbClr val="FFFFDA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245116" y="1273969"/>
            <a:ext cx="900917" cy="1586487"/>
          </a:xfrm>
          <a:prstGeom prst="rect">
            <a:avLst/>
          </a:prstGeom>
          <a:solidFill>
            <a:srgbClr val="0000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227" y="3161430"/>
            <a:ext cx="2693311" cy="204018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477" y="2924356"/>
            <a:ext cx="3099940" cy="2387992"/>
          </a:xfrm>
          <a:prstGeom prst="rect">
            <a:avLst/>
          </a:prstGeom>
        </p:spPr>
      </p:pic>
      <p:sp>
        <p:nvSpPr>
          <p:cNvPr id="15" name="流程图: 过程 59"/>
          <p:cNvSpPr/>
          <p:nvPr/>
        </p:nvSpPr>
        <p:spPr>
          <a:xfrm>
            <a:off x="5339529" y="5472264"/>
            <a:ext cx="2102009" cy="459593"/>
          </a:xfrm>
          <a:prstGeom prst="flowChartProcess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80000" rIns="180000" bIns="108000" rtlCol="0" anchor="ctr"/>
          <a:lstStyle/>
          <a:p>
            <a:pPr lvl="0"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三层神经网络</a:t>
            </a:r>
            <a:endParaRPr lang="en-US" altLang="zh-CN" sz="2000" b="1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  <a:sym typeface="宋体" panose="02010600030101010101" pitchFamily="2" charset="-122"/>
            </a:endParaRPr>
          </a:p>
          <a:p>
            <a:pPr lvl="0"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（传统网络）</a:t>
            </a:r>
          </a:p>
        </p:txBody>
      </p:sp>
      <p:sp>
        <p:nvSpPr>
          <p:cNvPr id="16" name="流程图: 过程 59"/>
          <p:cNvSpPr/>
          <p:nvPr/>
        </p:nvSpPr>
        <p:spPr>
          <a:xfrm>
            <a:off x="7875037" y="5472263"/>
            <a:ext cx="3620277" cy="459593"/>
          </a:xfrm>
          <a:prstGeom prst="flowChartProcess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80000" rIns="180000" bIns="108000" rtlCol="0" anchor="ctr"/>
          <a:lstStyle/>
          <a:p>
            <a:pPr lvl="0"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深度神经网络</a:t>
            </a:r>
            <a:endParaRPr lang="en-US" altLang="zh-CN" sz="2000" b="1" dirty="0">
              <a:solidFill>
                <a:srgbClr val="C00000"/>
              </a:solidFill>
              <a:latin typeface="SimSun" panose="02010600030101010101" pitchFamily="2" charset="-122"/>
              <a:ea typeface="SimSun" panose="02010600030101010101" pitchFamily="2" charset="-122"/>
              <a:sym typeface="宋体" panose="02010600030101010101" pitchFamily="2" charset="-122"/>
            </a:endParaRPr>
          </a:p>
          <a:p>
            <a:pPr lvl="0"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（层数大于</a:t>
            </a:r>
            <a:r>
              <a:rPr lang="en-US" altLang="zh-CN" sz="2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  <a:sym typeface="宋体" panose="02010600030101010101" pitchFamily="2" charset="-122"/>
              </a:rPr>
              <a:t>即为深度）</a:t>
            </a:r>
          </a:p>
        </p:txBody>
      </p:sp>
      <p:sp>
        <p:nvSpPr>
          <p:cNvPr id="3" name="AutoShape 15">
            <a:extLst>
              <a:ext uri="{FF2B5EF4-FFF2-40B4-BE49-F238E27FC236}">
                <a16:creationId xmlns:a16="http://schemas.microsoft.com/office/drawing/2014/main" id="{650E169D-F5AD-ED7D-2339-37DDF640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93" y="318617"/>
            <a:ext cx="2933272" cy="526404"/>
          </a:xfrm>
          <a:prstGeom prst="wedgeRoundRectCallout">
            <a:avLst>
              <a:gd name="adj1" fmla="val -39184"/>
              <a:gd name="adj2" fmla="val 122420"/>
              <a:gd name="adj3" fmla="val 16667"/>
            </a:avLst>
          </a:prstGeom>
          <a:solidFill>
            <a:sysClr val="window" lastClr="FFFFFF"/>
          </a:solidFill>
          <a:ln w="12700">
            <a:solidFill>
              <a:srgbClr val="CC0000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170" tIns="46990" rIns="90170" bIns="46990" anchor="ctr"/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模型参数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imSun" panose="02010600030101010101" pitchFamily="2" charset="-122"/>
              <a:ea typeface="SimSun" panose="02010600030101010101" pitchFamily="2" charset="-122"/>
              <a:cs typeface="Microsoft YaHei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A154688-352C-7F14-945E-C6A8687D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4695290" cy="706438"/>
          </a:xfrm>
        </p:spPr>
        <p:txBody>
          <a:bodyPr>
            <a:noAutofit/>
          </a:bodyPr>
          <a:lstStyle/>
          <a:p>
            <a:pPr algn="ctr"/>
            <a:r>
              <a:rPr lang="zh-CN" altLang="en-US" sz="2600" b="1" dirty="0">
                <a:sym typeface="可画风暴黑-简" panose="020B0500000000000000" charset="-122"/>
              </a:rPr>
              <a:t>模型训练：以神经网络为例</a:t>
            </a:r>
            <a:endParaRPr lang="zh-CN" altLang="en-US" sz="2600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42EF256-7F40-E94A-29AE-3CFAE8AE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01E575-D1D9-6F1F-3725-9F4FEA4390C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59EB-6E26-8A15-5A70-69A96610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2036A9-4868-5961-58A5-43528FF409D6}"/>
              </a:ext>
            </a:extLst>
          </p:cNvPr>
          <p:cNvSpPr txBox="1"/>
          <p:nvPr/>
        </p:nvSpPr>
        <p:spPr>
          <a:xfrm>
            <a:off x="6346413" y="642732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954D1C3-86CB-F566-6959-810EA935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4695290" cy="706438"/>
          </a:xfrm>
        </p:spPr>
        <p:txBody>
          <a:bodyPr>
            <a:noAutofit/>
          </a:bodyPr>
          <a:lstStyle/>
          <a:p>
            <a:pPr algn="ctr"/>
            <a:r>
              <a:rPr lang="zh-CN" altLang="en-US" sz="2600" b="1" dirty="0">
                <a:sym typeface="可画风暴黑-简" panose="020B0500000000000000" charset="-122"/>
              </a:rPr>
              <a:t>模型训练：以神经网络为例</a:t>
            </a:r>
            <a:endParaRPr lang="zh-CN" altLang="en-US" sz="2600" dirty="0"/>
          </a:p>
        </p:txBody>
      </p:sp>
      <p:sp>
        <p:nvSpPr>
          <p:cNvPr id="4" name="流程图: 过程 59">
            <a:extLst>
              <a:ext uri="{FF2B5EF4-FFF2-40B4-BE49-F238E27FC236}">
                <a16:creationId xmlns:a16="http://schemas.microsoft.com/office/drawing/2014/main" id="{A6034CBD-6539-554A-F216-EE7C79C5452D}"/>
              </a:ext>
            </a:extLst>
          </p:cNvPr>
          <p:cNvSpPr/>
          <p:nvPr/>
        </p:nvSpPr>
        <p:spPr>
          <a:xfrm>
            <a:off x="228081" y="993332"/>
            <a:ext cx="4317948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宋体" panose="02010600030101010101" pitchFamily="2" charset="-122"/>
              </a:rPr>
              <a:t>机器学习模型如何训练？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2721F2-201E-2703-4ECC-5E8B2F50DB50}"/>
              </a:ext>
            </a:extLst>
          </p:cNvPr>
          <p:cNvSpPr/>
          <p:nvPr/>
        </p:nvSpPr>
        <p:spPr>
          <a:xfrm>
            <a:off x="381860" y="2536629"/>
            <a:ext cx="2225397" cy="2122961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0" bIns="43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模型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以神经网络为例，怎样进行模型训练？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B4A5B12-D7BE-6649-3093-154ADB18E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990" y="1076458"/>
            <a:ext cx="4523325" cy="34844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3CFA673-4724-D1F1-3243-B5A294D47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975" y="1989285"/>
            <a:ext cx="455852" cy="2040481"/>
          </a:xfrm>
          <a:prstGeom prst="rect">
            <a:avLst/>
          </a:prstGeom>
        </p:spPr>
      </p:pic>
      <p:sp>
        <p:nvSpPr>
          <p:cNvPr id="20" name="流程图: 过程 59">
            <a:extLst>
              <a:ext uri="{FF2B5EF4-FFF2-40B4-BE49-F238E27FC236}">
                <a16:creationId xmlns:a16="http://schemas.microsoft.com/office/drawing/2014/main" id="{0522783E-C8C5-7E96-A138-47E200704C70}"/>
              </a:ext>
            </a:extLst>
          </p:cNvPr>
          <p:cNvSpPr/>
          <p:nvPr/>
        </p:nvSpPr>
        <p:spPr>
          <a:xfrm>
            <a:off x="6584048" y="3848588"/>
            <a:ext cx="1031446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just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sym typeface="宋体" panose="02010600030101010101" pitchFamily="2" charset="-122"/>
              </a:rPr>
              <a:t>预测值</a:t>
            </a:r>
          </a:p>
        </p:txBody>
      </p:sp>
      <p:sp>
        <p:nvSpPr>
          <p:cNvPr id="21" name="流程图: 过程 59">
            <a:extLst>
              <a:ext uri="{FF2B5EF4-FFF2-40B4-BE49-F238E27FC236}">
                <a16:creationId xmlns:a16="http://schemas.microsoft.com/office/drawing/2014/main" id="{A2616AC0-88C5-8DCD-BAA5-253482D48B8E}"/>
              </a:ext>
            </a:extLst>
          </p:cNvPr>
          <p:cNvSpPr/>
          <p:nvPr/>
        </p:nvSpPr>
        <p:spPr>
          <a:xfrm>
            <a:off x="7487847" y="3962996"/>
            <a:ext cx="1620536" cy="811002"/>
          </a:xfrm>
          <a:prstGeom prst="flowChartProcess">
            <a:avLst/>
          </a:prstGeom>
          <a:noFill/>
          <a:ln w="12700" cap="flat" cmpd="sng" algn="ctr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70781"/>
                      <a:gd name="connsiteY0" fmla="*/ 0 h 998554"/>
                      <a:gd name="connsiteX1" fmla="*/ 560044 w 11470781"/>
                      <a:gd name="connsiteY1" fmla="*/ 0 h 998554"/>
                      <a:gd name="connsiteX2" fmla="*/ 890672 w 11470781"/>
                      <a:gd name="connsiteY2" fmla="*/ 0 h 998554"/>
                      <a:gd name="connsiteX3" fmla="*/ 1794840 w 11470781"/>
                      <a:gd name="connsiteY3" fmla="*/ 0 h 998554"/>
                      <a:gd name="connsiteX4" fmla="*/ 2354884 w 11470781"/>
                      <a:gd name="connsiteY4" fmla="*/ 0 h 998554"/>
                      <a:gd name="connsiteX5" fmla="*/ 2914928 w 11470781"/>
                      <a:gd name="connsiteY5" fmla="*/ 0 h 998554"/>
                      <a:gd name="connsiteX6" fmla="*/ 3819095 w 11470781"/>
                      <a:gd name="connsiteY6" fmla="*/ 0 h 998554"/>
                      <a:gd name="connsiteX7" fmla="*/ 4264432 w 11470781"/>
                      <a:gd name="connsiteY7" fmla="*/ 0 h 998554"/>
                      <a:gd name="connsiteX8" fmla="*/ 5168599 w 11470781"/>
                      <a:gd name="connsiteY8" fmla="*/ 0 h 998554"/>
                      <a:gd name="connsiteX9" fmla="*/ 6072766 w 11470781"/>
                      <a:gd name="connsiteY9" fmla="*/ 0 h 998554"/>
                      <a:gd name="connsiteX10" fmla="*/ 6747518 w 11470781"/>
                      <a:gd name="connsiteY10" fmla="*/ 0 h 998554"/>
                      <a:gd name="connsiteX11" fmla="*/ 7651686 w 11470781"/>
                      <a:gd name="connsiteY11" fmla="*/ 0 h 998554"/>
                      <a:gd name="connsiteX12" fmla="*/ 8211730 w 11470781"/>
                      <a:gd name="connsiteY12" fmla="*/ 0 h 998554"/>
                      <a:gd name="connsiteX13" fmla="*/ 8771774 w 11470781"/>
                      <a:gd name="connsiteY13" fmla="*/ 0 h 998554"/>
                      <a:gd name="connsiteX14" fmla="*/ 9561233 w 11470781"/>
                      <a:gd name="connsiteY14" fmla="*/ 0 h 998554"/>
                      <a:gd name="connsiteX15" fmla="*/ 10121277 w 11470781"/>
                      <a:gd name="connsiteY15" fmla="*/ 0 h 998554"/>
                      <a:gd name="connsiteX16" fmla="*/ 11470781 w 11470781"/>
                      <a:gd name="connsiteY16" fmla="*/ 0 h 998554"/>
                      <a:gd name="connsiteX17" fmla="*/ 11470781 w 11470781"/>
                      <a:gd name="connsiteY17" fmla="*/ 519248 h 998554"/>
                      <a:gd name="connsiteX18" fmla="*/ 11470781 w 11470781"/>
                      <a:gd name="connsiteY18" fmla="*/ 998554 h 998554"/>
                      <a:gd name="connsiteX19" fmla="*/ 10681321 w 11470781"/>
                      <a:gd name="connsiteY19" fmla="*/ 998554 h 998554"/>
                      <a:gd name="connsiteX20" fmla="*/ 10235985 w 11470781"/>
                      <a:gd name="connsiteY20" fmla="*/ 998554 h 998554"/>
                      <a:gd name="connsiteX21" fmla="*/ 9331818 w 11470781"/>
                      <a:gd name="connsiteY21" fmla="*/ 998554 h 998554"/>
                      <a:gd name="connsiteX22" fmla="*/ 8657066 w 11470781"/>
                      <a:gd name="connsiteY22" fmla="*/ 998554 h 998554"/>
                      <a:gd name="connsiteX23" fmla="*/ 8211730 w 11470781"/>
                      <a:gd name="connsiteY23" fmla="*/ 998554 h 998554"/>
                      <a:gd name="connsiteX24" fmla="*/ 7536978 w 11470781"/>
                      <a:gd name="connsiteY24" fmla="*/ 998554 h 998554"/>
                      <a:gd name="connsiteX25" fmla="*/ 7206349 w 11470781"/>
                      <a:gd name="connsiteY25" fmla="*/ 998554 h 998554"/>
                      <a:gd name="connsiteX26" fmla="*/ 6875721 w 11470781"/>
                      <a:gd name="connsiteY26" fmla="*/ 998554 h 998554"/>
                      <a:gd name="connsiteX27" fmla="*/ 6200969 w 11470781"/>
                      <a:gd name="connsiteY27" fmla="*/ 998554 h 998554"/>
                      <a:gd name="connsiteX28" fmla="*/ 5755633 w 11470781"/>
                      <a:gd name="connsiteY28" fmla="*/ 998554 h 998554"/>
                      <a:gd name="connsiteX29" fmla="*/ 4966173 w 11470781"/>
                      <a:gd name="connsiteY29" fmla="*/ 998554 h 998554"/>
                      <a:gd name="connsiteX30" fmla="*/ 4520837 w 11470781"/>
                      <a:gd name="connsiteY30" fmla="*/ 998554 h 998554"/>
                      <a:gd name="connsiteX31" fmla="*/ 3731378 w 11470781"/>
                      <a:gd name="connsiteY31" fmla="*/ 998554 h 998554"/>
                      <a:gd name="connsiteX32" fmla="*/ 3400749 w 11470781"/>
                      <a:gd name="connsiteY32" fmla="*/ 998554 h 998554"/>
                      <a:gd name="connsiteX33" fmla="*/ 2611290 w 11470781"/>
                      <a:gd name="connsiteY33" fmla="*/ 998554 h 998554"/>
                      <a:gd name="connsiteX34" fmla="*/ 2165953 w 11470781"/>
                      <a:gd name="connsiteY34" fmla="*/ 998554 h 998554"/>
                      <a:gd name="connsiteX35" fmla="*/ 1835325 w 11470781"/>
                      <a:gd name="connsiteY35" fmla="*/ 998554 h 998554"/>
                      <a:gd name="connsiteX36" fmla="*/ 1389989 w 11470781"/>
                      <a:gd name="connsiteY36" fmla="*/ 998554 h 998554"/>
                      <a:gd name="connsiteX37" fmla="*/ 600529 w 11470781"/>
                      <a:gd name="connsiteY37" fmla="*/ 998554 h 998554"/>
                      <a:gd name="connsiteX38" fmla="*/ 0 w 11470781"/>
                      <a:gd name="connsiteY38" fmla="*/ 998554 h 998554"/>
                      <a:gd name="connsiteX39" fmla="*/ 0 w 11470781"/>
                      <a:gd name="connsiteY39" fmla="*/ 529234 h 998554"/>
                      <a:gd name="connsiteX40" fmla="*/ 0 w 11470781"/>
                      <a:gd name="connsiteY40" fmla="*/ 0 h 9985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</a:cxnLst>
                    <a:rect l="l" t="t" r="r" b="b"/>
                    <a:pathLst>
                      <a:path w="11470781" h="998554" extrusionOk="0">
                        <a:moveTo>
                          <a:pt x="0" y="0"/>
                        </a:moveTo>
                        <a:cubicBezTo>
                          <a:pt x="187205" y="-11002"/>
                          <a:pt x="313260" y="27986"/>
                          <a:pt x="560044" y="0"/>
                        </a:cubicBezTo>
                        <a:cubicBezTo>
                          <a:pt x="806828" y="-27986"/>
                          <a:pt x="746963" y="-6288"/>
                          <a:pt x="890672" y="0"/>
                        </a:cubicBezTo>
                        <a:cubicBezTo>
                          <a:pt x="1034381" y="6288"/>
                          <a:pt x="1386506" y="35623"/>
                          <a:pt x="1794840" y="0"/>
                        </a:cubicBezTo>
                        <a:cubicBezTo>
                          <a:pt x="2203174" y="-35623"/>
                          <a:pt x="2076524" y="20975"/>
                          <a:pt x="2354884" y="0"/>
                        </a:cubicBezTo>
                        <a:cubicBezTo>
                          <a:pt x="2633244" y="-20975"/>
                          <a:pt x="2654104" y="4778"/>
                          <a:pt x="2914928" y="0"/>
                        </a:cubicBezTo>
                        <a:cubicBezTo>
                          <a:pt x="3175752" y="-4778"/>
                          <a:pt x="3587424" y="-1930"/>
                          <a:pt x="3819095" y="0"/>
                        </a:cubicBezTo>
                        <a:cubicBezTo>
                          <a:pt x="4050766" y="1930"/>
                          <a:pt x="4087145" y="5433"/>
                          <a:pt x="4264432" y="0"/>
                        </a:cubicBezTo>
                        <a:cubicBezTo>
                          <a:pt x="4441719" y="-5433"/>
                          <a:pt x="4789341" y="-18658"/>
                          <a:pt x="5168599" y="0"/>
                        </a:cubicBezTo>
                        <a:cubicBezTo>
                          <a:pt x="5547857" y="18658"/>
                          <a:pt x="5869644" y="28951"/>
                          <a:pt x="6072766" y="0"/>
                        </a:cubicBezTo>
                        <a:cubicBezTo>
                          <a:pt x="6275888" y="-28951"/>
                          <a:pt x="6429854" y="22688"/>
                          <a:pt x="6747518" y="0"/>
                        </a:cubicBezTo>
                        <a:cubicBezTo>
                          <a:pt x="7065182" y="-22688"/>
                          <a:pt x="7359150" y="32814"/>
                          <a:pt x="7651686" y="0"/>
                        </a:cubicBezTo>
                        <a:cubicBezTo>
                          <a:pt x="7944222" y="-32814"/>
                          <a:pt x="8077246" y="24670"/>
                          <a:pt x="8211730" y="0"/>
                        </a:cubicBezTo>
                        <a:cubicBezTo>
                          <a:pt x="8346214" y="-24670"/>
                          <a:pt x="8617652" y="-12699"/>
                          <a:pt x="8771774" y="0"/>
                        </a:cubicBezTo>
                        <a:cubicBezTo>
                          <a:pt x="8925896" y="12699"/>
                          <a:pt x="9191921" y="-20810"/>
                          <a:pt x="9561233" y="0"/>
                        </a:cubicBezTo>
                        <a:cubicBezTo>
                          <a:pt x="9930545" y="20810"/>
                          <a:pt x="9923875" y="24135"/>
                          <a:pt x="10121277" y="0"/>
                        </a:cubicBezTo>
                        <a:cubicBezTo>
                          <a:pt x="10318679" y="-24135"/>
                          <a:pt x="10847934" y="-23021"/>
                          <a:pt x="11470781" y="0"/>
                        </a:cubicBezTo>
                        <a:cubicBezTo>
                          <a:pt x="11486838" y="244652"/>
                          <a:pt x="11445779" y="306325"/>
                          <a:pt x="11470781" y="519248"/>
                        </a:cubicBezTo>
                        <a:cubicBezTo>
                          <a:pt x="11495783" y="732171"/>
                          <a:pt x="11466567" y="772113"/>
                          <a:pt x="11470781" y="998554"/>
                        </a:cubicBezTo>
                        <a:cubicBezTo>
                          <a:pt x="11188270" y="1010191"/>
                          <a:pt x="10849570" y="981448"/>
                          <a:pt x="10681321" y="998554"/>
                        </a:cubicBezTo>
                        <a:cubicBezTo>
                          <a:pt x="10513072" y="1015660"/>
                          <a:pt x="10384253" y="1004954"/>
                          <a:pt x="10235985" y="998554"/>
                        </a:cubicBezTo>
                        <a:cubicBezTo>
                          <a:pt x="10087717" y="992154"/>
                          <a:pt x="9591805" y="992503"/>
                          <a:pt x="9331818" y="998554"/>
                        </a:cubicBezTo>
                        <a:cubicBezTo>
                          <a:pt x="9071831" y="1004605"/>
                          <a:pt x="8837706" y="1021653"/>
                          <a:pt x="8657066" y="998554"/>
                        </a:cubicBezTo>
                        <a:cubicBezTo>
                          <a:pt x="8476426" y="975455"/>
                          <a:pt x="8397233" y="995025"/>
                          <a:pt x="8211730" y="998554"/>
                        </a:cubicBezTo>
                        <a:cubicBezTo>
                          <a:pt x="8026227" y="1002083"/>
                          <a:pt x="7755852" y="980938"/>
                          <a:pt x="7536978" y="998554"/>
                        </a:cubicBezTo>
                        <a:cubicBezTo>
                          <a:pt x="7318104" y="1016170"/>
                          <a:pt x="7326506" y="985356"/>
                          <a:pt x="7206349" y="998554"/>
                        </a:cubicBezTo>
                        <a:cubicBezTo>
                          <a:pt x="7086192" y="1011752"/>
                          <a:pt x="6944809" y="992294"/>
                          <a:pt x="6875721" y="998554"/>
                        </a:cubicBezTo>
                        <a:cubicBezTo>
                          <a:pt x="6806633" y="1004814"/>
                          <a:pt x="6400393" y="974314"/>
                          <a:pt x="6200969" y="998554"/>
                        </a:cubicBezTo>
                        <a:cubicBezTo>
                          <a:pt x="6001545" y="1022794"/>
                          <a:pt x="5910933" y="1011298"/>
                          <a:pt x="5755633" y="998554"/>
                        </a:cubicBezTo>
                        <a:cubicBezTo>
                          <a:pt x="5600333" y="985810"/>
                          <a:pt x="5311700" y="1001124"/>
                          <a:pt x="4966173" y="998554"/>
                        </a:cubicBezTo>
                        <a:cubicBezTo>
                          <a:pt x="4620646" y="995984"/>
                          <a:pt x="4674971" y="1006509"/>
                          <a:pt x="4520837" y="998554"/>
                        </a:cubicBezTo>
                        <a:cubicBezTo>
                          <a:pt x="4366703" y="990599"/>
                          <a:pt x="3960853" y="995417"/>
                          <a:pt x="3731378" y="998554"/>
                        </a:cubicBezTo>
                        <a:cubicBezTo>
                          <a:pt x="3501903" y="1001691"/>
                          <a:pt x="3468848" y="995379"/>
                          <a:pt x="3400749" y="998554"/>
                        </a:cubicBezTo>
                        <a:cubicBezTo>
                          <a:pt x="3332650" y="1001729"/>
                          <a:pt x="2808078" y="1010358"/>
                          <a:pt x="2611290" y="998554"/>
                        </a:cubicBezTo>
                        <a:cubicBezTo>
                          <a:pt x="2414502" y="986750"/>
                          <a:pt x="2272351" y="988719"/>
                          <a:pt x="2165953" y="998554"/>
                        </a:cubicBezTo>
                        <a:cubicBezTo>
                          <a:pt x="2059555" y="1008389"/>
                          <a:pt x="1907937" y="1003175"/>
                          <a:pt x="1835325" y="998554"/>
                        </a:cubicBezTo>
                        <a:cubicBezTo>
                          <a:pt x="1762713" y="993933"/>
                          <a:pt x="1521078" y="1020224"/>
                          <a:pt x="1389989" y="998554"/>
                        </a:cubicBezTo>
                        <a:cubicBezTo>
                          <a:pt x="1258900" y="976884"/>
                          <a:pt x="792531" y="1032338"/>
                          <a:pt x="600529" y="998554"/>
                        </a:cubicBezTo>
                        <a:cubicBezTo>
                          <a:pt x="408527" y="964770"/>
                          <a:pt x="293200" y="1002657"/>
                          <a:pt x="0" y="998554"/>
                        </a:cubicBezTo>
                        <a:cubicBezTo>
                          <a:pt x="16476" y="876321"/>
                          <a:pt x="-5265" y="631579"/>
                          <a:pt x="0" y="529234"/>
                        </a:cubicBezTo>
                        <a:cubicBezTo>
                          <a:pt x="5265" y="426889"/>
                          <a:pt x="-13443" y="2507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180000" rIns="180000" bIns="108000" rtlCol="0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sym typeface="宋体" panose="02010600030101010101" pitchFamily="2" charset="-122"/>
              </a:rPr>
              <a:t>真实值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sym typeface="宋体" panose="02010600030101010101" pitchFamily="2" charset="-122"/>
            </a:endParaRPr>
          </a:p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sym typeface="宋体" panose="02010600030101010101" pitchFamily="2" charset="-122"/>
              </a:rPr>
              <a:t>（亦称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sym typeface="宋体" panose="02010600030101010101" pitchFamily="2" charset="-122"/>
              </a:rPr>
              <a:t>监督信息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sym typeface="宋体" panose="02010600030101010101" pitchFamily="2" charset="-122"/>
              </a:rPr>
              <a:t>）</a:t>
            </a:r>
          </a:p>
        </p:txBody>
      </p:sp>
      <p:sp>
        <p:nvSpPr>
          <p:cNvPr id="22" name="上下箭头 21">
            <a:extLst>
              <a:ext uri="{FF2B5EF4-FFF2-40B4-BE49-F238E27FC236}">
                <a16:creationId xmlns:a16="http://schemas.microsoft.com/office/drawing/2014/main" id="{055FCA98-B57A-1B97-FDAD-5EF8D436B869}"/>
              </a:ext>
            </a:extLst>
          </p:cNvPr>
          <p:cNvSpPr/>
          <p:nvPr/>
        </p:nvSpPr>
        <p:spPr>
          <a:xfrm rot="16200000">
            <a:off x="7465760" y="2871641"/>
            <a:ext cx="300941" cy="632984"/>
          </a:xfrm>
          <a:prstGeom prst="up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E8A74B-EA6B-7B78-D440-029A6A07C13D}"/>
              </a:ext>
            </a:extLst>
          </p:cNvPr>
          <p:cNvSpPr/>
          <p:nvPr/>
        </p:nvSpPr>
        <p:spPr>
          <a:xfrm>
            <a:off x="9180011" y="1498061"/>
            <a:ext cx="2752053" cy="3161529"/>
          </a:xfrm>
          <a:prstGeom prst="rect">
            <a:avLst/>
          </a:prstGeom>
          <a:solidFill>
            <a:srgbClr val="4F81BD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模型训练的目标：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285750" marR="0" lvl="0" indent="-28575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通过学习，不断让预测值趋近真实值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How?</a:t>
            </a:r>
          </a:p>
          <a:p>
            <a:pPr marL="285750" marR="0" lvl="0" indent="-28575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定义一个损失函数，度量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与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y’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差异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不断降低损失函数值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流程图: 过程 59">
                <a:extLst>
                  <a:ext uri="{FF2B5EF4-FFF2-40B4-BE49-F238E27FC236}">
                    <a16:creationId xmlns:a16="http://schemas.microsoft.com/office/drawing/2014/main" id="{6AF053E7-14B5-6B76-689D-FB79FCD4F413}"/>
                  </a:ext>
                </a:extLst>
              </p:cNvPr>
              <p:cNvSpPr/>
              <p:nvPr/>
            </p:nvSpPr>
            <p:spPr>
              <a:xfrm>
                <a:off x="449811" y="5115256"/>
                <a:ext cx="11482253" cy="1538919"/>
              </a:xfrm>
              <a:prstGeom prst="flowChartProcess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1470781"/>
                          <a:gd name="connsiteY0" fmla="*/ 0 h 998554"/>
                          <a:gd name="connsiteX1" fmla="*/ 560044 w 11470781"/>
                          <a:gd name="connsiteY1" fmla="*/ 0 h 998554"/>
                          <a:gd name="connsiteX2" fmla="*/ 890672 w 11470781"/>
                          <a:gd name="connsiteY2" fmla="*/ 0 h 998554"/>
                          <a:gd name="connsiteX3" fmla="*/ 1794840 w 11470781"/>
                          <a:gd name="connsiteY3" fmla="*/ 0 h 998554"/>
                          <a:gd name="connsiteX4" fmla="*/ 2354884 w 11470781"/>
                          <a:gd name="connsiteY4" fmla="*/ 0 h 998554"/>
                          <a:gd name="connsiteX5" fmla="*/ 2914928 w 11470781"/>
                          <a:gd name="connsiteY5" fmla="*/ 0 h 998554"/>
                          <a:gd name="connsiteX6" fmla="*/ 3819095 w 11470781"/>
                          <a:gd name="connsiteY6" fmla="*/ 0 h 998554"/>
                          <a:gd name="connsiteX7" fmla="*/ 4264432 w 11470781"/>
                          <a:gd name="connsiteY7" fmla="*/ 0 h 998554"/>
                          <a:gd name="connsiteX8" fmla="*/ 5168599 w 11470781"/>
                          <a:gd name="connsiteY8" fmla="*/ 0 h 998554"/>
                          <a:gd name="connsiteX9" fmla="*/ 6072766 w 11470781"/>
                          <a:gd name="connsiteY9" fmla="*/ 0 h 998554"/>
                          <a:gd name="connsiteX10" fmla="*/ 6747518 w 11470781"/>
                          <a:gd name="connsiteY10" fmla="*/ 0 h 998554"/>
                          <a:gd name="connsiteX11" fmla="*/ 7651686 w 11470781"/>
                          <a:gd name="connsiteY11" fmla="*/ 0 h 998554"/>
                          <a:gd name="connsiteX12" fmla="*/ 8211730 w 11470781"/>
                          <a:gd name="connsiteY12" fmla="*/ 0 h 998554"/>
                          <a:gd name="connsiteX13" fmla="*/ 8771774 w 11470781"/>
                          <a:gd name="connsiteY13" fmla="*/ 0 h 998554"/>
                          <a:gd name="connsiteX14" fmla="*/ 9561233 w 11470781"/>
                          <a:gd name="connsiteY14" fmla="*/ 0 h 998554"/>
                          <a:gd name="connsiteX15" fmla="*/ 10121277 w 11470781"/>
                          <a:gd name="connsiteY15" fmla="*/ 0 h 998554"/>
                          <a:gd name="connsiteX16" fmla="*/ 11470781 w 11470781"/>
                          <a:gd name="connsiteY16" fmla="*/ 0 h 998554"/>
                          <a:gd name="connsiteX17" fmla="*/ 11470781 w 11470781"/>
                          <a:gd name="connsiteY17" fmla="*/ 519248 h 998554"/>
                          <a:gd name="connsiteX18" fmla="*/ 11470781 w 11470781"/>
                          <a:gd name="connsiteY18" fmla="*/ 998554 h 998554"/>
                          <a:gd name="connsiteX19" fmla="*/ 10681321 w 11470781"/>
                          <a:gd name="connsiteY19" fmla="*/ 998554 h 998554"/>
                          <a:gd name="connsiteX20" fmla="*/ 10235985 w 11470781"/>
                          <a:gd name="connsiteY20" fmla="*/ 998554 h 998554"/>
                          <a:gd name="connsiteX21" fmla="*/ 9331818 w 11470781"/>
                          <a:gd name="connsiteY21" fmla="*/ 998554 h 998554"/>
                          <a:gd name="connsiteX22" fmla="*/ 8657066 w 11470781"/>
                          <a:gd name="connsiteY22" fmla="*/ 998554 h 998554"/>
                          <a:gd name="connsiteX23" fmla="*/ 8211730 w 11470781"/>
                          <a:gd name="connsiteY23" fmla="*/ 998554 h 998554"/>
                          <a:gd name="connsiteX24" fmla="*/ 7536978 w 11470781"/>
                          <a:gd name="connsiteY24" fmla="*/ 998554 h 998554"/>
                          <a:gd name="connsiteX25" fmla="*/ 7206349 w 11470781"/>
                          <a:gd name="connsiteY25" fmla="*/ 998554 h 998554"/>
                          <a:gd name="connsiteX26" fmla="*/ 6875721 w 11470781"/>
                          <a:gd name="connsiteY26" fmla="*/ 998554 h 998554"/>
                          <a:gd name="connsiteX27" fmla="*/ 6200969 w 11470781"/>
                          <a:gd name="connsiteY27" fmla="*/ 998554 h 998554"/>
                          <a:gd name="connsiteX28" fmla="*/ 5755633 w 11470781"/>
                          <a:gd name="connsiteY28" fmla="*/ 998554 h 998554"/>
                          <a:gd name="connsiteX29" fmla="*/ 4966173 w 11470781"/>
                          <a:gd name="connsiteY29" fmla="*/ 998554 h 998554"/>
                          <a:gd name="connsiteX30" fmla="*/ 4520837 w 11470781"/>
                          <a:gd name="connsiteY30" fmla="*/ 998554 h 998554"/>
                          <a:gd name="connsiteX31" fmla="*/ 3731378 w 11470781"/>
                          <a:gd name="connsiteY31" fmla="*/ 998554 h 998554"/>
                          <a:gd name="connsiteX32" fmla="*/ 3400749 w 11470781"/>
                          <a:gd name="connsiteY32" fmla="*/ 998554 h 998554"/>
                          <a:gd name="connsiteX33" fmla="*/ 2611290 w 11470781"/>
                          <a:gd name="connsiteY33" fmla="*/ 998554 h 998554"/>
                          <a:gd name="connsiteX34" fmla="*/ 2165953 w 11470781"/>
                          <a:gd name="connsiteY34" fmla="*/ 998554 h 998554"/>
                          <a:gd name="connsiteX35" fmla="*/ 1835325 w 11470781"/>
                          <a:gd name="connsiteY35" fmla="*/ 998554 h 998554"/>
                          <a:gd name="connsiteX36" fmla="*/ 1389989 w 11470781"/>
                          <a:gd name="connsiteY36" fmla="*/ 998554 h 998554"/>
                          <a:gd name="connsiteX37" fmla="*/ 600529 w 11470781"/>
                          <a:gd name="connsiteY37" fmla="*/ 998554 h 998554"/>
                          <a:gd name="connsiteX38" fmla="*/ 0 w 11470781"/>
                          <a:gd name="connsiteY38" fmla="*/ 998554 h 998554"/>
                          <a:gd name="connsiteX39" fmla="*/ 0 w 11470781"/>
                          <a:gd name="connsiteY39" fmla="*/ 529234 h 998554"/>
                          <a:gd name="connsiteX40" fmla="*/ 0 w 11470781"/>
                          <a:gd name="connsiteY40" fmla="*/ 0 h 99855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</a:cxnLst>
                        <a:rect l="l" t="t" r="r" b="b"/>
                        <a:pathLst>
                          <a:path w="11470781" h="998554" extrusionOk="0">
                            <a:moveTo>
                              <a:pt x="0" y="0"/>
                            </a:moveTo>
                            <a:cubicBezTo>
                              <a:pt x="187205" y="-11002"/>
                              <a:pt x="313260" y="27986"/>
                              <a:pt x="560044" y="0"/>
                            </a:cubicBezTo>
                            <a:cubicBezTo>
                              <a:pt x="806828" y="-27986"/>
                              <a:pt x="746963" y="-6288"/>
                              <a:pt x="890672" y="0"/>
                            </a:cubicBezTo>
                            <a:cubicBezTo>
                              <a:pt x="1034381" y="6288"/>
                              <a:pt x="1386506" y="35623"/>
                              <a:pt x="1794840" y="0"/>
                            </a:cubicBezTo>
                            <a:cubicBezTo>
                              <a:pt x="2203174" y="-35623"/>
                              <a:pt x="2076524" y="20975"/>
                              <a:pt x="2354884" y="0"/>
                            </a:cubicBezTo>
                            <a:cubicBezTo>
                              <a:pt x="2633244" y="-20975"/>
                              <a:pt x="2654104" y="4778"/>
                              <a:pt x="2914928" y="0"/>
                            </a:cubicBezTo>
                            <a:cubicBezTo>
                              <a:pt x="3175752" y="-4778"/>
                              <a:pt x="3587424" y="-1930"/>
                              <a:pt x="3819095" y="0"/>
                            </a:cubicBezTo>
                            <a:cubicBezTo>
                              <a:pt x="4050766" y="1930"/>
                              <a:pt x="4087145" y="5433"/>
                              <a:pt x="4264432" y="0"/>
                            </a:cubicBezTo>
                            <a:cubicBezTo>
                              <a:pt x="4441719" y="-5433"/>
                              <a:pt x="4789341" y="-18658"/>
                              <a:pt x="5168599" y="0"/>
                            </a:cubicBezTo>
                            <a:cubicBezTo>
                              <a:pt x="5547857" y="18658"/>
                              <a:pt x="5869644" y="28951"/>
                              <a:pt x="6072766" y="0"/>
                            </a:cubicBezTo>
                            <a:cubicBezTo>
                              <a:pt x="6275888" y="-28951"/>
                              <a:pt x="6429854" y="22688"/>
                              <a:pt x="6747518" y="0"/>
                            </a:cubicBezTo>
                            <a:cubicBezTo>
                              <a:pt x="7065182" y="-22688"/>
                              <a:pt x="7359150" y="32814"/>
                              <a:pt x="7651686" y="0"/>
                            </a:cubicBezTo>
                            <a:cubicBezTo>
                              <a:pt x="7944222" y="-32814"/>
                              <a:pt x="8077246" y="24670"/>
                              <a:pt x="8211730" y="0"/>
                            </a:cubicBezTo>
                            <a:cubicBezTo>
                              <a:pt x="8346214" y="-24670"/>
                              <a:pt x="8617652" y="-12699"/>
                              <a:pt x="8771774" y="0"/>
                            </a:cubicBezTo>
                            <a:cubicBezTo>
                              <a:pt x="8925896" y="12699"/>
                              <a:pt x="9191921" y="-20810"/>
                              <a:pt x="9561233" y="0"/>
                            </a:cubicBezTo>
                            <a:cubicBezTo>
                              <a:pt x="9930545" y="20810"/>
                              <a:pt x="9923875" y="24135"/>
                              <a:pt x="10121277" y="0"/>
                            </a:cubicBezTo>
                            <a:cubicBezTo>
                              <a:pt x="10318679" y="-24135"/>
                              <a:pt x="10847934" y="-23021"/>
                              <a:pt x="11470781" y="0"/>
                            </a:cubicBezTo>
                            <a:cubicBezTo>
                              <a:pt x="11486838" y="244652"/>
                              <a:pt x="11445779" y="306325"/>
                              <a:pt x="11470781" y="519248"/>
                            </a:cubicBezTo>
                            <a:cubicBezTo>
                              <a:pt x="11495783" y="732171"/>
                              <a:pt x="11466567" y="772113"/>
                              <a:pt x="11470781" y="998554"/>
                            </a:cubicBezTo>
                            <a:cubicBezTo>
                              <a:pt x="11188270" y="1010191"/>
                              <a:pt x="10849570" y="981448"/>
                              <a:pt x="10681321" y="998554"/>
                            </a:cubicBezTo>
                            <a:cubicBezTo>
                              <a:pt x="10513072" y="1015660"/>
                              <a:pt x="10384253" y="1004954"/>
                              <a:pt x="10235985" y="998554"/>
                            </a:cubicBezTo>
                            <a:cubicBezTo>
                              <a:pt x="10087717" y="992154"/>
                              <a:pt x="9591805" y="992503"/>
                              <a:pt x="9331818" y="998554"/>
                            </a:cubicBezTo>
                            <a:cubicBezTo>
                              <a:pt x="9071831" y="1004605"/>
                              <a:pt x="8837706" y="1021653"/>
                              <a:pt x="8657066" y="998554"/>
                            </a:cubicBezTo>
                            <a:cubicBezTo>
                              <a:pt x="8476426" y="975455"/>
                              <a:pt x="8397233" y="995025"/>
                              <a:pt x="8211730" y="998554"/>
                            </a:cubicBezTo>
                            <a:cubicBezTo>
                              <a:pt x="8026227" y="1002083"/>
                              <a:pt x="7755852" y="980938"/>
                              <a:pt x="7536978" y="998554"/>
                            </a:cubicBezTo>
                            <a:cubicBezTo>
                              <a:pt x="7318104" y="1016170"/>
                              <a:pt x="7326506" y="985356"/>
                              <a:pt x="7206349" y="998554"/>
                            </a:cubicBezTo>
                            <a:cubicBezTo>
                              <a:pt x="7086192" y="1011752"/>
                              <a:pt x="6944809" y="992294"/>
                              <a:pt x="6875721" y="998554"/>
                            </a:cubicBezTo>
                            <a:cubicBezTo>
                              <a:pt x="6806633" y="1004814"/>
                              <a:pt x="6400393" y="974314"/>
                              <a:pt x="6200969" y="998554"/>
                            </a:cubicBezTo>
                            <a:cubicBezTo>
                              <a:pt x="6001545" y="1022794"/>
                              <a:pt x="5910933" y="1011298"/>
                              <a:pt x="5755633" y="998554"/>
                            </a:cubicBezTo>
                            <a:cubicBezTo>
                              <a:pt x="5600333" y="985810"/>
                              <a:pt x="5311700" y="1001124"/>
                              <a:pt x="4966173" y="998554"/>
                            </a:cubicBezTo>
                            <a:cubicBezTo>
                              <a:pt x="4620646" y="995984"/>
                              <a:pt x="4674971" y="1006509"/>
                              <a:pt x="4520837" y="998554"/>
                            </a:cubicBezTo>
                            <a:cubicBezTo>
                              <a:pt x="4366703" y="990599"/>
                              <a:pt x="3960853" y="995417"/>
                              <a:pt x="3731378" y="998554"/>
                            </a:cubicBezTo>
                            <a:cubicBezTo>
                              <a:pt x="3501903" y="1001691"/>
                              <a:pt x="3468848" y="995379"/>
                              <a:pt x="3400749" y="998554"/>
                            </a:cubicBezTo>
                            <a:cubicBezTo>
                              <a:pt x="3332650" y="1001729"/>
                              <a:pt x="2808078" y="1010358"/>
                              <a:pt x="2611290" y="998554"/>
                            </a:cubicBezTo>
                            <a:cubicBezTo>
                              <a:pt x="2414502" y="986750"/>
                              <a:pt x="2272351" y="988719"/>
                              <a:pt x="2165953" y="998554"/>
                            </a:cubicBezTo>
                            <a:cubicBezTo>
                              <a:pt x="2059555" y="1008389"/>
                              <a:pt x="1907937" y="1003175"/>
                              <a:pt x="1835325" y="998554"/>
                            </a:cubicBezTo>
                            <a:cubicBezTo>
                              <a:pt x="1762713" y="993933"/>
                              <a:pt x="1521078" y="1020224"/>
                              <a:pt x="1389989" y="998554"/>
                            </a:cubicBezTo>
                            <a:cubicBezTo>
                              <a:pt x="1258900" y="976884"/>
                              <a:pt x="792531" y="1032338"/>
                              <a:pt x="600529" y="998554"/>
                            </a:cubicBezTo>
                            <a:cubicBezTo>
                              <a:pt x="408527" y="964770"/>
                              <a:pt x="293200" y="1002657"/>
                              <a:pt x="0" y="998554"/>
                            </a:cubicBezTo>
                            <a:cubicBezTo>
                              <a:pt x="16476" y="876321"/>
                              <a:pt x="-5265" y="631579"/>
                              <a:pt x="0" y="529234"/>
                            </a:cubicBezTo>
                            <a:cubicBezTo>
                              <a:pt x="5265" y="426889"/>
                              <a:pt x="-13443" y="25070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lIns="180000" rIns="180000" bIns="108000" rtlCol="0" anchor="ctr"/>
              <a:lstStyle/>
              <a:p>
                <a:pPr marL="457200" indent="-457200" algn="just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rgbClr val="0000FF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前馈计算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（</a:t>
                </a:r>
                <a:r>
                  <a:rPr lang="en-US" altLang="zh-CN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Feed-forward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computation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）</a:t>
                </a:r>
                <a:r>
                  <a:rPr lang="en-US" altLang="zh-CN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,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计算预测值：</a:t>
                </a:r>
                <a14:m>
                  <m:oMath xmlns:m="http://schemas.openxmlformats.org/officeDocument/2006/math">
                    <m:r>
                      <a:rPr kumimoji="1" lang="en-US" altLang="zh-CN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宋体" panose="02010600030101010101" pitchFamily="2" charset="-122"/>
                      </a:rPr>
                      <m:t>𝒚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 dirty="0">
                  <a:solidFill>
                    <a:prstClr val="black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宋体" panose="02010600030101010101" pitchFamily="2" charset="-122"/>
                </a:endParaRPr>
              </a:p>
              <a:p>
                <a:pPr marL="457200" indent="-457200" algn="just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rgbClr val="0000FF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反向传播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（</a:t>
                </a:r>
                <a:r>
                  <a:rPr lang="en-US" altLang="zh-CN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Back-propagation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）</a:t>
                </a:r>
                <a:r>
                  <a:rPr lang="en-US" altLang="zh-CN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,</a:t>
                </a:r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优化模型参数：</a:t>
                </a:r>
                <a:r>
                  <a:rPr kumimoji="1" lang="en-US" altLang="zh-CN" sz="2000" b="1" dirty="0">
                    <a:solidFill>
                      <a:srgbClr val="C0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宋体" panose="02010600030101010101" pitchFamily="2" charset="-122"/>
                      </a:rPr>
                      <m:t>𝒎𝒊𝒏𝒊𝒎𝒊𝒛𝒆</m:t>
                    </m:r>
                    <m:r>
                      <a:rPr kumimoji="1" lang="zh-CN" altLang="en-US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宋体" panose="02010600030101010101" pitchFamily="2" charset="-122"/>
                      </a:rPr>
                      <m:t> </m:t>
                    </m:r>
                    <m:r>
                      <a:rPr kumimoji="1" lang="en-US" altLang="zh-CN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宋体" panose="02010600030101010101" pitchFamily="2" charset="-122"/>
                      </a:rPr>
                      <m:t>𝑳</m:t>
                    </m:r>
                    <m:d>
                      <m:dPr>
                        <m:ctrlPr>
                          <a:rPr kumimoji="1" lang="en-US" altLang="zh-CN" sz="20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宋体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0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宋体" panose="02010600030101010101" pitchFamily="2" charset="-122"/>
                          </a:rPr>
                          <m:t>𝒚</m:t>
                        </m:r>
                        <m:r>
                          <a:rPr kumimoji="1" lang="en-US" altLang="zh-CN" sz="20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宋体" panose="02010600030101010101" pitchFamily="2" charset="-122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0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0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宋体" panose="02010600030101010101" pitchFamily="2" charset="-122"/>
                              </a:rPr>
                              <m:t>𝒚</m:t>
                            </m:r>
                          </m:e>
                          <m:sup>
                            <m:r>
                              <a:rPr kumimoji="1" lang="en-US" altLang="zh-CN" sz="20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宋体" panose="02010600030101010101" pitchFamily="2" charset="-122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，即调整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kumimoji="1"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b="1" dirty="0">
                    <a:solidFill>
                      <a:prstClr val="black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sym typeface="宋体" panose="02010600030101010101" pitchFamily="2" charset="-122"/>
                  </a:rPr>
                  <a:t>以减小其差异：</a:t>
                </a:r>
                <a:endParaRPr lang="en-US" altLang="zh-CN" sz="2000" b="1" dirty="0">
                  <a:solidFill>
                    <a:prstClr val="black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宋体" panose="02010600030101010101" pitchFamily="2" charset="-122"/>
                </a:endParaRPr>
              </a:p>
              <a:p>
                <a:pPr algn="just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宋体" panose="0201060003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宋体" panose="02010600030101010101" pitchFamily="2" charset="-122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宋体" panose="02010600030101010101" pitchFamily="2" charset="-122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宋体" panose="02010600030101010101" pitchFamily="2" charset="-122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0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sym typeface="宋体" panose="02010600030101010101" pitchFamily="2" charset="-122"/>
                            </a:rPr>
                            <m:t>𝑳</m:t>
                          </m:r>
                          <m:d>
                            <m:dPr>
                              <m:ctrlPr>
                                <a:rPr kumimoji="1" lang="en-US" altLang="zh-CN" sz="20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sym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kumimoji="1"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sSup>
                                <m:sSupPr>
                                  <m:ctrlPr>
                                    <a:rPr kumimoji="1" lang="en-US" altLang="zh-CN" sz="20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sym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sym typeface="宋体" panose="02010600030101010101" pitchFamily="2" charset="-122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kumimoji="1" lang="en-US" altLang="zh-CN" sz="20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sym typeface="宋体" panose="02010600030101010101" pitchFamily="2" charset="-122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b="1" dirty="0">
                  <a:solidFill>
                    <a:prstClr val="black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4" name="流程图: 过程 59">
                <a:extLst>
                  <a:ext uri="{FF2B5EF4-FFF2-40B4-BE49-F238E27FC236}">
                    <a16:creationId xmlns:a16="http://schemas.microsoft.com/office/drawing/2014/main" id="{6AF053E7-14B5-6B76-689D-FB79FCD4F4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11" y="5115256"/>
                <a:ext cx="11482253" cy="1538919"/>
              </a:xfrm>
              <a:prstGeom prst="flowChartProcess">
                <a:avLst/>
              </a:prstGeom>
              <a:blipFill>
                <a:blip r:embed="rId4"/>
                <a:stretch>
                  <a:fillRect r="-1987"/>
                </a:stretch>
              </a:blipFill>
              <a:ln w="15875" cap="flat" cmpd="sng" algn="ctr">
                <a:solidFill>
                  <a:srgbClr val="C0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11470781"/>
                          <a:gd name="connsiteY0" fmla="*/ 0 h 998554"/>
                          <a:gd name="connsiteX1" fmla="*/ 560044 w 11470781"/>
                          <a:gd name="connsiteY1" fmla="*/ 0 h 998554"/>
                          <a:gd name="connsiteX2" fmla="*/ 890672 w 11470781"/>
                          <a:gd name="connsiteY2" fmla="*/ 0 h 998554"/>
                          <a:gd name="connsiteX3" fmla="*/ 1794840 w 11470781"/>
                          <a:gd name="connsiteY3" fmla="*/ 0 h 998554"/>
                          <a:gd name="connsiteX4" fmla="*/ 2354884 w 11470781"/>
                          <a:gd name="connsiteY4" fmla="*/ 0 h 998554"/>
                          <a:gd name="connsiteX5" fmla="*/ 2914928 w 11470781"/>
                          <a:gd name="connsiteY5" fmla="*/ 0 h 998554"/>
                          <a:gd name="connsiteX6" fmla="*/ 3819095 w 11470781"/>
                          <a:gd name="connsiteY6" fmla="*/ 0 h 998554"/>
                          <a:gd name="connsiteX7" fmla="*/ 4264432 w 11470781"/>
                          <a:gd name="connsiteY7" fmla="*/ 0 h 998554"/>
                          <a:gd name="connsiteX8" fmla="*/ 5168599 w 11470781"/>
                          <a:gd name="connsiteY8" fmla="*/ 0 h 998554"/>
                          <a:gd name="connsiteX9" fmla="*/ 6072766 w 11470781"/>
                          <a:gd name="connsiteY9" fmla="*/ 0 h 998554"/>
                          <a:gd name="connsiteX10" fmla="*/ 6747518 w 11470781"/>
                          <a:gd name="connsiteY10" fmla="*/ 0 h 998554"/>
                          <a:gd name="connsiteX11" fmla="*/ 7651686 w 11470781"/>
                          <a:gd name="connsiteY11" fmla="*/ 0 h 998554"/>
                          <a:gd name="connsiteX12" fmla="*/ 8211730 w 11470781"/>
                          <a:gd name="connsiteY12" fmla="*/ 0 h 998554"/>
                          <a:gd name="connsiteX13" fmla="*/ 8771774 w 11470781"/>
                          <a:gd name="connsiteY13" fmla="*/ 0 h 998554"/>
                          <a:gd name="connsiteX14" fmla="*/ 9561233 w 11470781"/>
                          <a:gd name="connsiteY14" fmla="*/ 0 h 998554"/>
                          <a:gd name="connsiteX15" fmla="*/ 10121277 w 11470781"/>
                          <a:gd name="connsiteY15" fmla="*/ 0 h 998554"/>
                          <a:gd name="connsiteX16" fmla="*/ 11470781 w 11470781"/>
                          <a:gd name="connsiteY16" fmla="*/ 0 h 998554"/>
                          <a:gd name="connsiteX17" fmla="*/ 11470781 w 11470781"/>
                          <a:gd name="connsiteY17" fmla="*/ 519248 h 998554"/>
                          <a:gd name="connsiteX18" fmla="*/ 11470781 w 11470781"/>
                          <a:gd name="connsiteY18" fmla="*/ 998554 h 998554"/>
                          <a:gd name="connsiteX19" fmla="*/ 10681321 w 11470781"/>
                          <a:gd name="connsiteY19" fmla="*/ 998554 h 998554"/>
                          <a:gd name="connsiteX20" fmla="*/ 10235985 w 11470781"/>
                          <a:gd name="connsiteY20" fmla="*/ 998554 h 998554"/>
                          <a:gd name="connsiteX21" fmla="*/ 9331818 w 11470781"/>
                          <a:gd name="connsiteY21" fmla="*/ 998554 h 998554"/>
                          <a:gd name="connsiteX22" fmla="*/ 8657066 w 11470781"/>
                          <a:gd name="connsiteY22" fmla="*/ 998554 h 998554"/>
                          <a:gd name="connsiteX23" fmla="*/ 8211730 w 11470781"/>
                          <a:gd name="connsiteY23" fmla="*/ 998554 h 998554"/>
                          <a:gd name="connsiteX24" fmla="*/ 7536978 w 11470781"/>
                          <a:gd name="connsiteY24" fmla="*/ 998554 h 998554"/>
                          <a:gd name="connsiteX25" fmla="*/ 7206349 w 11470781"/>
                          <a:gd name="connsiteY25" fmla="*/ 998554 h 998554"/>
                          <a:gd name="connsiteX26" fmla="*/ 6875721 w 11470781"/>
                          <a:gd name="connsiteY26" fmla="*/ 998554 h 998554"/>
                          <a:gd name="connsiteX27" fmla="*/ 6200969 w 11470781"/>
                          <a:gd name="connsiteY27" fmla="*/ 998554 h 998554"/>
                          <a:gd name="connsiteX28" fmla="*/ 5755633 w 11470781"/>
                          <a:gd name="connsiteY28" fmla="*/ 998554 h 998554"/>
                          <a:gd name="connsiteX29" fmla="*/ 4966173 w 11470781"/>
                          <a:gd name="connsiteY29" fmla="*/ 998554 h 998554"/>
                          <a:gd name="connsiteX30" fmla="*/ 4520837 w 11470781"/>
                          <a:gd name="connsiteY30" fmla="*/ 998554 h 998554"/>
                          <a:gd name="connsiteX31" fmla="*/ 3731378 w 11470781"/>
                          <a:gd name="connsiteY31" fmla="*/ 998554 h 998554"/>
                          <a:gd name="connsiteX32" fmla="*/ 3400749 w 11470781"/>
                          <a:gd name="connsiteY32" fmla="*/ 998554 h 998554"/>
                          <a:gd name="connsiteX33" fmla="*/ 2611290 w 11470781"/>
                          <a:gd name="connsiteY33" fmla="*/ 998554 h 998554"/>
                          <a:gd name="connsiteX34" fmla="*/ 2165953 w 11470781"/>
                          <a:gd name="connsiteY34" fmla="*/ 998554 h 998554"/>
                          <a:gd name="connsiteX35" fmla="*/ 1835325 w 11470781"/>
                          <a:gd name="connsiteY35" fmla="*/ 998554 h 998554"/>
                          <a:gd name="connsiteX36" fmla="*/ 1389989 w 11470781"/>
                          <a:gd name="connsiteY36" fmla="*/ 998554 h 998554"/>
                          <a:gd name="connsiteX37" fmla="*/ 600529 w 11470781"/>
                          <a:gd name="connsiteY37" fmla="*/ 998554 h 998554"/>
                          <a:gd name="connsiteX38" fmla="*/ 0 w 11470781"/>
                          <a:gd name="connsiteY38" fmla="*/ 998554 h 998554"/>
                          <a:gd name="connsiteX39" fmla="*/ 0 w 11470781"/>
                          <a:gd name="connsiteY39" fmla="*/ 529234 h 998554"/>
                          <a:gd name="connsiteX40" fmla="*/ 0 w 11470781"/>
                          <a:gd name="connsiteY40" fmla="*/ 0 h 99855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</a:cxnLst>
                        <a:rect l="l" t="t" r="r" b="b"/>
                        <a:pathLst>
                          <a:path w="11470781" h="998554" extrusionOk="0">
                            <a:moveTo>
                              <a:pt x="0" y="0"/>
                            </a:moveTo>
                            <a:cubicBezTo>
                              <a:pt x="187205" y="-11002"/>
                              <a:pt x="313260" y="27986"/>
                              <a:pt x="560044" y="0"/>
                            </a:cubicBezTo>
                            <a:cubicBezTo>
                              <a:pt x="806828" y="-27986"/>
                              <a:pt x="746963" y="-6288"/>
                              <a:pt x="890672" y="0"/>
                            </a:cubicBezTo>
                            <a:cubicBezTo>
                              <a:pt x="1034381" y="6288"/>
                              <a:pt x="1386506" y="35623"/>
                              <a:pt x="1794840" y="0"/>
                            </a:cubicBezTo>
                            <a:cubicBezTo>
                              <a:pt x="2203174" y="-35623"/>
                              <a:pt x="2076524" y="20975"/>
                              <a:pt x="2354884" y="0"/>
                            </a:cubicBezTo>
                            <a:cubicBezTo>
                              <a:pt x="2633244" y="-20975"/>
                              <a:pt x="2654104" y="4778"/>
                              <a:pt x="2914928" y="0"/>
                            </a:cubicBezTo>
                            <a:cubicBezTo>
                              <a:pt x="3175752" y="-4778"/>
                              <a:pt x="3587424" y="-1930"/>
                              <a:pt x="3819095" y="0"/>
                            </a:cubicBezTo>
                            <a:cubicBezTo>
                              <a:pt x="4050766" y="1930"/>
                              <a:pt x="4087145" y="5433"/>
                              <a:pt x="4264432" y="0"/>
                            </a:cubicBezTo>
                            <a:cubicBezTo>
                              <a:pt x="4441719" y="-5433"/>
                              <a:pt x="4789341" y="-18658"/>
                              <a:pt x="5168599" y="0"/>
                            </a:cubicBezTo>
                            <a:cubicBezTo>
                              <a:pt x="5547857" y="18658"/>
                              <a:pt x="5869644" y="28951"/>
                              <a:pt x="6072766" y="0"/>
                            </a:cubicBezTo>
                            <a:cubicBezTo>
                              <a:pt x="6275888" y="-28951"/>
                              <a:pt x="6429854" y="22688"/>
                              <a:pt x="6747518" y="0"/>
                            </a:cubicBezTo>
                            <a:cubicBezTo>
                              <a:pt x="7065182" y="-22688"/>
                              <a:pt x="7359150" y="32814"/>
                              <a:pt x="7651686" y="0"/>
                            </a:cubicBezTo>
                            <a:cubicBezTo>
                              <a:pt x="7944222" y="-32814"/>
                              <a:pt x="8077246" y="24670"/>
                              <a:pt x="8211730" y="0"/>
                            </a:cubicBezTo>
                            <a:cubicBezTo>
                              <a:pt x="8346214" y="-24670"/>
                              <a:pt x="8617652" y="-12699"/>
                              <a:pt x="8771774" y="0"/>
                            </a:cubicBezTo>
                            <a:cubicBezTo>
                              <a:pt x="8925896" y="12699"/>
                              <a:pt x="9191921" y="-20810"/>
                              <a:pt x="9561233" y="0"/>
                            </a:cubicBezTo>
                            <a:cubicBezTo>
                              <a:pt x="9930545" y="20810"/>
                              <a:pt x="9923875" y="24135"/>
                              <a:pt x="10121277" y="0"/>
                            </a:cubicBezTo>
                            <a:cubicBezTo>
                              <a:pt x="10318679" y="-24135"/>
                              <a:pt x="10847934" y="-23021"/>
                              <a:pt x="11470781" y="0"/>
                            </a:cubicBezTo>
                            <a:cubicBezTo>
                              <a:pt x="11486838" y="244652"/>
                              <a:pt x="11445779" y="306325"/>
                              <a:pt x="11470781" y="519248"/>
                            </a:cubicBezTo>
                            <a:cubicBezTo>
                              <a:pt x="11495783" y="732171"/>
                              <a:pt x="11466567" y="772113"/>
                              <a:pt x="11470781" y="998554"/>
                            </a:cubicBezTo>
                            <a:cubicBezTo>
                              <a:pt x="11188270" y="1010191"/>
                              <a:pt x="10849570" y="981448"/>
                              <a:pt x="10681321" y="998554"/>
                            </a:cubicBezTo>
                            <a:cubicBezTo>
                              <a:pt x="10513072" y="1015660"/>
                              <a:pt x="10384253" y="1004954"/>
                              <a:pt x="10235985" y="998554"/>
                            </a:cubicBezTo>
                            <a:cubicBezTo>
                              <a:pt x="10087717" y="992154"/>
                              <a:pt x="9591805" y="992503"/>
                              <a:pt x="9331818" y="998554"/>
                            </a:cubicBezTo>
                            <a:cubicBezTo>
                              <a:pt x="9071831" y="1004605"/>
                              <a:pt x="8837706" y="1021653"/>
                              <a:pt x="8657066" y="998554"/>
                            </a:cubicBezTo>
                            <a:cubicBezTo>
                              <a:pt x="8476426" y="975455"/>
                              <a:pt x="8397233" y="995025"/>
                              <a:pt x="8211730" y="998554"/>
                            </a:cubicBezTo>
                            <a:cubicBezTo>
                              <a:pt x="8026227" y="1002083"/>
                              <a:pt x="7755852" y="980938"/>
                              <a:pt x="7536978" y="998554"/>
                            </a:cubicBezTo>
                            <a:cubicBezTo>
                              <a:pt x="7318104" y="1016170"/>
                              <a:pt x="7326506" y="985356"/>
                              <a:pt x="7206349" y="998554"/>
                            </a:cubicBezTo>
                            <a:cubicBezTo>
                              <a:pt x="7086192" y="1011752"/>
                              <a:pt x="6944809" y="992294"/>
                              <a:pt x="6875721" y="998554"/>
                            </a:cubicBezTo>
                            <a:cubicBezTo>
                              <a:pt x="6806633" y="1004814"/>
                              <a:pt x="6400393" y="974314"/>
                              <a:pt x="6200969" y="998554"/>
                            </a:cubicBezTo>
                            <a:cubicBezTo>
                              <a:pt x="6001545" y="1022794"/>
                              <a:pt x="5910933" y="1011298"/>
                              <a:pt x="5755633" y="998554"/>
                            </a:cubicBezTo>
                            <a:cubicBezTo>
                              <a:pt x="5600333" y="985810"/>
                              <a:pt x="5311700" y="1001124"/>
                              <a:pt x="4966173" y="998554"/>
                            </a:cubicBezTo>
                            <a:cubicBezTo>
                              <a:pt x="4620646" y="995984"/>
                              <a:pt x="4674971" y="1006509"/>
                              <a:pt x="4520837" y="998554"/>
                            </a:cubicBezTo>
                            <a:cubicBezTo>
                              <a:pt x="4366703" y="990599"/>
                              <a:pt x="3960853" y="995417"/>
                              <a:pt x="3731378" y="998554"/>
                            </a:cubicBezTo>
                            <a:cubicBezTo>
                              <a:pt x="3501903" y="1001691"/>
                              <a:pt x="3468848" y="995379"/>
                              <a:pt x="3400749" y="998554"/>
                            </a:cubicBezTo>
                            <a:cubicBezTo>
                              <a:pt x="3332650" y="1001729"/>
                              <a:pt x="2808078" y="1010358"/>
                              <a:pt x="2611290" y="998554"/>
                            </a:cubicBezTo>
                            <a:cubicBezTo>
                              <a:pt x="2414502" y="986750"/>
                              <a:pt x="2272351" y="988719"/>
                              <a:pt x="2165953" y="998554"/>
                            </a:cubicBezTo>
                            <a:cubicBezTo>
                              <a:pt x="2059555" y="1008389"/>
                              <a:pt x="1907937" y="1003175"/>
                              <a:pt x="1835325" y="998554"/>
                            </a:cubicBezTo>
                            <a:cubicBezTo>
                              <a:pt x="1762713" y="993933"/>
                              <a:pt x="1521078" y="1020224"/>
                              <a:pt x="1389989" y="998554"/>
                            </a:cubicBezTo>
                            <a:cubicBezTo>
                              <a:pt x="1258900" y="976884"/>
                              <a:pt x="792531" y="1032338"/>
                              <a:pt x="600529" y="998554"/>
                            </a:cubicBezTo>
                            <a:cubicBezTo>
                              <a:pt x="408527" y="964770"/>
                              <a:pt x="293200" y="1002657"/>
                              <a:pt x="0" y="998554"/>
                            </a:cubicBezTo>
                            <a:cubicBezTo>
                              <a:pt x="16476" y="876321"/>
                              <a:pt x="-5265" y="631579"/>
                              <a:pt x="0" y="529234"/>
                            </a:cubicBezTo>
                            <a:cubicBezTo>
                              <a:pt x="5265" y="426889"/>
                              <a:pt x="-13443" y="25070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右箭头 24">
            <a:extLst>
              <a:ext uri="{FF2B5EF4-FFF2-40B4-BE49-F238E27FC236}">
                <a16:creationId xmlns:a16="http://schemas.microsoft.com/office/drawing/2014/main" id="{4CAA440D-DB65-2EBE-E560-7AE28299ABF7}"/>
              </a:ext>
            </a:extLst>
          </p:cNvPr>
          <p:cNvSpPr/>
          <p:nvPr/>
        </p:nvSpPr>
        <p:spPr>
          <a:xfrm rot="10800000" flipH="1" flipV="1">
            <a:off x="3578455" y="1318771"/>
            <a:ext cx="3450299" cy="508004"/>
          </a:xfrm>
          <a:prstGeom prst="rightArrow">
            <a:avLst/>
          </a:prstGeom>
          <a:gradFill flip="none" rotWithShape="1">
            <a:gsLst>
              <a:gs pos="0">
                <a:srgbClr val="F79646">
                  <a:lumMod val="89000"/>
                </a:srgbClr>
              </a:gs>
              <a:gs pos="23000">
                <a:srgbClr val="F79646">
                  <a:lumMod val="89000"/>
                </a:srgbClr>
              </a:gs>
              <a:gs pos="69000">
                <a:srgbClr val="F79646">
                  <a:lumMod val="75000"/>
                </a:srgbClr>
              </a:gs>
              <a:gs pos="97000">
                <a:srgbClr val="F79646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前馈计算（计算预测值）</a:t>
            </a: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C60D1C10-3115-E50B-6C24-DF387C6EEF45}"/>
              </a:ext>
            </a:extLst>
          </p:cNvPr>
          <p:cNvSpPr/>
          <p:nvPr/>
        </p:nvSpPr>
        <p:spPr>
          <a:xfrm flipH="1">
            <a:off x="3578455" y="4477806"/>
            <a:ext cx="3450299" cy="493370"/>
          </a:xfrm>
          <a:prstGeom prst="rightArrow">
            <a:avLst/>
          </a:prstGeom>
          <a:gradFill flip="none" rotWithShape="1">
            <a:gsLst>
              <a:gs pos="0">
                <a:srgbClr val="F79646">
                  <a:lumMod val="89000"/>
                </a:srgbClr>
              </a:gs>
              <a:gs pos="23000">
                <a:srgbClr val="F79646">
                  <a:lumMod val="89000"/>
                </a:srgbClr>
              </a:gs>
              <a:gs pos="69000">
                <a:srgbClr val="F79646">
                  <a:lumMod val="75000"/>
                </a:srgbClr>
              </a:gs>
              <a:gs pos="97000">
                <a:srgbClr val="F79646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反向传播（优化模型参数）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4CF0C31-7DD3-D4A6-D5C9-BDDBC4E71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48" y="1825504"/>
            <a:ext cx="2324059" cy="689955"/>
          </a:xfrm>
          <a:prstGeom prst="rect">
            <a:avLst/>
          </a:prstGeom>
        </p:spPr>
      </p:pic>
      <p:sp>
        <p:nvSpPr>
          <p:cNvPr id="28" name="同侧圆角矩形 29">
            <a:extLst>
              <a:ext uri="{FF2B5EF4-FFF2-40B4-BE49-F238E27FC236}">
                <a16:creationId xmlns:a16="http://schemas.microsoft.com/office/drawing/2014/main" id="{2FE0AB5F-B5F6-D1A4-1B43-D8FC4A5024CA}"/>
              </a:ext>
            </a:extLst>
          </p:cNvPr>
          <p:cNvSpPr/>
          <p:nvPr/>
        </p:nvSpPr>
        <p:spPr>
          <a:xfrm>
            <a:off x="9366049" y="5113254"/>
            <a:ext cx="2566015" cy="38679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拓展了解，不要求掌握</a:t>
            </a:r>
            <a:endParaRPr kumimoji="0" lang="zh-CN" altLang="en-US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926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151D-62A6-5984-5D2E-327C399D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1703249-66D4-E731-D8D2-DBA09D30C10C}"/>
              </a:ext>
            </a:extLst>
          </p:cNvPr>
          <p:cNvSpPr>
            <a:spLocks noGrp="1"/>
          </p:cNvSpPr>
          <p:nvPr/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b="1" dirty="0">
                <a:sym typeface="可画风暴黑-简" panose="020B0500000000000000" charset="-122"/>
              </a:rPr>
              <a:t>训练集 </a:t>
            </a:r>
            <a:r>
              <a:rPr lang="en-US" altLang="zh-CN" b="1" dirty="0">
                <a:sym typeface="可画风暴黑-简" panose="020B0500000000000000" charset="-122"/>
              </a:rPr>
              <a:t>VS</a:t>
            </a:r>
            <a:r>
              <a:rPr lang="zh-CN" altLang="en-US" b="1" dirty="0">
                <a:sym typeface="可画风暴黑-简" panose="020B0500000000000000" charset="-122"/>
              </a:rPr>
              <a:t> 测试集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E249A6-DE99-C7FA-A8E6-E8DA9D7F535D}"/>
              </a:ext>
            </a:extLst>
          </p:cNvPr>
          <p:cNvSpPr/>
          <p:nvPr/>
        </p:nvSpPr>
        <p:spPr>
          <a:xfrm>
            <a:off x="644577" y="1601298"/>
            <a:ext cx="5591808" cy="4156989"/>
          </a:xfrm>
          <a:prstGeom prst="rect">
            <a:avLst/>
          </a:prstGeom>
          <a:solidFill>
            <a:srgbClr val="4F81BD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训练集（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Training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Set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用于训练模型，通过反复学习数据中的规律来调整模型内部的参数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7FD97A-4631-AA23-BAA3-8E224E6487B5}"/>
              </a:ext>
            </a:extLst>
          </p:cNvPr>
          <p:cNvSpPr/>
          <p:nvPr/>
        </p:nvSpPr>
        <p:spPr>
          <a:xfrm>
            <a:off x="772231" y="3679792"/>
            <a:ext cx="5336499" cy="1828800"/>
          </a:xfrm>
          <a:prstGeom prst="rect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验证集（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Validation Set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从训练集中拆分出来（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并非必须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），指导模型调优，但不直接参与模型参数更新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16E539-6085-9E2D-B78E-7D7287B4BC57}"/>
              </a:ext>
            </a:extLst>
          </p:cNvPr>
          <p:cNvSpPr/>
          <p:nvPr/>
        </p:nvSpPr>
        <p:spPr>
          <a:xfrm>
            <a:off x="6766041" y="1601298"/>
            <a:ext cx="4836824" cy="4156989"/>
          </a:xfrm>
          <a:prstGeom prst="rect">
            <a:avLst/>
          </a:prstGeom>
          <a:solidFill>
            <a:srgbClr val="F79646">
              <a:lumMod val="40000"/>
              <a:lumOff val="60000"/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t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测试集（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Test Set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评估模型的真实能力，测试在未知数据中的性能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仅在最终评估阶段使用，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不能参与模型训练或调优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81AA7190-6B26-37CB-71A6-86BABE5F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1E8A7D-6E67-80BB-62B7-BDDB8A93275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39519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674" y="1199148"/>
            <a:ext cx="10968990" cy="483235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机器学习的本质是寻找（学习）一个映射函数：</a:t>
            </a:r>
            <a:r>
              <a:rPr 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可画风暴黑-简" panose="020B0500000000000000" charset="-122"/>
              </a:rPr>
              <a:t>Y=f(X)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cs typeface="宋体" panose="02010600030101010101" pitchFamily="2" charset="-122"/>
                <a:sym typeface="可画风暴黑-简" panose="020B0500000000000000" charset="-122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2429" y="1645553"/>
            <a:ext cx="5634316" cy="1324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可画风暴黑-简" panose="020B0500000000000000" charset="-122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可画风暴黑-简" panose="020B0500000000000000" charset="-122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可画风暴黑-简" panose="020B0500000000000000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可画风暴黑-简" panose="020B0500000000000000" charset="-122"/>
              </a:rPr>
              <a:t>输入数据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可画风暴黑-简" panose="020B0500000000000000" charset="-122"/>
              </a:rPr>
              <a:t>（特征） </a:t>
            </a:r>
            <a:r>
              <a:rPr lang="en-US" sz="32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可画风暴黑-简" panose="020B0500000000000000" charset="-122"/>
              </a:rPr>
              <a:t>→</a:t>
            </a:r>
            <a:r>
              <a:rPr lang="en-US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就是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​​</a:t>
            </a:r>
            <a:r>
              <a:rPr lang="en-US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你给机器看的东西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​​，机器学习的“素材”或“</a:t>
            </a:r>
            <a:r>
              <a:rPr lang="en-US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已知信息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”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,</a:t>
            </a:r>
            <a:r>
              <a:rPr lang="en-US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代表了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​​</a:t>
            </a:r>
            <a:r>
              <a:rPr lang="en-US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描述一个事物或一个情况的各种属性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可画风暴黑-简" panose="020B0500000000000000" charset="-122"/>
              </a:rPr>
              <a:t>​​。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5303"/>
          <a:stretch>
            <a:fillRect/>
          </a:stretch>
        </p:blipFill>
        <p:spPr>
          <a:xfrm>
            <a:off x="8862415" y="1217859"/>
            <a:ext cx="2518410" cy="171040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2429" y="3283228"/>
            <a:ext cx="5582919" cy="1202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14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f：模型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sym typeface="可画风暴黑-简" panose="020B0500000000000000" charset="-122"/>
              </a:rPr>
              <a:t>→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是​​机器通过学习掌握的方法、规则、诀窍或“本领”本身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是​​智能的核心​​。可以把它想象成一个​​超级复杂的数学公式​​或者​​决策机制​​。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414" y="2928888"/>
            <a:ext cx="2519045" cy="17500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2429" y="4840546"/>
            <a:ext cx="5481075" cy="160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14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Y：输出结果（标签）</a:t>
            </a:r>
            <a:r>
              <a:rPr 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sym typeface="可画风暴黑-简" panose="020B0500000000000000" charset="-122"/>
              </a:rPr>
              <a:t>→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就是​​机器看了 X 之后，用 f 的本领告诉你或者帮你做出来的东西​​。它是我们​​最终想要知道的结果、预测或者决策​​。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414" y="4683393"/>
            <a:ext cx="2518410" cy="1563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31634" y="1768743"/>
            <a:ext cx="5054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480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594144" y="2156093"/>
            <a:ext cx="17926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564674" y="3826108"/>
            <a:ext cx="17926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594144" y="5400943"/>
            <a:ext cx="17926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 1">
            <a:extLst>
              <a:ext uri="{FF2B5EF4-FFF2-40B4-BE49-F238E27FC236}">
                <a16:creationId xmlns:a16="http://schemas.microsoft.com/office/drawing/2014/main" id="{457F48FB-072D-C6A7-D5D0-2E4B080B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228600"/>
            <a:ext cx="4278312" cy="706438"/>
          </a:xfrm>
        </p:spPr>
        <p:txBody>
          <a:bodyPr/>
          <a:lstStyle/>
          <a:p>
            <a:pPr algn="ctr"/>
            <a:r>
              <a:rPr lang="zh-CN" altLang="en-US" b="1" dirty="0">
                <a:sym typeface="可画风暴黑-简" panose="020B0500000000000000" charset="-122"/>
              </a:rPr>
              <a:t>小结</a:t>
            </a:r>
            <a:endParaRPr lang="zh-CN" altLang="en-US" dirty="0"/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6CC8CFAA-CB1C-2DD1-78C2-BF2EE8A1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5810C3-4C58-BA16-F40E-38366D7146E7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1972639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187382" y="2523144"/>
            <a:ext cx="5817235" cy="12280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预览</a:t>
            </a:r>
            <a:br>
              <a:rPr lang="en-US" altLang="zh-CN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</a:b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机器学习的任务分类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6257" y="429720"/>
            <a:ext cx="11119486" cy="3230880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ym typeface="可画风暴黑-简" panose="020B0500000000000000" charset="-122"/>
              </a:rPr>
              <a:t>根据训练数据是否包含标签（监督信息），机器学习主要分为以下几类：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4494" y="3155599"/>
            <a:ext cx="10141481" cy="2993810"/>
          </a:xfrm>
        </p:spPr>
        <p:txBody>
          <a:bodyPr>
            <a:normAutofit/>
          </a:bodyPr>
          <a:lstStyle/>
          <a:p>
            <a:pPr marL="404813" indent="-404813"/>
            <a:r>
              <a:rPr lang="zh-CN" altLang="en-US" sz="3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有监督学习</a:t>
            </a:r>
          </a:p>
          <a:p>
            <a:pPr marL="404813" indent="-404813"/>
            <a:r>
              <a:rPr lang="zh-CN" altLang="en-US" sz="3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无监督学习</a:t>
            </a:r>
          </a:p>
          <a:p>
            <a:pPr marL="404813" indent="-404813"/>
            <a:r>
              <a:rPr lang="zh-CN" altLang="en-US" sz="3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半监督学习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FC713FD-B9B1-42BF-1E0E-2101E9FB29B6}"/>
              </a:ext>
            </a:extLst>
          </p:cNvPr>
          <p:cNvSpPr txBox="1">
            <a:spLocks/>
          </p:cNvSpPr>
          <p:nvPr/>
        </p:nvSpPr>
        <p:spPr>
          <a:xfrm>
            <a:off x="252730" y="229235"/>
            <a:ext cx="622427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7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/>
              <a:t>机器学习的任务</a:t>
            </a:r>
            <a:r>
              <a:rPr lang="zh-CN" altLang="en-US" dirty="0"/>
              <a:t>分类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44A265A2-1CA4-AB7B-D634-77C1673B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6546BB-47AA-B656-2BFD-1ECF50871F2B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人工智能通识教程（公共课版）主编：黄栋 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25309" y="2358304"/>
            <a:ext cx="8764270" cy="1862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谢谢！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FCE6D8-AA98-59F1-C088-EFE3A971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622"/>
            <a:ext cx="4038600" cy="7541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90E8119-914A-1ADE-4F33-E942D8A64736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31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xODI4YjJkZGUyMjNkNzljNmNjZmNiNzU0NmE3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049606299212,&quot;left&quot;:52.95,&quot;top&quot;:117.4,&quot;width&quot;:878.24818897637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049606299212,&quot;left&quot;:52.95,&quot;top&quot;:117.4,&quot;width&quot;:878.24818897637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049606299212,&quot;left&quot;:52.95,&quot;top&quot;:117.4,&quot;width&quot;:878.24818897637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3529</TotalTime>
  <Words>2814</Words>
  <Application>Microsoft Macintosh PowerPoint</Application>
  <PresentationFormat>宽屏</PresentationFormat>
  <Paragraphs>279</Paragraphs>
  <Slides>40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8" baseType="lpstr">
      <vt:lpstr>SimHei</vt:lpstr>
      <vt:lpstr>SimHei</vt:lpstr>
      <vt:lpstr>可画风暴黑-简</vt:lpstr>
      <vt:lpstr>宋体</vt:lpstr>
      <vt:lpstr>宋体</vt:lpstr>
      <vt:lpstr>Microsoft YaHei</vt:lpstr>
      <vt:lpstr>Microsoft YaHei</vt:lpstr>
      <vt:lpstr>Kaiti SC</vt:lpstr>
      <vt:lpstr>Arial</vt:lpstr>
      <vt:lpstr>Calibri</vt:lpstr>
      <vt:lpstr>Cambria Math</vt:lpstr>
      <vt:lpstr>Times New Roman</vt:lpstr>
      <vt:lpstr>Wingdings</vt:lpstr>
      <vt:lpstr>Wingdings 3</vt:lpstr>
      <vt:lpstr>WPS</vt:lpstr>
      <vt:lpstr>1_WPS</vt:lpstr>
      <vt:lpstr>4_WPS</vt:lpstr>
      <vt:lpstr>方程式</vt:lpstr>
      <vt:lpstr>PowerPoint 演示文稿</vt:lpstr>
      <vt:lpstr>课程教材</vt:lpstr>
      <vt:lpstr>机器学习基础（上）</vt:lpstr>
      <vt:lpstr>教学目录</vt:lpstr>
      <vt:lpstr>引入： 一个案例、两个流派</vt:lpstr>
      <vt:lpstr>身边的“机器学习”</vt:lpstr>
      <vt:lpstr>带着这个问题， 先了解人工智能的两个流派 稍后回来…</vt:lpstr>
      <vt:lpstr>两个历史流派</vt:lpstr>
      <vt:lpstr>符号主义（规则驱动）</vt:lpstr>
      <vt:lpstr>符号主义的局限：柏拉图的故事</vt:lpstr>
      <vt:lpstr>连接主义（数据驱动）</vt:lpstr>
      <vt:lpstr>再回顾人脸识别的例子</vt:lpstr>
      <vt:lpstr>人脸识别</vt:lpstr>
      <vt:lpstr>人脸识别</vt:lpstr>
      <vt:lpstr>2.1 机器学习基本概念</vt:lpstr>
      <vt:lpstr>教学重点与难点</vt:lpstr>
      <vt:lpstr>机器学习基本概念</vt:lpstr>
      <vt:lpstr>机器学习基本概念</vt:lpstr>
      <vt:lpstr>主要术语介绍</vt:lpstr>
      <vt:lpstr>思考：在人脸识别的例子中，什么是“数据集”？什么又是一个“样本”？</vt:lpstr>
      <vt:lpstr>数据集</vt:lpstr>
      <vt:lpstr>思考：一张人脸图像输入计算机后，机器究竟根据什么信息来区分不同的人？</vt:lpstr>
      <vt:lpstr>特征</vt:lpstr>
      <vt:lpstr>特征工程与特征学习</vt:lpstr>
      <vt:lpstr>思考：在人脸识别的例子中，一张人脸图像的“标签”是什么？</vt:lpstr>
      <vt:lpstr>标签</vt:lpstr>
      <vt:lpstr>PowerPoint 演示文稿</vt:lpstr>
      <vt:lpstr>机器学习的本质</vt:lpstr>
      <vt:lpstr>机器学习的本质</vt:lpstr>
      <vt:lpstr>机器学习的本质</vt:lpstr>
      <vt:lpstr>机器学习的本质</vt:lpstr>
      <vt:lpstr>机器学习的本质</vt:lpstr>
      <vt:lpstr>机器学习的本质</vt:lpstr>
      <vt:lpstr>模型训练：以神经网络为例</vt:lpstr>
      <vt:lpstr>模型训练：以神经网络为例</vt:lpstr>
      <vt:lpstr>PowerPoint 演示文稿</vt:lpstr>
      <vt:lpstr>小结</vt:lpstr>
      <vt:lpstr>预览 机器学习的任务分类</vt:lpstr>
      <vt:lpstr>根据训练数据是否包含标签（监督信息），机器学习主要分为以下几类：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Huang Dong</cp:lastModifiedBy>
  <cp:revision>268</cp:revision>
  <dcterms:created xsi:type="dcterms:W3CDTF">2019-06-19T02:08:00Z</dcterms:created>
  <dcterms:modified xsi:type="dcterms:W3CDTF">2026-09-17T18:42:04Z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641BD3B5FD1F42F4AF23D115AF6991C9_13</vt:lpwstr>
  </property>
</Properties>
</file>
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5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65" r:id="rId3"/>
    <p:sldMasterId id="2147483670" r:id="rId4"/>
    <p:sldMasterId id="2147483682" r:id="rId5"/>
  </p:sldMasterIdLst>
  <p:notesMasterIdLst>
    <p:notesMasterId r:id="rId65"/>
  </p:notesMasterIdLst>
  <p:handoutMasterIdLst>
    <p:handoutMasterId r:id="rId66"/>
  </p:handoutMasterIdLst>
  <p:sldIdLst>
    <p:sldId id="1242" r:id="rId6"/>
    <p:sldId id="1243" r:id="rId7"/>
    <p:sldId id="329" r:id="rId8"/>
    <p:sldId id="579" r:id="rId9"/>
    <p:sldId id="311" r:id="rId10"/>
    <p:sldId id="581" r:id="rId11"/>
    <p:sldId id="582" r:id="rId12"/>
    <p:sldId id="557" r:id="rId13"/>
    <p:sldId id="610" r:id="rId14"/>
    <p:sldId id="583" r:id="rId15"/>
    <p:sldId id="584" r:id="rId16"/>
    <p:sldId id="585" r:id="rId17"/>
    <p:sldId id="600" r:id="rId18"/>
    <p:sldId id="601" r:id="rId19"/>
    <p:sldId id="602" r:id="rId20"/>
    <p:sldId id="603" r:id="rId21"/>
    <p:sldId id="604" r:id="rId22"/>
    <p:sldId id="605" r:id="rId23"/>
    <p:sldId id="546" r:id="rId24"/>
    <p:sldId id="611" r:id="rId25"/>
    <p:sldId id="612" r:id="rId26"/>
    <p:sldId id="606" r:id="rId27"/>
    <p:sldId id="615" r:id="rId28"/>
    <p:sldId id="613" r:id="rId29"/>
    <p:sldId id="614" r:id="rId30"/>
    <p:sldId id="608" r:id="rId31"/>
    <p:sldId id="326" r:id="rId32"/>
    <p:sldId id="327" r:id="rId33"/>
    <p:sldId id="386" r:id="rId34"/>
    <p:sldId id="609" r:id="rId35"/>
    <p:sldId id="616" r:id="rId36"/>
    <p:sldId id="342" r:id="rId37"/>
    <p:sldId id="341" r:id="rId38"/>
    <p:sldId id="392" r:id="rId39"/>
    <p:sldId id="385" r:id="rId40"/>
    <p:sldId id="374" r:id="rId41"/>
    <p:sldId id="346" r:id="rId42"/>
    <p:sldId id="617" r:id="rId43"/>
    <p:sldId id="352" r:id="rId44"/>
    <p:sldId id="618" r:id="rId45"/>
    <p:sldId id="304" r:id="rId46"/>
    <p:sldId id="353" r:id="rId47"/>
    <p:sldId id="354" r:id="rId48"/>
    <p:sldId id="619" r:id="rId49"/>
    <p:sldId id="620" r:id="rId50"/>
    <p:sldId id="621" r:id="rId51"/>
    <p:sldId id="622" r:id="rId52"/>
    <p:sldId id="623" r:id="rId53"/>
    <p:sldId id="624" r:id="rId54"/>
    <p:sldId id="625" r:id="rId55"/>
    <p:sldId id="626" r:id="rId56"/>
    <p:sldId id="630" r:id="rId57"/>
    <p:sldId id="627" r:id="rId58"/>
    <p:sldId id="628" r:id="rId59"/>
    <p:sldId id="629" r:id="rId60"/>
    <p:sldId id="458" r:id="rId61"/>
    <p:sldId id="632" r:id="rId62"/>
    <p:sldId id="598" r:id="rId63"/>
    <p:sldId id="1247" r:id="rId64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s" initials="y" lastIdx="0" clrIdx="0"/>
  <p:cmAuthor id="2" name="Administra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6E6"/>
    <a:srgbClr val="03553F"/>
    <a:srgbClr val="FFFFFF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0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472" y="168"/>
      </p:cViewPr>
      <p:guideLst>
        <p:guide orient="horz" pos="22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commentAuthors" Target="commentAuthors.xml"/><Relationship Id="rId7" Type="http://schemas.openxmlformats.org/officeDocument/2006/relationships/slide" Target="slides/slide2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从以下几个方面展开。</a:t>
            </a:r>
          </a:p>
          <a:p>
            <a:r>
              <a:rPr lang="zh-CN" altLang="en-US">
                <a:sym typeface="+mn-ea"/>
              </a:rPr>
              <a:t>知识目标：理解农业从刀耕火种到智慧农业的发展脉络；了解人工智能的发展历程及其在农业中的融合趋势；掌握智慧农业的基本定义与核心特征。</a:t>
            </a:r>
            <a:endParaRPr lang="zh-CN" altLang="en-US"/>
          </a:p>
          <a:p>
            <a:r>
              <a:rPr lang="zh-CN" altLang="en-US">
                <a:sym typeface="+mn-ea"/>
              </a:rPr>
              <a:t>能力目标：具备用时代视角理解农业变迁与技术演进的能力；提升跨学科分析与总结能力。</a:t>
            </a:r>
            <a:endParaRPr lang="zh-CN" altLang="en-US"/>
          </a:p>
          <a:p>
            <a:r>
              <a:rPr lang="zh-CN" altLang="en-US">
                <a:sym typeface="+mn-ea"/>
              </a:rPr>
              <a:t>素养目标：增强学生的农业认同感与数字素养，激发投身智慧农业发展的责任意识。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第一章</a:t>
            </a:r>
            <a:r>
              <a:rPr lang="zh-CN" altLang="en-US">
                <a:sym typeface="+mn-ea"/>
              </a:rPr>
              <a:t>内容预计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学时，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FBD3-E337-E69F-9F9B-5228B8C1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35C36-E546-96A7-DD3D-D28F8BC8E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88CE67-F833-5577-B8B1-B2BA2CD49D3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从以下几个方面展开。</a:t>
            </a:r>
          </a:p>
          <a:p>
            <a:r>
              <a:rPr lang="zh-CN" altLang="en-US">
                <a:sym typeface="+mn-ea"/>
              </a:rPr>
              <a:t>知识目标：理解农业从刀耕火种到智慧农业的发展脉络；了解人工智能的发展历程及其在农业中的融合趋势；掌握智慧农业的基本定义与核心特征。</a:t>
            </a:r>
            <a:endParaRPr lang="zh-CN" altLang="en-US"/>
          </a:p>
          <a:p>
            <a:r>
              <a:rPr lang="zh-CN" altLang="en-US">
                <a:sym typeface="+mn-ea"/>
              </a:rPr>
              <a:t>能力目标：具备用时代视角理解农业变迁与技术演进的能力；提升跨学科分析与总结能力。</a:t>
            </a:r>
            <a:endParaRPr lang="zh-CN" altLang="en-US"/>
          </a:p>
          <a:p>
            <a:r>
              <a:rPr lang="zh-CN" altLang="en-US">
                <a:sym typeface="+mn-ea"/>
              </a:rPr>
              <a:t>素养目标：增强学生的农业认同感与数字素养，激发投身智慧农业发展的责任意识。</a:t>
            </a:r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53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2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2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6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8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9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662405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87438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8966" y="229235"/>
            <a:ext cx="436176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AutoShape 2">
            <a:extLst>
              <a:ext uri="{FF2B5EF4-FFF2-40B4-BE49-F238E27FC236}">
                <a16:creationId xmlns:a16="http://schemas.microsoft.com/office/drawing/2014/main" id="{B4717D10-A366-9CC8-48A9-48EBB26ADE4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538425" y="4043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92153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01487781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5963"/>
            <a:ext cx="12192000" cy="701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40508"/>
            <a:ext cx="12192000" cy="8996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95218"/>
            <a:ext cx="2618739" cy="7017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单击插入文字</a:t>
            </a:r>
          </a:p>
        </p:txBody>
      </p:sp>
    </p:spTree>
    <p:extLst>
      <p:ext uri="{BB962C8B-B14F-4D97-AF65-F5344CB8AC3E}">
        <p14:creationId xmlns:p14="http://schemas.microsoft.com/office/powerpoint/2010/main" val="148476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35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6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7342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72769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10515600" cy="32476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078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11205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04110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219920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59" name="直接连接符 58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626986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60194462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377330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035030" y="6314440"/>
            <a:ext cx="542290" cy="3168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74383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8966" y="229235"/>
            <a:ext cx="436176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5804852" y="6490666"/>
            <a:ext cx="575945" cy="316865"/>
          </a:xfrm>
          <a:prstGeom prst="rect">
            <a:avLst/>
          </a:prstGeom>
        </p:spPr>
        <p:txBody>
          <a:bodyPr/>
          <a:lstStyle>
            <a:lvl1pPr algn="ctr">
              <a:def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AutoShape 2">
            <a:extLst>
              <a:ext uri="{FF2B5EF4-FFF2-40B4-BE49-F238E27FC236}">
                <a16:creationId xmlns:a16="http://schemas.microsoft.com/office/drawing/2014/main" id="{B4717D10-A366-9CC8-48A9-48EBB26ADE4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538425" y="4043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428946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96769087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5963"/>
            <a:ext cx="12192000" cy="701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40508"/>
            <a:ext cx="12192000" cy="8996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95218"/>
            <a:ext cx="2618739" cy="7017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单击插入文字</a:t>
            </a:r>
          </a:p>
        </p:txBody>
      </p:sp>
    </p:spTree>
    <p:extLst>
      <p:ext uri="{BB962C8B-B14F-4D97-AF65-F5344CB8AC3E}">
        <p14:creationId xmlns:p14="http://schemas.microsoft.com/office/powerpoint/2010/main" val="733773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90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051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9354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9202609" y="63723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131092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10515600" cy="32476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950084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67096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88233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67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9994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3469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10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0531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7175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79377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0778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170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22924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59562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ags" Target="../tags/tag1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5.xml"/><Relationship Id="rId18" Type="http://schemas.openxmlformats.org/officeDocument/2006/relationships/tags" Target="../tags/tag32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tags" Target="../tags/tag31.xml"/><Relationship Id="rId2" Type="http://schemas.openxmlformats.org/officeDocument/2006/relationships/slideLayout" Target="../slideLayouts/slideLayout32.xml"/><Relationship Id="rId16" Type="http://schemas.openxmlformats.org/officeDocument/2006/relationships/tags" Target="../tags/tag3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tags" Target="../tags/tag29.xml"/><Relationship Id="rId10" Type="http://schemas.openxmlformats.org/officeDocument/2006/relationships/slideLayout" Target="../slideLayouts/slideLayout40.xml"/><Relationship Id="rId19" Type="http://schemas.openxmlformats.org/officeDocument/2006/relationships/tags" Target="../tags/tag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ags" Target="../tags/tag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5950800" y="619560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3"/>
    </p:custDataLst>
    <p:extLst>
      <p:ext uri="{BB962C8B-B14F-4D97-AF65-F5344CB8AC3E}">
        <p14:creationId xmlns:p14="http://schemas.microsoft.com/office/powerpoint/2010/main" val="64376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6"/>
    </p:custDataLst>
    <p:extLst>
      <p:ext uri="{BB962C8B-B14F-4D97-AF65-F5344CB8AC3E}">
        <p14:creationId xmlns:p14="http://schemas.microsoft.com/office/powerpoint/2010/main" val="26692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0917555" y="635635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261485" y="63995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52357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58369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9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9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image" Target="../media/image50.jpeg"/><Relationship Id="rId4" Type="http://schemas.openxmlformats.org/officeDocument/2006/relationships/notesSlide" Target="../notesSlides/notesSlide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788" y="1917413"/>
            <a:ext cx="10286999" cy="2530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人工智能通识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第三章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机器学习基础（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3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）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11CB91-2700-F309-4620-3E33490A0CD2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EB1791-2CA9-3ECF-F0CD-AEB3A4484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88" y="4770635"/>
            <a:ext cx="4775021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1pPr>
            <a:lvl2pPr marL="742950" indent="-28575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2pPr>
            <a:lvl3pPr marL="11430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3pPr>
            <a:lvl4pPr marL="16002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4pPr>
            <a:lvl5pPr marL="20574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任课教师：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联系方式：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2026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年秋季学期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CA2495-5BE5-88BF-F210-B9F746167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90"/>
          <a:stretch>
            <a:fillRect/>
          </a:stretch>
        </p:blipFill>
        <p:spPr>
          <a:xfrm rot="16200000">
            <a:off x="3748246" y="-3763643"/>
            <a:ext cx="1929367" cy="94258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6626CA-25A8-414D-D76E-5152F68B2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1" t="48704" r="3735" b="18333"/>
          <a:stretch>
            <a:fillRect/>
          </a:stretch>
        </p:blipFill>
        <p:spPr>
          <a:xfrm>
            <a:off x="9362982" y="-15397"/>
            <a:ext cx="2829018" cy="1929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793" y="200660"/>
            <a:ext cx="3781219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课程教材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C81A2EC-D40C-EDE0-E440-6304FF68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003" y="1912938"/>
            <a:ext cx="5446300" cy="35290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《</a:t>
            </a:r>
            <a:r>
              <a:rPr lang="zh-CN" altLang="en-US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人工智能通识（公共课版）</a:t>
            </a: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》</a:t>
            </a:r>
            <a:endParaRPr lang="en-US" altLang="zh-CN" sz="26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机械工业</a:t>
            </a:r>
            <a:r>
              <a:rPr lang="zh-CN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出版社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主  </a:t>
            </a:r>
            <a:r>
              <a:rPr lang="zh-CN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编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：黄 栋、黄 琼、裴颂文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ISBN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>
                <a:latin typeface="SimHei" panose="02010609060101010101" pitchFamily="49" charset="-122"/>
                <a:ea typeface="SimHei" panose="02010609060101010101" pitchFamily="49" charset="-122"/>
              </a:rPr>
              <a:t>978-7-111-82285-1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3BA5BF-8032-411B-E8ED-961C90D0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24266" y="1037263"/>
            <a:ext cx="3454731" cy="47834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847BAA57-A82C-BCC6-FE28-204EB3C5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D7CA4F-F1CF-C404-DDF8-4C44A8CC7B8F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56097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回顾上一次课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0668778-3262-4F45-A8A8-9B81B276F2BB}"/>
              </a:ext>
            </a:extLst>
          </p:cNvPr>
          <p:cNvSpPr txBox="1"/>
          <p:nvPr/>
        </p:nvSpPr>
        <p:spPr>
          <a:xfrm>
            <a:off x="791570" y="1885166"/>
            <a:ext cx="5013395" cy="35629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有监督学习（带标签）、无监督学习（无标签）、半监督学习（部分标签）的核心差异与应用场景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机器学习的三要素：模型、学习准则、优化算法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了解随机梯度下降，理解独热编码、批量大小、学习率、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epoch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等概念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BF9F03A-7F5D-4090-82DB-31EF76BA437A}"/>
              </a:ext>
            </a:extLst>
          </p:cNvPr>
          <p:cNvSpPr txBox="1"/>
          <p:nvPr/>
        </p:nvSpPr>
        <p:spPr>
          <a:xfrm>
            <a:off x="2121217" y="1341221"/>
            <a:ext cx="2331720" cy="4845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教学重点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C0250C92-17F1-49C7-9586-316E7F634F23}"/>
              </a:ext>
            </a:extLst>
          </p:cNvPr>
          <p:cNvSpPr txBox="1"/>
          <p:nvPr/>
        </p:nvSpPr>
        <p:spPr>
          <a:xfrm>
            <a:off x="6851176" y="1885166"/>
            <a:ext cx="4327795" cy="2967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理解损失函数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理解迭代次数、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批量</a:t>
            </a:r>
            <a:r>
              <a:rPr lang="zh-CN" altLang="en-US" sz="200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大小、</a:t>
            </a:r>
            <a:r>
              <a:rPr lang="en-US" altLang="zh-CN" sz="200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epoch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之间的关系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普通参数 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VS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 超参数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55959FB5-C08F-4C6C-8AF5-AA6A777CAD60}"/>
              </a:ext>
            </a:extLst>
          </p:cNvPr>
          <p:cNvSpPr txBox="1"/>
          <p:nvPr/>
        </p:nvSpPr>
        <p:spPr>
          <a:xfrm>
            <a:off x="7483221" y="1399005"/>
            <a:ext cx="2901950" cy="368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教学难点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E97D80E7-B0F2-37AB-2C5F-EA4ECAF97783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4FD9AD-37C5-3824-9CC7-85B170CC4C8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4FF58-169C-7254-AEFB-B0EB848C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zh-CN" altLang="en-US" b="1" dirty="0"/>
              <a:t>机器学习三要素</a:t>
            </a:r>
          </a:p>
        </p:txBody>
      </p:sp>
      <p:sp>
        <p:nvSpPr>
          <p:cNvPr id="5" name="矩形: 圆顶角 63">
            <a:extLst>
              <a:ext uri="{FF2B5EF4-FFF2-40B4-BE49-F238E27FC236}">
                <a16:creationId xmlns:a16="http://schemas.microsoft.com/office/drawing/2014/main" id="{76A52673-706D-A4FD-2B12-B37223F206EA}"/>
              </a:ext>
            </a:extLst>
          </p:cNvPr>
          <p:cNvSpPr/>
          <p:nvPr/>
        </p:nvSpPr>
        <p:spPr>
          <a:xfrm>
            <a:off x="1085370" y="1415553"/>
            <a:ext cx="9730859" cy="854085"/>
          </a:xfrm>
          <a:prstGeom prst="round2SameRect">
            <a:avLst>
              <a:gd name="adj1" fmla="val 3650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9525" cap="flat" cmpd="sng" algn="ctr">
            <a:gradFill flip="none" rotWithShape="1">
              <a:gsLst>
                <a:gs pos="0">
                  <a:srgbClr val="0BD0D9">
                    <a:lumMod val="75000"/>
                  </a:srgbClr>
                </a:gs>
                <a:gs pos="50000">
                  <a:srgbClr val="10CF9B">
                    <a:lumMod val="75000"/>
                  </a:srgbClr>
                </a:gs>
                <a:gs pos="100000">
                  <a:srgbClr val="10CF9B">
                    <a:lumMod val="50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0000" t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机器学习的三要素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矩形: 圆顶角 63">
            <a:extLst>
              <a:ext uri="{FF2B5EF4-FFF2-40B4-BE49-F238E27FC236}">
                <a16:creationId xmlns:a16="http://schemas.microsoft.com/office/drawing/2014/main" id="{A3F2B4DA-239F-AF5C-8A03-14D9FE0D6B6F}"/>
              </a:ext>
            </a:extLst>
          </p:cNvPr>
          <p:cNvSpPr/>
          <p:nvPr/>
        </p:nvSpPr>
        <p:spPr>
          <a:xfrm>
            <a:off x="1085370" y="2665639"/>
            <a:ext cx="3026927" cy="854086"/>
          </a:xfrm>
          <a:prstGeom prst="round2SameRect">
            <a:avLst>
              <a:gd name="adj1" fmla="val 3650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9525" cap="flat" cmpd="sng" algn="ctr">
            <a:gradFill flip="none" rotWithShape="1">
              <a:gsLst>
                <a:gs pos="0">
                  <a:srgbClr val="0BD0D9">
                    <a:lumMod val="75000"/>
                  </a:srgbClr>
                </a:gs>
                <a:gs pos="50000">
                  <a:srgbClr val="10CF9B">
                    <a:lumMod val="75000"/>
                  </a:srgbClr>
                </a:gs>
                <a:gs pos="100000">
                  <a:srgbClr val="10CF9B">
                    <a:lumMod val="50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0000" tIns="0" bIns="0" rtlCol="0" anchor="ctr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模型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矩形: 圆顶角 63">
            <a:extLst>
              <a:ext uri="{FF2B5EF4-FFF2-40B4-BE49-F238E27FC236}">
                <a16:creationId xmlns:a16="http://schemas.microsoft.com/office/drawing/2014/main" id="{38949962-5A85-5FA0-1299-BA30ADF3B98E}"/>
              </a:ext>
            </a:extLst>
          </p:cNvPr>
          <p:cNvSpPr/>
          <p:nvPr/>
        </p:nvSpPr>
        <p:spPr>
          <a:xfrm>
            <a:off x="4348851" y="2664375"/>
            <a:ext cx="3026926" cy="854087"/>
          </a:xfrm>
          <a:prstGeom prst="round2SameRect">
            <a:avLst>
              <a:gd name="adj1" fmla="val 3650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9525" cap="flat" cmpd="sng" algn="ctr">
            <a:gradFill flip="none" rotWithShape="1">
              <a:gsLst>
                <a:gs pos="0">
                  <a:srgbClr val="0BD0D9">
                    <a:lumMod val="75000"/>
                  </a:srgbClr>
                </a:gs>
                <a:gs pos="50000">
                  <a:srgbClr val="10CF9B">
                    <a:lumMod val="75000"/>
                  </a:srgbClr>
                </a:gs>
                <a:gs pos="100000">
                  <a:srgbClr val="10CF9B">
                    <a:lumMod val="50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0000" tIns="0" bIns="0" rtlCol="0" anchor="ctr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学习准则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矩形: 圆顶角 63">
            <a:extLst>
              <a:ext uri="{FF2B5EF4-FFF2-40B4-BE49-F238E27FC236}">
                <a16:creationId xmlns:a16="http://schemas.microsoft.com/office/drawing/2014/main" id="{18A711EA-1BEC-E4AE-2642-01B59E76EEDC}"/>
              </a:ext>
            </a:extLst>
          </p:cNvPr>
          <p:cNvSpPr/>
          <p:nvPr/>
        </p:nvSpPr>
        <p:spPr>
          <a:xfrm>
            <a:off x="7612332" y="2664375"/>
            <a:ext cx="3203897" cy="854088"/>
          </a:xfrm>
          <a:prstGeom prst="round2SameRect">
            <a:avLst>
              <a:gd name="adj1" fmla="val 3650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9525" cap="flat" cmpd="sng" algn="ctr">
            <a:gradFill flip="none" rotWithShape="1">
              <a:gsLst>
                <a:gs pos="0">
                  <a:srgbClr val="0BD0D9">
                    <a:lumMod val="75000"/>
                  </a:srgbClr>
                </a:gs>
                <a:gs pos="50000">
                  <a:srgbClr val="10CF9B">
                    <a:lumMod val="75000"/>
                  </a:srgbClr>
                </a:gs>
                <a:gs pos="100000">
                  <a:srgbClr val="10CF9B">
                    <a:lumMod val="50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lIns="90000" tIns="0" bIns="0" rtlCol="0" anchor="ctr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优化方法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F9CF328D-1028-06FB-F3DB-AFCBEA97FA87}"/>
              </a:ext>
            </a:extLst>
          </p:cNvPr>
          <p:cNvSpPr/>
          <p:nvPr/>
        </p:nvSpPr>
        <p:spPr>
          <a:xfrm rot="16200000" flipH="1">
            <a:off x="2462098" y="2241814"/>
            <a:ext cx="262792" cy="450387"/>
          </a:xfrm>
          <a:prstGeom prst="rightArrow">
            <a:avLst/>
          </a:prstGeom>
          <a:gradFill flip="none" rotWithShape="1">
            <a:gsLst>
              <a:gs pos="0">
                <a:srgbClr val="F79646">
                  <a:lumMod val="89000"/>
                </a:srgbClr>
              </a:gs>
              <a:gs pos="23000">
                <a:srgbClr val="F79646">
                  <a:lumMod val="89000"/>
                </a:srgbClr>
              </a:gs>
              <a:gs pos="69000">
                <a:srgbClr val="F79646">
                  <a:lumMod val="75000"/>
                </a:srgbClr>
              </a:gs>
              <a:gs pos="97000">
                <a:srgbClr val="F79646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A4830DEB-3EE7-2128-4337-62E4F72E3329}"/>
              </a:ext>
            </a:extLst>
          </p:cNvPr>
          <p:cNvSpPr/>
          <p:nvPr/>
        </p:nvSpPr>
        <p:spPr>
          <a:xfrm rot="16200000" flipH="1">
            <a:off x="5730918" y="2241815"/>
            <a:ext cx="262792" cy="450387"/>
          </a:xfrm>
          <a:prstGeom prst="rightArrow">
            <a:avLst/>
          </a:prstGeom>
          <a:gradFill flip="none" rotWithShape="1">
            <a:gsLst>
              <a:gs pos="0">
                <a:srgbClr val="F79646">
                  <a:lumMod val="89000"/>
                </a:srgbClr>
              </a:gs>
              <a:gs pos="23000">
                <a:srgbClr val="F79646">
                  <a:lumMod val="89000"/>
                </a:srgbClr>
              </a:gs>
              <a:gs pos="69000">
                <a:srgbClr val="F79646">
                  <a:lumMod val="75000"/>
                </a:srgbClr>
              </a:gs>
              <a:gs pos="97000">
                <a:srgbClr val="F79646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CBFEF3E3-F30B-EC52-1931-5CA8780EA06C}"/>
              </a:ext>
            </a:extLst>
          </p:cNvPr>
          <p:cNvSpPr/>
          <p:nvPr/>
        </p:nvSpPr>
        <p:spPr>
          <a:xfrm rot="16200000" flipH="1">
            <a:off x="9082884" y="2241814"/>
            <a:ext cx="262792" cy="450387"/>
          </a:xfrm>
          <a:prstGeom prst="rightArrow">
            <a:avLst/>
          </a:prstGeom>
          <a:gradFill flip="none" rotWithShape="1">
            <a:gsLst>
              <a:gs pos="0">
                <a:srgbClr val="F79646">
                  <a:lumMod val="89000"/>
                </a:srgbClr>
              </a:gs>
              <a:gs pos="23000">
                <a:srgbClr val="F79646">
                  <a:lumMod val="89000"/>
                </a:srgbClr>
              </a:gs>
              <a:gs pos="69000">
                <a:srgbClr val="F79646">
                  <a:lumMod val="75000"/>
                </a:srgbClr>
              </a:gs>
              <a:gs pos="97000">
                <a:srgbClr val="F79646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云形 11">
            <a:extLst>
              <a:ext uri="{FF2B5EF4-FFF2-40B4-BE49-F238E27FC236}">
                <a16:creationId xmlns:a16="http://schemas.microsoft.com/office/drawing/2014/main" id="{091CA6D2-0452-CF98-5A6A-6029E9612324}"/>
              </a:ext>
            </a:extLst>
          </p:cNvPr>
          <p:cNvSpPr/>
          <p:nvPr/>
        </p:nvSpPr>
        <p:spPr>
          <a:xfrm>
            <a:off x="1085370" y="3894062"/>
            <a:ext cx="9730859" cy="1956020"/>
          </a:xfrm>
          <a:prstGeom prst="cloud">
            <a:avLst/>
          </a:prstGeom>
          <a:noFill/>
          <a:ln w="25400" cap="flat" cmpd="sng" algn="ctr">
            <a:gradFill flip="none" rotWithShape="1">
              <a:gsLst>
                <a:gs pos="0">
                  <a:srgbClr val="4F81BD">
                    <a:lumMod val="40000"/>
                    <a:lumOff val="60000"/>
                  </a:srgbClr>
                </a:gs>
                <a:gs pos="46000">
                  <a:srgbClr val="4F81BD">
                    <a:lumMod val="95000"/>
                    <a:lumOff val="5000"/>
                  </a:srgbClr>
                </a:gs>
                <a:gs pos="100000">
                  <a:srgbClr val="4F81BD">
                    <a:lumMod val="60000"/>
                  </a:srgbClr>
                </a:gs>
              </a:gsLst>
              <a:path path="circle">
                <a:fillToRect l="50000" t="130000" r="50000" b="-30000"/>
              </a:path>
              <a:tileRect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关键之处：模型的本质是一个映射函数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E7B45218-2DB0-6952-031C-78F003911B9E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F1A910-E24A-D542-ECDE-8E4D256534F3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1337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DACD0F2-D45E-1A7A-73F8-8F779226861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0" y="229235"/>
            <a:ext cx="7113905" cy="705485"/>
          </a:xfrm>
        </p:spPr>
        <p:txBody>
          <a:bodyPr>
            <a:normAutofit/>
          </a:bodyPr>
          <a:lstStyle/>
          <a:p>
            <a:r>
              <a:rPr lang="zh-CN" altLang="en-US" dirty="0"/>
              <a:t>损失函数：差距的‘量化工具’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163" y="1302652"/>
            <a:ext cx="5868582" cy="32886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损失函数（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Loss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Function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）：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量化预测与真实标签差距的函数，记为 L (</a:t>
            </a:r>
            <a:r>
              <a:rPr lang="en-US" altLang="zh-CN" sz="2400" dirty="0">
                <a:solidFill>
                  <a:schemeClr val="tx1"/>
                </a:solidFill>
              </a:rPr>
              <a:t>Y</a:t>
            </a:r>
            <a:r>
              <a:rPr lang="zh-CN" altLang="en-US" sz="2400" dirty="0">
                <a:solidFill>
                  <a:schemeClr val="tx1"/>
                </a:solidFill>
              </a:rPr>
              <a:t>_pred, </a:t>
            </a:r>
            <a:r>
              <a:rPr lang="en-US" altLang="zh-CN" sz="2400" dirty="0">
                <a:solidFill>
                  <a:schemeClr val="tx1"/>
                </a:solidFill>
              </a:rPr>
              <a:t>Y</a:t>
            </a:r>
            <a:r>
              <a:rPr lang="zh-CN" altLang="en-US" sz="2400" dirty="0">
                <a:solidFill>
                  <a:schemeClr val="tx1"/>
                </a:solidFill>
              </a:rPr>
              <a:t>_true)。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损失越小，模型越好（目标：最小化损失函数）。</a:t>
            </a:r>
          </a:p>
        </p:txBody>
      </p:sp>
      <p:sp>
        <p:nvSpPr>
          <p:cNvPr id="6" name="Freeform 3"/>
          <p:cNvSpPr/>
          <p:nvPr/>
        </p:nvSpPr>
        <p:spPr>
          <a:xfrm>
            <a:off x="7633335" y="934720"/>
            <a:ext cx="3739515" cy="3513455"/>
          </a:xfrm>
          <a:custGeom>
            <a:avLst/>
            <a:gdLst/>
            <a:ahLst/>
            <a:cxnLst/>
            <a:rect l="l" t="t" r="r" b="b"/>
            <a:pathLst>
              <a:path w="5612807" h="5979075">
                <a:moveTo>
                  <a:pt x="0" y="0"/>
                </a:moveTo>
                <a:lnTo>
                  <a:pt x="5612807" y="0"/>
                </a:lnTo>
                <a:lnTo>
                  <a:pt x="5612807" y="5979075"/>
                </a:lnTo>
                <a:lnTo>
                  <a:pt x="0" y="597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D58FB-392D-4187-C1D3-476EC4E537AC}"/>
              </a:ext>
            </a:extLst>
          </p:cNvPr>
          <p:cNvSpPr/>
          <p:nvPr/>
        </p:nvSpPr>
        <p:spPr>
          <a:xfrm>
            <a:off x="658163" y="4056742"/>
            <a:ext cx="5868582" cy="137859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36000" rIns="18000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定义</a:t>
            </a:r>
            <a:r>
              <a:rPr kumimoji="1" lang="zh-CN" altLang="en-US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了怎样量化差距，才能试图缩小差距，即</a:t>
            </a:r>
            <a:r>
              <a:rPr kumimoji="1" lang="en-US" altLang="zh-CN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minimize</a:t>
            </a:r>
            <a:r>
              <a:rPr kumimoji="1" lang="zh-CN" altLang="en-US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the</a:t>
            </a:r>
            <a:r>
              <a:rPr kumimoji="1" lang="zh-CN" altLang="en-US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loss</a:t>
            </a:r>
            <a:r>
              <a:rPr kumimoji="1" lang="zh-CN" altLang="en-US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 </a:t>
            </a:r>
            <a:r>
              <a:rPr kumimoji="1" lang="en-US" altLang="zh-CN" sz="2400" b="1" kern="0" noProof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function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9AD732-E912-E743-C0D9-AF8A90DBE78E}"/>
              </a:ext>
            </a:extLst>
          </p:cNvPr>
          <p:cNvSpPr/>
          <p:nvPr/>
        </p:nvSpPr>
        <p:spPr>
          <a:xfrm>
            <a:off x="658163" y="5674658"/>
            <a:ext cx="586858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8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0-1</a:t>
            </a:r>
            <a:r>
              <a:rPr lang="zh-CN" altLang="en-US" sz="28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损失函数、平方损失函数、交叉熵损失函数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B285-AB84-2869-538B-FD343330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0F0D6-FE3C-1C03-414B-76372757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229235"/>
            <a:ext cx="6127192" cy="705485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可画风暴黑-简" panose="020B0500000000000000" charset="-122"/>
              </a:rPr>
              <a:t>梯度下降：三种主要模式</a:t>
            </a:r>
            <a:endParaRPr lang="zh-CN" altLang="en-US" dirty="0"/>
          </a:p>
        </p:txBody>
      </p:sp>
      <p:sp>
        <p:nvSpPr>
          <p:cNvPr id="4" name="流程图: 过程 59">
            <a:extLst>
              <a:ext uri="{FF2B5EF4-FFF2-40B4-BE49-F238E27FC236}">
                <a16:creationId xmlns:a16="http://schemas.microsoft.com/office/drawing/2014/main" id="{E549BFAC-ABB0-2153-7D18-FF7DC3D0DA5B}"/>
              </a:ext>
            </a:extLst>
          </p:cNvPr>
          <p:cNvSpPr/>
          <p:nvPr/>
        </p:nvSpPr>
        <p:spPr>
          <a:xfrm>
            <a:off x="294968" y="1166649"/>
            <a:ext cx="9866671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对于“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每次处理几个样本？</a:t>
            </a:r>
            <a:r>
              <a:rPr lang="zh-CN" altLang="en-US" sz="24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”，梯度下降法有三种主要模式：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409F96B-D935-DF4E-382C-8275576A60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9073" y="2066139"/>
              <a:ext cx="11393854" cy="35183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313">
                      <a:extLst>
                        <a:ext uri="{9D8B030D-6E8A-4147-A177-3AD203B41FA5}">
                          <a16:colId xmlns:a16="http://schemas.microsoft.com/office/drawing/2014/main" val="589712975"/>
                        </a:ext>
                      </a:extLst>
                    </a:gridCol>
                    <a:gridCol w="2802194">
                      <a:extLst>
                        <a:ext uri="{9D8B030D-6E8A-4147-A177-3AD203B41FA5}">
                          <a16:colId xmlns:a16="http://schemas.microsoft.com/office/drawing/2014/main" val="961022852"/>
                        </a:ext>
                      </a:extLst>
                    </a:gridCol>
                    <a:gridCol w="5672347">
                      <a:extLst>
                        <a:ext uri="{9D8B030D-6E8A-4147-A177-3AD203B41FA5}">
                          <a16:colId xmlns:a16="http://schemas.microsoft.com/office/drawing/2014/main" val="1295517709"/>
                        </a:ext>
                      </a:extLst>
                    </a:gridCol>
                  </a:tblGrid>
                  <a:tr h="6050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方法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每次使用数据量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特点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602925"/>
                      </a:ext>
                    </a:extLst>
                  </a:tr>
                  <a:tr h="6050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随机梯度下降</a:t>
                          </a:r>
                          <a:endParaRPr lang="en-US" altLang="zh-CN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（</a:t>
                          </a:r>
                          <a:r>
                            <a:rPr lang="en-US" altLang="zh-CN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zh-CN" altLang="en-US" sz="2000" b="1" kern="1200" smtClean="0">
                                    <a:solidFill>
                                      <a:schemeClr val="dk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单个样本</m:t>
                                </m:r>
                              </m:oMath>
                            </m:oMathPara>
                          </a14:m>
                          <a:endParaRPr lang="zh-CN" altLang="en-US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波动大，收敛不稳定；显存要求低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3458051"/>
                      </a:ext>
                    </a:extLst>
                  </a:tr>
                  <a:tr h="8835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批量梯度下降</a:t>
                          </a:r>
                          <a:endParaRPr lang="en-US" altLang="zh-CN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（</a:t>
                          </a:r>
                          <a:r>
                            <a:rPr lang="en-US" altLang="zh-CN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BGD</a:t>
                          </a: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zh-CN" altLang="en-US" sz="2000" b="1" kern="1200" smtClean="0">
                                    <a:solidFill>
                                      <a:schemeClr val="dk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整个训练集</m:t>
                                </m:r>
                              </m:oMath>
                            </m:oMathPara>
                          </a14:m>
                          <a:endParaRPr lang="zh-CN" altLang="en-US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稳定；缺乏随机性；显存要求低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905748"/>
                      </a:ext>
                    </a:extLst>
                  </a:tr>
                  <a:tr h="10444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小批量随机梯度下降（</a:t>
                          </a:r>
                          <a:r>
                            <a:rPr lang="en-US" altLang="zh-CN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Mini-Batch</a:t>
                          </a: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zh-CN" altLang="en-US" sz="2000" b="1" kern="1200" smtClean="0">
                                    <a:solidFill>
                                      <a:srgbClr val="C00000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一小批样本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rgbClr val="C00000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rgbClr val="C00000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Batch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rgbClr val="C00000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kern="1200" dirty="0">
                            <a:solidFill>
                              <a:srgbClr val="C00000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兼顾稳定性和随机性，显存要求因批量大小（</a:t>
                          </a:r>
                          <a:r>
                            <a:rPr lang="en-US" altLang="zh-CN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Batch</a:t>
                          </a: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Size</a:t>
                          </a: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）而异；实践中最常用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1681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409F96B-D935-DF4E-382C-8275576A60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250329"/>
                  </p:ext>
                </p:extLst>
              </p:nvPr>
            </p:nvGraphicFramePr>
            <p:xfrm>
              <a:off x="399073" y="2066139"/>
              <a:ext cx="11393854" cy="35183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313">
                      <a:extLst>
                        <a:ext uri="{9D8B030D-6E8A-4147-A177-3AD203B41FA5}">
                          <a16:colId xmlns:a16="http://schemas.microsoft.com/office/drawing/2014/main" val="589712975"/>
                        </a:ext>
                      </a:extLst>
                    </a:gridCol>
                    <a:gridCol w="2802194">
                      <a:extLst>
                        <a:ext uri="{9D8B030D-6E8A-4147-A177-3AD203B41FA5}">
                          <a16:colId xmlns:a16="http://schemas.microsoft.com/office/drawing/2014/main" val="961022852"/>
                        </a:ext>
                      </a:extLst>
                    </a:gridCol>
                    <a:gridCol w="5672347">
                      <a:extLst>
                        <a:ext uri="{9D8B030D-6E8A-4147-A177-3AD203B41FA5}">
                          <a16:colId xmlns:a16="http://schemas.microsoft.com/office/drawing/2014/main" val="1295517709"/>
                        </a:ext>
                      </a:extLst>
                    </a:gridCol>
                  </a:tblGrid>
                  <a:tr h="6050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方法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每次使用数据量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特点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602925"/>
                      </a:ext>
                    </a:extLst>
                  </a:tr>
                  <a:tr h="9344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随机梯度下降</a:t>
                          </a:r>
                          <a:endParaRPr lang="en-US" altLang="zh-CN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（</a:t>
                          </a:r>
                          <a:r>
                            <a:rPr lang="en-US" altLang="zh-CN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4525" t="-66216" r="-203167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波动大，收敛不稳定；显存要求低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3458051"/>
                      </a:ext>
                    </a:extLst>
                  </a:tr>
                  <a:tr h="9344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批量梯度下降</a:t>
                          </a:r>
                          <a:endParaRPr lang="en-US" altLang="zh-CN" sz="2000" b="1" kern="1200" dirty="0">
                            <a:solidFill>
                              <a:schemeClr val="dk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（</a:t>
                          </a:r>
                          <a:r>
                            <a:rPr lang="en-US" altLang="zh-CN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BGD</a:t>
                          </a:r>
                          <a:r>
                            <a:rPr lang="zh-CN" altLang="en-US" sz="2000" b="1" kern="1200" dirty="0">
                              <a:solidFill>
                                <a:schemeClr val="dk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4525" t="-168493" r="-203167" b="-119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稳定；缺乏随机性；显存要求低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905748"/>
                      </a:ext>
                    </a:extLst>
                  </a:tr>
                  <a:tr h="10444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小批量随机梯度下降（</a:t>
                          </a:r>
                          <a:r>
                            <a:rPr lang="en-US" altLang="zh-CN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Mini-Batch</a:t>
                          </a: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4525" t="-236145" r="-203167" b="-48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兼顾稳定性和随机性，显存要求因批量大小（</a:t>
                          </a:r>
                          <a:r>
                            <a:rPr lang="en-US" altLang="zh-CN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Batch</a:t>
                          </a: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Size</a:t>
                          </a:r>
                          <a:r>
                            <a:rPr lang="zh-CN" altLang="en-US" sz="2000" kern="1200" dirty="0">
                              <a:solidFill>
                                <a:srgbClr val="C00000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）而异；实践中最常用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16817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A5516F7D-0182-B516-00DE-D204C6782C7C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6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018555-CECC-D06E-792C-D01D8D74EF7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751646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F309-9E85-B2B5-C792-E49CF573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58135-C4A8-B366-CF75-8CF62FDC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229235"/>
            <a:ext cx="6127192" cy="705485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可画风暴黑-简" panose="020B0500000000000000" charset="-122"/>
              </a:rPr>
              <a:t>小批量随机梯度下降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004336-3F3A-70E6-E77E-56D4E1F464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9073" y="1284474"/>
              <a:ext cx="11393854" cy="16495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313">
                      <a:extLst>
                        <a:ext uri="{9D8B030D-6E8A-4147-A177-3AD203B41FA5}">
                          <a16:colId xmlns:a16="http://schemas.microsoft.com/office/drawing/2014/main" val="589712975"/>
                        </a:ext>
                      </a:extLst>
                    </a:gridCol>
                    <a:gridCol w="2802194">
                      <a:extLst>
                        <a:ext uri="{9D8B030D-6E8A-4147-A177-3AD203B41FA5}">
                          <a16:colId xmlns:a16="http://schemas.microsoft.com/office/drawing/2014/main" val="961022852"/>
                        </a:ext>
                      </a:extLst>
                    </a:gridCol>
                    <a:gridCol w="5672347">
                      <a:extLst>
                        <a:ext uri="{9D8B030D-6E8A-4147-A177-3AD203B41FA5}">
                          <a16:colId xmlns:a16="http://schemas.microsoft.com/office/drawing/2014/main" val="1295517709"/>
                        </a:ext>
                      </a:extLst>
                    </a:gridCol>
                  </a:tblGrid>
                  <a:tr h="6050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方法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每次使用数据量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特点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602925"/>
                      </a:ext>
                    </a:extLst>
                  </a:tr>
                  <a:tr h="10444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小批量随机梯度下降（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Mini-Batch</a:t>
                          </a: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zh-CN" altLang="en-US" sz="2000" b="1" kern="1200" smtClean="0">
                                    <a:solidFill>
                                      <a:schemeClr val="tx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一小批样本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chemeClr val="tx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chemeClr val="tx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Batch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kern="1200" smtClean="0">
                                    <a:solidFill>
                                      <a:schemeClr val="tx1"/>
                                    </a:solidFill>
                                    <a:latin typeface="SimHei" panose="02010609060101010101" pitchFamily="49" charset="-122"/>
                                    <a:ea typeface="SimHei" panose="02010609060101010101" pitchFamily="49" charset="-122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kern="1200" dirty="0">
                            <a:solidFill>
                              <a:schemeClr val="tx1"/>
                            </a:solidFill>
                            <a:latin typeface="SimHei" panose="02010609060101010101" pitchFamily="49" charset="-122"/>
                            <a:ea typeface="SimHei" panose="02010609060101010101" pitchFamily="49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兼顾稳定性和随机性，显存要求因批量大小（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Batch</a:t>
                          </a: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Size</a:t>
                          </a: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）而异；实践中最常用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1681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004336-3F3A-70E6-E77E-56D4E1F464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1142448"/>
                  </p:ext>
                </p:extLst>
              </p:nvPr>
            </p:nvGraphicFramePr>
            <p:xfrm>
              <a:off x="399073" y="1284474"/>
              <a:ext cx="11393854" cy="16495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313">
                      <a:extLst>
                        <a:ext uri="{9D8B030D-6E8A-4147-A177-3AD203B41FA5}">
                          <a16:colId xmlns:a16="http://schemas.microsoft.com/office/drawing/2014/main" val="589712975"/>
                        </a:ext>
                      </a:extLst>
                    </a:gridCol>
                    <a:gridCol w="2802194">
                      <a:extLst>
                        <a:ext uri="{9D8B030D-6E8A-4147-A177-3AD203B41FA5}">
                          <a16:colId xmlns:a16="http://schemas.microsoft.com/office/drawing/2014/main" val="961022852"/>
                        </a:ext>
                      </a:extLst>
                    </a:gridCol>
                    <a:gridCol w="5672347">
                      <a:extLst>
                        <a:ext uri="{9D8B030D-6E8A-4147-A177-3AD203B41FA5}">
                          <a16:colId xmlns:a16="http://schemas.microsoft.com/office/drawing/2014/main" val="1295517709"/>
                        </a:ext>
                      </a:extLst>
                    </a:gridCol>
                  </a:tblGrid>
                  <a:tr h="6050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方法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每次使用数据量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dirty="0">
                              <a:latin typeface="SimHei" panose="02010609060101010101" pitchFamily="49" charset="-122"/>
                              <a:ea typeface="SimHei" panose="02010609060101010101" pitchFamily="49" charset="-122"/>
                            </a:rPr>
                            <a:t>特点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602925"/>
                      </a:ext>
                    </a:extLst>
                  </a:tr>
                  <a:tr h="10444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小批量随机梯度下降（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Mini-Batch</a:t>
                          </a: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SGD</a:t>
                          </a:r>
                          <a:r>
                            <a:rPr lang="zh-CN" altLang="en-US" sz="2000" b="1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4525" t="-59036" r="-203167" b="-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兼顾稳定性和随机性，显存要求因批量大小（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Batch</a:t>
                          </a: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 </a:t>
                          </a:r>
                          <a:r>
                            <a:rPr lang="en-US" altLang="zh-CN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Size</a:t>
                          </a:r>
                          <a:r>
                            <a:rPr lang="zh-CN" altLang="en-US" sz="2000" kern="1200" dirty="0">
                              <a:solidFill>
                                <a:schemeClr val="tx1"/>
                              </a:solidFill>
                              <a:latin typeface="SimHei" panose="02010609060101010101" pitchFamily="49" charset="-122"/>
                              <a:ea typeface="SimHei" panose="02010609060101010101" pitchFamily="49" charset="-122"/>
                              <a:cs typeface="+mn-cs"/>
                            </a:rPr>
                            <a:t>）而异；实践中最常用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16817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98E9A9D-3503-8ED2-76AB-ADE8070C9E0B}"/>
              </a:ext>
            </a:extLst>
          </p:cNvPr>
          <p:cNvSpPr txBox="1"/>
          <p:nvPr/>
        </p:nvSpPr>
        <p:spPr>
          <a:xfrm>
            <a:off x="597046" y="3078575"/>
            <a:ext cx="11195881" cy="23422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Batch Size</a:t>
            </a:r>
            <a:r>
              <a:rPr lang="zh-CN" altLang="en-US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（批量大小）</a:t>
            </a:r>
            <a:r>
              <a:rPr lang="zh-CN" altLang="en-US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：在小批量随机梯度下降中，单次所使用的样本数量，即一小批一小批进行训练时，每一小批的样本数量。</a:t>
            </a:r>
            <a:endParaRPr lang="en-US" sz="2000" spc="315" dirty="0">
              <a:latin typeface="宋体" panose="02010600030101010101" pitchFamily="2" charset="-122"/>
              <a:ea typeface="宋体" panose="02010600030101010101" pitchFamily="2" charset="-122"/>
              <a:cs typeface="可画风暴黑-简" panose="020B0500000000000000" charset="-122"/>
              <a:sym typeface="思源黑体" panose="020B0500000000000000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Iteration</a:t>
            </a:r>
            <a:r>
              <a:rPr lang="zh-CN" altLang="en-US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（迭代）</a:t>
            </a:r>
            <a:r>
              <a:rPr lang="zh-CN" altLang="en-US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：完成一小批样本（</a:t>
            </a:r>
            <a:r>
              <a:rPr lang="en-US" altLang="zh-CN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Batch</a:t>
            </a:r>
            <a:r>
              <a:rPr lang="zh-CN" altLang="en-US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）的训练，并以此更新一次模型参数的过程，称为一次迭代</a:t>
            </a:r>
            <a:r>
              <a:rPr lang="en-US" altLang="zh-CN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。</a:t>
            </a:r>
            <a:endParaRPr lang="en-US" sz="2000" spc="315" dirty="0">
              <a:latin typeface="宋体" panose="02010600030101010101" pitchFamily="2" charset="-122"/>
              <a:ea typeface="宋体" panose="02010600030101010101" pitchFamily="2" charset="-122"/>
              <a:cs typeface="可画风暴黑-简" panose="020B0500000000000000" charset="-122"/>
              <a:sym typeface="思源黑体" panose="020B0500000000000000" charset="-122"/>
            </a:endParaRPr>
          </a:p>
          <a:p>
            <a:pPr algn="just" fontAlgn="auto">
              <a:lnSpc>
                <a:spcPct val="150000"/>
              </a:lnSpc>
            </a:pPr>
            <a:r>
              <a:rPr lang="en-US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Epoch（</a:t>
            </a:r>
            <a:r>
              <a:rPr lang="zh-CN" altLang="en-US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周期</a:t>
            </a:r>
            <a:r>
              <a:rPr lang="en-US" altLang="zh-CN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/</a:t>
            </a:r>
            <a:r>
              <a:rPr lang="zh-CN" altLang="en-US" sz="2000" b="1" spc="315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思源黑体" panose="020B0500000000000000" charset="-122"/>
              </a:rPr>
              <a:t>代）</a:t>
            </a:r>
            <a:r>
              <a:rPr lang="zh-CN" altLang="en-US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：一个</a:t>
            </a:r>
            <a:r>
              <a:rPr lang="en-US" altLang="zh-CN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epoch</a:t>
            </a:r>
            <a:r>
              <a:rPr lang="zh-CN" altLang="en-US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表示整个训练数据集完整地通过模型一次</a:t>
            </a:r>
            <a:r>
              <a:rPr lang="en-US" altLang="zh-CN" sz="2000" spc="315" dirty="0">
                <a:latin typeface="宋体" panose="02010600030101010101" pitchFamily="2" charset="-122"/>
                <a:ea typeface="宋体" panose="02010600030101010101" pitchFamily="2" charset="-122"/>
                <a:cs typeface="可画风暴黑-简" panose="020B0500000000000000" charset="-122"/>
                <a:sym typeface="思源黑体" panose="020B0500000000000000" charset="-122"/>
              </a:rPr>
              <a:t>。</a:t>
            </a:r>
            <a:endParaRPr lang="en-US" sz="2000" spc="315" dirty="0">
              <a:latin typeface="宋体" panose="02010600030101010101" pitchFamily="2" charset="-122"/>
              <a:ea typeface="宋体" panose="02010600030101010101" pitchFamily="2" charset="-122"/>
              <a:cs typeface="可画风暴黑-简" panose="020B0500000000000000" charset="-122"/>
              <a:sym typeface="思源黑体" panose="020B05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EFE930-BC3B-CFB5-4F08-EC3A44218EE6}"/>
              </a:ext>
            </a:extLst>
          </p:cNvPr>
          <p:cNvSpPr/>
          <p:nvPr/>
        </p:nvSpPr>
        <p:spPr>
          <a:xfrm>
            <a:off x="280219" y="5565418"/>
            <a:ext cx="11710680" cy="10203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72000" rtlCol="0" anchor="ctr" anchorCtr="0"/>
          <a:lstStyle/>
          <a:p>
            <a:pPr algn="just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三者的关系（重点）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：每个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epoch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的迭代次数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 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训练集总样本数 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sym typeface="思源黑体" panose="020B0500000000000000" charset="-122"/>
              </a:rPr>
              <a:t>批量大小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  <a:endParaRPr kumimoji="1" lang="en-US" altLang="zh-CN" sz="20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示例：如果训练集样本数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N=10000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，批量大小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Batch Size=50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，则单个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epoch</a:t>
            </a:r>
            <a:r>
              <a:rPr kumimoji="1" lang="zh-CN" altLang="en-US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的迭代次数</a:t>
            </a:r>
            <a:r>
              <a:rPr kumimoji="1" lang="en-US" altLang="zh-CN" sz="20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=10000/50=200 </a:t>
            </a:r>
            <a:endParaRPr kumimoji="1" lang="zh-CN" altLang="en-US" sz="20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86A40-D42F-FFCD-07BF-9D1538EA1E2C}"/>
              </a:ext>
            </a:extLst>
          </p:cNvPr>
          <p:cNvSpPr txBox="1"/>
          <p:nvPr/>
        </p:nvSpPr>
        <p:spPr>
          <a:xfrm>
            <a:off x="6346413" y="6390933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91058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55010" y="3262630"/>
            <a:ext cx="5817235" cy="1018540"/>
          </a:xfrm>
        </p:spPr>
        <p:txBody>
          <a:bodyPr>
            <a:noAutofit/>
          </a:bodyPr>
          <a:lstStyle/>
          <a:p>
            <a:r>
              <a:rPr lang="zh-CN" altLang="en-US" sz="48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机器学习基础（</a:t>
            </a:r>
            <a:r>
              <a:rPr lang="zh-CN" altLang="en-US" sz="4800" dirty="0">
                <a:solidFill>
                  <a:srgbClr val="C00000"/>
                </a:solidFill>
                <a:cs typeface="+mn-ea"/>
                <a:sym typeface="+mn-lt"/>
              </a:rPr>
              <a:t>下</a:t>
            </a:r>
            <a:r>
              <a:rPr lang="zh-CN" altLang="en-US" sz="48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12" name="矩形 11"/>
          <p:cNvSpPr/>
          <p:nvPr/>
        </p:nvSpPr>
        <p:spPr>
          <a:xfrm>
            <a:off x="5214990" y="2286714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第二章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F58C5-8210-941A-BF52-028C08DD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CBB0D-2686-A628-454D-A6AC97C7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教学重点与难点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5A8E4-8452-973F-C3D0-062FFE11B430}"/>
              </a:ext>
            </a:extLst>
          </p:cNvPr>
          <p:cNvSpPr txBox="1"/>
          <p:nvPr/>
        </p:nvSpPr>
        <p:spPr>
          <a:xfrm>
            <a:off x="721719" y="1914946"/>
            <a:ext cx="5371105" cy="35629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常见机器学习模型：分类、聚类、回归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为何走向深度？算力、数据、算法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了解深度学习模型：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CNN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RNN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LSTM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Transformer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了解深度学习框架：</a:t>
            </a:r>
            <a:r>
              <a:rPr lang="en-US" altLang="zh-CN" sz="2000" dirty="0" err="1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TensorFlow …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集成学习、强化学习、多模态学习、迁移学习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C6F1D9-CB9A-EA4B-BBB1-23FA2E726756}"/>
              </a:ext>
            </a:extLst>
          </p:cNvPr>
          <p:cNvSpPr txBox="1"/>
          <p:nvPr/>
        </p:nvSpPr>
        <p:spPr>
          <a:xfrm>
            <a:off x="1806829" y="1400661"/>
            <a:ext cx="2331720" cy="4845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教学重点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144FA78-6563-4CC2-932A-8C44CA16C428}"/>
              </a:ext>
            </a:extLst>
          </p:cNvPr>
          <p:cNvSpPr txBox="1"/>
          <p:nvPr/>
        </p:nvSpPr>
        <p:spPr>
          <a:xfrm>
            <a:off x="6734175" y="1885166"/>
            <a:ext cx="5114926" cy="2967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理解过拟合与泛化能力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为何从传统机器学习走向深度学习？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拓展了解：初探机器学习如何实现？（不要求掌握）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916DCE8-C6B7-4C83-9B73-2905EAB413F7}"/>
              </a:ext>
            </a:extLst>
          </p:cNvPr>
          <p:cNvSpPr txBox="1"/>
          <p:nvPr/>
        </p:nvSpPr>
        <p:spPr>
          <a:xfrm>
            <a:off x="7702296" y="1399005"/>
            <a:ext cx="2901950" cy="368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教学难点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212EDC28-DB55-C683-4134-7489C47AA19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9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DF9B77-2BC4-9700-1A59-81307CB8BD9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21490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382" y="3087411"/>
            <a:ext cx="5817235" cy="101854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2.3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 机器学习的常见模型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B97D-D9F9-DD24-3F0A-EADDAAE8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A765C-1B54-95E6-1126-D0367F51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分类、聚类、回归</a:t>
            </a:r>
          </a:p>
        </p:txBody>
      </p:sp>
      <p:pic>
        <p:nvPicPr>
          <p:cNvPr id="8" name="图形 5">
            <a:extLst>
              <a:ext uri="{FF2B5EF4-FFF2-40B4-BE49-F238E27FC236}">
                <a16:creationId xmlns:a16="http://schemas.microsoft.com/office/drawing/2014/main" id="{C9BED0EA-AA94-6253-CD7F-E7AD8E6E9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511" y="9427"/>
            <a:ext cx="2704410" cy="71966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A01F297-BED4-D568-7FF3-844D5C2F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05" y="1280197"/>
            <a:ext cx="5358765" cy="46494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2123702-9468-A878-EAC1-B179D81BF70A}"/>
              </a:ext>
            </a:extLst>
          </p:cNvPr>
          <p:cNvSpPr txBox="1"/>
          <p:nvPr/>
        </p:nvSpPr>
        <p:spPr>
          <a:xfrm>
            <a:off x="306490" y="1280197"/>
            <a:ext cx="6274015" cy="4685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lnSpc>
                <a:spcPct val="180000"/>
              </a:lnSpc>
              <a:spcBef>
                <a:spcPts val="400"/>
              </a:spcBef>
              <a:buClrTx/>
              <a:buSzTx/>
              <a:buFontTx/>
            </a:pPr>
            <a:r>
              <a:rPr lang="en-US" sz="2000" b="1" i="0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分类模型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（解决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“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属于哪一类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 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的定性问题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）</a:t>
            </a:r>
            <a:r>
              <a:rPr lang="en-US" sz="2000" b="0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marL="342900" indent="-342900">
              <a:lnSpc>
                <a:spcPct val="180000"/>
              </a:lnSpc>
              <a:spcBef>
                <a:spcPts val="400"/>
              </a:spcBef>
              <a:buFont typeface="Wingdings" pitchFamily="2" charset="2"/>
              <a:buChar char="Ø"/>
            </a:pP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逻辑回归、</a:t>
            </a:r>
            <a:r>
              <a:rPr lang="en-US" sz="2000" b="1" i="0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神经网络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支持向量机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决策树、</a:t>
            </a:r>
            <a:r>
              <a:rPr lang="en-US"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随机森林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、朴素贝叶斯、XGBoost</a:t>
            </a:r>
            <a:r>
              <a:rPr lang="en-US" sz="2000" b="0" i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lang="en-US" sz="2000" b="0" i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80000"/>
              </a:lnSpc>
              <a:spcBef>
                <a:spcPts val="400"/>
              </a:spcBef>
              <a:buClrTx/>
              <a:buSzTx/>
              <a:buFontTx/>
            </a:pPr>
            <a:r>
              <a:rPr lang="en-US" sz="2000" b="1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聚类模型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（解决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“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如何分组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 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的无监督问题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）</a:t>
            </a:r>
            <a:r>
              <a:rPr lang="en-US" sz="2000" b="0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marL="342900" indent="-342900" algn="l">
              <a:lnSpc>
                <a:spcPct val="180000"/>
              </a:lnSpc>
              <a:spcBef>
                <a:spcPts val="400"/>
              </a:spcBef>
              <a:buClrTx/>
              <a:buSzTx/>
              <a:buFont typeface="Wingdings" pitchFamily="2" charset="2"/>
              <a:buChar char="Ø"/>
            </a:pPr>
            <a:r>
              <a:rPr lang="en-US"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K均值聚类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谱聚类</a:t>
            </a:r>
            <a:r>
              <a:rPr lang="en-US" sz="2000" b="0" i="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、层次聚类、DBSCAN等</a:t>
            </a:r>
            <a:endParaRPr lang="en-US" sz="2000" b="0" i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80000"/>
              </a:lnSpc>
              <a:spcBef>
                <a:spcPts val="400"/>
              </a:spcBef>
              <a:buClrTx/>
              <a:buSzTx/>
              <a:buFontTx/>
            </a:pPr>
            <a:r>
              <a:rPr lang="en-US" sz="2000" b="1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回归模型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（解决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“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预测连续值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 </a:t>
            </a:r>
            <a:r>
              <a:rPr lang="en-US" sz="2000" b="1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的定量问题</a:t>
            </a:r>
            <a:r>
              <a:rPr lang="en-US" sz="2000" b="1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）</a:t>
            </a:r>
            <a:r>
              <a:rPr lang="en-US" sz="2000" b="0" i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marL="342900" indent="-342900" algn="l">
              <a:lnSpc>
                <a:spcPct val="180000"/>
              </a:lnSpc>
              <a:spcBef>
                <a:spcPts val="400"/>
              </a:spcBef>
              <a:buClrTx/>
              <a:buSzTx/>
              <a:buFont typeface="Wingdings" pitchFamily="2" charset="2"/>
              <a:buChar char="Ø"/>
            </a:pPr>
            <a:r>
              <a:rPr lang="en-US"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线性回归</a:t>
            </a:r>
            <a:r>
              <a:rPr lang="en-US" sz="2000" b="0" i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、多项式回归、岭回归、基于机器学习的回归方法等</a:t>
            </a:r>
            <a:endParaRPr lang="en-US" sz="2000" b="0" i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CD99490D-71C0-A485-EA33-D00E2A332D3D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11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3ECEA-E025-F940-6E5A-58A8C19D993A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94456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065" y="3279140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分类模型</a:t>
            </a:r>
          </a:p>
        </p:txBody>
      </p:sp>
      <p:sp>
        <p:nvSpPr>
          <p:cNvPr id="12" name="矩形 11"/>
          <p:cNvSpPr/>
          <p:nvPr/>
        </p:nvSpPr>
        <p:spPr>
          <a:xfrm>
            <a:off x="5737572" y="2572464"/>
            <a:ext cx="7168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4659-D243-6087-9C19-4AAD16C3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D9D9A-2377-7B49-D6C4-005A6A1C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思考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FF97CB5-B8F9-2760-D537-DCB1E3510D35}"/>
              </a:ext>
            </a:extLst>
          </p:cNvPr>
          <p:cNvSpPr txBox="1"/>
          <p:nvPr/>
        </p:nvSpPr>
        <p:spPr>
          <a:xfrm>
            <a:off x="1201511" y="2196368"/>
            <a:ext cx="9799864" cy="17252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R="0" lvl="0" indent="714375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思源黑体 3" panose="020B0500000000000000" charset="-122"/>
              </a:rPr>
              <a:t>如果手机相册里有1000张照片，如何让手机自动把'猫的照片'和'狗的照片'分开？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FB0A7629-F12B-923B-04E5-ECA279826DA2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1602F3-39DE-A0E5-9E7D-2A8B2025461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847093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35DE-B63F-CE3B-7D6F-8F396188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54E5E34A-9805-D12D-565D-657253FD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" y="229235"/>
            <a:ext cx="4277995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举例引入</a:t>
            </a:r>
          </a:p>
        </p:txBody>
      </p:sp>
      <p:pic>
        <p:nvPicPr>
          <p:cNvPr id="11" name="图形 10" descr="小猫 轮廓">
            <a:extLst>
              <a:ext uri="{FF2B5EF4-FFF2-40B4-BE49-F238E27FC236}">
                <a16:creationId xmlns:a16="http://schemas.microsoft.com/office/drawing/2014/main" id="{FF8C36AA-6D24-F455-F6D1-745AE9A35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3578" y="1932784"/>
            <a:ext cx="1308122" cy="1308122"/>
          </a:xfrm>
          <a:prstGeom prst="rect">
            <a:avLst/>
          </a:prstGeom>
        </p:spPr>
      </p:pic>
      <p:pic>
        <p:nvPicPr>
          <p:cNvPr id="13" name="图形 12" descr="猫 纯色填充">
            <a:extLst>
              <a:ext uri="{FF2B5EF4-FFF2-40B4-BE49-F238E27FC236}">
                <a16:creationId xmlns:a16="http://schemas.microsoft.com/office/drawing/2014/main" id="{7B6AAEE3-A908-C492-E679-21B9E5E19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614" y="3127109"/>
            <a:ext cx="1138807" cy="1138807"/>
          </a:xfrm>
          <a:prstGeom prst="rect">
            <a:avLst/>
          </a:prstGeom>
        </p:spPr>
      </p:pic>
      <p:pic>
        <p:nvPicPr>
          <p:cNvPr id="16" name="图形 15" descr="小狗 纯色填充">
            <a:extLst>
              <a:ext uri="{FF2B5EF4-FFF2-40B4-BE49-F238E27FC236}">
                <a16:creationId xmlns:a16="http://schemas.microsoft.com/office/drawing/2014/main" id="{987F35AD-FBC9-FECB-914E-BA57861866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4935" y="5048680"/>
            <a:ext cx="1293125" cy="1293125"/>
          </a:xfrm>
          <a:prstGeom prst="rect">
            <a:avLst/>
          </a:prstGeom>
        </p:spPr>
      </p:pic>
      <p:pic>
        <p:nvPicPr>
          <p:cNvPr id="18" name="图形 17" descr="小狗 2 纯色填充">
            <a:extLst>
              <a:ext uri="{FF2B5EF4-FFF2-40B4-BE49-F238E27FC236}">
                <a16:creationId xmlns:a16="http://schemas.microsoft.com/office/drawing/2014/main" id="{5C823494-B040-0A89-BF7D-BF280E352B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10777" y="4970206"/>
            <a:ext cx="1308122" cy="1308122"/>
          </a:xfrm>
          <a:prstGeom prst="rect">
            <a:avLst/>
          </a:prstGeom>
        </p:spPr>
      </p:pic>
      <p:pic>
        <p:nvPicPr>
          <p:cNvPr id="20" name="图形 19" descr="小狗 2 轮廓">
            <a:extLst>
              <a:ext uri="{FF2B5EF4-FFF2-40B4-BE49-F238E27FC236}">
                <a16:creationId xmlns:a16="http://schemas.microsoft.com/office/drawing/2014/main" id="{EF34101C-9DCA-958E-E572-BE3ADAD33F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6322" y="3906232"/>
            <a:ext cx="1245358" cy="1245358"/>
          </a:xfrm>
          <a:prstGeom prst="rect">
            <a:avLst/>
          </a:prstGeom>
        </p:spPr>
      </p:pic>
      <p:pic>
        <p:nvPicPr>
          <p:cNvPr id="22" name="图形 21" descr="狗 轮廓">
            <a:extLst>
              <a:ext uri="{FF2B5EF4-FFF2-40B4-BE49-F238E27FC236}">
                <a16:creationId xmlns:a16="http://schemas.microsoft.com/office/drawing/2014/main" id="{39CA511A-3644-B42C-56BC-0DE9F8E267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3052" y="5198257"/>
            <a:ext cx="1293124" cy="1293124"/>
          </a:xfrm>
          <a:prstGeom prst="rect">
            <a:avLst/>
          </a:prstGeom>
        </p:spPr>
      </p:pic>
      <p:pic>
        <p:nvPicPr>
          <p:cNvPr id="24" name="图形 23" descr="猫 轮廓">
            <a:extLst>
              <a:ext uri="{FF2B5EF4-FFF2-40B4-BE49-F238E27FC236}">
                <a16:creationId xmlns:a16="http://schemas.microsoft.com/office/drawing/2014/main" id="{32D1A0C0-4F02-983F-284B-9E0581B04E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96468" y="2274044"/>
            <a:ext cx="1308122" cy="1308122"/>
          </a:xfrm>
          <a:prstGeom prst="rect">
            <a:avLst/>
          </a:prstGeom>
        </p:spPr>
      </p:pic>
      <p:pic>
        <p:nvPicPr>
          <p:cNvPr id="26" name="图形 25" descr="小猫 纯色填充">
            <a:extLst>
              <a:ext uri="{FF2B5EF4-FFF2-40B4-BE49-F238E27FC236}">
                <a16:creationId xmlns:a16="http://schemas.microsoft.com/office/drawing/2014/main" id="{38A5523C-E49C-B74A-A581-31664C6704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59447" y="2631767"/>
            <a:ext cx="1431414" cy="1431414"/>
          </a:xfrm>
          <a:prstGeom prst="rect">
            <a:avLst/>
          </a:prstGeom>
        </p:spPr>
      </p:pic>
      <p:sp>
        <p:nvSpPr>
          <p:cNvPr id="2" name="云形 1">
            <a:extLst>
              <a:ext uri="{FF2B5EF4-FFF2-40B4-BE49-F238E27FC236}">
                <a16:creationId xmlns:a16="http://schemas.microsoft.com/office/drawing/2014/main" id="{97722A14-FBAB-53FF-732D-9A6C6F59782C}"/>
              </a:ext>
            </a:extLst>
          </p:cNvPr>
          <p:cNvSpPr/>
          <p:nvPr/>
        </p:nvSpPr>
        <p:spPr>
          <a:xfrm>
            <a:off x="5791614" y="374394"/>
            <a:ext cx="6175706" cy="1574222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分类的目标：找到一个边界线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面，区分“猫”与“狗”</a:t>
            </a:r>
            <a:endParaRPr kumimoji="1"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4094703-54B0-530E-EBAE-D7DBA1A30947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AC6DA6-A2B6-E67E-3726-55D1FB057D60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53229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2699B-CBC8-8850-CB8F-591B2B21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51232035-B758-6E6D-8A65-3E0AFFCF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" y="229235"/>
            <a:ext cx="4277995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举例引入</a:t>
            </a:r>
          </a:p>
        </p:txBody>
      </p:sp>
      <p:pic>
        <p:nvPicPr>
          <p:cNvPr id="11" name="图形 10" descr="小猫 轮廓">
            <a:extLst>
              <a:ext uri="{FF2B5EF4-FFF2-40B4-BE49-F238E27FC236}">
                <a16:creationId xmlns:a16="http://schemas.microsoft.com/office/drawing/2014/main" id="{27DBCCC8-814B-4650-4D03-C599AF51E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0494" y="1298603"/>
            <a:ext cx="1308122" cy="1308122"/>
          </a:xfrm>
          <a:prstGeom prst="rect">
            <a:avLst/>
          </a:prstGeom>
        </p:spPr>
      </p:pic>
      <p:pic>
        <p:nvPicPr>
          <p:cNvPr id="13" name="图形 12" descr="猫 纯色填充">
            <a:extLst>
              <a:ext uri="{FF2B5EF4-FFF2-40B4-BE49-F238E27FC236}">
                <a16:creationId xmlns:a16="http://schemas.microsoft.com/office/drawing/2014/main" id="{A6E6DA4A-1381-4371-F951-6A83CB20B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8530" y="2492928"/>
            <a:ext cx="1138807" cy="1138807"/>
          </a:xfrm>
          <a:prstGeom prst="rect">
            <a:avLst/>
          </a:prstGeom>
        </p:spPr>
      </p:pic>
      <p:pic>
        <p:nvPicPr>
          <p:cNvPr id="16" name="图形 15" descr="小狗 纯色填充">
            <a:extLst>
              <a:ext uri="{FF2B5EF4-FFF2-40B4-BE49-F238E27FC236}">
                <a16:creationId xmlns:a16="http://schemas.microsoft.com/office/drawing/2014/main" id="{03D53DBF-4E2F-DA3A-DA86-788497ED2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851" y="4414499"/>
            <a:ext cx="1293125" cy="1293125"/>
          </a:xfrm>
          <a:prstGeom prst="rect">
            <a:avLst/>
          </a:prstGeom>
        </p:spPr>
      </p:pic>
      <p:pic>
        <p:nvPicPr>
          <p:cNvPr id="18" name="图形 17" descr="小狗 2 纯色填充">
            <a:extLst>
              <a:ext uri="{FF2B5EF4-FFF2-40B4-BE49-F238E27FC236}">
                <a16:creationId xmlns:a16="http://schemas.microsoft.com/office/drawing/2014/main" id="{798133E4-63F8-94D8-BCF3-9C58822E9D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77693" y="4336025"/>
            <a:ext cx="1308122" cy="1308122"/>
          </a:xfrm>
          <a:prstGeom prst="rect">
            <a:avLst/>
          </a:prstGeom>
        </p:spPr>
      </p:pic>
      <p:pic>
        <p:nvPicPr>
          <p:cNvPr id="20" name="图形 19" descr="小狗 2 轮廓">
            <a:extLst>
              <a:ext uri="{FF2B5EF4-FFF2-40B4-BE49-F238E27FC236}">
                <a16:creationId xmlns:a16="http://schemas.microsoft.com/office/drawing/2014/main" id="{D5C0C478-C0D7-8BE8-BF1B-09CFA07A1C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3238" y="3272051"/>
            <a:ext cx="1245358" cy="1245358"/>
          </a:xfrm>
          <a:prstGeom prst="rect">
            <a:avLst/>
          </a:prstGeom>
        </p:spPr>
      </p:pic>
      <p:pic>
        <p:nvPicPr>
          <p:cNvPr id="22" name="图形 21" descr="狗 轮廓">
            <a:extLst>
              <a:ext uri="{FF2B5EF4-FFF2-40B4-BE49-F238E27FC236}">
                <a16:creationId xmlns:a16="http://schemas.microsoft.com/office/drawing/2014/main" id="{2DEAEF7E-7732-22F7-68B1-A2937D8E63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9968" y="4564076"/>
            <a:ext cx="1293124" cy="1293124"/>
          </a:xfrm>
          <a:prstGeom prst="rect">
            <a:avLst/>
          </a:prstGeom>
        </p:spPr>
      </p:pic>
      <p:pic>
        <p:nvPicPr>
          <p:cNvPr id="24" name="图形 23" descr="猫 轮廓">
            <a:extLst>
              <a:ext uri="{FF2B5EF4-FFF2-40B4-BE49-F238E27FC236}">
                <a16:creationId xmlns:a16="http://schemas.microsoft.com/office/drawing/2014/main" id="{AA0F548C-D231-97AE-F17D-64FB5C5354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63384" y="1639863"/>
            <a:ext cx="1308122" cy="1308122"/>
          </a:xfrm>
          <a:prstGeom prst="rect">
            <a:avLst/>
          </a:prstGeom>
        </p:spPr>
      </p:pic>
      <p:pic>
        <p:nvPicPr>
          <p:cNvPr id="26" name="图形 25" descr="小猫 纯色填充">
            <a:extLst>
              <a:ext uri="{FF2B5EF4-FFF2-40B4-BE49-F238E27FC236}">
                <a16:creationId xmlns:a16="http://schemas.microsoft.com/office/drawing/2014/main" id="{6625ECFF-BBC9-AC86-186F-0593CE7D17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26363" y="1997586"/>
            <a:ext cx="1431414" cy="1431414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19CF2639-C542-7A61-718B-EC9D7E659EC0}"/>
              </a:ext>
            </a:extLst>
          </p:cNvPr>
          <p:cNvCxnSpPr/>
          <p:nvPr/>
        </p:nvCxnSpPr>
        <p:spPr>
          <a:xfrm flipH="1">
            <a:off x="4785815" y="1298603"/>
            <a:ext cx="1642281" cy="48292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3404C14-3045-CC96-BA8F-16AAD414602E}"/>
              </a:ext>
            </a:extLst>
          </p:cNvPr>
          <p:cNvSpPr/>
          <p:nvPr/>
        </p:nvSpPr>
        <p:spPr>
          <a:xfrm>
            <a:off x="7863384" y="3365698"/>
            <a:ext cx="4099135" cy="11757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32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一个“效果不佳”</a:t>
            </a:r>
            <a:endParaRPr lang="en-US" altLang="zh-CN" sz="3200" b="1" cap="all" dirty="0">
              <a:ln w="9000" cmpd="sng">
                <a:solidFill>
                  <a:srgbClr val="846648">
                    <a:shade val="50000"/>
                    <a:satMod val="120000"/>
                  </a:srgbClr>
                </a:solidFill>
                <a:prstDash val="solid"/>
              </a:ln>
              <a:gradFill>
                <a:gsLst>
                  <a:gs pos="0">
                    <a:srgbClr val="846648">
                      <a:shade val="20000"/>
                      <a:satMod val="245000"/>
                    </a:srgbClr>
                  </a:gs>
                  <a:gs pos="43000">
                    <a:srgbClr val="846648">
                      <a:satMod val="255000"/>
                    </a:srgbClr>
                  </a:gs>
                  <a:gs pos="48000">
                    <a:srgbClr val="846648">
                      <a:shade val="85000"/>
                      <a:satMod val="255000"/>
                    </a:srgbClr>
                  </a:gs>
                  <a:gs pos="100000">
                    <a:srgbClr val="846648">
                      <a:shade val="20000"/>
                      <a:satMod val="245000"/>
                    </a:srgb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32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的划分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B73D00A-3FBB-71E8-5A29-A064DD68D5B7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15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9C90F3-CC14-8028-2B53-089FBDBB9FB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549287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FA38-F42F-AD2C-CBF5-3FC88713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76183340-3279-C56B-64D3-8BAAEBAE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" y="229235"/>
            <a:ext cx="4277995" cy="705485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举例引入</a:t>
            </a:r>
          </a:p>
        </p:txBody>
      </p:sp>
      <p:pic>
        <p:nvPicPr>
          <p:cNvPr id="11" name="图形 10" descr="小猫 轮廓">
            <a:extLst>
              <a:ext uri="{FF2B5EF4-FFF2-40B4-BE49-F238E27FC236}">
                <a16:creationId xmlns:a16="http://schemas.microsoft.com/office/drawing/2014/main" id="{24686C70-85A6-94D8-3F43-5C7DFC38B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0494" y="1298603"/>
            <a:ext cx="1308122" cy="1308122"/>
          </a:xfrm>
          <a:prstGeom prst="rect">
            <a:avLst/>
          </a:prstGeom>
        </p:spPr>
      </p:pic>
      <p:pic>
        <p:nvPicPr>
          <p:cNvPr id="13" name="图形 12" descr="猫 纯色填充">
            <a:extLst>
              <a:ext uri="{FF2B5EF4-FFF2-40B4-BE49-F238E27FC236}">
                <a16:creationId xmlns:a16="http://schemas.microsoft.com/office/drawing/2014/main" id="{1098A77C-CB5F-3E15-35D2-118CC600A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8530" y="2492928"/>
            <a:ext cx="1138807" cy="1138807"/>
          </a:xfrm>
          <a:prstGeom prst="rect">
            <a:avLst/>
          </a:prstGeom>
        </p:spPr>
      </p:pic>
      <p:pic>
        <p:nvPicPr>
          <p:cNvPr id="16" name="图形 15" descr="小狗 纯色填充">
            <a:extLst>
              <a:ext uri="{FF2B5EF4-FFF2-40B4-BE49-F238E27FC236}">
                <a16:creationId xmlns:a16="http://schemas.microsoft.com/office/drawing/2014/main" id="{59080B27-F45A-DA82-644B-478DD67F5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851" y="4414499"/>
            <a:ext cx="1293125" cy="1293125"/>
          </a:xfrm>
          <a:prstGeom prst="rect">
            <a:avLst/>
          </a:prstGeom>
        </p:spPr>
      </p:pic>
      <p:pic>
        <p:nvPicPr>
          <p:cNvPr id="18" name="图形 17" descr="小狗 2 纯色填充">
            <a:extLst>
              <a:ext uri="{FF2B5EF4-FFF2-40B4-BE49-F238E27FC236}">
                <a16:creationId xmlns:a16="http://schemas.microsoft.com/office/drawing/2014/main" id="{D0B2A466-88B7-5794-7A1F-15C9F5443F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77693" y="4336025"/>
            <a:ext cx="1308122" cy="1308122"/>
          </a:xfrm>
          <a:prstGeom prst="rect">
            <a:avLst/>
          </a:prstGeom>
        </p:spPr>
      </p:pic>
      <p:pic>
        <p:nvPicPr>
          <p:cNvPr id="20" name="图形 19" descr="小狗 2 轮廓">
            <a:extLst>
              <a:ext uri="{FF2B5EF4-FFF2-40B4-BE49-F238E27FC236}">
                <a16:creationId xmlns:a16="http://schemas.microsoft.com/office/drawing/2014/main" id="{3CD68E80-B288-3390-080F-E4C5BF1E70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3238" y="3272051"/>
            <a:ext cx="1245358" cy="1245358"/>
          </a:xfrm>
          <a:prstGeom prst="rect">
            <a:avLst/>
          </a:prstGeom>
        </p:spPr>
      </p:pic>
      <p:pic>
        <p:nvPicPr>
          <p:cNvPr id="22" name="图形 21" descr="狗 轮廓">
            <a:extLst>
              <a:ext uri="{FF2B5EF4-FFF2-40B4-BE49-F238E27FC236}">
                <a16:creationId xmlns:a16="http://schemas.microsoft.com/office/drawing/2014/main" id="{999C1FEF-D68D-6C0B-2051-0E19D46807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9968" y="4564076"/>
            <a:ext cx="1293124" cy="1293124"/>
          </a:xfrm>
          <a:prstGeom prst="rect">
            <a:avLst/>
          </a:prstGeom>
        </p:spPr>
      </p:pic>
      <p:pic>
        <p:nvPicPr>
          <p:cNvPr id="24" name="图形 23" descr="猫 轮廓">
            <a:extLst>
              <a:ext uri="{FF2B5EF4-FFF2-40B4-BE49-F238E27FC236}">
                <a16:creationId xmlns:a16="http://schemas.microsoft.com/office/drawing/2014/main" id="{63AE0900-C794-780C-A6D5-AD89E30B4B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63384" y="1639863"/>
            <a:ext cx="1308122" cy="1308122"/>
          </a:xfrm>
          <a:prstGeom prst="rect">
            <a:avLst/>
          </a:prstGeom>
        </p:spPr>
      </p:pic>
      <p:pic>
        <p:nvPicPr>
          <p:cNvPr id="26" name="图形 25" descr="小猫 纯色填充">
            <a:extLst>
              <a:ext uri="{FF2B5EF4-FFF2-40B4-BE49-F238E27FC236}">
                <a16:creationId xmlns:a16="http://schemas.microsoft.com/office/drawing/2014/main" id="{C26BBD83-3759-D506-D1E9-6FA77FC86F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26363" y="1997586"/>
            <a:ext cx="1431414" cy="1431414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80C58CE5-BCDD-850D-B5C1-316053F9773A}"/>
              </a:ext>
            </a:extLst>
          </p:cNvPr>
          <p:cNvCxnSpPr>
            <a:cxnSpLocks/>
          </p:cNvCxnSpPr>
          <p:nvPr/>
        </p:nvCxnSpPr>
        <p:spPr>
          <a:xfrm>
            <a:off x="1910687" y="2279176"/>
            <a:ext cx="7847462" cy="30161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C468D1C-950D-C57E-8E71-C9FF7F03DAB0}"/>
              </a:ext>
            </a:extLst>
          </p:cNvPr>
          <p:cNvSpPr/>
          <p:nvPr/>
        </p:nvSpPr>
        <p:spPr>
          <a:xfrm>
            <a:off x="5438423" y="622493"/>
            <a:ext cx="3364429" cy="11757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32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一个“效果较好”</a:t>
            </a:r>
            <a:endParaRPr lang="en-US" altLang="zh-CN" sz="3200" b="1" cap="all" dirty="0">
              <a:ln w="9000" cmpd="sng">
                <a:solidFill>
                  <a:srgbClr val="846648">
                    <a:shade val="50000"/>
                    <a:satMod val="120000"/>
                  </a:srgbClr>
                </a:solidFill>
                <a:prstDash val="solid"/>
              </a:ln>
              <a:gradFill>
                <a:gsLst>
                  <a:gs pos="0">
                    <a:srgbClr val="846648">
                      <a:shade val="20000"/>
                      <a:satMod val="245000"/>
                    </a:srgbClr>
                  </a:gs>
                  <a:gs pos="43000">
                    <a:srgbClr val="846648">
                      <a:satMod val="255000"/>
                    </a:srgbClr>
                  </a:gs>
                  <a:gs pos="48000">
                    <a:srgbClr val="846648">
                      <a:shade val="85000"/>
                      <a:satMod val="255000"/>
                    </a:srgbClr>
                  </a:gs>
                  <a:gs pos="100000">
                    <a:srgbClr val="846648">
                      <a:shade val="20000"/>
                      <a:satMod val="245000"/>
                    </a:srgb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3200" b="1" cap="all" dirty="0">
                <a:ln w="9000" cmpd="sng">
                  <a:solidFill>
                    <a:srgbClr val="846648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46648">
                        <a:shade val="20000"/>
                        <a:satMod val="245000"/>
                      </a:srgbClr>
                    </a:gs>
                    <a:gs pos="43000">
                      <a:srgbClr val="846648">
                        <a:satMod val="255000"/>
                      </a:srgbClr>
                    </a:gs>
                    <a:gs pos="48000">
                      <a:srgbClr val="846648">
                        <a:shade val="85000"/>
                        <a:satMod val="255000"/>
                      </a:srgbClr>
                    </a:gs>
                    <a:gs pos="100000">
                      <a:srgbClr val="846648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的划分</a:t>
            </a:r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1E9B9CD9-01C3-BF10-1685-7F0EADDE7ABA}"/>
              </a:ext>
            </a:extLst>
          </p:cNvPr>
          <p:cNvSpPr/>
          <p:nvPr/>
        </p:nvSpPr>
        <p:spPr>
          <a:xfrm>
            <a:off x="8517445" y="2691396"/>
            <a:ext cx="3797278" cy="2377860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此划分是否完美？</a:t>
            </a:r>
            <a:endParaRPr kumimoji="1"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未必，还得看它对未来数据的划分效果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（泛化能力）</a:t>
            </a:r>
            <a:endParaRPr kumimoji="1"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CA7ED05-9BA4-8A71-9B0F-2294D73A8B2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16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2FA61F-6A9C-42B1-42B5-E93DA4258DDA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89247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C3C4-1C32-EBD9-370D-350C57CD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D0ADC-532D-7A8E-EB3B-79205DB7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分类模型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B4C4EC-BE82-F943-FB98-2F3FC158A954}"/>
              </a:ext>
            </a:extLst>
          </p:cNvPr>
          <p:cNvSpPr txBox="1"/>
          <p:nvPr/>
        </p:nvSpPr>
        <p:spPr>
          <a:xfrm>
            <a:off x="495662" y="2436242"/>
            <a:ext cx="7125206" cy="2426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582613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分类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Classification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模型的目标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就是学习这样一条（或一个）‘边界线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面’，能把不同类别的点尽可能地分开。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 这条线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面就叫‘决策边界’。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R="0" lvl="0" indent="582613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像学地理时在地图上画国界线。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5EC69C-761E-7912-AEAA-54072F91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868" y="1753787"/>
            <a:ext cx="3956452" cy="3791600"/>
          </a:xfrm>
          <a:prstGeom prst="rect">
            <a:avLst/>
          </a:prstGeom>
        </p:spPr>
      </p:pic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BE01BFA6-0BBF-CB67-E691-B14CA5143EBA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17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6CB520-7A43-D6A0-854D-62E9D1B0B90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8468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0FC3-9573-EEBF-28F9-3BFB69C0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6E15A-7801-543C-B88D-76EA5FDF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" y="229235"/>
            <a:ext cx="4289773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神经网络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9FB1EBC-5CB0-A438-46A2-45744564ADD0}"/>
              </a:ext>
            </a:extLst>
          </p:cNvPr>
          <p:cNvSpPr txBox="1"/>
          <p:nvPr/>
        </p:nvSpPr>
        <p:spPr>
          <a:xfrm>
            <a:off x="443231" y="2018037"/>
            <a:ext cx="5652769" cy="2821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indent="582613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神经网络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是一种模拟人脑神经元工作方式的分类模型，它由多个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组成，每一层包含多个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神经元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，这些神经元通过权重和激活函数连接起来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858E99-16F7-DD0B-A94E-F137A77E1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533" y="1120675"/>
            <a:ext cx="5037031" cy="3815551"/>
          </a:xfrm>
          <a:prstGeom prst="rect">
            <a:avLst/>
          </a:prstGeom>
        </p:spPr>
      </p:pic>
      <p:sp>
        <p:nvSpPr>
          <p:cNvPr id="7" name="流程图: 过程 59">
            <a:extLst>
              <a:ext uri="{FF2B5EF4-FFF2-40B4-BE49-F238E27FC236}">
                <a16:creationId xmlns:a16="http://schemas.microsoft.com/office/drawing/2014/main" id="{6728B83C-1E6B-5CEF-CB12-502E440AB41C}"/>
              </a:ext>
            </a:extLst>
          </p:cNvPr>
          <p:cNvSpPr/>
          <p:nvPr/>
        </p:nvSpPr>
        <p:spPr>
          <a:xfrm>
            <a:off x="7920497" y="5122181"/>
            <a:ext cx="2963813" cy="846714"/>
          </a:xfrm>
          <a:prstGeom prst="flowChartProcess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80000" rIns="180000" bIns="108000" rtlCol="0" anchor="ctr"/>
          <a:lstStyle/>
          <a:p>
            <a:pPr lvl="0"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三层神经网络</a:t>
            </a:r>
            <a:endParaRPr lang="en-US" altLang="zh-CN" sz="2400" b="1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  <a:sym typeface="宋体" panose="02010600030101010101" pitchFamily="2" charset="-122"/>
            </a:endParaRPr>
          </a:p>
          <a:p>
            <a:pPr lvl="0"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（传统神经网络）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F126B59D-5A80-9678-11C5-FD153736AED2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18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37AB53-17C9-2A9C-15EE-C6C473CB620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50987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942826" y="1390106"/>
                <a:ext cx="591738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𝒀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𝜽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𝑿</m:t>
                      </m:r>
                      <m:r>
                        <a:rPr kumimoji="1" lang="en-US" altLang="zh-CN" sz="8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1" lang="zh-CN" altLang="en-US" sz="8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826" y="1390106"/>
                <a:ext cx="5917389" cy="1354217"/>
              </a:xfrm>
              <a:prstGeom prst="rect">
                <a:avLst/>
              </a:prstGeom>
              <a:blipFill rotWithShape="1">
                <a:blip r:embed="rId2"/>
                <a:stretch>
                  <a:fillRect l="-2" t="-7" r="-271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338861" y="1273969"/>
            <a:ext cx="982378" cy="158648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5999" y="1273969"/>
            <a:ext cx="896433" cy="158648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42826" y="1273969"/>
            <a:ext cx="960474" cy="158648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9314" y="3820131"/>
            <a:ext cx="3436559" cy="14922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分类模型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以神经网络为例</a:t>
            </a:r>
          </a:p>
        </p:txBody>
      </p:sp>
      <p:cxnSp>
        <p:nvCxnSpPr>
          <p:cNvPr id="11" name="直线箭头连接符 17"/>
          <p:cNvCxnSpPr>
            <a:cxnSpLocks/>
            <a:stCxn id="8" idx="2"/>
            <a:endCxn id="10" idx="0"/>
          </p:cNvCxnSpPr>
          <p:nvPr/>
        </p:nvCxnSpPr>
        <p:spPr>
          <a:xfrm flipH="1">
            <a:off x="2037594" y="2860456"/>
            <a:ext cx="4506622" cy="959675"/>
          </a:xfrm>
          <a:prstGeom prst="straightConnector1">
            <a:avLst/>
          </a:prstGeom>
          <a:ln w="76200">
            <a:solidFill>
              <a:srgbClr val="FFFFDA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245116" y="1273969"/>
            <a:ext cx="900917" cy="1586487"/>
          </a:xfrm>
          <a:prstGeom prst="rect">
            <a:avLst/>
          </a:prstGeom>
          <a:solidFill>
            <a:srgbClr val="0000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227" y="3161430"/>
            <a:ext cx="2693311" cy="204018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477" y="2924356"/>
            <a:ext cx="3099940" cy="2387992"/>
          </a:xfrm>
          <a:prstGeom prst="rect">
            <a:avLst/>
          </a:prstGeom>
        </p:spPr>
      </p:pic>
      <p:sp>
        <p:nvSpPr>
          <p:cNvPr id="15" name="流程图: 过程 59"/>
          <p:cNvSpPr/>
          <p:nvPr/>
        </p:nvSpPr>
        <p:spPr>
          <a:xfrm>
            <a:off x="5339529" y="5472264"/>
            <a:ext cx="2102009" cy="459593"/>
          </a:xfrm>
          <a:prstGeom prst="flowChartProcess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80000" rIns="180000" bIns="108000" rtlCol="0" anchor="ctr"/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三层神经网络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（传统网络）</a:t>
            </a:r>
          </a:p>
        </p:txBody>
      </p:sp>
      <p:sp>
        <p:nvSpPr>
          <p:cNvPr id="16" name="流程图: 过程 59"/>
          <p:cNvSpPr/>
          <p:nvPr/>
        </p:nvSpPr>
        <p:spPr>
          <a:xfrm>
            <a:off x="7875037" y="5472263"/>
            <a:ext cx="3620277" cy="459593"/>
          </a:xfrm>
          <a:prstGeom prst="flowChartProcess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80000" rIns="180000" bIns="108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深度神经网络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（层数大于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  <a:sym typeface="宋体" panose="02010600030101010101" pitchFamily="2" charset="-122"/>
              </a:rPr>
              <a:t>即为深度）</a:t>
            </a:r>
          </a:p>
        </p:txBody>
      </p:sp>
      <p:sp>
        <p:nvSpPr>
          <p:cNvPr id="3" name="AutoShape 15">
            <a:extLst>
              <a:ext uri="{FF2B5EF4-FFF2-40B4-BE49-F238E27FC236}">
                <a16:creationId xmlns:a16="http://schemas.microsoft.com/office/drawing/2014/main" id="{650E169D-F5AD-ED7D-2339-37DDF640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93" y="318617"/>
            <a:ext cx="2933272" cy="526404"/>
          </a:xfrm>
          <a:prstGeom prst="wedgeRoundRectCallout">
            <a:avLst>
              <a:gd name="adj1" fmla="val -39184"/>
              <a:gd name="adj2" fmla="val 122420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170" tIns="46990" rIns="9017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模型参数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  <a:cs typeface="Microsoft YaHei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A154688-352C-7F14-945E-C6A8687D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4695290" cy="706438"/>
          </a:xfrm>
        </p:spPr>
        <p:txBody>
          <a:bodyPr>
            <a:noAutofit/>
          </a:bodyPr>
          <a:lstStyle/>
          <a:p>
            <a:pPr algn="ctr"/>
            <a:r>
              <a:rPr lang="zh-CN" altLang="en-US" sz="2600" b="1" dirty="0">
                <a:sym typeface="可画风暴黑-简" panose="020B0500000000000000" charset="-122"/>
              </a:rPr>
              <a:t>分类模型：以神经网络为例</a:t>
            </a:r>
            <a:endParaRPr lang="zh-CN" altLang="en-US" sz="2600" dirty="0"/>
          </a:p>
        </p:txBody>
      </p:sp>
      <p:sp>
        <p:nvSpPr>
          <p:cNvPr id="19" name="云形 18">
            <a:extLst>
              <a:ext uri="{FF2B5EF4-FFF2-40B4-BE49-F238E27FC236}">
                <a16:creationId xmlns:a16="http://schemas.microsoft.com/office/drawing/2014/main" id="{F24503CC-82B0-424B-A75E-FEEF7BE7EA91}"/>
              </a:ext>
            </a:extLst>
          </p:cNvPr>
          <p:cNvSpPr/>
          <p:nvPr/>
        </p:nvSpPr>
        <p:spPr>
          <a:xfrm>
            <a:off x="479862" y="5580535"/>
            <a:ext cx="4359488" cy="919673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单个神经元是怎样的？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EC19901-66DA-EC4C-E379-96ED5B84FF0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19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56335C-C12F-A33C-9619-A16E6DE85CDD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DA154688-352C-7F14-945E-C6A8687D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4695290" cy="706438"/>
          </a:xfrm>
        </p:spPr>
        <p:txBody>
          <a:bodyPr>
            <a:noAutofit/>
          </a:bodyPr>
          <a:lstStyle/>
          <a:p>
            <a:pPr algn="ctr"/>
            <a:r>
              <a:rPr lang="zh-CN" altLang="en-US" sz="2600" b="1" dirty="0">
                <a:sym typeface="可画风暴黑-简" panose="020B0500000000000000" charset="-122"/>
              </a:rPr>
              <a:t>分类模型：以神经网络为例</a:t>
            </a:r>
            <a:endParaRPr lang="zh-CN" altLang="en-US" sz="2600" dirty="0"/>
          </a:p>
        </p:txBody>
      </p:sp>
      <p:sp>
        <p:nvSpPr>
          <p:cNvPr id="19" name="云形 18">
            <a:extLst>
              <a:ext uri="{FF2B5EF4-FFF2-40B4-BE49-F238E27FC236}">
                <a16:creationId xmlns:a16="http://schemas.microsoft.com/office/drawing/2014/main" id="{F24503CC-82B0-424B-A75E-FEEF7BE7EA91}"/>
              </a:ext>
            </a:extLst>
          </p:cNvPr>
          <p:cNvSpPr/>
          <p:nvPr/>
        </p:nvSpPr>
        <p:spPr>
          <a:xfrm>
            <a:off x="6238772" y="228600"/>
            <a:ext cx="4359488" cy="919673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单个神经元是怎样的？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64B90D31-E4B7-4C9D-A3A5-ED6FB79AB7C1}"/>
              </a:ext>
            </a:extLst>
          </p:cNvPr>
          <p:cNvSpPr txBox="1"/>
          <p:nvPr/>
        </p:nvSpPr>
        <p:spPr>
          <a:xfrm>
            <a:off x="262256" y="1724977"/>
            <a:ext cx="5532120" cy="268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神经网络的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神经元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是一个包含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输入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计算（求和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-&gt;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非线性函数）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输出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功能的模型。输入可以类比为神经元的树突，而输出可以类比为神经元的轴突，计算则可以类比为细胞核。</a:t>
            </a:r>
          </a:p>
        </p:txBody>
      </p:sp>
      <p:sp>
        <p:nvSpPr>
          <p:cNvPr id="20" name="Freeform 25">
            <a:extLst>
              <a:ext uri="{FF2B5EF4-FFF2-40B4-BE49-F238E27FC236}">
                <a16:creationId xmlns:a16="http://schemas.microsoft.com/office/drawing/2014/main" id="{377B0476-5DA3-4978-A24C-238829E47874}"/>
              </a:ext>
            </a:extLst>
          </p:cNvPr>
          <p:cNvSpPr/>
          <p:nvPr/>
        </p:nvSpPr>
        <p:spPr>
          <a:xfrm>
            <a:off x="6526745" y="1591628"/>
            <a:ext cx="4838803" cy="2951798"/>
          </a:xfrm>
          <a:custGeom>
            <a:avLst/>
            <a:gdLst/>
            <a:ahLst/>
            <a:cxnLst/>
            <a:rect l="l" t="t" r="r" b="b"/>
            <a:pathLst>
              <a:path w="9628359" h="5509791">
                <a:moveTo>
                  <a:pt x="0" y="0"/>
                </a:moveTo>
                <a:lnTo>
                  <a:pt x="9628359" y="0"/>
                </a:lnTo>
                <a:lnTo>
                  <a:pt x="9628359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DEFA6C-9744-446B-9EC3-5F8B937C612A}"/>
              </a:ext>
            </a:extLst>
          </p:cNvPr>
          <p:cNvSpPr/>
          <p:nvPr/>
        </p:nvSpPr>
        <p:spPr>
          <a:xfrm>
            <a:off x="378243" y="4951591"/>
            <a:ext cx="8634094" cy="1547370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思考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为什么必须是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非线性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函数？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思考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</a:rPr>
              <a:t>单个神经元如此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</a:rPr>
              <a:t>，为何深度神经网络却极为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强大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</a:rPr>
              <a:t>？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BBC0F49-BE7F-4C47-A584-2048EEDFE161}"/>
              </a:ext>
            </a:extLst>
          </p:cNvPr>
          <p:cNvSpPr/>
          <p:nvPr/>
        </p:nvSpPr>
        <p:spPr>
          <a:xfrm>
            <a:off x="7513208" y="1474932"/>
            <a:ext cx="3150000" cy="3150000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E45571-01CB-CADC-0424-C2ADE8FF487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3603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DA154688-352C-7F14-945E-C6A8687D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7655" y="115866"/>
            <a:ext cx="9444626" cy="706438"/>
          </a:xfrm>
        </p:spPr>
        <p:txBody>
          <a:bodyPr>
            <a:noAutofit/>
          </a:bodyPr>
          <a:lstStyle/>
          <a:p>
            <a:pPr algn="ctr"/>
            <a:r>
              <a:rPr lang="zh-CN" altLang="en-US" sz="2600" b="1" dirty="0">
                <a:sym typeface="可画风暴黑-简" panose="020B0500000000000000" charset="-122"/>
              </a:rPr>
              <a:t>神经网络的通用近似定理</a:t>
            </a:r>
            <a:br>
              <a:rPr lang="en-US" altLang="zh-CN" sz="2600" b="1" dirty="0">
                <a:sym typeface="可画风暴黑-简" panose="020B0500000000000000" charset="-122"/>
              </a:rPr>
            </a:b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Universal Approximation Theorem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）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DEFA6C-9744-446B-9EC3-5F8B937C612A}"/>
              </a:ext>
            </a:extLst>
          </p:cNvPr>
          <p:cNvSpPr/>
          <p:nvPr/>
        </p:nvSpPr>
        <p:spPr>
          <a:xfrm>
            <a:off x="451446" y="1315856"/>
            <a:ext cx="11289106" cy="128506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ctr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通用近似定理的通俗解释：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一个足够大的神经网络，理论上可以像“万能函数拟合器”一样，以任意精度逼近任何复杂的连续函数，无论该函数本身有多曲折、多奇怪。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9" name="同侧圆角矩形 29">
            <a:extLst>
              <a:ext uri="{FF2B5EF4-FFF2-40B4-BE49-F238E27FC236}">
                <a16:creationId xmlns:a16="http://schemas.microsoft.com/office/drawing/2014/main" id="{2460FC2E-AEC0-4B53-A59F-7B157030C013}"/>
              </a:ext>
            </a:extLst>
          </p:cNvPr>
          <p:cNvSpPr/>
          <p:nvPr/>
        </p:nvSpPr>
        <p:spPr>
          <a:xfrm>
            <a:off x="6839211" y="-1"/>
            <a:ext cx="5352788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不要求掌握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59260-6844-48DA-8CE5-AACB1FAF9BFF}"/>
              </a:ext>
            </a:extLst>
          </p:cNvPr>
          <p:cNvSpPr/>
          <p:nvPr/>
        </p:nvSpPr>
        <p:spPr>
          <a:xfrm>
            <a:off x="451445" y="2861793"/>
            <a:ext cx="11289107" cy="128506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ctr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意义：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通用近似定理是深度学习的“信心基石”，从数学上保证了，无论我们面对的问题多么复杂，总存在一个神经网络可以作为解决方案。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B4276C5B-AF3C-4CF1-A434-CB8505BC1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45" y="4407730"/>
            <a:ext cx="11289108" cy="202074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理论上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保证了这种拟合能力的存在性，但它没有告诉我们具体要用多大的网络、如何训练才能找到这个完美的拟合，即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只说了“存在”，没说“怎么找”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实践中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：我们依靠深度（多层） 和宽度（每层众多神经元） 的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网络结构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，加上海量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和强大的优化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来寻找这个理论上存在的解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10883207-0BEB-2F7D-B10B-85AB21A3563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21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7DCFA8-E7E4-CC87-DCA2-F8552770A4B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4159382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0006-EF47-11D4-8487-E7DC5DDB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0D8E4-A183-BB64-D984-FE64ECE2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其他常见分类模型</a:t>
            </a:r>
          </a:p>
        </p:txBody>
      </p:sp>
      <p:sp>
        <p:nvSpPr>
          <p:cNvPr id="6" name="序号">
            <a:extLst>
              <a:ext uri="{FF2B5EF4-FFF2-40B4-BE49-F238E27FC236}">
                <a16:creationId xmlns:a16="http://schemas.microsoft.com/office/drawing/2014/main" id="{74D24957-13FD-6A00-EA53-19FCB2F3FEB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50721" y="2684050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02</a:t>
            </a:r>
          </a:p>
        </p:txBody>
      </p:sp>
      <p:sp>
        <p:nvSpPr>
          <p:cNvPr id="7" name="项标题">
            <a:extLst>
              <a:ext uri="{FF2B5EF4-FFF2-40B4-BE49-F238E27FC236}">
                <a16:creationId xmlns:a16="http://schemas.microsoft.com/office/drawing/2014/main" id="{14045DE1-B555-CD57-89BC-09AECBDDD20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140983" y="2684145"/>
            <a:ext cx="2220661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逻辑回归</a:t>
            </a:r>
          </a:p>
        </p:txBody>
      </p:sp>
      <p:sp>
        <p:nvSpPr>
          <p:cNvPr id="9" name="序号">
            <a:extLst>
              <a:ext uri="{FF2B5EF4-FFF2-40B4-BE49-F238E27FC236}">
                <a16:creationId xmlns:a16="http://schemas.microsoft.com/office/drawing/2014/main" id="{62A45CF9-66AC-B19C-4036-0D5ECC1215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0721" y="3428905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03</a:t>
            </a:r>
          </a:p>
        </p:txBody>
      </p:sp>
      <p:sp>
        <p:nvSpPr>
          <p:cNvPr id="10" name="项标题">
            <a:extLst>
              <a:ext uri="{FF2B5EF4-FFF2-40B4-BE49-F238E27FC236}">
                <a16:creationId xmlns:a16="http://schemas.microsoft.com/office/drawing/2014/main" id="{AA1B39C9-346B-B371-ED5E-CD073AFE0F7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140983" y="3429000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决策树</a:t>
            </a:r>
          </a:p>
        </p:txBody>
      </p:sp>
      <p:sp>
        <p:nvSpPr>
          <p:cNvPr id="11" name="序号">
            <a:extLst>
              <a:ext uri="{FF2B5EF4-FFF2-40B4-BE49-F238E27FC236}">
                <a16:creationId xmlns:a16="http://schemas.microsoft.com/office/drawing/2014/main" id="{3D84360A-9AF6-5841-6E29-02657C19FEF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434424" y="2684590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05</a:t>
            </a:r>
          </a:p>
        </p:txBody>
      </p:sp>
      <p:sp>
        <p:nvSpPr>
          <p:cNvPr id="12" name="项标题">
            <a:extLst>
              <a:ext uri="{FF2B5EF4-FFF2-40B4-BE49-F238E27FC236}">
                <a16:creationId xmlns:a16="http://schemas.microsoft.com/office/drawing/2014/main" id="{7796CD53-BD6E-8B42-588D-CA7956C6F52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124686" y="2684050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朴素贝叶斯</a:t>
            </a:r>
          </a:p>
        </p:txBody>
      </p:sp>
      <p:sp>
        <p:nvSpPr>
          <p:cNvPr id="13" name="序号">
            <a:extLst>
              <a:ext uri="{FF2B5EF4-FFF2-40B4-BE49-F238E27FC236}">
                <a16:creationId xmlns:a16="http://schemas.microsoft.com/office/drawing/2014/main" id="{DDB0454E-0C00-943E-CD44-C62751597A2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34424" y="1927303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04</a:t>
            </a:r>
          </a:p>
        </p:txBody>
      </p:sp>
      <p:sp>
        <p:nvSpPr>
          <p:cNvPr id="14" name="项标题">
            <a:extLst>
              <a:ext uri="{FF2B5EF4-FFF2-40B4-BE49-F238E27FC236}">
                <a16:creationId xmlns:a16="http://schemas.microsoft.com/office/drawing/2014/main" id="{2B6525FA-8014-B607-B039-290364230E8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124686" y="1927398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随机森林</a:t>
            </a:r>
          </a:p>
        </p:txBody>
      </p:sp>
      <p:sp>
        <p:nvSpPr>
          <p:cNvPr id="15" name="序号">
            <a:extLst>
              <a:ext uri="{FF2B5EF4-FFF2-40B4-BE49-F238E27FC236}">
                <a16:creationId xmlns:a16="http://schemas.microsoft.com/office/drawing/2014/main" id="{0F8F020A-2F3D-C20C-25DD-ECB9467DE7F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50721" y="1939195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01</a:t>
            </a:r>
          </a:p>
        </p:txBody>
      </p:sp>
      <p:sp>
        <p:nvSpPr>
          <p:cNvPr id="16" name="项标题">
            <a:extLst>
              <a:ext uri="{FF2B5EF4-FFF2-40B4-BE49-F238E27FC236}">
                <a16:creationId xmlns:a16="http://schemas.microsoft.com/office/drawing/2014/main" id="{7F31DDC1-4A69-C589-BC2C-56AF63A00C7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140983" y="1939290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支持向量机</a:t>
            </a:r>
          </a:p>
        </p:txBody>
      </p:sp>
      <p:sp>
        <p:nvSpPr>
          <p:cNvPr id="20" name="序号">
            <a:extLst>
              <a:ext uri="{FF2B5EF4-FFF2-40B4-BE49-F238E27FC236}">
                <a16:creationId xmlns:a16="http://schemas.microsoft.com/office/drawing/2014/main" id="{2DE2EAC0-501C-0724-970A-C678D522F0C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72524" y="3428810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06</a:t>
            </a:r>
          </a:p>
        </p:txBody>
      </p:sp>
      <p:sp>
        <p:nvSpPr>
          <p:cNvPr id="21" name="项标题">
            <a:extLst>
              <a:ext uri="{FF2B5EF4-FFF2-40B4-BE49-F238E27FC236}">
                <a16:creationId xmlns:a16="http://schemas.microsoft.com/office/drawing/2014/main" id="{AB998E9D-A960-EEC5-5C24-CA30C3BF70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162786" y="3428905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XGBoost</a:t>
            </a:r>
          </a:p>
        </p:txBody>
      </p:sp>
      <p:sp>
        <p:nvSpPr>
          <p:cNvPr id="3" name="云形 2">
            <a:extLst>
              <a:ext uri="{FF2B5EF4-FFF2-40B4-BE49-F238E27FC236}">
                <a16:creationId xmlns:a16="http://schemas.microsoft.com/office/drawing/2014/main" id="{79D71463-D51A-44FF-66CA-473566CB1F80}"/>
              </a:ext>
            </a:extLst>
          </p:cNvPr>
          <p:cNvSpPr/>
          <p:nvPr/>
        </p:nvSpPr>
        <p:spPr>
          <a:xfrm>
            <a:off x="3334428" y="4601496"/>
            <a:ext cx="5204888" cy="1325685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标红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为更广泛使用的分类模型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同侧圆角矩形 29">
            <a:extLst>
              <a:ext uri="{FF2B5EF4-FFF2-40B4-BE49-F238E27FC236}">
                <a16:creationId xmlns:a16="http://schemas.microsoft.com/office/drawing/2014/main" id="{BA29C61F-8C6D-7154-BA44-215680BC9228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知其名即可，不要求掌握各类模型的技术原理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6CA183F4-8103-0A54-1CA0-4892B9EE3A98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22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FC0269-BF21-4B99-8543-2A01E373C7D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401566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9FE5-86CD-049A-406B-22AAF2B4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020B-2325-A632-2941-369384BB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支持向量机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21E600B2-C6FB-9CBF-D8DC-6717C0B8583C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3C0B711C-D349-4CA4-BEE4-60C65C7EB539}"/>
              </a:ext>
            </a:extLst>
          </p:cNvPr>
          <p:cNvSpPr txBox="1"/>
          <p:nvPr/>
        </p:nvSpPr>
        <p:spPr>
          <a:xfrm>
            <a:off x="301512" y="1334652"/>
            <a:ext cx="5993345" cy="5037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支持向量机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的目标是寻找一个最优分类超平面，并最大化不同类别样本到该平面的间隔，以此增强模型的泛化能力。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对于线性不可分的情况，通过核函数将样本映射到高维特征空间来实现有效分离。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可适用于线性和非线性分类问题，但在处理大规模数据时计算复杂度较高。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E622F614-A84C-4A86-8B97-BC0797A32ED9}"/>
              </a:ext>
            </a:extLst>
          </p:cNvPr>
          <p:cNvSpPr/>
          <p:nvPr/>
        </p:nvSpPr>
        <p:spPr>
          <a:xfrm>
            <a:off x="6358368" y="1544013"/>
            <a:ext cx="5532120" cy="2382764"/>
          </a:xfrm>
          <a:custGeom>
            <a:avLst/>
            <a:gdLst/>
            <a:ahLst/>
            <a:cxnLst/>
            <a:rect l="l" t="t" r="r" b="b"/>
            <a:pathLst>
              <a:path w="11107608" h="5643866">
                <a:moveTo>
                  <a:pt x="0" y="0"/>
                </a:moveTo>
                <a:lnTo>
                  <a:pt x="11107608" y="0"/>
                </a:lnTo>
                <a:lnTo>
                  <a:pt x="11107608" y="5643866"/>
                </a:lnTo>
                <a:lnTo>
                  <a:pt x="0" y="564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云形 10">
            <a:extLst>
              <a:ext uri="{FF2B5EF4-FFF2-40B4-BE49-F238E27FC236}">
                <a16:creationId xmlns:a16="http://schemas.microsoft.com/office/drawing/2014/main" id="{14F32CD3-1CEC-4990-9F7E-E4B1F6A416A2}"/>
              </a:ext>
            </a:extLst>
          </p:cNvPr>
          <p:cNvSpPr/>
          <p:nvPr/>
        </p:nvSpPr>
        <p:spPr>
          <a:xfrm>
            <a:off x="6685600" y="4450248"/>
            <a:ext cx="5204888" cy="1325685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为何希望最大化不同类别样本到分割平面的间隔？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B63AC14-1666-A907-69DB-99801E752E18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E50718-6474-0479-69C8-41926937D1F8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89165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9FE5-86CD-049A-406B-22AAF2B4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020B-2325-A632-2941-369384BB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决策树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21E600B2-C6FB-9CBF-D8DC-6717C0B8583C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3C0B711C-D349-4CA4-BEE4-60C65C7EB539}"/>
              </a:ext>
            </a:extLst>
          </p:cNvPr>
          <p:cNvSpPr txBox="1"/>
          <p:nvPr/>
        </p:nvSpPr>
        <p:spPr>
          <a:xfrm>
            <a:off x="533400" y="1647137"/>
            <a:ext cx="5532120" cy="4299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决策树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是一种树状结构的分类模型，通过一系列“如果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那么”规则将数据划分为不同的类别。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决策树的优点是易于理解和解释，但容易过拟合（即对训练数据表现很好，但对新数据表现较差）。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029D050F-D9C1-4008-8C4C-899751C75D02}"/>
              </a:ext>
            </a:extLst>
          </p:cNvPr>
          <p:cNvSpPr>
            <a:spLocks noChangeAspect="1"/>
          </p:cNvSpPr>
          <p:nvPr/>
        </p:nvSpPr>
        <p:spPr>
          <a:xfrm>
            <a:off x="6526745" y="1672189"/>
            <a:ext cx="5199084" cy="4299254"/>
          </a:xfrm>
          <a:custGeom>
            <a:avLst/>
            <a:gdLst/>
            <a:ahLst/>
            <a:cxnLst/>
            <a:rect l="l" t="t" r="r" b="b"/>
            <a:pathLst>
              <a:path w="6695707" h="5435684">
                <a:moveTo>
                  <a:pt x="0" y="0"/>
                </a:moveTo>
                <a:lnTo>
                  <a:pt x="6695707" y="0"/>
                </a:lnTo>
                <a:lnTo>
                  <a:pt x="6695707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75A961-DDC7-40D9-ACE5-CCD82CFBD11F}"/>
              </a:ext>
            </a:extLst>
          </p:cNvPr>
          <p:cNvSpPr txBox="1"/>
          <p:nvPr/>
        </p:nvSpPr>
        <p:spPr>
          <a:xfrm>
            <a:off x="8273442" y="1220958"/>
            <a:ext cx="213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是否举行运动会？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5D7D3E2-FAD3-0413-CE92-3F6464F852F8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E73C17-2D59-5C2D-64AB-70439A602E8C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3802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9FE5-86CD-049A-406B-22AAF2B4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020B-2325-A632-2941-369384BB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随机森林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21E600B2-C6FB-9CBF-D8DC-6717C0B8583C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3C0B711C-D349-4CA4-BEE4-60C65C7EB539}"/>
              </a:ext>
            </a:extLst>
          </p:cNvPr>
          <p:cNvSpPr txBox="1"/>
          <p:nvPr/>
        </p:nvSpPr>
        <p:spPr>
          <a:xfrm>
            <a:off x="243840" y="1697241"/>
            <a:ext cx="4965526" cy="4299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随机森林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是一种集成学习模型，由多个决策树组成。每棵决策树对数据进行分类，最终通过投票或平均的方式得出最终结果。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随机森林的优点是准确性高，抗过拟合能力强，但训练时间较长。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D825E05E-3701-4358-BA42-1287567B6E09}"/>
              </a:ext>
            </a:extLst>
          </p:cNvPr>
          <p:cNvSpPr>
            <a:spLocks noChangeAspect="1"/>
          </p:cNvSpPr>
          <p:nvPr/>
        </p:nvSpPr>
        <p:spPr>
          <a:xfrm>
            <a:off x="5465847" y="2002970"/>
            <a:ext cx="6544944" cy="3696372"/>
          </a:xfrm>
          <a:custGeom>
            <a:avLst/>
            <a:gdLst/>
            <a:ahLst/>
            <a:cxnLst/>
            <a:rect l="l" t="t" r="r" b="b"/>
            <a:pathLst>
              <a:path w="9996205" h="5635360">
                <a:moveTo>
                  <a:pt x="0" y="0"/>
                </a:moveTo>
                <a:lnTo>
                  <a:pt x="9996205" y="0"/>
                </a:lnTo>
                <a:lnTo>
                  <a:pt x="9996205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32E01F81-C472-C9CF-3137-6B02D08644A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25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6E8977-45B1-0ADE-563E-BF379C747B50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556360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9FE5-86CD-049A-406B-22AAF2B4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020B-2325-A632-2941-369384BB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其他常见分类模型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A6C7F7-4C5B-7CFA-6AB5-E45E1909CCF2}"/>
              </a:ext>
            </a:extLst>
          </p:cNvPr>
          <p:cNvSpPr/>
          <p:nvPr/>
        </p:nvSpPr>
        <p:spPr>
          <a:xfrm>
            <a:off x="1303061" y="1356854"/>
            <a:ext cx="9389520" cy="3082412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36000" rIns="18000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决策树与随机森林的关系是什么？</a:t>
            </a:r>
            <a:endParaRPr kumimoji="1" lang="en-US" altLang="zh-CN" sz="2400" b="1" kern="0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algn="just">
              <a:lnSpc>
                <a:spcPct val="200000"/>
              </a:lnSpc>
              <a:buFont typeface="Wingdings" pitchFamily="2" charset="2"/>
              <a:buChar char="Ø"/>
              <a:defRPr/>
            </a:pPr>
            <a:r>
              <a:rPr kumimoji="1" lang="zh-CN" altLang="en-US" sz="24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单个</a:t>
            </a:r>
            <a:r>
              <a:rPr kumimoji="1" lang="zh-CN" altLang="en-US" sz="2400" b="1" kern="0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决策树</a:t>
            </a:r>
            <a:r>
              <a:rPr kumimoji="1" lang="zh-CN" altLang="en-US" sz="24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模型容易“死记硬背”（过拟合）</a:t>
            </a:r>
            <a:r>
              <a:rPr kumimoji="1" lang="zh-CN" altLang="en-US" sz="2400" b="1" kern="0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。随机森林</a:t>
            </a:r>
            <a:r>
              <a:rPr kumimoji="1" lang="zh-CN" altLang="en-US" sz="24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是一种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集成学习</a:t>
            </a:r>
            <a:r>
              <a:rPr kumimoji="1" lang="zh-CN" altLang="en-US" sz="24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方法，通过构建几十上百个不同的决策树，让它们集体投票做出决策，从而提升模型的泛化能力和准确性。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2" name="云形 21">
            <a:extLst>
              <a:ext uri="{FF2B5EF4-FFF2-40B4-BE49-F238E27FC236}">
                <a16:creationId xmlns:a16="http://schemas.microsoft.com/office/drawing/2014/main" id="{DDC5F0F9-03DA-1F1D-F16C-1557CA37CBA2}"/>
              </a:ext>
            </a:extLst>
          </p:cNvPr>
          <p:cNvSpPr/>
          <p:nvPr/>
        </p:nvSpPr>
        <p:spPr>
          <a:xfrm>
            <a:off x="663681" y="4572000"/>
            <a:ext cx="10899058" cy="1548581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集成学习的思想：是让多个模型一起投票做决策，实现远超单个模型的表现，可比喻为“三个臭皮匠，顶个诸葛亮”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21E600B2-C6FB-9CBF-D8DC-6717C0B8583C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C4E7148-2EE6-6188-1CEA-E89DAF0D6ECC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26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7853DD-6A60-1AF3-816F-24E01A7DED0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09722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700" y="3262630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聚类模型</a:t>
            </a:r>
          </a:p>
        </p:txBody>
      </p:sp>
      <p:sp>
        <p:nvSpPr>
          <p:cNvPr id="12" name="矩形 11"/>
          <p:cNvSpPr/>
          <p:nvPr/>
        </p:nvSpPr>
        <p:spPr>
          <a:xfrm>
            <a:off x="5737572" y="2572464"/>
            <a:ext cx="7168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245528" cy="705485"/>
          </a:xfrm>
        </p:spPr>
        <p:txBody>
          <a:bodyPr>
            <a:normAutofit/>
          </a:bodyPr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聚类模型</a:t>
            </a:r>
          </a:p>
        </p:txBody>
      </p:sp>
      <p:sp>
        <p:nvSpPr>
          <p:cNvPr id="25" name="Freeform 25"/>
          <p:cNvSpPr/>
          <p:nvPr/>
        </p:nvSpPr>
        <p:spPr>
          <a:xfrm>
            <a:off x="7027101" y="1463675"/>
            <a:ext cx="4730620" cy="4553585"/>
          </a:xfrm>
          <a:custGeom>
            <a:avLst/>
            <a:gdLst/>
            <a:ahLst/>
            <a:cxnLst/>
            <a:rect l="l" t="t" r="r" b="b"/>
            <a:pathLst>
              <a:path w="6149238" h="5874057">
                <a:moveTo>
                  <a:pt x="0" y="0"/>
                </a:moveTo>
                <a:lnTo>
                  <a:pt x="6149238" y="0"/>
                </a:lnTo>
                <a:lnTo>
                  <a:pt x="6149238" y="5874057"/>
                </a:lnTo>
                <a:lnTo>
                  <a:pt x="0" y="5874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19A47F-B56F-BBDC-FAB3-8A06BD85DAC9}"/>
              </a:ext>
            </a:extLst>
          </p:cNvPr>
          <p:cNvSpPr txBox="1"/>
          <p:nvPr/>
        </p:nvSpPr>
        <p:spPr>
          <a:xfrm>
            <a:off x="434279" y="2344379"/>
            <a:ext cx="6191989" cy="2792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582613" algn="just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聚类（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Clustering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模型的目标是在无监督（即没有真实标签）的情况下，将一组数据 样本划分为不同的簇（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Clusters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），以使得每个簇内的数据尽可能相似，而不同簇之间的数据差异尽可能大。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6B4F117-EDC3-7518-CBCE-7151FC83303F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28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B56CC9-D4A4-E569-DDA1-0654C8D2C5B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501486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 txBox="1"/>
          <p:nvPr/>
        </p:nvSpPr>
        <p:spPr>
          <a:xfrm>
            <a:off x="865402" y="1310722"/>
            <a:ext cx="10711918" cy="4216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核心任务：让计算机自动发现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隐藏的自然分组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关键问题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   我们没有预先告诉计算机任何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“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正确答案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”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（比如谁是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“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高价值客户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”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、谁是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“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家庭主妇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”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），但计算机能不能自己在一堆数据里发现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“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物以类聚，人以群分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”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的规律？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解决方案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   让计算机自己观察数据点之间的相似度，把相似的聚在一起，不相似的分开！这就是聚类！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A6EB101-8E40-8B18-299D-F484530C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1" y="229235"/>
            <a:ext cx="4245528" cy="705485"/>
          </a:xfrm>
        </p:spPr>
        <p:txBody>
          <a:bodyPr>
            <a:normAutofit/>
          </a:bodyPr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聚类模型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DAC135EA-F9FF-C271-C487-0B2434C5BB2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29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970453-3429-EDFB-A322-625B9042E33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24643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ABDE-C3DF-1986-671F-E4E88B7D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99C8E-535B-791E-922A-79E58A9A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常见的聚类模型</a:t>
            </a:r>
          </a:p>
        </p:txBody>
      </p:sp>
      <p:sp>
        <p:nvSpPr>
          <p:cNvPr id="6" name="序号">
            <a:extLst>
              <a:ext uri="{FF2B5EF4-FFF2-40B4-BE49-F238E27FC236}">
                <a16:creationId xmlns:a16="http://schemas.microsoft.com/office/drawing/2014/main" id="{EBCDD581-A4A3-8D5C-52BD-58FFE696F04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055116" y="2769196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02</a:t>
            </a:r>
          </a:p>
        </p:txBody>
      </p:sp>
      <p:sp>
        <p:nvSpPr>
          <p:cNvPr id="7" name="项标题">
            <a:extLst>
              <a:ext uri="{FF2B5EF4-FFF2-40B4-BE49-F238E27FC236}">
                <a16:creationId xmlns:a16="http://schemas.microsoft.com/office/drawing/2014/main" id="{3F6AEA96-96B8-8EE2-EF77-C9C0C62AB5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745378" y="2769291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谱聚类</a:t>
            </a:r>
          </a:p>
        </p:txBody>
      </p:sp>
      <p:sp>
        <p:nvSpPr>
          <p:cNvPr id="9" name="序号">
            <a:extLst>
              <a:ext uri="{FF2B5EF4-FFF2-40B4-BE49-F238E27FC236}">
                <a16:creationId xmlns:a16="http://schemas.microsoft.com/office/drawing/2014/main" id="{140DBACC-7BEA-DD63-AB89-BC265E95E0A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55116" y="3514051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03</a:t>
            </a:r>
          </a:p>
        </p:txBody>
      </p:sp>
      <p:sp>
        <p:nvSpPr>
          <p:cNvPr id="10" name="项标题">
            <a:extLst>
              <a:ext uri="{FF2B5EF4-FFF2-40B4-BE49-F238E27FC236}">
                <a16:creationId xmlns:a16="http://schemas.microsoft.com/office/drawing/2014/main" id="{8E65FA16-C970-D611-A6A7-724F76D011E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745378" y="3514146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层次聚类</a:t>
            </a:r>
          </a:p>
        </p:txBody>
      </p:sp>
      <p:sp>
        <p:nvSpPr>
          <p:cNvPr id="13" name="序号">
            <a:extLst>
              <a:ext uri="{FF2B5EF4-FFF2-40B4-BE49-F238E27FC236}">
                <a16:creationId xmlns:a16="http://schemas.microsoft.com/office/drawing/2014/main" id="{B63CF695-BCB5-DB43-22B1-15A37539198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5116" y="4258906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04</a:t>
            </a:r>
          </a:p>
        </p:txBody>
      </p:sp>
      <p:sp>
        <p:nvSpPr>
          <p:cNvPr id="14" name="项标题">
            <a:extLst>
              <a:ext uri="{FF2B5EF4-FFF2-40B4-BE49-F238E27FC236}">
                <a16:creationId xmlns:a16="http://schemas.microsoft.com/office/drawing/2014/main" id="{79BFEF39-ADC3-AE21-3A53-B7E5A34BEE0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745378" y="4259001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DBSCAN</a:t>
            </a:r>
          </a:p>
        </p:txBody>
      </p:sp>
      <p:sp>
        <p:nvSpPr>
          <p:cNvPr id="15" name="序号">
            <a:extLst>
              <a:ext uri="{FF2B5EF4-FFF2-40B4-BE49-F238E27FC236}">
                <a16:creationId xmlns:a16="http://schemas.microsoft.com/office/drawing/2014/main" id="{BFF7AF15-DA54-6ACA-658B-7D60420EB0F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055116" y="2024341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01</a:t>
            </a:r>
          </a:p>
        </p:txBody>
      </p:sp>
      <p:sp>
        <p:nvSpPr>
          <p:cNvPr id="16" name="项标题">
            <a:extLst>
              <a:ext uri="{FF2B5EF4-FFF2-40B4-BE49-F238E27FC236}">
                <a16:creationId xmlns:a16="http://schemas.microsoft.com/office/drawing/2014/main" id="{B757E77A-1AD4-6F15-0BAC-E633DF27780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45378" y="2024436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K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均值聚类</a:t>
            </a:r>
          </a:p>
        </p:txBody>
      </p:sp>
      <p:sp>
        <p:nvSpPr>
          <p:cNvPr id="3" name="云形 2">
            <a:extLst>
              <a:ext uri="{FF2B5EF4-FFF2-40B4-BE49-F238E27FC236}">
                <a16:creationId xmlns:a16="http://schemas.microsoft.com/office/drawing/2014/main" id="{4E9AD94E-1AB7-EDB5-7D62-8F7C0CDE3115}"/>
              </a:ext>
            </a:extLst>
          </p:cNvPr>
          <p:cNvSpPr/>
          <p:nvPr/>
        </p:nvSpPr>
        <p:spPr>
          <a:xfrm>
            <a:off x="6238772" y="1911743"/>
            <a:ext cx="3898112" cy="3034513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标红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为更广泛使用的聚类模型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同侧圆角矩形 29">
            <a:extLst>
              <a:ext uri="{FF2B5EF4-FFF2-40B4-BE49-F238E27FC236}">
                <a16:creationId xmlns:a16="http://schemas.microsoft.com/office/drawing/2014/main" id="{1E779C9F-8C0B-CE6A-F7F2-BBE0B4C13247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知其名即可，不要求掌握各类模型的技术原理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9488D3FA-ED33-5CC3-BA46-5F0534CB7B76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30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7EE5E5-FC9C-4308-2D7A-1AB347B9540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000883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9FE5-86CD-049A-406B-22AAF2B4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B020B-2325-A632-2941-369384BB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b="1" dirty="0">
                <a:cs typeface="+mn-ea"/>
                <a:sym typeface="+mn-lt"/>
              </a:rPr>
              <a:t>K</a:t>
            </a:r>
            <a:r>
              <a:rPr lang="zh-CN" altLang="en-US" b="1" dirty="0">
                <a:cs typeface="+mn-ea"/>
                <a:sym typeface="+mn-lt"/>
              </a:rPr>
              <a:t>均值聚类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21E600B2-C6FB-9CBF-D8DC-6717C0B8583C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3C0B711C-D349-4CA4-BEE4-60C65C7EB539}"/>
              </a:ext>
            </a:extLst>
          </p:cNvPr>
          <p:cNvSpPr txBox="1"/>
          <p:nvPr/>
        </p:nvSpPr>
        <p:spPr>
          <a:xfrm>
            <a:off x="139996" y="1350646"/>
            <a:ext cx="5698070" cy="356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K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均值聚类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(K-means)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是一种经典的聚类算法，它将数据划分为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个簇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(clusters)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，每个簇的中心由簇内数据的平均值决定。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K-means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的优点是简单高效，但需要预先指定簇的数量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3D8E7F69-65ED-4848-94FA-BEE0760CDC9A}"/>
              </a:ext>
            </a:extLst>
          </p:cNvPr>
          <p:cNvSpPr/>
          <p:nvPr/>
        </p:nvSpPr>
        <p:spPr>
          <a:xfrm>
            <a:off x="6096000" y="1225941"/>
            <a:ext cx="5596255" cy="3810000"/>
          </a:xfrm>
          <a:custGeom>
            <a:avLst/>
            <a:gdLst/>
            <a:ahLst/>
            <a:cxnLst/>
            <a:rect l="l" t="t" r="r" b="b"/>
            <a:pathLst>
              <a:path w="6476959" h="4250504">
                <a:moveTo>
                  <a:pt x="0" y="0"/>
                </a:moveTo>
                <a:lnTo>
                  <a:pt x="6476959" y="0"/>
                </a:lnTo>
                <a:lnTo>
                  <a:pt x="6476959" y="4250505"/>
                </a:lnTo>
                <a:lnTo>
                  <a:pt x="0" y="4250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11">
            <a:extLst>
              <a:ext uri="{FF2B5EF4-FFF2-40B4-BE49-F238E27FC236}">
                <a16:creationId xmlns:a16="http://schemas.microsoft.com/office/drawing/2014/main" id="{C68EAA5F-DC6F-4F19-AE0C-D92F3B4E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47" y="5166616"/>
            <a:ext cx="11289108" cy="1405193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olid"/>
            <a:miter lim="800000"/>
          </a:ln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通俗解释：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如果要聚为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个簇，先随机撒下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颗“豆子”作为初始中心，全体样本点“就近吸附”到其中一颗豆子周围，形成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个初始簇。然后，每一堆样本重新计算并确定一个新的中心点，再全体样本点根据新的中心点重新选择吸附。如此反复，直至中心点不再改变。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B8E8D3-11E7-7439-1CEA-EA48923AB35E}"/>
              </a:ext>
            </a:extLst>
          </p:cNvPr>
          <p:cNvSpPr txBox="1"/>
          <p:nvPr/>
        </p:nvSpPr>
        <p:spPr>
          <a:xfrm>
            <a:off x="6346413" y="6442825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485190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312795" y="3262630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回归模型</a:t>
            </a:r>
          </a:p>
        </p:txBody>
      </p:sp>
      <p:sp>
        <p:nvSpPr>
          <p:cNvPr id="12" name="矩形 11"/>
          <p:cNvSpPr/>
          <p:nvPr/>
        </p:nvSpPr>
        <p:spPr>
          <a:xfrm>
            <a:off x="5737572" y="2572464"/>
            <a:ext cx="7168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304522" cy="705485"/>
          </a:xfrm>
        </p:spPr>
        <p:txBody>
          <a:bodyPr>
            <a:normAutofit/>
          </a:bodyPr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回归模型</a:t>
            </a:r>
          </a:p>
        </p:txBody>
      </p:sp>
      <p:sp>
        <p:nvSpPr>
          <p:cNvPr id="3" name="Freeform 25"/>
          <p:cNvSpPr/>
          <p:nvPr/>
        </p:nvSpPr>
        <p:spPr>
          <a:xfrm>
            <a:off x="6858000" y="1415845"/>
            <a:ext cx="5334000" cy="4616034"/>
          </a:xfrm>
          <a:custGeom>
            <a:avLst/>
            <a:gdLst/>
            <a:ahLst/>
            <a:cxnLst/>
            <a:rect l="l" t="t" r="r" b="b"/>
            <a:pathLst>
              <a:path w="6968381" h="5741390">
                <a:moveTo>
                  <a:pt x="0" y="0"/>
                </a:moveTo>
                <a:lnTo>
                  <a:pt x="6968381" y="0"/>
                </a:lnTo>
                <a:lnTo>
                  <a:pt x="6968381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1B3EDC-14FC-B73D-80BB-E541F2628D9B}"/>
              </a:ext>
            </a:extLst>
          </p:cNvPr>
          <p:cNvSpPr txBox="1"/>
          <p:nvPr/>
        </p:nvSpPr>
        <p:spPr>
          <a:xfrm>
            <a:off x="119994" y="2125880"/>
            <a:ext cx="6531529" cy="2997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回归（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Regression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模型是一种用于预测或分析变量之间关系的</a:t>
            </a:r>
            <a:r>
              <a:rPr kumimoji="0" lang="zh-CN" altLang="en-US" sz="2400" b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统计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0" lang="zh-CN" altLang="en-US" sz="2400" b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机器学习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模型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目标：通过已知的输入数据（自变量）来预测一个或多个连续型的输出结果（因变量），或揭示自变量对因变量的影响规律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4180DDBE-7572-04DB-A952-254641746DD6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23C334-61BC-E140-21CC-827604AB52F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447254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260276" cy="705485"/>
          </a:xfrm>
        </p:spPr>
        <p:txBody>
          <a:bodyPr>
            <a:normAutofit/>
          </a:bodyPr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回归模型</a:t>
            </a:r>
          </a:p>
        </p:txBody>
      </p:sp>
      <p:sp>
        <p:nvSpPr>
          <p:cNvPr id="3" name="TextBox 27">
            <a:extLst>
              <a:ext uri="{FF2B5EF4-FFF2-40B4-BE49-F238E27FC236}">
                <a16:creationId xmlns:a16="http://schemas.microsoft.com/office/drawing/2014/main" id="{12A29A23-17AD-2151-9FB6-33075C1DD366}"/>
              </a:ext>
            </a:extLst>
          </p:cNvPr>
          <p:cNvSpPr txBox="1"/>
          <p:nvPr/>
        </p:nvSpPr>
        <p:spPr>
          <a:xfrm>
            <a:off x="865402" y="1269341"/>
            <a:ext cx="10711918" cy="5045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核心任务：让计算机学习“估算”一个具体的数值！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关键问题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</a:t>
            </a:r>
          </a:p>
          <a:p>
            <a:pPr marL="0" marR="0" lvl="0" indent="5826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我们不是想让计算机分门别类（像分类），也不是想让它自动分组（像聚类），而是想让它根据一些信息预测一个具体的、连续的数字，比如：</a:t>
            </a:r>
          </a:p>
          <a:p>
            <a:pPr marL="933450" marR="0" lvl="1" indent="-3349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根据房子的大小、地段、房龄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...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预测这房子大概卖多少钱？</a:t>
            </a:r>
          </a:p>
          <a:p>
            <a:pPr marL="933450" marR="0" lvl="1" indent="-3349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根据广告投入的金额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...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预测产品大概能卖出去多少件？</a:t>
            </a:r>
          </a:p>
          <a:p>
            <a:pPr marL="933450" marR="0" lvl="1" indent="-33496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根据学习时长、复习次数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...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预测这次考试大概能考多少分？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解决方案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 </a:t>
            </a:r>
          </a:p>
          <a:p>
            <a:pPr marL="0" marR="0" lvl="0" indent="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让计算机学习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特征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X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）和我们要预测的目标数值（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Y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）之间的关联趋势，然后根据这个趋势线来估算，这就是回归。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A76C5F0-27A5-52CF-C223-3ED7E2ACC6EC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A0FEFD-80CF-4864-AE0A-89F97DB88DA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156762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常见的回归模型</a:t>
            </a:r>
          </a:p>
        </p:txBody>
      </p:sp>
      <p:sp>
        <p:nvSpPr>
          <p:cNvPr id="6" name="序号"/>
          <p:cNvSpPr txBox="1"/>
          <p:nvPr>
            <p:custDataLst>
              <p:tags r:id="rId1"/>
            </p:custDataLst>
          </p:nvPr>
        </p:nvSpPr>
        <p:spPr>
          <a:xfrm>
            <a:off x="3666204" y="2753042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02</a:t>
            </a:r>
          </a:p>
        </p:txBody>
      </p:sp>
      <p:sp>
        <p:nvSpPr>
          <p:cNvPr id="7" name="项标题"/>
          <p:cNvSpPr txBox="1"/>
          <p:nvPr>
            <p:custDataLst>
              <p:tags r:id="rId2"/>
            </p:custDataLst>
          </p:nvPr>
        </p:nvSpPr>
        <p:spPr>
          <a:xfrm>
            <a:off x="4356466" y="2753137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多项式回归</a:t>
            </a:r>
          </a:p>
        </p:txBody>
      </p:sp>
      <p:sp>
        <p:nvSpPr>
          <p:cNvPr id="9" name="序号"/>
          <p:cNvSpPr txBox="1"/>
          <p:nvPr>
            <p:custDataLst>
              <p:tags r:id="rId3"/>
            </p:custDataLst>
          </p:nvPr>
        </p:nvSpPr>
        <p:spPr>
          <a:xfrm>
            <a:off x="3666204" y="3497897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03</a:t>
            </a:r>
          </a:p>
        </p:txBody>
      </p:sp>
      <p:sp>
        <p:nvSpPr>
          <p:cNvPr id="10" name="项标题"/>
          <p:cNvSpPr txBox="1"/>
          <p:nvPr>
            <p:custDataLst>
              <p:tags r:id="rId4"/>
            </p:custDataLst>
          </p:nvPr>
        </p:nvSpPr>
        <p:spPr>
          <a:xfrm>
            <a:off x="4356466" y="3497992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岭回归</a:t>
            </a:r>
          </a:p>
        </p:txBody>
      </p:sp>
      <p:sp>
        <p:nvSpPr>
          <p:cNvPr id="13" name="序号"/>
          <p:cNvSpPr txBox="1"/>
          <p:nvPr>
            <p:custDataLst>
              <p:tags r:id="rId5"/>
            </p:custDataLst>
          </p:nvPr>
        </p:nvSpPr>
        <p:spPr>
          <a:xfrm>
            <a:off x="3666204" y="4242752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04</a:t>
            </a:r>
          </a:p>
        </p:txBody>
      </p:sp>
      <p:sp>
        <p:nvSpPr>
          <p:cNvPr id="14" name="项标题"/>
          <p:cNvSpPr txBox="1"/>
          <p:nvPr>
            <p:custDataLst>
              <p:tags r:id="rId6"/>
            </p:custDataLst>
          </p:nvPr>
        </p:nvSpPr>
        <p:spPr>
          <a:xfrm>
            <a:off x="4356466" y="4242847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基于机器学习的回归方法</a:t>
            </a:r>
          </a:p>
        </p:txBody>
      </p:sp>
      <p:sp>
        <p:nvSpPr>
          <p:cNvPr id="15" name="序号"/>
          <p:cNvSpPr txBox="1"/>
          <p:nvPr>
            <p:custDataLst>
              <p:tags r:id="rId7"/>
            </p:custDataLst>
          </p:nvPr>
        </p:nvSpPr>
        <p:spPr>
          <a:xfrm>
            <a:off x="3666204" y="2008187"/>
            <a:ext cx="601362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01</a:t>
            </a:r>
          </a:p>
        </p:txBody>
      </p:sp>
      <p:sp>
        <p:nvSpPr>
          <p:cNvPr id="16" name="项标题"/>
          <p:cNvSpPr txBox="1"/>
          <p:nvPr>
            <p:custDataLst>
              <p:tags r:id="rId8"/>
            </p:custDataLst>
          </p:nvPr>
        </p:nvSpPr>
        <p:spPr>
          <a:xfrm>
            <a:off x="4356466" y="2008282"/>
            <a:ext cx="4340558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  <a:sym typeface="汉仪劲楷简" panose="00020600040101010101" charset="-122"/>
              </a:rPr>
              <a:t>线性回归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9F2F8E7-C973-17C7-C56E-056036B1F3A8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35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2D9D39-577A-540B-2F27-974114C8DB0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6375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230780" cy="705485"/>
          </a:xfrm>
        </p:spPr>
        <p:txBody>
          <a:bodyPr>
            <a:normAutofit/>
          </a:bodyPr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线性回归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6677034" y="1765914"/>
            <a:ext cx="4926535" cy="3562145"/>
          </a:xfrm>
          <a:custGeom>
            <a:avLst/>
            <a:gdLst/>
            <a:ahLst/>
            <a:cxnLst/>
            <a:rect l="l" t="t" r="r" b="b"/>
            <a:pathLst>
              <a:path w="8247846" h="5512310">
                <a:moveTo>
                  <a:pt x="0" y="0"/>
                </a:moveTo>
                <a:lnTo>
                  <a:pt x="8247846" y="0"/>
                </a:lnTo>
                <a:lnTo>
                  <a:pt x="8247846" y="5512311"/>
                </a:lnTo>
                <a:lnTo>
                  <a:pt x="0" y="5512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TextBox 27">
            <a:extLst>
              <a:ext uri="{FF2B5EF4-FFF2-40B4-BE49-F238E27FC236}">
                <a16:creationId xmlns:a16="http://schemas.microsoft.com/office/drawing/2014/main" id="{36377B1E-8D5B-D2F8-C3ED-D7FF50AA40DF}"/>
              </a:ext>
            </a:extLst>
          </p:cNvPr>
          <p:cNvSpPr txBox="1"/>
          <p:nvPr/>
        </p:nvSpPr>
        <p:spPr>
          <a:xfrm>
            <a:off x="546467" y="2062280"/>
            <a:ext cx="5652769" cy="2821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indent="582613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线性回归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是一种简单的回归模型，它假设输入特征与输出值之间存在线性关系。线性回归的优点是简单直观，但对非线性关系拟合效果较差。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A8C59C2-EF0E-5739-D4EE-FAD0B7CA25ED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36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17BDA0-3E98-7DC6-5396-4DF8993164E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369131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0" y="229235"/>
            <a:ext cx="4275025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多项式回归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80514" y="1607073"/>
            <a:ext cx="5008833" cy="323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多项式回归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是在原始特征的基础上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引入多阶项（如平方项、立方项）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来拟合非线性关系。其优点是可表示非线性关系，形式简单，易于可视化，但也容易过拟合，特别是在阶数过高时对噪声较敏感。</a:t>
            </a:r>
          </a:p>
        </p:txBody>
      </p:sp>
      <p:sp>
        <p:nvSpPr>
          <p:cNvPr id="3" name="Freeform 25"/>
          <p:cNvSpPr>
            <a:spLocks noChangeAspect="1"/>
          </p:cNvSpPr>
          <p:nvPr/>
        </p:nvSpPr>
        <p:spPr>
          <a:xfrm>
            <a:off x="650938" y="1188863"/>
            <a:ext cx="5252634" cy="4073846"/>
          </a:xfrm>
          <a:custGeom>
            <a:avLst/>
            <a:gdLst/>
            <a:ahLst/>
            <a:cxnLst/>
            <a:rect l="l" t="t" r="r" b="b"/>
            <a:pathLst>
              <a:path w="7614917" h="5840987">
                <a:moveTo>
                  <a:pt x="0" y="0"/>
                </a:moveTo>
                <a:lnTo>
                  <a:pt x="7614917" y="0"/>
                </a:lnTo>
                <a:lnTo>
                  <a:pt x="7614917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1F65C7-8D16-7391-4ADC-96D0D68FD6A0}"/>
              </a:ext>
            </a:extLst>
          </p:cNvPr>
          <p:cNvSpPr/>
          <p:nvPr/>
        </p:nvSpPr>
        <p:spPr>
          <a:xfrm>
            <a:off x="650938" y="5669137"/>
            <a:ext cx="2997732" cy="95697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36000" rIns="180000" bIns="72000" rtlCol="0" anchor="ctr" anchorCtr="0"/>
          <a:lstStyle/>
          <a:p>
            <a:pPr lvl="0" algn="just">
              <a:lnSpc>
                <a:spcPct val="120000"/>
              </a:lnSpc>
              <a:defRPr/>
            </a:pPr>
            <a:r>
              <a:rPr kumimoji="1" lang="zh-CN" altLang="en-US" sz="2400" b="1" kern="0" noProof="0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实线</a:t>
            </a:r>
            <a:r>
              <a:rPr kumimoji="1" lang="zh-CN" altLang="en-US" sz="2400" b="1" kern="0" noProof="0" dirty="0">
                <a:latin typeface="Microsoft YaHei" panose="020B0503020204020204" pitchFamily="34" charset="-122"/>
                <a:ea typeface="宋体" panose="02010600030101010101" pitchFamily="2" charset="-122"/>
              </a:rPr>
              <a:t>：线性回归</a:t>
            </a:r>
            <a:endParaRPr kumimoji="1" lang="en-US" altLang="zh-CN" sz="2400" b="1" kern="0" noProof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lvl="0" algn="just">
              <a:lnSpc>
                <a:spcPct val="120000"/>
              </a:lnSpc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虚线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</a:rPr>
              <a:t>：多项式回归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8ACE527C-1CD7-B649-A264-22319FC899C4}"/>
              </a:ext>
            </a:extLst>
          </p:cNvPr>
          <p:cNvSpPr/>
          <p:nvPr/>
        </p:nvSpPr>
        <p:spPr>
          <a:xfrm>
            <a:off x="3776097" y="5547985"/>
            <a:ext cx="5485890" cy="1185417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但实际上，</a:t>
            </a:r>
            <a:r>
              <a:rPr kumimoji="1" lang="zh-CN" altLang="en-US" sz="20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多阶项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不容易确定？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同侧圆角矩形 29">
            <a:extLst>
              <a:ext uri="{FF2B5EF4-FFF2-40B4-BE49-F238E27FC236}">
                <a16:creationId xmlns:a16="http://schemas.microsoft.com/office/drawing/2014/main" id="{F93CCDFB-79AE-E684-7A2C-8DF29A4B65F1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了解即可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4D1451-7687-5EB5-3F9A-3FBE5D597B2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0822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230780" cy="70548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基于机器学习的</a:t>
            </a:r>
            <a:r>
              <a:rPr lang="zh-CN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回归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TextBox 27">
            <a:extLst>
              <a:ext uri="{FF2B5EF4-FFF2-40B4-BE49-F238E27FC236}">
                <a16:creationId xmlns:a16="http://schemas.microsoft.com/office/drawing/2014/main" id="{36377B1E-8D5B-D2F8-C3ED-D7FF50AA40DF}"/>
              </a:ext>
            </a:extLst>
          </p:cNvPr>
          <p:cNvSpPr txBox="1"/>
          <p:nvPr/>
        </p:nvSpPr>
        <p:spPr>
          <a:xfrm>
            <a:off x="524564" y="1272022"/>
            <a:ext cx="11428415" cy="356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传统回归模型通常需要人为设定函数形式，且对特征之间的关系假设较为强烈。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基于机器学习的回归方法则通过数据驱动的方式自动建模，能够处理非线性、复杂的特征交互关系，具有更强的适应性与灵活性。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机器学习回归模型包括：支持向量回归、随机森林回归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、神经网络回归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等。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神经网络回归，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以深度神经网络为代表的，具备强大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表征学习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能力的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端到端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模型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B2707F-D517-475C-96B1-082BBDA12177}"/>
              </a:ext>
            </a:extLst>
          </p:cNvPr>
          <p:cNvSpPr/>
          <p:nvPr/>
        </p:nvSpPr>
        <p:spPr>
          <a:xfrm>
            <a:off x="524564" y="5111242"/>
            <a:ext cx="11289106" cy="128506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ctr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什么是端到端（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end-to-end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）？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通俗地讲，“一站式”学习，直接将原始输入数据映射到目标输出，而无需特征工程等人工设计的中间阶段。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503BF04-B969-8710-F9CE-288444AC170B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38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DA4DD3-39BD-EF3E-39AD-6FC58C75F1D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414419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700" y="3262630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小结</a:t>
            </a:r>
          </a:p>
        </p:txBody>
      </p:sp>
      <p:sp>
        <p:nvSpPr>
          <p:cNvPr id="12" name="矩形 11"/>
          <p:cNvSpPr/>
          <p:nvPr/>
        </p:nvSpPr>
        <p:spPr>
          <a:xfrm>
            <a:off x="5737572" y="2572464"/>
            <a:ext cx="7168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EDC20D-5304-F8B9-3DD6-688EE084590C}"/>
              </a:ext>
            </a:extLst>
          </p:cNvPr>
          <p:cNvSpPr txBox="1"/>
          <p:nvPr/>
        </p:nvSpPr>
        <p:spPr>
          <a:xfrm>
            <a:off x="6346413" y="6442825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过拟合与泛化能力</a:t>
            </a:r>
          </a:p>
        </p:txBody>
      </p:sp>
      <p:sp>
        <p:nvSpPr>
          <p:cNvPr id="6" name="云形 5">
            <a:extLst>
              <a:ext uri="{FF2B5EF4-FFF2-40B4-BE49-F238E27FC236}">
                <a16:creationId xmlns:a16="http://schemas.microsoft.com/office/drawing/2014/main" id="{9D6C76F2-975B-4854-9D7D-28BDFFF18FDA}"/>
              </a:ext>
            </a:extLst>
          </p:cNvPr>
          <p:cNvSpPr/>
          <p:nvPr/>
        </p:nvSpPr>
        <p:spPr>
          <a:xfrm>
            <a:off x="5125499" y="127630"/>
            <a:ext cx="6813771" cy="1185417"/>
          </a:xfrm>
          <a:prstGeom prst="cloud">
            <a:avLst/>
          </a:prstGeom>
          <a:noFill/>
          <a:ln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4288" indent="-14288" algn="ctr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在训练集上，是否拟合得越准确越好？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屏幕剪辑">
            <a:extLst>
              <a:ext uri="{FF2B5EF4-FFF2-40B4-BE49-F238E27FC236}">
                <a16:creationId xmlns:a16="http://schemas.microsoft.com/office/drawing/2014/main" id="{5ED664A8-3869-40D5-AB93-D413411AB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3" b="3340"/>
          <a:stretch/>
        </p:blipFill>
        <p:spPr>
          <a:xfrm>
            <a:off x="721147" y="1385072"/>
            <a:ext cx="10459305" cy="2287270"/>
          </a:xfrm>
          <a:prstGeom prst="rect">
            <a:avLst/>
          </a:prstGeom>
        </p:spPr>
      </p:pic>
      <p:sp>
        <p:nvSpPr>
          <p:cNvPr id="10" name="AutoShape 15">
            <a:extLst>
              <a:ext uri="{FF2B5EF4-FFF2-40B4-BE49-F238E27FC236}">
                <a16:creationId xmlns:a16="http://schemas.microsoft.com/office/drawing/2014/main" id="{C2D7C4C7-F0EB-4676-BDC2-C08A8BCB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229" y="1385072"/>
            <a:ext cx="1423139" cy="378327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170" tIns="46990" rIns="9017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32F4ADC8-6034-4660-837C-A43867D4C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157" y="1385072"/>
            <a:ext cx="1423139" cy="378327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170" tIns="46990" rIns="9017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欠拟合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FEBF9306-45E9-4813-8E46-6DD150158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8301" y="1385072"/>
            <a:ext cx="1423139" cy="378327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170" tIns="46990" rIns="9017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拟合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9916FE-B34A-4DD7-B2EB-427AD6CA5353}"/>
              </a:ext>
            </a:extLst>
          </p:cNvPr>
          <p:cNvSpPr/>
          <p:nvPr/>
        </p:nvSpPr>
        <p:spPr>
          <a:xfrm>
            <a:off x="375246" y="3710634"/>
            <a:ext cx="11289107" cy="1285068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36000" tIns="0" rIns="36000" bIns="252000" rtlCol="0" anchor="ctr" anchorCtr="0"/>
          <a:lstStyle/>
          <a:p>
            <a:pPr marL="363538" lvl="0" indent="-363538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过拟合（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Overfitting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模型在训练数据上表现完美（死记硬背），但在新数据上表现很差。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marL="363538" lvl="0" indent="-363538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泛化能力（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Generalization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0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：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模型在新数据、陌生数据上的表现能力，即“举一反三的能力”。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5" name="矩形 11">
            <a:extLst>
              <a:ext uri="{FF2B5EF4-FFF2-40B4-BE49-F238E27FC236}">
                <a16:creationId xmlns:a16="http://schemas.microsoft.com/office/drawing/2014/main" id="{A68787BA-5461-4682-A8A7-ABAD6494F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47" y="5175532"/>
            <a:ext cx="11289108" cy="1492208"/>
          </a:xfrm>
          <a:prstGeom prst="rect">
            <a:avLst/>
          </a:prstGeom>
          <a:solidFill>
            <a:schemeClr val="bg1"/>
          </a:solidFill>
          <a:ln w="12700">
            <a:solidFill>
              <a:srgbClr val="C00000"/>
            </a:solidFill>
            <a:prstDash val="solid"/>
            <a:miter lim="800000"/>
          </a:ln>
        </p:spPr>
        <p:txBody>
          <a:bodyPr wrap="square">
            <a:no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为平衡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过拟合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泛化能力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这一对核心矛盾，主要采取四类策略：通过获取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更多数据或数据增强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来丰富学习素材；通过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简化模型结构或加入正则化项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来约束模型复杂度；利用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交叉验证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进行可靠评估，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或通过集成学习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提升稳健性；对神经网络则采用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Dropout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特殊机制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同侧圆角矩形 29">
            <a:extLst>
              <a:ext uri="{FF2B5EF4-FFF2-40B4-BE49-F238E27FC236}">
                <a16:creationId xmlns:a16="http://schemas.microsoft.com/office/drawing/2014/main" id="{A2CA5377-6EE0-4EAE-B701-ED35D67DED0A}"/>
              </a:ext>
            </a:extLst>
          </p:cNvPr>
          <p:cNvSpPr/>
          <p:nvPr/>
        </p:nvSpPr>
        <p:spPr>
          <a:xfrm>
            <a:off x="8397840" y="6147292"/>
            <a:ext cx="3284441" cy="50904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不要求掌握</a:t>
            </a:r>
          </a:p>
        </p:txBody>
      </p:sp>
    </p:spTree>
    <p:extLst>
      <p:ext uri="{BB962C8B-B14F-4D97-AF65-F5344CB8AC3E}">
        <p14:creationId xmlns:p14="http://schemas.microsoft.com/office/powerpoint/2010/main" val="358996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分类模型总结</a:t>
            </a:r>
          </a:p>
        </p:txBody>
      </p:sp>
      <p:sp>
        <p:nvSpPr>
          <p:cNvPr id="25" name="Freeform 25"/>
          <p:cNvSpPr/>
          <p:nvPr/>
        </p:nvSpPr>
        <p:spPr>
          <a:xfrm>
            <a:off x="252730" y="1203960"/>
            <a:ext cx="11891010" cy="4582795"/>
          </a:xfrm>
          <a:custGeom>
            <a:avLst/>
            <a:gdLst/>
            <a:ahLst/>
            <a:cxnLst/>
            <a:rect l="l" t="t" r="r" b="b"/>
            <a:pathLst>
              <a:path w="15454795" h="6220555">
                <a:moveTo>
                  <a:pt x="0" y="0"/>
                </a:moveTo>
                <a:lnTo>
                  <a:pt x="15454795" y="0"/>
                </a:lnTo>
                <a:lnTo>
                  <a:pt x="15454795" y="6220555"/>
                </a:lnTo>
                <a:lnTo>
                  <a:pt x="0" y="6220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0F43B80B-8CE8-0773-467B-905443286703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388CFAE-ED9D-A832-C264-85163A48E2D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41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48D47E-3D77-1009-7A7D-2132199F9603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029540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聚类模型总结</a:t>
            </a:r>
          </a:p>
        </p:txBody>
      </p:sp>
      <p:sp>
        <p:nvSpPr>
          <p:cNvPr id="3" name="Freeform 25"/>
          <p:cNvSpPr/>
          <p:nvPr/>
        </p:nvSpPr>
        <p:spPr>
          <a:xfrm>
            <a:off x="252730" y="1138492"/>
            <a:ext cx="11628755" cy="4937760"/>
          </a:xfrm>
          <a:custGeom>
            <a:avLst/>
            <a:gdLst/>
            <a:ahLst/>
            <a:cxnLst/>
            <a:rect l="l" t="t" r="r" b="b"/>
            <a:pathLst>
              <a:path w="14483098" h="6354459">
                <a:moveTo>
                  <a:pt x="0" y="0"/>
                </a:moveTo>
                <a:lnTo>
                  <a:pt x="14483098" y="0"/>
                </a:lnTo>
                <a:lnTo>
                  <a:pt x="14483098" y="6354459"/>
                </a:lnTo>
                <a:lnTo>
                  <a:pt x="0" y="6354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同侧圆角矩形 29">
            <a:extLst>
              <a:ext uri="{FF2B5EF4-FFF2-40B4-BE49-F238E27FC236}">
                <a16:creationId xmlns:a16="http://schemas.microsoft.com/office/drawing/2014/main" id="{B991CCFA-BA8E-D30F-8085-3A0CD31A735D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CED6526-6079-039C-CB1D-645113698272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42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5702E4-80A8-4D89-F0DD-EA87AAED5A7C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4024726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回归模型总结</a:t>
            </a:r>
          </a:p>
        </p:txBody>
      </p:sp>
      <p:sp>
        <p:nvSpPr>
          <p:cNvPr id="25" name="Freeform 25"/>
          <p:cNvSpPr/>
          <p:nvPr/>
        </p:nvSpPr>
        <p:spPr>
          <a:xfrm>
            <a:off x="252730" y="1299988"/>
            <a:ext cx="11675110" cy="4640580"/>
          </a:xfrm>
          <a:custGeom>
            <a:avLst/>
            <a:gdLst/>
            <a:ahLst/>
            <a:cxnLst/>
            <a:rect l="l" t="t" r="r" b="b"/>
            <a:pathLst>
              <a:path w="14241168" h="6177106">
                <a:moveTo>
                  <a:pt x="0" y="0"/>
                </a:moveTo>
                <a:lnTo>
                  <a:pt x="14241168" y="0"/>
                </a:lnTo>
                <a:lnTo>
                  <a:pt x="14241168" y="6177106"/>
                </a:lnTo>
                <a:lnTo>
                  <a:pt x="0" y="6177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同侧圆角矩形 29">
            <a:extLst>
              <a:ext uri="{FF2B5EF4-FFF2-40B4-BE49-F238E27FC236}">
                <a16:creationId xmlns:a16="http://schemas.microsoft.com/office/drawing/2014/main" id="{93A0F831-75C4-035B-F662-E4DA094C1EA6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2556CD3-5690-6E78-2A1B-AA3A1448C8FC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AFFB27-2040-1545-075C-9A5D9848C31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1109937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382" y="3087411"/>
            <a:ext cx="5817235" cy="101854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2.4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从机器学习到深度学习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F1D56C52-9C46-F93E-418D-197869012608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8197F-2267-CC9D-8DF3-CB1F4D17052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642387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229235"/>
            <a:ext cx="423078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为何走向深度？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B2707F-D517-475C-96B1-082BBDA12177}"/>
              </a:ext>
            </a:extLst>
          </p:cNvPr>
          <p:cNvSpPr/>
          <p:nvPr/>
        </p:nvSpPr>
        <p:spPr>
          <a:xfrm>
            <a:off x="252731" y="1348866"/>
            <a:ext cx="11786869" cy="4689983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传统机器学习的局限性</a:t>
            </a:r>
            <a:endParaRPr kumimoji="1" lang="en-US" altLang="zh-CN" sz="2400" b="1" kern="0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人工设计特征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：传统模型无法自主从原始数据中提取特征，有赖于人工设计“数据→特征”的转换规则，无法自动让采集的数据变成模型可以方便“读懂”的特征。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难以处理高维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非结构化数据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：传统模型擅长处理低维、结构化数据（如表格</a:t>
            </a:r>
            <a:r>
              <a:rPr kumimoji="1" lang="en-US" altLang="zh-CN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/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矩阵），但缺乏对图像、音频、时序信号等高维、非结构化数据的原生理解能力。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例如，一张 </a:t>
            </a:r>
            <a:r>
              <a:rPr kumimoji="1" lang="en-US" altLang="zh-CN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224x224 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彩色图像含</a:t>
            </a:r>
            <a:r>
              <a:rPr kumimoji="1" lang="en-US" altLang="zh-CN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15 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万</a:t>
            </a:r>
            <a:r>
              <a:rPr kumimoji="1" lang="en-US" altLang="zh-CN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+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像素；若以原图为输入，传统模型会陷入“维度灾难”，参数爆炸且过拟合（传统模型的解决办法：人工设计特征）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21AFBACE-FF1F-9F3F-3037-53A76EAEA49C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45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9834A-E9D5-B49C-4169-7B9384FC58B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950226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1" y="113666"/>
            <a:ext cx="4230780" cy="70548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走向深度学习的几个推动因素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4" name="圆角矩形 22">
            <a:extLst>
              <a:ext uri="{FF2B5EF4-FFF2-40B4-BE49-F238E27FC236}">
                <a16:creationId xmlns:a16="http://schemas.microsoft.com/office/drawing/2014/main" id="{3189C16B-BA31-45DB-9741-ABF6300B940D}"/>
              </a:ext>
            </a:extLst>
          </p:cNvPr>
          <p:cNvSpPr/>
          <p:nvPr/>
        </p:nvSpPr>
        <p:spPr>
          <a:xfrm>
            <a:off x="579667" y="2999846"/>
            <a:ext cx="1916350" cy="1419753"/>
          </a:xfrm>
          <a:prstGeom prst="roundRect">
            <a:avLst>
              <a:gd name="adj" fmla="val 0"/>
            </a:avLst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算力</a:t>
            </a:r>
          </a:p>
        </p:txBody>
      </p:sp>
      <p:sp>
        <p:nvSpPr>
          <p:cNvPr id="5" name="圆角矩形 22">
            <a:extLst>
              <a:ext uri="{FF2B5EF4-FFF2-40B4-BE49-F238E27FC236}">
                <a16:creationId xmlns:a16="http://schemas.microsoft.com/office/drawing/2014/main" id="{B7804AFC-B0C8-4F92-A0F4-3DD9991BBC8D}"/>
              </a:ext>
            </a:extLst>
          </p:cNvPr>
          <p:cNvSpPr/>
          <p:nvPr/>
        </p:nvSpPr>
        <p:spPr>
          <a:xfrm>
            <a:off x="579667" y="1280847"/>
            <a:ext cx="1916350" cy="1419753"/>
          </a:xfrm>
          <a:prstGeom prst="roundRect">
            <a:avLst>
              <a:gd name="adj" fmla="val 0"/>
            </a:avLst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6" name="圆角矩形 22">
            <a:extLst>
              <a:ext uri="{FF2B5EF4-FFF2-40B4-BE49-F238E27FC236}">
                <a16:creationId xmlns:a16="http://schemas.microsoft.com/office/drawing/2014/main" id="{80A528A1-9936-4AA1-943D-BCB3D50E15B3}"/>
              </a:ext>
            </a:extLst>
          </p:cNvPr>
          <p:cNvSpPr/>
          <p:nvPr/>
        </p:nvSpPr>
        <p:spPr>
          <a:xfrm>
            <a:off x="579667" y="4718845"/>
            <a:ext cx="1916350" cy="1854039"/>
          </a:xfrm>
          <a:prstGeom prst="roundRect">
            <a:avLst>
              <a:gd name="adj" fmla="val 0"/>
            </a:avLst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8" name="矩形 7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EE1B033E-2978-4211-B1A4-A67CF4CE0C0D}"/>
              </a:ext>
            </a:extLst>
          </p:cNvPr>
          <p:cNvSpPr/>
          <p:nvPr/>
        </p:nvSpPr>
        <p:spPr>
          <a:xfrm>
            <a:off x="2714625" y="1280846"/>
            <a:ext cx="8905875" cy="141975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80000" rIns="180000" rtlCol="0" anchor="ctr"/>
          <a:lstStyle/>
          <a:p>
            <a:pPr lvl="0" defTabSz="457200">
              <a:lnSpc>
                <a:spcPct val="140000"/>
              </a:lnSpc>
              <a:buClr>
                <a:srgbClr val="3071C0"/>
              </a:buClr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大数据的支持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：深度学习的成功离不开海量数据的支持。互联网时代产生了大量的图像、文本和语音数据，这些数据为深度学习模型提供了丰富的训练资源。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9" name="矩形 8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21915A66-EB06-4168-9FA7-62452DEE634F}"/>
              </a:ext>
            </a:extLst>
          </p:cNvPr>
          <p:cNvSpPr/>
          <p:nvPr/>
        </p:nvSpPr>
        <p:spPr>
          <a:xfrm>
            <a:off x="2714624" y="2999845"/>
            <a:ext cx="8905875" cy="141975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80000" rIns="180000" rtlCol="0" anchor="ctr"/>
          <a:lstStyle/>
          <a:p>
            <a:pPr lvl="0" defTabSz="457200">
              <a:lnSpc>
                <a:spcPct val="140000"/>
              </a:lnSpc>
              <a:buClr>
                <a:srgbClr val="3071C0"/>
              </a:buClr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计算能力的提升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：随着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GPU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（图形处理器）等硬件技术的发展，深度学习模型的训练速度大幅提升。这使得训练包含数百万甚至数千亿参数的深度神经网络成为可能。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0" name="矩形 9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A01A0EDC-9F19-4FA7-9DE6-5250BB9269BC}"/>
              </a:ext>
            </a:extLst>
          </p:cNvPr>
          <p:cNvSpPr/>
          <p:nvPr/>
        </p:nvSpPr>
        <p:spPr>
          <a:xfrm>
            <a:off x="2714624" y="4718844"/>
            <a:ext cx="8905875" cy="18540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80000" rIns="180000" rtlCol="0" anchor="ctr"/>
          <a:lstStyle/>
          <a:p>
            <a:pPr lvl="0" algn="just" defTabSz="457200">
              <a:lnSpc>
                <a:spcPct val="140000"/>
              </a:lnSpc>
              <a:buClr>
                <a:srgbClr val="3071C0"/>
              </a:buClr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关键算法的突破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：深度学习领域的关键算法突破（如反向传播、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ReLU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激活函数、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Dropout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正则化等）提高了模型训练效率和性能。此外，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CNN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RNN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LSTM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Tranformer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等模型的提出，进一步推动了其在计算机视觉和自然语言处理等领域的应用。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7B3E61-FF73-33BB-1C08-8442807DB2A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02168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" y="199391"/>
            <a:ext cx="4690744" cy="70548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常见深度学习模型概览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aphicFrame>
        <p:nvGraphicFramePr>
          <p:cNvPr id="7" name="表格 10">
            <a:extLst>
              <a:ext uri="{FF2B5EF4-FFF2-40B4-BE49-F238E27FC236}">
                <a16:creationId xmlns:a16="http://schemas.microsoft.com/office/drawing/2014/main" id="{7E8FB032-A0CF-40A3-9BE6-EC3E206EB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44921"/>
              </p:ext>
            </p:extLst>
          </p:nvPr>
        </p:nvGraphicFramePr>
        <p:xfrm>
          <a:off x="682624" y="1427967"/>
          <a:ext cx="10826751" cy="4609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6300">
                  <a:extLst>
                    <a:ext uri="{9D8B030D-6E8A-4147-A177-3AD203B41FA5}">
                      <a16:colId xmlns:a16="http://schemas.microsoft.com/office/drawing/2014/main" val="372668544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817714526"/>
                    </a:ext>
                  </a:extLst>
                </a:gridCol>
                <a:gridCol w="3728451">
                  <a:extLst>
                    <a:ext uri="{9D8B030D-6E8A-4147-A177-3AD203B41FA5}">
                      <a16:colId xmlns:a16="http://schemas.microsoft.com/office/drawing/2014/main" val="2678449401"/>
                    </a:ext>
                  </a:extLst>
                </a:gridCol>
              </a:tblGrid>
              <a:tr h="4243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主要特点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擅长领域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669163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CNN</a:t>
                      </a:r>
                      <a:br>
                        <a: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卷积神经网络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局部感知，参数共享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使用卷积核滑动扫描，提取空间局部特征（如图像边缘、纹理）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计算机视觉（图像分类、目标检测、图像生成等）</a:t>
                      </a:r>
                      <a:endParaRPr lang="zh-CN" altLang="en-US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98760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RNN</a:t>
                      </a:r>
                      <a:br>
                        <a: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循环神经网络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引入循环，具有短期记忆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将网络输出反馈回输入，用于处理序列信息，但记忆能力有限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简单序列标注、语言模型（早期）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474307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LSTM</a:t>
                      </a:r>
                      <a:br>
                        <a: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长短期记忆网络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门控机制，选择性地记忆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通过输入门、遗忘门、输出门，有效控制长距离依赖信息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机器翻译、文本生成、语音识别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20984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Transformer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自注意力机制，全局依赖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并行计算，通过注意力权重动态计算序列中所有元素的重要性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自然语言处理（如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BERT, GPT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）、多模态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900925"/>
                  </a:ext>
                </a:extLst>
              </a:tr>
            </a:tbl>
          </a:graphicData>
        </a:graphic>
      </p:graphicFrame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646872E-D530-B271-CF74-8265BC00901B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47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3A161E-2893-4232-4AB1-51A89CE94D9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570516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" y="199391"/>
            <a:ext cx="4690744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常见深度学习框架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7CC1F1-E789-47EC-90F3-C7DEDCED37E2}"/>
              </a:ext>
            </a:extLst>
          </p:cNvPr>
          <p:cNvSpPr/>
          <p:nvPr/>
        </p:nvSpPr>
        <p:spPr>
          <a:xfrm>
            <a:off x="252731" y="1348867"/>
            <a:ext cx="11786869" cy="3310816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80000" tIns="0" rIns="180000" bIns="252000"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深度学习框架</a:t>
            </a:r>
            <a:endParaRPr kumimoji="1" lang="en-US" altLang="zh-CN" sz="2400" b="1" kern="0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lvl="0" indent="-4572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深度学习框架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为模型设计、训练与部署提供了基础平台，集成了自动微分、优化器、数据加载、多卡并行、可视化监控等一系列功能，极大地降低了深度学习模型的实现门槛。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  <a:p>
            <a:pPr marL="457200" lvl="0" indent="-45720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如果把深度学习模型比作建筑设计图，那么深度学习框架就是盖房子的施工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工具和平台</a:t>
            </a:r>
            <a:r>
              <a:rPr kumimoji="1" lang="zh-CN" altLang="en-US" sz="2000" b="1" kern="0" dirty="0">
                <a:latin typeface="Microsoft YaHei" panose="020B0503020204020204" pitchFamily="34" charset="-122"/>
                <a:ea typeface="宋体" panose="02010600030101010101" pitchFamily="2" charset="-122"/>
              </a:rPr>
              <a:t>，决定了建造速度、稳定性与可扩展性。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Pytorch框架下类似keras的model.summary()用法，将模型层数及参数打印出来 - 知乎">
            <a:extLst>
              <a:ext uri="{FF2B5EF4-FFF2-40B4-BE49-F238E27FC236}">
                <a16:creationId xmlns:a16="http://schemas.microsoft.com/office/drawing/2014/main" id="{DEA990BC-41F5-4CDD-8E4E-E4634A4B5F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1" y="5103674"/>
            <a:ext cx="1701219" cy="112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TensorFlow 的基本概念和使用场景介绍_tensorflow使用情况-CSDN博客">
            <a:extLst>
              <a:ext uri="{FF2B5EF4-FFF2-40B4-BE49-F238E27FC236}">
                <a16:creationId xmlns:a16="http://schemas.microsoft.com/office/drawing/2014/main" id="{C6D4402C-6FAC-4EE9-8D08-9B366FE3B2A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945" y="5087558"/>
            <a:ext cx="1787674" cy="1139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F075E90-7241-42FC-9F2D-8ABE3643C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465" y="5367984"/>
            <a:ext cx="2399598" cy="673268"/>
          </a:xfrm>
          <a:prstGeom prst="rect">
            <a:avLst/>
          </a:prstGeom>
        </p:spPr>
      </p:pic>
      <p:pic>
        <p:nvPicPr>
          <p:cNvPr id="9" name="图片 8" descr="【MindSpore深度学习框架】MindSpore的数据类型-阿里云开发者社区">
            <a:extLst>
              <a:ext uri="{FF2B5EF4-FFF2-40B4-BE49-F238E27FC236}">
                <a16:creationId xmlns:a16="http://schemas.microsoft.com/office/drawing/2014/main" id="{64141D3D-3D27-4BAB-923E-E5D33A6263F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191" y="5320758"/>
            <a:ext cx="3507409" cy="70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84B5CBD-4DE9-429D-9C5E-92E655E57D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955" r="8810"/>
          <a:stretch/>
        </p:blipFill>
        <p:spPr>
          <a:xfrm>
            <a:off x="6096000" y="5182010"/>
            <a:ext cx="2399598" cy="1045216"/>
          </a:xfrm>
          <a:prstGeom prst="rect">
            <a:avLst/>
          </a:prstGeom>
        </p:spPr>
      </p:pic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A3AF8775-7037-96CB-DD3B-586048CCDF04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48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B7D718-1F30-1165-7DBE-21A1970275C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607052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382" y="3087411"/>
            <a:ext cx="5817235" cy="101854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2.5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前沿方向速览</a:t>
            </a:r>
          </a:p>
        </p:txBody>
      </p:sp>
    </p:spTree>
    <p:extLst>
      <p:ext uri="{BB962C8B-B14F-4D97-AF65-F5344CB8AC3E}">
        <p14:creationId xmlns:p14="http://schemas.microsoft.com/office/powerpoint/2010/main" val="3553886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" y="199391"/>
            <a:ext cx="4690744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前沿方向速览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aphicFrame>
        <p:nvGraphicFramePr>
          <p:cNvPr id="7" name="表格 10">
            <a:extLst>
              <a:ext uri="{FF2B5EF4-FFF2-40B4-BE49-F238E27FC236}">
                <a16:creationId xmlns:a16="http://schemas.microsoft.com/office/drawing/2014/main" id="{7E8FB032-A0CF-40A3-9BE6-EC3E206EB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39931"/>
              </p:ext>
            </p:extLst>
          </p:nvPr>
        </p:nvGraphicFramePr>
        <p:xfrm>
          <a:off x="687865" y="1501523"/>
          <a:ext cx="10816269" cy="4751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432">
                  <a:extLst>
                    <a:ext uri="{9D8B030D-6E8A-4147-A177-3AD203B41FA5}">
                      <a16:colId xmlns:a16="http://schemas.microsoft.com/office/drawing/2014/main" val="3726685443"/>
                    </a:ext>
                  </a:extLst>
                </a:gridCol>
                <a:gridCol w="2910165">
                  <a:extLst>
                    <a:ext uri="{9D8B030D-6E8A-4147-A177-3AD203B41FA5}">
                      <a16:colId xmlns:a16="http://schemas.microsoft.com/office/drawing/2014/main" val="3817714526"/>
                    </a:ext>
                  </a:extLst>
                </a:gridCol>
                <a:gridCol w="3453057">
                  <a:extLst>
                    <a:ext uri="{9D8B030D-6E8A-4147-A177-3AD203B41FA5}">
                      <a16:colId xmlns:a16="http://schemas.microsoft.com/office/drawing/2014/main" val="2678449401"/>
                    </a:ext>
                  </a:extLst>
                </a:gridCol>
                <a:gridCol w="2943615">
                  <a:extLst>
                    <a:ext uri="{9D8B030D-6E8A-4147-A177-3AD203B41FA5}">
                      <a16:colId xmlns:a16="http://schemas.microsoft.com/office/drawing/2014/main" val="3003659044"/>
                    </a:ext>
                  </a:extLst>
                </a:gridCol>
              </a:tblGrid>
              <a:tr h="4243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主要特点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关键方法与代表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典型应用场景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0669163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rgbClr val="C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集成学习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“集思广益”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结合多个弱模型，获得一个更强、更鲁棒的模型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Bagging (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随机森林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Boosting (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XGBoost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集成聚类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(U-SENC)</a:t>
                      </a:r>
                      <a:endParaRPr lang="zh-CN" altLang="en-US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分类、回归、聚类任务，尤其适用于提升精度和稳定性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98760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rgbClr val="C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强化学习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“试错学习”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智能体与环境交互，通过奖励信号学习最优策略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在线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RL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：实时交互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离线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RL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：从固定数据集中学习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游戏</a:t>
                      </a:r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AI</a:t>
                      </a:r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、自动驾驶、机器人控制、推荐系统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474307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rgbClr val="C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多模态学习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“融合感知”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联合利用多种数据类型（图、文、音），实现更全面的理解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模态对齐与融合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多模态预训练模型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(CLIP)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视觉问答、图文互搜、视频内容理解、自动驾驶感知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120984"/>
                  </a:ext>
                </a:extLst>
              </a:tr>
              <a:tr h="1046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迁移学习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“举一反三”</a:t>
                      </a:r>
                      <a:b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将通用知识迁移到新任务，核心范式是预训练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+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微调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大模型预训练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•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下游任务微调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(Fine-tuning)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大语言模型、</a:t>
                      </a:r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AIGC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900925"/>
                  </a:ext>
                </a:extLst>
              </a:tr>
            </a:tbl>
          </a:graphicData>
        </a:graphic>
      </p:graphicFrame>
      <p:sp>
        <p:nvSpPr>
          <p:cNvPr id="4" name="同侧圆角矩形 29">
            <a:extLst>
              <a:ext uri="{FF2B5EF4-FFF2-40B4-BE49-F238E27FC236}">
                <a16:creationId xmlns:a16="http://schemas.microsoft.com/office/drawing/2014/main" id="{777518DF-1A05-4DD7-980E-6C80FD1D9927}"/>
              </a:ext>
            </a:extLst>
          </p:cNvPr>
          <p:cNvSpPr/>
          <p:nvPr/>
        </p:nvSpPr>
        <p:spPr>
          <a:xfrm>
            <a:off x="4734232" y="-1"/>
            <a:ext cx="7457767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EDF8C81A-9910-FD82-6283-675B2F480F13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50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188E76-DCA7-7BBE-C64B-454DE4E42D8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01715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382" y="2839720"/>
            <a:ext cx="5817235" cy="101854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拓展了解：</a:t>
            </a:r>
            <a:b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</a:b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初探机器学习如何实现？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38647853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290" y="132686"/>
            <a:ext cx="466217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100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初探机器学习如何实现？</a:t>
            </a:r>
          </a:p>
        </p:txBody>
      </p:sp>
      <p:sp>
        <p:nvSpPr>
          <p:cNvPr id="6" name="同侧圆角矩形 29">
            <a:extLst>
              <a:ext uri="{FF2B5EF4-FFF2-40B4-BE49-F238E27FC236}">
                <a16:creationId xmlns:a16="http://schemas.microsoft.com/office/drawing/2014/main" id="{10A5032A-25E7-4E7D-90D4-9B756CB60503}"/>
              </a:ext>
            </a:extLst>
          </p:cNvPr>
          <p:cNvSpPr/>
          <p:nvPr/>
        </p:nvSpPr>
        <p:spPr>
          <a:xfrm>
            <a:off x="4709160" y="-1"/>
            <a:ext cx="7482839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1329DE-2E45-4BFD-B83E-37973B5C4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579" y="1179919"/>
            <a:ext cx="6528081" cy="5192651"/>
          </a:xfrm>
          <a:prstGeom prst="rect">
            <a:avLst/>
          </a:prstGeom>
        </p:spPr>
      </p:pic>
      <p:sp>
        <p:nvSpPr>
          <p:cNvPr id="8" name="AutoShape 15">
            <a:extLst>
              <a:ext uri="{FF2B5EF4-FFF2-40B4-BE49-F238E27FC236}">
                <a16:creationId xmlns:a16="http://schemas.microsoft.com/office/drawing/2014/main" id="{3DA26FBC-22C0-45FE-B01D-E2F84076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" y="1179919"/>
            <a:ext cx="1913819" cy="1643291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46990" rIns="3600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导入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sklearn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charset="-122"/>
              </a:rPr>
              <a:t>导入模型</a:t>
            </a:r>
            <a:endParaRPr kumimoji="1" lang="en-US" altLang="zh-CN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Microsoft YaHei" charset="-122"/>
              </a:rPr>
              <a:t>导入数据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D310C-ADD3-4202-A3D4-F509E675BA6E}"/>
              </a:ext>
            </a:extLst>
          </p:cNvPr>
          <p:cNvSpPr/>
          <p:nvPr/>
        </p:nvSpPr>
        <p:spPr>
          <a:xfrm>
            <a:off x="8801100" y="1179919"/>
            <a:ext cx="3238500" cy="5192651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44000" tIns="0" rIns="144000" bIns="432000" rtlCol="0" anchor="ctr" anchorCtr="0"/>
          <a:lstStyle/>
          <a:p>
            <a:pPr lvl="0" algn="ctr">
              <a:lnSpc>
                <a:spcPct val="200000"/>
              </a:lnSpc>
              <a:defRPr/>
            </a:pPr>
            <a:r>
              <a:rPr kumimoji="1" lang="en-US" altLang="zh-CN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scikit-learn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库</a:t>
            </a:r>
            <a:endParaRPr kumimoji="1" lang="en-US" altLang="zh-CN" sz="2400" b="1" kern="0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0" algn="just">
              <a:lnSpc>
                <a:spcPct val="200000"/>
              </a:lnSpc>
              <a:defRPr/>
            </a:pPr>
            <a:r>
              <a:rPr kumimoji="1" lang="en-US" altLang="zh-CN" sz="2000" b="1" kern="0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sklearn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 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中一个非常重要的机器学习库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全称为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scikit-learn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。它是基于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语言的机器学习工具</a:t>
            </a:r>
            <a:r>
              <a:rPr kumimoji="1" lang="en-US" altLang="zh-CN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0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提供了一系列简单高效的机器学习算法</a:t>
            </a:r>
            <a:endParaRPr kumimoji="1" lang="en-US" altLang="zh-CN" sz="2000" b="1" kern="0" dirty="0"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4DB818B5-1ED7-53B4-525A-CEAED8198F20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52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087BB3-85C3-BFA1-1360-D9B0163E718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721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290" y="132686"/>
            <a:ext cx="466217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100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初探机器学习如何实现？</a:t>
            </a:r>
          </a:p>
        </p:txBody>
      </p:sp>
      <p:sp>
        <p:nvSpPr>
          <p:cNvPr id="6" name="同侧圆角矩形 29">
            <a:extLst>
              <a:ext uri="{FF2B5EF4-FFF2-40B4-BE49-F238E27FC236}">
                <a16:creationId xmlns:a16="http://schemas.microsoft.com/office/drawing/2014/main" id="{10A5032A-25E7-4E7D-90D4-9B756CB60503}"/>
              </a:ext>
            </a:extLst>
          </p:cNvPr>
          <p:cNvSpPr/>
          <p:nvPr/>
        </p:nvSpPr>
        <p:spPr>
          <a:xfrm>
            <a:off x="4709160" y="-1"/>
            <a:ext cx="7482839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46202EA-7DF1-4812-A924-7EE1DDE90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1959" y="1241946"/>
            <a:ext cx="6528081" cy="4952337"/>
          </a:xfrm>
          <a:prstGeom prst="rect">
            <a:avLst/>
          </a:prstGeom>
        </p:spPr>
      </p:pic>
      <p:sp>
        <p:nvSpPr>
          <p:cNvPr id="13" name="AutoShape 15">
            <a:extLst>
              <a:ext uri="{FF2B5EF4-FFF2-40B4-BE49-F238E27FC236}">
                <a16:creationId xmlns:a16="http://schemas.microsoft.com/office/drawing/2014/main" id="{69D54EDF-A30E-439B-9378-D78A7C8BA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" y="1241947"/>
            <a:ext cx="2322830" cy="705486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46990" rIns="3600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支持向量机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E76AF986-18B7-3FF3-B323-BC90E4C01B71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53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0FD8BA-820B-0907-403B-EA2D9A112D68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8391069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290" y="132686"/>
            <a:ext cx="466217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100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初探机器学习如何实现？</a:t>
            </a:r>
          </a:p>
        </p:txBody>
      </p:sp>
      <p:sp>
        <p:nvSpPr>
          <p:cNvPr id="6" name="同侧圆角矩形 29">
            <a:extLst>
              <a:ext uri="{FF2B5EF4-FFF2-40B4-BE49-F238E27FC236}">
                <a16:creationId xmlns:a16="http://schemas.microsoft.com/office/drawing/2014/main" id="{10A5032A-25E7-4E7D-90D4-9B756CB60503}"/>
              </a:ext>
            </a:extLst>
          </p:cNvPr>
          <p:cNvSpPr/>
          <p:nvPr/>
        </p:nvSpPr>
        <p:spPr>
          <a:xfrm>
            <a:off x="4709160" y="-1"/>
            <a:ext cx="7482839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241959-128E-4B65-9940-76640ECDC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1959" y="1375214"/>
            <a:ext cx="6528081" cy="4685800"/>
          </a:xfrm>
          <a:prstGeom prst="rect">
            <a:avLst/>
          </a:prstGeom>
        </p:spPr>
      </p:pic>
      <p:sp>
        <p:nvSpPr>
          <p:cNvPr id="8" name="AutoShape 15">
            <a:extLst>
              <a:ext uri="{FF2B5EF4-FFF2-40B4-BE49-F238E27FC236}">
                <a16:creationId xmlns:a16="http://schemas.microsoft.com/office/drawing/2014/main" id="{8BE04F75-D9AC-455E-9121-76A3E1020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" y="1375214"/>
            <a:ext cx="2322830" cy="705486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46990" rIns="36000" bIns="46990" anchor="ctr"/>
          <a:lstStyle/>
          <a:p>
            <a:pPr marL="0" marR="0" lv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传统神经网络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54E8010E-98D0-9DA9-A579-BFE7AC171293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54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7AF301-482E-4090-5545-3D793464B0D3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3166575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290" y="132686"/>
            <a:ext cx="466217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100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初探机器学习如何实现？</a:t>
            </a:r>
          </a:p>
        </p:txBody>
      </p:sp>
      <p:sp>
        <p:nvSpPr>
          <p:cNvPr id="6" name="同侧圆角矩形 29">
            <a:extLst>
              <a:ext uri="{FF2B5EF4-FFF2-40B4-BE49-F238E27FC236}">
                <a16:creationId xmlns:a16="http://schemas.microsoft.com/office/drawing/2014/main" id="{10A5032A-25E7-4E7D-90D4-9B756CB60503}"/>
              </a:ext>
            </a:extLst>
          </p:cNvPr>
          <p:cNvSpPr/>
          <p:nvPr/>
        </p:nvSpPr>
        <p:spPr>
          <a:xfrm>
            <a:off x="4709160" y="-1"/>
            <a:ext cx="7482839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感兴趣的同学可拓展了解，不要求掌握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1DD5A9-844B-4936-8836-D331AAEBB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1959" y="1452723"/>
            <a:ext cx="6528081" cy="4530783"/>
          </a:xfrm>
          <a:prstGeom prst="rect">
            <a:avLst/>
          </a:prstGeom>
        </p:spPr>
      </p:pic>
      <p:sp>
        <p:nvSpPr>
          <p:cNvPr id="8" name="AutoShape 15">
            <a:extLst>
              <a:ext uri="{FF2B5EF4-FFF2-40B4-BE49-F238E27FC236}">
                <a16:creationId xmlns:a16="http://schemas.microsoft.com/office/drawing/2014/main" id="{26AC1853-2342-4982-ACEE-8D70E547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" y="1452723"/>
            <a:ext cx="2322830" cy="705486"/>
          </a:xfrm>
          <a:prstGeom prst="wedgeRoundRectCallout">
            <a:avLst>
              <a:gd name="adj1" fmla="val -11000"/>
              <a:gd name="adj2" fmla="val 48654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46990" rIns="36000" bIns="46990" anchor="ctr"/>
          <a:lstStyle/>
          <a:p>
            <a:pPr marL="0" marR="0" lv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随机森林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0D22CC2-D5C7-C1BB-5914-A9FD281706A9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55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C75894-286F-9A26-2A0D-ACC6F7DF43DD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9381630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03520" y="1231900"/>
            <a:ext cx="6888480" cy="292319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再回顾，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《2001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太空漫游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中哈尔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的能力：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学习能力：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第三章 机器学习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看的能力：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第四章 计算机视觉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语言能力：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第五章 自然语言处理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第六章 大数据分析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感知环境、决策并行动：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第七章 具身智能</a:t>
            </a:r>
          </a:p>
        </p:txBody>
      </p:sp>
      <p:sp>
        <p:nvSpPr>
          <p:cNvPr id="25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8156" y="5293748"/>
            <a:ext cx="8651631" cy="94352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课外阅读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｜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第二章 智能与计算思维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：理解人工智能背后的思维方式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课外阅读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｜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第八章 区块链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：可信数据与协作机制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7360" y="4274574"/>
            <a:ext cx="11360785" cy="943528"/>
          </a:xfrm>
          <a:prstGeom prst="rect">
            <a:avLst/>
          </a:prstGeom>
          <a:noFill/>
          <a:ln w="19050">
            <a:solidFill>
              <a:srgbClr val="03553F"/>
            </a:solidFill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从科幻想象走到今天，人工智能又发展出了哪些新的技术与应用？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第九章 大模型技术基础、第十章 大模型应用赋能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467360" y="1283335"/>
            <a:ext cx="4502785" cy="2564765"/>
          </a:xfrm>
          <a:prstGeom prst="rect">
            <a:avLst/>
          </a:prstGeom>
        </p:spPr>
      </p:pic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ECC5D815-228C-D664-4E87-335DD5A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EA1DF-6F67-62E1-339C-CBE2EDECA4E0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87789DA-F587-2650-2D44-0B46340A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" y="229235"/>
            <a:ext cx="447929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接下来的学习之旅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0" y="229235"/>
            <a:ext cx="4479290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接下来的学习之旅</a:t>
            </a:r>
          </a:p>
        </p:txBody>
      </p:sp>
      <p:sp>
        <p:nvSpPr>
          <p:cNvPr id="23" name="AutoShape 15">
            <a:extLst>
              <a:ext uri="{FF2B5EF4-FFF2-40B4-BE49-F238E27FC236}">
                <a16:creationId xmlns:a16="http://schemas.microsoft.com/office/drawing/2014/main" id="{BE7EF97B-80A9-4E02-8F59-52698086A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946" y="1172355"/>
            <a:ext cx="1821561" cy="705486"/>
          </a:xfrm>
          <a:prstGeom prst="wedgeRoundRectCallout">
            <a:avLst>
              <a:gd name="adj1" fmla="val -62518"/>
              <a:gd name="adj2" fmla="val 174007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46990" rIns="36000" bIns="46990" anchor="ctr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We are HERE!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Microsoft YaHei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4C9714B-D5EC-407F-8AAA-356096342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2991" y="1974646"/>
            <a:ext cx="3081685" cy="42226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18D0DBBD-5809-3A7E-040D-AAD7067B92C1}"/>
              </a:ext>
            </a:extLst>
          </p:cNvPr>
          <p:cNvSpPr/>
          <p:nvPr/>
        </p:nvSpPr>
        <p:spPr>
          <a:xfrm>
            <a:off x="562634" y="1170589"/>
            <a:ext cx="4845855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绪论</a:t>
            </a:r>
          </a:p>
        </p:txBody>
      </p:sp>
      <p:sp>
        <p:nvSpPr>
          <p:cNvPr id="4" name="矩形 3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FE89B9F4-0ACA-E217-D9CA-CCC965F9B79F}"/>
              </a:ext>
            </a:extLst>
          </p:cNvPr>
          <p:cNvSpPr/>
          <p:nvPr/>
        </p:nvSpPr>
        <p:spPr>
          <a:xfrm>
            <a:off x="562637" y="1727216"/>
            <a:ext cx="4845857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智能与计算思维</a:t>
            </a:r>
            <a:r>
              <a:rPr lang="zh-CN" altLang="en-US" sz="2100" b="1" kern="0" dirty="0">
                <a:solidFill>
                  <a:schemeClr val="bg1"/>
                </a:solidFill>
                <a:latin typeface="微软雅黑" panose="020B0503020204020204" pitchFamily="34" charset="-122"/>
              </a:rPr>
              <a:t>（自行阅读）</a:t>
            </a:r>
          </a:p>
        </p:txBody>
      </p:sp>
      <p:sp>
        <p:nvSpPr>
          <p:cNvPr id="5" name="矩形 4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CFDA9856-3CBB-2088-95D1-26D412DC901E}"/>
              </a:ext>
            </a:extLst>
          </p:cNvPr>
          <p:cNvSpPr/>
          <p:nvPr/>
        </p:nvSpPr>
        <p:spPr>
          <a:xfrm>
            <a:off x="562633" y="2283843"/>
            <a:ext cx="4845856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机器学习基础</a:t>
            </a:r>
            <a:endParaRPr lang="zh-CN" altLang="en-US" sz="2100" b="1" kern="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155B8212-44BD-F70E-500B-27F8296C773F}"/>
              </a:ext>
            </a:extLst>
          </p:cNvPr>
          <p:cNvSpPr/>
          <p:nvPr/>
        </p:nvSpPr>
        <p:spPr>
          <a:xfrm>
            <a:off x="562632" y="2837056"/>
            <a:ext cx="4845856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计算机视觉</a:t>
            </a:r>
            <a:endParaRPr lang="zh-CN" altLang="en-US" sz="2100" b="1" kern="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AB8441D2-846E-07D6-1E63-6CA70B9B6CAE}"/>
              </a:ext>
            </a:extLst>
          </p:cNvPr>
          <p:cNvSpPr/>
          <p:nvPr/>
        </p:nvSpPr>
        <p:spPr>
          <a:xfrm>
            <a:off x="562632" y="3397097"/>
            <a:ext cx="4845856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5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自然语言处理</a:t>
            </a:r>
            <a:endParaRPr lang="zh-CN" altLang="en-US" sz="2100" b="1" kern="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6A253473-3532-0773-EB75-20516DE2B95A}"/>
              </a:ext>
            </a:extLst>
          </p:cNvPr>
          <p:cNvSpPr/>
          <p:nvPr/>
        </p:nvSpPr>
        <p:spPr>
          <a:xfrm>
            <a:off x="562632" y="3957138"/>
            <a:ext cx="4845856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大数据分析</a:t>
            </a:r>
            <a:endParaRPr lang="zh-CN" altLang="en-US" sz="2100" b="1" kern="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445488E0-871D-C799-EAA1-3F13520E3B92}"/>
              </a:ext>
            </a:extLst>
          </p:cNvPr>
          <p:cNvSpPr/>
          <p:nvPr/>
        </p:nvSpPr>
        <p:spPr>
          <a:xfrm>
            <a:off x="562632" y="4517179"/>
            <a:ext cx="4845856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7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具身智能</a:t>
            </a:r>
            <a:endParaRPr lang="zh-CN" altLang="en-US" sz="2100" b="1" kern="0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894C6A3E-9396-B4D1-0001-7AE8B55226B5}"/>
              </a:ext>
            </a:extLst>
          </p:cNvPr>
          <p:cNvSpPr/>
          <p:nvPr/>
        </p:nvSpPr>
        <p:spPr>
          <a:xfrm>
            <a:off x="562632" y="5077220"/>
            <a:ext cx="4845857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8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区块链</a:t>
            </a:r>
            <a:r>
              <a:rPr lang="zh-CN" altLang="en-US" sz="2100" b="1" kern="0" dirty="0">
                <a:solidFill>
                  <a:schemeClr val="bg1"/>
                </a:solidFill>
                <a:latin typeface="微软雅黑" panose="020B0503020204020204" pitchFamily="34" charset="-122"/>
              </a:rPr>
              <a:t>（自行阅读）</a:t>
            </a:r>
            <a:endParaRPr lang="zh-CN" altLang="en-US" sz="2100" b="1" kern="0" dirty="0">
              <a:solidFill>
                <a:srgbClr val="FFFF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F578AE07-0371-4571-6CE7-D689B9959170}"/>
              </a:ext>
            </a:extLst>
          </p:cNvPr>
          <p:cNvSpPr/>
          <p:nvPr/>
        </p:nvSpPr>
        <p:spPr>
          <a:xfrm>
            <a:off x="5536346" y="1170589"/>
            <a:ext cx="1222044" cy="1587215"/>
          </a:xfrm>
          <a:prstGeom prst="rect">
            <a:avLst/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</a:rPr>
              <a:t>基础篇</a:t>
            </a:r>
          </a:p>
        </p:txBody>
      </p:sp>
      <p:sp>
        <p:nvSpPr>
          <p:cNvPr id="25" name="矩形 24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56DF34DF-C1AD-B3F1-0BA7-A1AEE7FDE669}"/>
              </a:ext>
            </a:extLst>
          </p:cNvPr>
          <p:cNvSpPr/>
          <p:nvPr/>
        </p:nvSpPr>
        <p:spPr>
          <a:xfrm>
            <a:off x="5536346" y="2828185"/>
            <a:ext cx="1222045" cy="2722997"/>
          </a:xfrm>
          <a:prstGeom prst="rect">
            <a:avLst/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</a:rPr>
              <a:t>领域篇</a:t>
            </a:r>
          </a:p>
        </p:txBody>
      </p:sp>
      <p:sp>
        <p:nvSpPr>
          <p:cNvPr id="26" name="矩形 25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C021CAFD-3E0B-09F9-DACE-8D97C6D4D87A}"/>
              </a:ext>
            </a:extLst>
          </p:cNvPr>
          <p:cNvSpPr/>
          <p:nvPr/>
        </p:nvSpPr>
        <p:spPr>
          <a:xfrm>
            <a:off x="5536345" y="5642674"/>
            <a:ext cx="1222045" cy="1028590"/>
          </a:xfrm>
          <a:prstGeom prst="rect">
            <a:avLst/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</a:rPr>
              <a:t>大模型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</a:rPr>
              <a:t>前沿篇</a:t>
            </a:r>
          </a:p>
        </p:txBody>
      </p:sp>
      <p:sp>
        <p:nvSpPr>
          <p:cNvPr id="27" name="矩形 26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0C9ED221-24EF-3EB5-6C7D-D17F2182A956}"/>
              </a:ext>
            </a:extLst>
          </p:cNvPr>
          <p:cNvSpPr/>
          <p:nvPr/>
        </p:nvSpPr>
        <p:spPr>
          <a:xfrm>
            <a:off x="562631" y="5637261"/>
            <a:ext cx="4845857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9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大模型技术基础</a:t>
            </a:r>
          </a:p>
        </p:txBody>
      </p:sp>
      <p:sp>
        <p:nvSpPr>
          <p:cNvPr id="28" name="矩形 27" descr="e7d195523061f1c0c30ee18c1b05f65d12b38e2533cb2ccdAE0CC34CB5CBEBFAEC353FED4DECE97C3E379FD1D933F5E4DC18EF8EA6B7A1130D5F6DE9DD2BE4B0A8C9126ACE5083D1F5A9E323B29CCFC717A9DA80913EAD2A29ED729FA202021A61D51ED3815B047BE61D126B7FA8D3EA9978F9BFB9E456EB2053833C86E3BB5803136C8B94BC0B31">
            <a:extLst>
              <a:ext uri="{FF2B5EF4-FFF2-40B4-BE49-F238E27FC236}">
                <a16:creationId xmlns:a16="http://schemas.microsoft.com/office/drawing/2014/main" id="{2314EA3B-5DA8-15FF-FA65-F29410CD0CA3}"/>
              </a:ext>
            </a:extLst>
          </p:cNvPr>
          <p:cNvSpPr/>
          <p:nvPr/>
        </p:nvSpPr>
        <p:spPr>
          <a:xfrm>
            <a:off x="562630" y="6197302"/>
            <a:ext cx="4845857" cy="482833"/>
          </a:xfrm>
          <a:prstGeom prst="rect">
            <a:avLst/>
          </a:prstGeom>
          <a:gradFill flip="none" rotWithShape="1">
            <a:gsLst>
              <a:gs pos="0">
                <a:srgbClr val="4472C4"/>
              </a:gs>
              <a:gs pos="100000">
                <a:srgbClr val="4472C4">
                  <a:lumMod val="75000"/>
                  <a:alpha val="75000"/>
                </a:srgb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rgbClr val="4472C4"/>
                </a:gs>
                <a:gs pos="100000">
                  <a:srgbClr val="4472C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216000" rtlCol="0" anchor="ctr"/>
          <a:lstStyle/>
          <a:p>
            <a:pPr defTabSz="457200">
              <a:defRPr/>
            </a:pP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第 </a:t>
            </a:r>
            <a:r>
              <a:rPr lang="en-US" altLang="zh-CN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10</a:t>
            </a:r>
            <a:r>
              <a:rPr lang="zh-CN" altLang="en-US" sz="2100" b="1" kern="0" dirty="0">
                <a:solidFill>
                  <a:prstClr val="white"/>
                </a:solidFill>
                <a:latin typeface="微软雅黑" panose="020B0503020204020204" pitchFamily="34" charset="-122"/>
              </a:rPr>
              <a:t> 章：</a:t>
            </a:r>
            <a:r>
              <a:rPr lang="zh-CN" altLang="en-US" sz="2100" b="1" kern="0" dirty="0">
                <a:solidFill>
                  <a:srgbClr val="FFFF00"/>
                </a:solidFill>
                <a:latin typeface="微软雅黑" panose="020B0503020204020204" pitchFamily="34" charset="-122"/>
              </a:rPr>
              <a:t>大模型应用赋能</a:t>
            </a:r>
          </a:p>
        </p:txBody>
      </p:sp>
    </p:spTree>
    <p:extLst>
      <p:ext uri="{BB962C8B-B14F-4D97-AF65-F5344CB8AC3E}">
        <p14:creationId xmlns:p14="http://schemas.microsoft.com/office/powerpoint/2010/main" val="383983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思考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02131" y="1736709"/>
            <a:ext cx="8987737" cy="33845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4288" marR="0" lvl="0" indent="700088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人类通过看书、练习“学习”知识，那机器想“学会”识别猫狗、预测天气，得怎么给它“喂知识”？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  <a:p>
            <a:pPr marL="14288" marR="0" lvl="0" indent="700088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深度学习里的“学习”和人类学习有什么相似又不同的地方？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BEE14D06-39E5-4E36-4802-DCE54650BC44}"/>
              </a:ext>
            </a:extLst>
          </p:cNvPr>
          <p:cNvSpPr txBox="1">
            <a:spLocks/>
          </p:cNvSpPr>
          <p:nvPr/>
        </p:nvSpPr>
        <p:spPr>
          <a:xfrm>
            <a:off x="5808027" y="6391459"/>
            <a:ext cx="575945" cy="3168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z="1400" b="1" smtClean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pPr algn="ctr"/>
              <a:t>58</a:t>
            </a:fld>
            <a:endParaRPr lang="zh-CN" altLang="en-US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0DFE89-06D6-D31A-FDA5-AA744AFDA898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378307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25309" y="2358304"/>
            <a:ext cx="8764270" cy="1862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谢谢！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FCE6D8-AA98-59F1-C088-EFE3A971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622"/>
            <a:ext cx="4038600" cy="7541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90E8119-914A-1ADE-4F33-E942D8A64736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31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xODI4YjJkZGUyMjNkNzljNmNjZmNiNzU0NmE3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802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802"/>
  <p:tag name="KSO_WM_TEMPLATE_CATEGORY" val="custom"/>
  <p:tag name="KSO_WM_UNIT_SUBTYPE" val="a"/>
  <p:tag name="KSO_WM_UNIT_TEXT_LAYER_COUNT" val="1"/>
  <p:tag name="KSO_WM_UNIT_VALUE" val="14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84.17850372074156,&quot;left&quot;:180.74866141732284,&quot;top&quot;:101.89645690917969,&quot;width&quot;:853.257637795275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5"/>
  <p:tag name="KSO_WM_UNIT_TEXT_FILL_TYPE" val="1"/>
  <p:tag name="KSO_WM_UNIT_USESOURCEFORMAT_APPL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7750393700788,&quot;left&quot;:30.75,&quot;top&quot;:98.85,&quot;width&quot;:898.8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7750393700788,&quot;left&quot;:30.75,&quot;top&quot;:98.85,&quot;width&quot;:898.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4318</TotalTime>
  <Words>4659</Words>
  <Application>Microsoft Macintosh PowerPoint</Application>
  <PresentationFormat>宽屏</PresentationFormat>
  <Paragraphs>446</Paragraphs>
  <Slides>59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SimHei</vt:lpstr>
      <vt:lpstr>SimHei</vt:lpstr>
      <vt:lpstr>可画风暴黑-简</vt:lpstr>
      <vt:lpstr>宋体</vt:lpstr>
      <vt:lpstr>宋体</vt:lpstr>
      <vt:lpstr>微软雅黑</vt:lpstr>
      <vt:lpstr>微软雅黑</vt:lpstr>
      <vt:lpstr>Arial</vt:lpstr>
      <vt:lpstr>Calibri</vt:lpstr>
      <vt:lpstr>Cambria Math</vt:lpstr>
      <vt:lpstr>Times New Roman</vt:lpstr>
      <vt:lpstr>Wingdings</vt:lpstr>
      <vt:lpstr>WPS</vt:lpstr>
      <vt:lpstr>1_WPS</vt:lpstr>
      <vt:lpstr>2_WPS</vt:lpstr>
      <vt:lpstr>3_WPS</vt:lpstr>
      <vt:lpstr>4_WPS</vt:lpstr>
      <vt:lpstr>PowerPoint 演示文稿</vt:lpstr>
      <vt:lpstr>课程教材</vt:lpstr>
      <vt:lpstr>回顾上一次课</vt:lpstr>
      <vt:lpstr>机器学习三要素</vt:lpstr>
      <vt:lpstr>损失函数：差距的‘量化工具’</vt:lpstr>
      <vt:lpstr>梯度下降：三种主要模式</vt:lpstr>
      <vt:lpstr>小批量随机梯度下降</vt:lpstr>
      <vt:lpstr>机器学习基础（下）</vt:lpstr>
      <vt:lpstr>教学重点与难点</vt:lpstr>
      <vt:lpstr>2.3 机器学习的常见模型</vt:lpstr>
      <vt:lpstr>分类、聚类、回归</vt:lpstr>
      <vt:lpstr>分类模型</vt:lpstr>
      <vt:lpstr>思考</vt:lpstr>
      <vt:lpstr>举例引入</vt:lpstr>
      <vt:lpstr>举例引入</vt:lpstr>
      <vt:lpstr>举例引入</vt:lpstr>
      <vt:lpstr>分类模型</vt:lpstr>
      <vt:lpstr>神经网络</vt:lpstr>
      <vt:lpstr>分类模型：以神经网络为例</vt:lpstr>
      <vt:lpstr>分类模型：以神经网络为例</vt:lpstr>
      <vt:lpstr>神经网络的通用近似定理 （Universal Approximation Theorem）</vt:lpstr>
      <vt:lpstr>其他常见分类模型</vt:lpstr>
      <vt:lpstr>支持向量机</vt:lpstr>
      <vt:lpstr>决策树</vt:lpstr>
      <vt:lpstr>随机森林</vt:lpstr>
      <vt:lpstr>其他常见分类模型</vt:lpstr>
      <vt:lpstr>聚类模型</vt:lpstr>
      <vt:lpstr>聚类模型</vt:lpstr>
      <vt:lpstr>聚类模型</vt:lpstr>
      <vt:lpstr>常见的聚类模型</vt:lpstr>
      <vt:lpstr>K均值聚类</vt:lpstr>
      <vt:lpstr>回归模型</vt:lpstr>
      <vt:lpstr>回归模型</vt:lpstr>
      <vt:lpstr>回归模型</vt:lpstr>
      <vt:lpstr>常见的回归模型</vt:lpstr>
      <vt:lpstr>线性回归</vt:lpstr>
      <vt:lpstr>多项式回归</vt:lpstr>
      <vt:lpstr>基于机器学习的回归</vt:lpstr>
      <vt:lpstr>小结</vt:lpstr>
      <vt:lpstr>过拟合与泛化能力</vt:lpstr>
      <vt:lpstr>分类模型总结</vt:lpstr>
      <vt:lpstr>聚类模型总结</vt:lpstr>
      <vt:lpstr>回归模型总结</vt:lpstr>
      <vt:lpstr>2.4 从机器学习到深度学习</vt:lpstr>
      <vt:lpstr>为何走向深度？</vt:lpstr>
      <vt:lpstr>走向深度学习的几个推动因素</vt:lpstr>
      <vt:lpstr>常见深度学习模型概览</vt:lpstr>
      <vt:lpstr>常见深度学习框架</vt:lpstr>
      <vt:lpstr>2.5 前沿方向速览</vt:lpstr>
      <vt:lpstr>前沿方向速览</vt:lpstr>
      <vt:lpstr>拓展了解： 初探机器学习如何实现？</vt:lpstr>
      <vt:lpstr>初探机器学习如何实现？</vt:lpstr>
      <vt:lpstr>初探机器学习如何实现？</vt:lpstr>
      <vt:lpstr>初探机器学习如何实现？</vt:lpstr>
      <vt:lpstr>初探机器学习如何实现？</vt:lpstr>
      <vt:lpstr>接下来的学习之旅</vt:lpstr>
      <vt:lpstr>接下来的学习之旅</vt:lpstr>
      <vt:lpstr>思考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Huang Dong</cp:lastModifiedBy>
  <cp:revision>320</cp:revision>
  <dcterms:created xsi:type="dcterms:W3CDTF">2019-06-19T02:08:00Z</dcterms:created>
  <dcterms:modified xsi:type="dcterms:W3CDTF">2026-09-16T08:50:27Z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641BD3B5FD1F42F4AF23D115AF6991C9_13</vt:lpwstr>
  </property>
</Properties>
</file>